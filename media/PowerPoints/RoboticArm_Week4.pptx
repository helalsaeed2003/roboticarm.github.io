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lf02uHg28a+31o8xsUO/XYjRs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3a3540611_0_18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g3d3a3540611_0_1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d3a3540611_0_1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3a3540611_0_2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d3a3540611_0_2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d3a3540611_0_2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3a3540611_0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3d3a3540611_0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d3a3540611_0_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3a3540611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d3a3540611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d3a3540611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hyperlink" Target="https://drive.google.com/drive/folders/1xkyaJXeBFDnJ50nhy2acyGk-yNzUUNME?usp=drive_link" TargetMode="External"/><Relationship Id="rId6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28090">
              <a:alpha val="14901"/>
            </a:srgbClr>
          </a:solidFill>
          <a:ln cap="flat" cmpd="sng" w="12700">
            <a:solidFill>
              <a:srgbClr val="02809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680960" y="3291840"/>
            <a:ext cx="2011680" cy="2011680"/>
          </a:xfrm>
          <a:prstGeom prst="ellipse">
            <a:avLst/>
          </a:prstGeom>
          <a:solidFill>
            <a:srgbClr val="028090">
              <a:alpha val="10196"/>
            </a:srgbClr>
          </a:solidFill>
          <a:ln cap="flat" cmpd="sng" w="12700">
            <a:solidFill>
              <a:srgbClr val="02809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38912" y="777240"/>
            <a:ext cx="1280160" cy="329184"/>
          </a:xfrm>
          <a:prstGeom prst="roundRect">
            <a:avLst>
              <a:gd fmla="val 16667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38912" y="777240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84048" y="1353312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lang="en-US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Robotic Arm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84048" y="217627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3000"/>
              <a:buFont typeface="Calibri"/>
              <a:buNone/>
            </a:pPr>
            <a:r>
              <a:rPr lang="en-US" sz="3000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Pick &amp; Place System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84048" y="2907792"/>
            <a:ext cx="45720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84048" y="3090672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Weekly Progress Report  ·  Mechatronics System Design 101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84048" y="345643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March 25 – March 31, 2025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84048" y="446227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Leen's Group  ·  Leen  ·  Mohamed  ·  Helal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4 — Snapshot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47472" y="804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 we worked on this week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47472" y="1152144"/>
            <a:ext cx="5577840" cy="8595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47472" y="1152144"/>
            <a:ext cx="73152" cy="8595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93776" y="1353312"/>
            <a:ext cx="329184" cy="32918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93776" y="13533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32688" y="1243584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CAD model update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32688" y="1517904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Continued refining the arm model in Autodesk Inventor. Wrist joint and end effector mount still in progress — geometry for base, shoulder, and elbow is locked.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47472" y="2121408"/>
            <a:ext cx="5577840" cy="8595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47472" y="2121408"/>
            <a:ext cx="73152" cy="859536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93776" y="2322576"/>
            <a:ext cx="329184" cy="329184"/>
          </a:xfrm>
          <a:prstGeom prst="ellipse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93776" y="232257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32688" y="221284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OpenCV — computer vision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32688" y="24871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Started setting up the OpenCV pipeline on the PC. Color/shape-based object detection approach being prototyped — no AI training required.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47472" y="3090672"/>
            <a:ext cx="5577840" cy="8595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47472" y="3090672"/>
            <a:ext cx="73152" cy="859536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93776" y="3291840"/>
            <a:ext cx="329184" cy="329184"/>
          </a:xfrm>
          <a:prstGeom prst="ellipse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93776" y="32918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32688" y="3182112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Electrical components &amp;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932688" y="3456432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Procured electrical components including Arduino R3, motor driver, and servo set. Began bench testing of Arduino code — basic servo PWM control verified and responding correctly.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144768" y="804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144768" y="1152144"/>
            <a:ext cx="27432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144768" y="1152144"/>
            <a:ext cx="64008" cy="475488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272784" y="118872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589520" y="1243584"/>
            <a:ext cx="1170432" cy="256032"/>
          </a:xfrm>
          <a:prstGeom prst="roundRect">
            <a:avLst>
              <a:gd fmla="val 14286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589520" y="1243584"/>
            <a:ext cx="1170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On track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144768" y="1719072"/>
            <a:ext cx="27432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144768" y="1719072"/>
            <a:ext cx="64008" cy="475488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272784" y="175564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589520" y="1810512"/>
            <a:ext cx="1170432" cy="256032"/>
          </a:xfrm>
          <a:prstGeom prst="roundRect">
            <a:avLst>
              <a:gd fmla="val 14286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589520" y="1810512"/>
            <a:ext cx="1170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Defined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144768" y="2286000"/>
            <a:ext cx="27432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144768" y="2286000"/>
            <a:ext cx="64008" cy="475488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272784" y="232257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589520" y="2377440"/>
            <a:ext cx="1170432" cy="256032"/>
          </a:xfrm>
          <a:prstGeom prst="roundRect">
            <a:avLst>
              <a:gd fmla="val 14286" name="adj"/>
            </a:avLst>
          </a:prstGeom>
          <a:solidFill>
            <a:srgbClr val="E8A020">
              <a:alpha val="18039"/>
            </a:srgbClr>
          </a:solidFill>
          <a:ln cap="flat" cmpd="sng" w="12700">
            <a:solidFill>
              <a:srgbClr val="E8A02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589520" y="2377440"/>
            <a:ext cx="1170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144768" y="2852928"/>
            <a:ext cx="27432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144768" y="2852928"/>
            <a:ext cx="64008" cy="475488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272784" y="2889504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589520" y="2944368"/>
            <a:ext cx="1170432" cy="256032"/>
          </a:xfrm>
          <a:prstGeom prst="roundRect">
            <a:avLst>
              <a:gd fmla="val 14286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589520" y="2944368"/>
            <a:ext cx="1170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Procured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144768" y="3419856"/>
            <a:ext cx="27432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144768" y="3419856"/>
            <a:ext cx="64008" cy="475488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272784" y="345643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7589520" y="3511296"/>
            <a:ext cx="1170432" cy="256032"/>
          </a:xfrm>
          <a:prstGeom prst="roundRect">
            <a:avLst>
              <a:gd fmla="val 14286" name="adj"/>
            </a:avLst>
          </a:prstGeom>
          <a:solidFill>
            <a:srgbClr val="E8A020">
              <a:alpha val="18039"/>
            </a:srgbClr>
          </a:solidFill>
          <a:ln cap="flat" cmpd="sng" w="12700">
            <a:solidFill>
              <a:srgbClr val="E8A02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589520" y="3511296"/>
            <a:ext cx="1170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347472" y="4133088"/>
            <a:ext cx="8476488" cy="347472"/>
          </a:xfrm>
          <a:prstGeom prst="rect">
            <a:avLst/>
          </a:prstGeom>
          <a:solidFill>
            <a:srgbClr val="E8A020">
              <a:alpha val="10196"/>
            </a:srgbClr>
          </a:solidFill>
          <a:ln cap="flat" cmpd="sng" w="12700">
            <a:solidFill>
              <a:srgbClr val="E8A02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457200" y="413308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⚠  CAD wrist joint and end effector mount still require work — targeted for completion by Week 6.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Schedule — Gantt Chart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47472" y="804672"/>
            <a:ext cx="8476488" cy="411480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C8D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68347" y="804672"/>
            <a:ext cx="84765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EC8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9BAEC8"/>
                </a:solidFill>
                <a:latin typeface="Calibri"/>
                <a:ea typeface="Calibri"/>
                <a:cs typeface="Calibri"/>
                <a:sym typeface="Calibri"/>
              </a:rPr>
              <a:t>[ Paste Gantt Chart Image Here 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00" y="1031188"/>
            <a:ext cx="8322217" cy="3661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Milestones &amp; Deliverables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47472" y="786384"/>
            <a:ext cx="2560320" cy="310896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20624" y="786384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926080" y="786384"/>
            <a:ext cx="1353312" cy="310896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999232" y="786384"/>
            <a:ext cx="12618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297680" y="786384"/>
            <a:ext cx="1353312" cy="310896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370832" y="786384"/>
            <a:ext cx="12618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669280" y="786384"/>
            <a:ext cx="3127248" cy="310896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742432" y="786384"/>
            <a:ext cx="30358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Progress this week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47472" y="1097280"/>
            <a:ext cx="25603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926080" y="1097280"/>
            <a:ext cx="1353312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297680" y="1097280"/>
            <a:ext cx="1353312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669280" y="1097280"/>
            <a:ext cx="3127248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20624" y="1097280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CAD model complete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999232" y="1097280"/>
            <a:ext cx="12618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425696" y="1225296"/>
            <a:ext cx="1097280" cy="256032"/>
          </a:xfrm>
          <a:prstGeom prst="roundRect">
            <a:avLst>
              <a:gd fmla="val 14286" name="adj"/>
            </a:avLst>
          </a:prstGeom>
          <a:solidFill>
            <a:srgbClr val="E8A020">
              <a:alpha val="18039"/>
            </a:srgbClr>
          </a:solidFill>
          <a:ln cap="flat" cmpd="sng" w="12700">
            <a:solidFill>
              <a:srgbClr val="E8A02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425696" y="122529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742432" y="1097280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Base/shoulder/elbow done. Wrist &amp; EE mount in progress.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47472" y="1645920"/>
            <a:ext cx="2560320" cy="51206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926080" y="1645920"/>
            <a:ext cx="1353312" cy="51206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297680" y="1645920"/>
            <a:ext cx="1353312" cy="51206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669280" y="1645920"/>
            <a:ext cx="3127248" cy="51206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20624" y="1645920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Camera vision (OpenCV)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999232" y="1645920"/>
            <a:ext cx="12618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425696" y="1773936"/>
            <a:ext cx="1097280" cy="256032"/>
          </a:xfrm>
          <a:prstGeom prst="roundRect">
            <a:avLst>
              <a:gd fmla="val 14286" name="adj"/>
            </a:avLst>
          </a:prstGeom>
          <a:solidFill>
            <a:srgbClr val="E8A020">
              <a:alpha val="18039"/>
            </a:srgbClr>
          </a:solidFill>
          <a:ln cap="flat" cmpd="sng" w="12700">
            <a:solidFill>
              <a:srgbClr val="E8A02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425696" y="177393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Started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742432" y="1645920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Color/shape detection pipeline being prototyped on PC.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47472" y="2194560"/>
            <a:ext cx="25603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926080" y="2194560"/>
            <a:ext cx="1353312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297680" y="2194560"/>
            <a:ext cx="1353312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669280" y="2194560"/>
            <a:ext cx="3127248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20624" y="2194560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End effector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999232" y="2194560"/>
            <a:ext cx="12618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425696" y="2322576"/>
            <a:ext cx="1097280" cy="256032"/>
          </a:xfrm>
          <a:prstGeom prst="roundRect">
            <a:avLst>
              <a:gd fmla="val 14286" name="adj"/>
            </a:avLst>
          </a:prstGeom>
          <a:solidFill>
            <a:srgbClr val="8494A8">
              <a:alpha val="18039"/>
            </a:srgbClr>
          </a:solidFill>
          <a:ln cap="flat" cmpd="sng" w="12700">
            <a:solidFill>
              <a:srgbClr val="8494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425696" y="232257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742432" y="2194560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Custom design pending CAD completion. Pump/Comp TBD.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47472" y="2743200"/>
            <a:ext cx="2560320" cy="51206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926080" y="2743200"/>
            <a:ext cx="1353312" cy="51206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297680" y="2743200"/>
            <a:ext cx="1353312" cy="51206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669280" y="2743200"/>
            <a:ext cx="3127248" cy="51206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20624" y="2743200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ROS2 &amp; digital twin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2999232" y="2743200"/>
            <a:ext cx="12618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425696" y="2871216"/>
            <a:ext cx="1097280" cy="256032"/>
          </a:xfrm>
          <a:prstGeom prst="roundRect">
            <a:avLst>
              <a:gd fmla="val 14286" name="adj"/>
            </a:avLst>
          </a:prstGeom>
          <a:solidFill>
            <a:srgbClr val="E8A020">
              <a:alpha val="18039"/>
            </a:srgbClr>
          </a:solidFill>
          <a:ln cap="flat" cmpd="sng" w="12700">
            <a:solidFill>
              <a:srgbClr val="E8A02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425696" y="287121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Started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742432" y="2743200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ROS2 environment set up. Gazebo simulation begun.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47472" y="3291840"/>
            <a:ext cx="25603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2926080" y="3291840"/>
            <a:ext cx="1353312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297680" y="3291840"/>
            <a:ext cx="1353312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669280" y="3291840"/>
            <a:ext cx="3127248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20624" y="3291840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Full assembly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2999232" y="3291840"/>
            <a:ext cx="12618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425696" y="3419856"/>
            <a:ext cx="1097280" cy="256032"/>
          </a:xfrm>
          <a:prstGeom prst="roundRect">
            <a:avLst>
              <a:gd fmla="val 14286" name="adj"/>
            </a:avLst>
          </a:prstGeom>
          <a:solidFill>
            <a:srgbClr val="8494A8">
              <a:alpha val="18039"/>
            </a:srgbClr>
          </a:solidFill>
          <a:ln cap="flat" cmpd="sng" w="12700">
            <a:solidFill>
              <a:srgbClr val="8494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425696" y="341985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5742432" y="3291840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3D printing of parts started for early fit testing.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47472" y="3840480"/>
            <a:ext cx="2560320" cy="51206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2926080" y="3840480"/>
            <a:ext cx="1353312" cy="51206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297680" y="3840480"/>
            <a:ext cx="1353312" cy="51206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669280" y="3840480"/>
            <a:ext cx="3127248" cy="51206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420624" y="3840480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Control system integration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2999232" y="3840480"/>
            <a:ext cx="12618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425696" y="3968496"/>
            <a:ext cx="1097280" cy="256032"/>
          </a:xfrm>
          <a:prstGeom prst="roundRect">
            <a:avLst>
              <a:gd fmla="val 14286" name="adj"/>
            </a:avLst>
          </a:prstGeom>
          <a:solidFill>
            <a:srgbClr val="8494A8">
              <a:alpha val="18039"/>
            </a:srgbClr>
          </a:solidFill>
          <a:ln cap="flat" cmpd="sng" w="12700">
            <a:solidFill>
              <a:srgbClr val="8494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425696" y="396849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742432" y="3840480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PC + Arduino R4 serial comms. Arduino code prototyped.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347472" y="4425696"/>
            <a:ext cx="8476488" cy="402336"/>
          </a:xfrm>
          <a:prstGeom prst="rect">
            <a:avLst/>
          </a:prstGeom>
          <a:solidFill>
            <a:srgbClr val="2EAD7A">
              <a:alpha val="10196"/>
            </a:srgbClr>
          </a:solidFill>
          <a:ln cap="flat" cmpd="sng" w="12700">
            <a:solidFill>
              <a:srgbClr val="2EAD7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457200" y="4425696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✓  This week: electrical components procured, 3D printing of arm parts started, Arduino code testing begun.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Issues, Risks &amp; Actions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47472" y="78638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Current issues &amp; risks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47472" y="1133856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47472" y="1133856"/>
            <a:ext cx="73152" cy="80467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3986784" y="1188720"/>
            <a:ext cx="493776" cy="201168"/>
          </a:xfrm>
          <a:prstGeom prst="roundRect">
            <a:avLst>
              <a:gd fmla="val 18182" name="adj"/>
            </a:avLst>
          </a:prstGeom>
          <a:solidFill>
            <a:srgbClr val="E8A020">
              <a:alpha val="20000"/>
            </a:srgbClr>
          </a:solidFill>
          <a:ln cap="flat" cmpd="sng" w="12700">
            <a:solidFill>
              <a:srgbClr val="E8A02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3986784" y="1188720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93776" y="118872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Suction pump undecided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93776" y="144475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Still evaluating mini compressor vs micro diaphragm pump vs venturi. Affects end effector timeline.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47472" y="2048256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47472" y="2048256"/>
            <a:ext cx="73152" cy="80467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986784" y="2103120"/>
            <a:ext cx="493776" cy="201168"/>
          </a:xfrm>
          <a:prstGeom prst="roundRect">
            <a:avLst>
              <a:gd fmla="val 18182" name="adj"/>
            </a:avLst>
          </a:prstGeom>
          <a:solidFill>
            <a:srgbClr val="E8A020">
              <a:alpha val="20000"/>
            </a:srgbClr>
          </a:solidFill>
          <a:ln cap="flat" cmpd="sng" w="12700">
            <a:solidFill>
              <a:srgbClr val="E8A02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3986784" y="2103120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93776" y="210312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CAD wrist &amp; end effector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93776" y="235915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Wrist joint and end effector mount geometry not yet finalised — blocking 3D print of those parts.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347472" y="2962656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47472" y="2962656"/>
            <a:ext cx="73152" cy="80467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986784" y="3017520"/>
            <a:ext cx="493776" cy="201168"/>
          </a:xfrm>
          <a:prstGeom prst="roundRect">
            <a:avLst>
              <a:gd fmla="val 18182" name="adj"/>
            </a:avLst>
          </a:prstGeom>
          <a:solidFill>
            <a:srgbClr val="E06530">
              <a:alpha val="20000"/>
            </a:srgbClr>
          </a:solidFill>
          <a:ln cap="flat" cmpd="sng" w="12700">
            <a:solidFill>
              <a:srgbClr val="E0653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986784" y="3017520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493776" y="301752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Team coordination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93776" y="327355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Difficulty scheduling meetings and exchanging work between members due to conflicting availability.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347472" y="3877056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47472" y="3877056"/>
            <a:ext cx="73152" cy="80467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3986784" y="3931920"/>
            <a:ext cx="493776" cy="201168"/>
          </a:xfrm>
          <a:prstGeom prst="roundRect">
            <a:avLst>
              <a:gd fmla="val 18182" name="adj"/>
            </a:avLst>
          </a:prstGeom>
          <a:solidFill>
            <a:srgbClr val="E06530">
              <a:alpha val="20000"/>
            </a:srgbClr>
          </a:solidFill>
          <a:ln cap="flat" cmpd="sng" w="12700">
            <a:solidFill>
              <a:srgbClr val="E0653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3986784" y="3931920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493776" y="393192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ROS2 learning curve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93776" y="418795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ROS2 and Gazebo are new to the team — early stage setup taking longer than anticipated.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773168" y="7863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Actions &amp; mitigations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773168" y="1133856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773168" y="1133856"/>
            <a:ext cx="73152" cy="80467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7882128" y="1188720"/>
            <a:ext cx="914400" cy="201168"/>
          </a:xfrm>
          <a:prstGeom prst="roundRect">
            <a:avLst>
              <a:gd fmla="val 18182" name="adj"/>
            </a:avLst>
          </a:prstGeom>
          <a:solidFill>
            <a:srgbClr val="E8A020">
              <a:alpha val="20000"/>
            </a:srgbClr>
          </a:solidFill>
          <a:ln cap="flat" cmpd="sng" w="12700">
            <a:solidFill>
              <a:srgbClr val="E8A02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7882128" y="11887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4919472" y="1188720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Pump selection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919472" y="1444752"/>
            <a:ext cx="2980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Test available options in lab Week 5 — select based on suction force and size fit.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773168" y="2048256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773168" y="2048256"/>
            <a:ext cx="73152" cy="80467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7882128" y="2103120"/>
            <a:ext cx="914400" cy="201168"/>
          </a:xfrm>
          <a:prstGeom prst="roundRect">
            <a:avLst>
              <a:gd fmla="val 18182" name="adj"/>
            </a:avLst>
          </a:prstGeom>
          <a:solidFill>
            <a:srgbClr val="E8A020">
              <a:alpha val="20000"/>
            </a:srgbClr>
          </a:solidFill>
          <a:ln cap="flat" cmpd="sng" w="12700">
            <a:solidFill>
              <a:srgbClr val="E8A02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7882128" y="21031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4919472" y="2103120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CAD completion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4919472" y="2359152"/>
            <a:ext cx="2980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Wrist and EE mount to be finalised by Week 6. Scale and wiring routing to follow.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4773168" y="2962656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4773168" y="2962656"/>
            <a:ext cx="73152" cy="80467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7882128" y="3017520"/>
            <a:ext cx="914400" cy="201168"/>
          </a:xfrm>
          <a:prstGeom prst="roundRect">
            <a:avLst>
              <a:gd fmla="val 18182" name="adj"/>
            </a:avLst>
          </a:prstGeom>
          <a:solidFill>
            <a:srgbClr val="2EAD7A">
              <a:alpha val="20000"/>
            </a:srgbClr>
          </a:solidFill>
          <a:ln cap="flat" cmpd="sng" w="12700">
            <a:solidFill>
              <a:srgbClr val="2EAD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7882128" y="30175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4919472" y="3017520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Team sync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4919472" y="3273552"/>
            <a:ext cx="2980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Set a fixed weekly check-in slot. Use shared drive for exchanging files between members.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4773168" y="3877056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773168" y="3877056"/>
            <a:ext cx="73152" cy="80467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7882128" y="3931920"/>
            <a:ext cx="914400" cy="201168"/>
          </a:xfrm>
          <a:prstGeom prst="roundRect">
            <a:avLst>
              <a:gd fmla="val 18182" name="adj"/>
            </a:avLst>
          </a:prstGeom>
          <a:solidFill>
            <a:srgbClr val="2EAD7A">
              <a:alpha val="20000"/>
            </a:srgbClr>
          </a:solidFill>
          <a:ln cap="flat" cmpd="sng" w="12700">
            <a:solidFill>
              <a:srgbClr val="2EAD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7882128" y="39319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4919472" y="3931920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ROS2 ramp-up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4919472" y="4187952"/>
            <a:ext cx="2980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Team to follow ROS2 + Gazebo tutorials in parallel. Simple URDF model targeted for Week 6.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28090">
              <a:alpha val="12156"/>
            </a:srgbClr>
          </a:solidFill>
          <a:ln cap="flat" cmpd="sng" w="12700">
            <a:solidFill>
              <a:srgbClr val="028090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7132320" y="3108960"/>
            <a:ext cx="2743200" cy="2743200"/>
          </a:xfrm>
          <a:prstGeom prst="ellipse">
            <a:avLst/>
          </a:prstGeom>
          <a:solidFill>
            <a:srgbClr val="028090">
              <a:alpha val="7843"/>
            </a:srgbClr>
          </a:solidFill>
          <a:ln cap="flat" cmpd="sng" w="12700">
            <a:solidFill>
              <a:srgbClr val="02809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411480" y="12801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Individual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11480" y="201168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5600"/>
              <a:buFont typeface="Calibri"/>
              <a:buNone/>
            </a:pPr>
            <a:r>
              <a:rPr b="1" lang="en-US" sz="5600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Updates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11480" y="2999232"/>
            <a:ext cx="36576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11480" y="3163824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What each member did, what they will do, what they need.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11480" y="3749040"/>
            <a:ext cx="2560320" cy="475488"/>
          </a:xfrm>
          <a:prstGeom prst="roundRect">
            <a:avLst>
              <a:gd fmla="val 15385" name="adj"/>
            </a:avLst>
          </a:prstGeom>
          <a:solidFill>
            <a:srgbClr val="028090">
              <a:alpha val="20000"/>
            </a:srgbClr>
          </a:solidFill>
          <a:ln cap="flat" cmpd="sng" w="12700">
            <a:solidFill>
              <a:srgbClr val="02809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411480" y="3749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11480" y="4005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Group Leader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3246120" y="3749040"/>
            <a:ext cx="2560320" cy="475488"/>
          </a:xfrm>
          <a:prstGeom prst="roundRect">
            <a:avLst>
              <a:gd fmla="val 15385" name="adj"/>
            </a:avLst>
          </a:prstGeom>
          <a:solidFill>
            <a:srgbClr val="2EAD7A">
              <a:alpha val="20000"/>
            </a:srgbClr>
          </a:solidFill>
          <a:ln cap="flat" cmpd="sng" w="12700">
            <a:solidFill>
              <a:srgbClr val="2EAD7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3246120" y="3749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3246120" y="4005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080760" y="3749040"/>
            <a:ext cx="2560320" cy="475488"/>
          </a:xfrm>
          <a:prstGeom prst="roundRect">
            <a:avLst>
              <a:gd fmla="val 15385" name="adj"/>
            </a:avLst>
          </a:prstGeom>
          <a:solidFill>
            <a:srgbClr val="6B4E9E">
              <a:alpha val="20000"/>
            </a:srgbClr>
          </a:solidFill>
          <a:ln cap="flat" cmpd="sng" w="12700">
            <a:solidFill>
              <a:srgbClr val="6B4E9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6080760" y="3749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6080760" y="4005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Leen — Group Leader  ·  Vision &amp; 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47472" y="786384"/>
            <a:ext cx="4114800" cy="1389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347472" y="786384"/>
            <a:ext cx="4114800" cy="25603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38912" y="78638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Accomplished (since last report)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57200" y="107899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Secured and confirmed the camera to be used for the project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57200" y="140817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Researched OpenCV vs YOLOv4 for object detection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57200" y="173736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Decided on OpenCV color/shape detection — no training needed, better fit for controlled lab environment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347472" y="2249424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47472" y="2249424"/>
            <a:ext cx="4114800" cy="25603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38912" y="224942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57200" y="2542032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Setting up OpenCV detection pipeline on PC with connected camera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47472" y="3072384"/>
            <a:ext cx="4114800" cy="14264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347472" y="3072384"/>
            <a:ext cx="4114800" cy="256032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38912" y="307238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week plan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57200" y="336499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Begin implementing OpenCV detection script on PC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57200" y="369417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Test camera feed and object detection on sample items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57200" y="402336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Integrate detection output with serial command pipeline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663440" y="786384"/>
            <a:ext cx="4206240" cy="23408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663440" y="786384"/>
            <a:ext cx="4206240" cy="2560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4754880" y="78638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OpenCV vs YOLOv4 — decision rationale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773168" y="1115568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OpenCV 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4773168" y="137160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 training required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773168" y="162763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Works with controlled lighting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4773168" y="1883664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Simpler to implement &amp; debug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773168" y="219456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653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06530"/>
                </a:solidFill>
                <a:latin typeface="Calibri"/>
                <a:ea typeface="Calibri"/>
                <a:cs typeface="Calibri"/>
                <a:sym typeface="Calibri"/>
              </a:rPr>
              <a:t>YOLOv4  ✗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4773168" y="245059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Requires training data &amp; GPU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773168" y="2706624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Overkill for a fixed lab setup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4663440" y="3200400"/>
            <a:ext cx="420624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4663440" y="3200400"/>
            <a:ext cx="4206240" cy="25603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4754880" y="320040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Help needed / questions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773168" y="3511296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 blockers this week. Camera secured and detection approach confirmed — ready to begin coding pipeline.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3a3540611_0_189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d3a3540611_0_189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d3a3540611_0_189"/>
          <p:cNvSpPr/>
          <p:nvPr/>
        </p:nvSpPr>
        <p:spPr>
          <a:xfrm>
            <a:off x="347472" y="0"/>
            <a:ext cx="8412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Leen — Group Leader  ·  Vision &amp; 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d3a3540611_0_189"/>
          <p:cNvSpPr/>
          <p:nvPr/>
        </p:nvSpPr>
        <p:spPr>
          <a:xfrm>
            <a:off x="274320" y="4864608"/>
            <a:ext cx="8595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g3d3a3540611_0_189"/>
          <p:cNvPicPr preferRelativeResize="0"/>
          <p:nvPr/>
        </p:nvPicPr>
        <p:blipFill rotWithShape="1">
          <a:blip r:embed="rId3">
            <a:alphaModFix/>
          </a:blip>
          <a:srcRect b="43500" l="0" r="0" t="25571"/>
          <a:stretch/>
        </p:blipFill>
        <p:spPr>
          <a:xfrm>
            <a:off x="1582394" y="1095599"/>
            <a:ext cx="6059810" cy="333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57200" y="9144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Mohamed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— Member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365760" y="100584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365760" y="1005840"/>
            <a:ext cx="3657600" cy="73152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4" name="Google Shape;3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9"/>
          <p:cNvSpPr/>
          <p:nvPr/>
        </p:nvSpPr>
        <p:spPr>
          <a:xfrm>
            <a:off x="1188720" y="120700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Components Purchased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566928" y="1874520"/>
            <a:ext cx="201168" cy="201168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868680" y="18288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4× MG996R Servo Motors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566928" y="2624328"/>
            <a:ext cx="201168" cy="201168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868680" y="2578608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L293D Motor Shield (H-Bridge)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66928" y="3374136"/>
            <a:ext cx="201168" cy="201168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868680" y="3328416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400mm Male-Male Jumper Wires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5120640" y="100584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5120640" y="1005840"/>
            <a:ext cx="3657600" cy="73152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0680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9"/>
          <p:cNvSpPr/>
          <p:nvPr/>
        </p:nvSpPr>
        <p:spPr>
          <a:xfrm>
            <a:off x="5943600" y="120700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Arduino Code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5321808" y="1874520"/>
            <a:ext cx="201168" cy="201168"/>
          </a:xfrm>
          <a:prstGeom prst="ellipse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5623560" y="1828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2-DOF serial servo controller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5321808" y="2496312"/>
            <a:ext cx="201168" cy="201168"/>
          </a:xfrm>
          <a:prstGeom prst="ellipse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623560" y="24505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Base &amp; Shoulder joints (pins 9 &amp; 10)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5321808" y="3118104"/>
            <a:ext cx="201168" cy="201168"/>
          </a:xfrm>
          <a:prstGeom prst="ellipse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5623560" y="307238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Serial command parsing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5321808" y="3739896"/>
            <a:ext cx="201168" cy="201168"/>
          </a:xfrm>
          <a:prstGeom prst="ellipse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623560" y="3694176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Input validation &amp; status query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Week 4  •  Mohamed  •  Robotic Arm Project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3a3540611_0_228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d3a3540611_0_228"/>
          <p:cNvSpPr/>
          <p:nvPr/>
        </p:nvSpPr>
        <p:spPr>
          <a:xfrm>
            <a:off x="457200" y="9144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Mohamed — Member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d3a3540611_0_228"/>
          <p:cNvSpPr/>
          <p:nvPr/>
        </p:nvSpPr>
        <p:spPr>
          <a:xfrm>
            <a:off x="0" y="4873752"/>
            <a:ext cx="9144000" cy="2697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d3a3540611_0_228"/>
          <p:cNvSpPr/>
          <p:nvPr/>
        </p:nvSpPr>
        <p:spPr>
          <a:xfrm>
            <a:off x="0" y="4892040"/>
            <a:ext cx="9144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Week 4  •  Mohamed  •  Robotic Arm Project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g3d3a3540611_0_228"/>
          <p:cNvPicPr preferRelativeResize="0"/>
          <p:nvPr/>
        </p:nvPicPr>
        <p:blipFill rotWithShape="1">
          <a:blip r:embed="rId3">
            <a:alphaModFix/>
          </a:blip>
          <a:srcRect b="32059" l="0" r="0" t="10713"/>
          <a:stretch/>
        </p:blipFill>
        <p:spPr>
          <a:xfrm>
            <a:off x="2798962" y="948676"/>
            <a:ext cx="3546074" cy="3607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Mohamed — Member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Components Purchased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320040" y="960120"/>
            <a:ext cx="27432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5" name="Google Shape;3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51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1"/>
          <p:cNvSpPr/>
          <p:nvPr/>
        </p:nvSpPr>
        <p:spPr>
          <a:xfrm>
            <a:off x="850392" y="1033272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MG996R Servo Motors  ×4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57200" y="160020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Actuates the shoulder, elbow, wrist, and gripper joints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457200" y="2331720"/>
            <a:ext cx="54864" cy="32004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594360" y="231343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Torque: 9.4 kg·cm (4.8V) / 11 kg·cm (6V)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457200" y="2834640"/>
            <a:ext cx="54864" cy="32004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594360" y="281635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Speed: 0.17 s/60° at 4.8V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457200" y="3337560"/>
            <a:ext cx="54864" cy="32004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594360" y="331927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Angle range: 0°–180°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457200" y="3840480"/>
            <a:ext cx="54864" cy="32004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594360" y="382219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Protocol: PWM signal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3264408" y="960120"/>
            <a:ext cx="27432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3264408" y="960120"/>
            <a:ext cx="2743200" cy="50292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8" name="Google Shape;3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1568" y="1051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1"/>
          <p:cNvSpPr/>
          <p:nvPr/>
        </p:nvSpPr>
        <p:spPr>
          <a:xfrm>
            <a:off x="3794760" y="1033272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L293D Motor Shield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3401568" y="160020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Interfaces servos and DC motor with the Arduino R4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3401568" y="2331720"/>
            <a:ext cx="54864" cy="32004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3538728" y="231343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Dual H-Bridge driver (L293D chip)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3401568" y="2834640"/>
            <a:ext cx="54864" cy="32004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3538728" y="281635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Servo headers on pins 9 &amp; 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3401568" y="3337560"/>
            <a:ext cx="54864" cy="32004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3538728" y="331927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Supports up to 4 DC motors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3401568" y="3840480"/>
            <a:ext cx="54864" cy="32004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3538728" y="382219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Direct stacking on Arduino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6208776" y="960120"/>
            <a:ext cx="27432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6208776" y="960120"/>
            <a:ext cx="2743200" cy="502920"/>
          </a:xfrm>
          <a:prstGeom prst="rect">
            <a:avLst/>
          </a:prstGeom>
          <a:solidFill>
            <a:srgbClr val="66BB6A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1" name="Google Shape;3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5936" y="1051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1"/>
          <p:cNvSpPr/>
          <p:nvPr/>
        </p:nvSpPr>
        <p:spPr>
          <a:xfrm>
            <a:off x="6739128" y="1033272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400mm Jumper Wires (M-M)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6345936" y="160020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Internal wiring between components on the arm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6345936" y="2331720"/>
            <a:ext cx="54864" cy="320040"/>
          </a:xfrm>
          <a:prstGeom prst="rect">
            <a:avLst/>
          </a:prstGeom>
          <a:solidFill>
            <a:srgbClr val="66BB6A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6483096" y="231343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Length: 400 mm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6345936" y="2834640"/>
            <a:ext cx="54864" cy="320040"/>
          </a:xfrm>
          <a:prstGeom prst="rect">
            <a:avLst/>
          </a:prstGeom>
          <a:solidFill>
            <a:srgbClr val="66BB6A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6483096" y="281635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Type: Male-to-Male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6345936" y="3337560"/>
            <a:ext cx="54864" cy="320040"/>
          </a:xfrm>
          <a:prstGeom prst="rect">
            <a:avLst/>
          </a:prstGeom>
          <a:solidFill>
            <a:srgbClr val="66BB6A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6483096" y="331927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Flexible routing for arm assembly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Week 4  •  Mohamed  •  Robotic Arm Project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Mohamed — Member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Arduino Code — 2-DOF Servo Controller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365760" y="914400"/>
            <a:ext cx="4389120" cy="37490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3333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365760" y="914400"/>
            <a:ext cx="4389120" cy="347472"/>
          </a:xfrm>
          <a:prstGeom prst="rect">
            <a:avLst/>
          </a:prstGeom>
          <a:solidFill>
            <a:srgbClr val="333366"/>
          </a:solidFill>
          <a:ln cap="flat" cmpd="sng" w="12700">
            <a:solidFill>
              <a:srgbClr val="33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502920" y="93268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Arduino Sketch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502920" y="1325880"/>
            <a:ext cx="41605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-US" sz="105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rPr>
              <a:t>&lt;Servo.h&gt;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Servo </a:t>
            </a:r>
            <a:r>
              <a:rPr lang="en-US" sz="1050">
                <a:solidFill>
                  <a:srgbClr val="ECEFF1"/>
                </a:solidFill>
                <a:latin typeface="Consolas"/>
                <a:ea typeface="Consolas"/>
                <a:cs typeface="Consolas"/>
                <a:sym typeface="Consolas"/>
              </a:rPr>
              <a:t>baseServo, shoulderServo;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US" sz="1050">
                <a:solidFill>
                  <a:srgbClr val="ECEFF1"/>
                </a:solidFill>
                <a:latin typeface="Consolas"/>
                <a:ea typeface="Consolas"/>
                <a:cs typeface="Consolas"/>
                <a:sym typeface="Consolas"/>
              </a:rPr>
              <a:t>setup() {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EFF1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CEFF1"/>
                </a:solidFill>
                <a:latin typeface="Consolas"/>
                <a:ea typeface="Consolas"/>
                <a:cs typeface="Consolas"/>
                <a:sym typeface="Consolas"/>
              </a:rPr>
              <a:t>  Serial.</a:t>
            </a:r>
            <a:r>
              <a:rPr lang="en-US" sz="105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n-US" sz="1050">
                <a:solidFill>
                  <a:srgbClr val="ECEFF1"/>
                </a:solidFill>
                <a:latin typeface="Consolas"/>
                <a:ea typeface="Consolas"/>
                <a:cs typeface="Consolas"/>
                <a:sym typeface="Consolas"/>
              </a:rPr>
              <a:t>(9600);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EFF1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CEFF1"/>
                </a:solidFill>
                <a:latin typeface="Consolas"/>
                <a:ea typeface="Consolas"/>
                <a:cs typeface="Consolas"/>
                <a:sym typeface="Consolas"/>
              </a:rPr>
              <a:t>  baseServo.</a:t>
            </a:r>
            <a:r>
              <a:rPr lang="en-US" sz="105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rPr>
              <a:t>attach</a:t>
            </a:r>
            <a:r>
              <a:rPr lang="en-US" sz="1050">
                <a:solidFill>
                  <a:srgbClr val="ECEFF1"/>
                </a:solidFill>
                <a:latin typeface="Consolas"/>
                <a:ea typeface="Consolas"/>
                <a:cs typeface="Consolas"/>
                <a:sym typeface="Consolas"/>
              </a:rPr>
              <a:t>(9);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EFF1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CEFF1"/>
                </a:solidFill>
                <a:latin typeface="Consolas"/>
                <a:ea typeface="Consolas"/>
                <a:cs typeface="Consolas"/>
                <a:sym typeface="Consolas"/>
              </a:rPr>
              <a:t>  shoulderServo.</a:t>
            </a:r>
            <a:r>
              <a:rPr lang="en-US" sz="105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rPr>
              <a:t>attach</a:t>
            </a:r>
            <a:r>
              <a:rPr lang="en-US" sz="1050">
                <a:solidFill>
                  <a:srgbClr val="ECEFF1"/>
                </a:solidFill>
                <a:latin typeface="Consolas"/>
                <a:ea typeface="Consolas"/>
                <a:cs typeface="Consolas"/>
                <a:sym typeface="Consolas"/>
              </a:rPr>
              <a:t>(10);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EFF1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CEFF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US" sz="1050">
                <a:solidFill>
                  <a:srgbClr val="ECEFF1"/>
                </a:solidFill>
                <a:latin typeface="Consolas"/>
                <a:ea typeface="Consolas"/>
                <a:cs typeface="Consolas"/>
                <a:sym typeface="Consolas"/>
              </a:rPr>
              <a:t>loop() {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  // Parse serial command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  // Format: &lt;servo&gt; &lt;angle&gt;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  // e.g.  2 45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5074920" y="960120"/>
            <a:ext cx="370332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5074920" y="960120"/>
            <a:ext cx="73152" cy="77724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5257800" y="101498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Serial Command Parsing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5257800" y="130759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Accepts '&lt;servo&gt; &lt;angle&gt;' via USB serial from PC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5074920" y="1856232"/>
            <a:ext cx="370332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5074920" y="1856232"/>
            <a:ext cx="73152" cy="77724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5257800" y="191109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Input Validation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5257800" y="2203704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Rejects invalid servo IDs and out-of-range angles (0–180°)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5074920" y="2752344"/>
            <a:ext cx="370332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5074920" y="2752344"/>
            <a:ext cx="73152" cy="777240"/>
          </a:xfrm>
          <a:prstGeom prst="rect">
            <a:avLst/>
          </a:prstGeom>
          <a:solidFill>
            <a:srgbClr val="66BB6A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5257800" y="280720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Status Query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5257800" y="309981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Type 'status' to print current angles of both joints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5074920" y="3648456"/>
            <a:ext cx="370332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5074920" y="3648456"/>
            <a:ext cx="73152" cy="777240"/>
          </a:xfrm>
          <a:prstGeom prst="rect">
            <a:avLst/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5257800" y="37033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L293D Shield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5257800" y="399592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Servo headers on pins 9 (Base) &amp; 10 (Shoulder)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Week 4  •  Mohamed  •  Robotic Arm Project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924" y="1314979"/>
            <a:ext cx="3756304" cy="3344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3a3540611_0_163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d3a3540611_0_163"/>
          <p:cNvSpPr/>
          <p:nvPr/>
        </p:nvSpPr>
        <p:spPr>
          <a:xfrm>
            <a:off x="548640" y="365760"/>
            <a:ext cx="8046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Mohamed — Member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d3a3540611_0_163"/>
          <p:cNvSpPr/>
          <p:nvPr/>
        </p:nvSpPr>
        <p:spPr>
          <a:xfrm>
            <a:off x="822960" y="1280160"/>
            <a:ext cx="7498200" cy="548700"/>
          </a:xfrm>
          <a:prstGeom prst="rect">
            <a:avLst/>
          </a:prstGeom>
          <a:solidFill>
            <a:srgbClr val="162050"/>
          </a:solidFill>
          <a:ln cap="flat" cmpd="sng" w="12700">
            <a:solidFill>
              <a:srgbClr val="2A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0" name="Google Shape;420;g3d3a3540611_0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4264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d3a3540611_0_163"/>
          <p:cNvSpPr/>
          <p:nvPr/>
        </p:nvSpPr>
        <p:spPr>
          <a:xfrm>
            <a:off x="1325880" y="1371600"/>
            <a:ext cx="6766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Expand Arduino code to control all 4 MG996R servo joints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d3a3540611_0_163"/>
          <p:cNvSpPr/>
          <p:nvPr/>
        </p:nvSpPr>
        <p:spPr>
          <a:xfrm>
            <a:off x="822960" y="1956816"/>
            <a:ext cx="7498200" cy="548700"/>
          </a:xfrm>
          <a:prstGeom prst="rect">
            <a:avLst/>
          </a:prstGeom>
          <a:solidFill>
            <a:srgbClr val="162050"/>
          </a:solidFill>
          <a:ln cap="flat" cmpd="sng" w="12700">
            <a:solidFill>
              <a:srgbClr val="2A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3" name="Google Shape;423;g3d3a3540611_0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21031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d3a3540611_0_163"/>
          <p:cNvSpPr/>
          <p:nvPr/>
        </p:nvSpPr>
        <p:spPr>
          <a:xfrm>
            <a:off x="1325880" y="2048256"/>
            <a:ext cx="6766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 base DC gearmotor (JGA25-370) with PID control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d3a3540611_0_163"/>
          <p:cNvSpPr/>
          <p:nvPr/>
        </p:nvSpPr>
        <p:spPr>
          <a:xfrm>
            <a:off x="822960" y="2633472"/>
            <a:ext cx="7498200" cy="548700"/>
          </a:xfrm>
          <a:prstGeom prst="rect">
            <a:avLst/>
          </a:prstGeom>
          <a:solidFill>
            <a:srgbClr val="162050"/>
          </a:solidFill>
          <a:ln cap="flat" cmpd="sng" w="12700">
            <a:solidFill>
              <a:srgbClr val="2A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6" name="Google Shape;426;g3d3a3540611_0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27797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d3a3540611_0_163"/>
          <p:cNvSpPr/>
          <p:nvPr/>
        </p:nvSpPr>
        <p:spPr>
          <a:xfrm>
            <a:off x="1325880" y="2724912"/>
            <a:ext cx="6766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 Python serial interface on PC to send commands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d3a3540611_0_163"/>
          <p:cNvSpPr/>
          <p:nvPr/>
        </p:nvSpPr>
        <p:spPr>
          <a:xfrm>
            <a:off x="822960" y="3310128"/>
            <a:ext cx="7498200" cy="548700"/>
          </a:xfrm>
          <a:prstGeom prst="rect">
            <a:avLst/>
          </a:prstGeom>
          <a:solidFill>
            <a:srgbClr val="162050"/>
          </a:solidFill>
          <a:ln cap="flat" cmpd="sng" w="12700">
            <a:solidFill>
              <a:srgbClr val="2A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g3d3a3540611_0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34564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d3a3540611_0_163"/>
          <p:cNvSpPr/>
          <p:nvPr/>
        </p:nvSpPr>
        <p:spPr>
          <a:xfrm>
            <a:off x="1325880" y="3401568"/>
            <a:ext cx="6766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serial communication between PC (Python) and Arduino R4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d3a3540611_0_163"/>
          <p:cNvSpPr/>
          <p:nvPr/>
        </p:nvSpPr>
        <p:spPr>
          <a:xfrm>
            <a:off x="822960" y="3986784"/>
            <a:ext cx="7498200" cy="548700"/>
          </a:xfrm>
          <a:prstGeom prst="rect">
            <a:avLst/>
          </a:prstGeom>
          <a:solidFill>
            <a:srgbClr val="162050"/>
          </a:solidFill>
          <a:ln cap="flat" cmpd="sng" w="12700">
            <a:solidFill>
              <a:srgbClr val="2A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2" name="Google Shape;432;g3d3a3540611_0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41330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g3d3a3540611_0_163"/>
          <p:cNvSpPr/>
          <p:nvPr/>
        </p:nvSpPr>
        <p:spPr>
          <a:xfrm>
            <a:off x="1325880" y="4078224"/>
            <a:ext cx="6766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Begin physical assembly of servo joints on the arm structure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d3a3540611_0_163"/>
          <p:cNvSpPr/>
          <p:nvPr/>
        </p:nvSpPr>
        <p:spPr>
          <a:xfrm>
            <a:off x="0" y="4873752"/>
            <a:ext cx="9144000" cy="269700"/>
          </a:xfrm>
          <a:prstGeom prst="rect">
            <a:avLst/>
          </a:prstGeom>
          <a:solidFill>
            <a:srgbClr val="162050"/>
          </a:solidFill>
          <a:ln cap="flat" cmpd="sng" w="12700">
            <a:solidFill>
              <a:srgbClr val="16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d3a3540611_0_163"/>
          <p:cNvSpPr/>
          <p:nvPr/>
        </p:nvSpPr>
        <p:spPr>
          <a:xfrm>
            <a:off x="0" y="4892040"/>
            <a:ext cx="9144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 •  Week 4  •  Mohamed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Helal — Member  ·  CAD &amp; 3D Printing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347472" y="786384"/>
            <a:ext cx="4114800" cy="1572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347472" y="786384"/>
            <a:ext cx="4114800" cy="25603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438912" y="78638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Accomplished (since last report)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457200" y="10789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Scaled up part dimensions for better structural fit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457200" y="13716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Added motor mounting screw holes and alignment fittings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457200" y="16642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Designed internal wiring paths and cable channels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457200" y="195681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Began 3D printing of completed parts for fit testing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347472" y="2432304"/>
            <a:ext cx="411480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347472" y="2432304"/>
            <a:ext cx="4114800" cy="25603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438912" y="243230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457200" y="2724912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3D printing of arm link parts — ongoing as parts clear review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347472" y="3346704"/>
            <a:ext cx="4114800" cy="11521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347472" y="3346704"/>
            <a:ext cx="4114800" cy="256032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438912" y="334670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week plan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457200" y="36393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Complete wrist joint CAD model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457200" y="395020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Begin end effector CAD design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4663440" y="786384"/>
            <a:ext cx="4206240" cy="20848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4663440" y="786384"/>
            <a:ext cx="4206240" cy="2560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4754880" y="78638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 (show, don't tell)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4663440" y="2944368"/>
            <a:ext cx="420624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4663440" y="2944368"/>
            <a:ext cx="4206240" cy="25603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4754880" y="294436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Help needed / questions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4773168" y="3255264"/>
            <a:ext cx="3931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Finalising suction cup mount dimensions depends on pump selection — need pump decision to complete end effector CAD.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905" y="1064579"/>
            <a:ext cx="1854874" cy="1784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3"/>
          <p:cNvPicPr preferRelativeResize="0"/>
          <p:nvPr/>
        </p:nvPicPr>
        <p:blipFill rotWithShape="1">
          <a:blip r:embed="rId4">
            <a:alphaModFix/>
          </a:blip>
          <a:srcRect b="0" l="15561" r="14151" t="0"/>
          <a:stretch/>
        </p:blipFill>
        <p:spPr>
          <a:xfrm>
            <a:off x="6627527" y="1072840"/>
            <a:ext cx="1751636" cy="18349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rive.google.com/drive/folders/16PpQqSPqGyP2jUV5lGw4FqbkQXux5cXI?usp=drive_link" id="470" name="Google Shape;470;p13" title="4_-_File_types_to_know-01.png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8175" y="2176288"/>
            <a:ext cx="640075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3a3540611_0_70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d3a3540611_0_70"/>
          <p:cNvSpPr/>
          <p:nvPr/>
        </p:nvSpPr>
        <p:spPr>
          <a:xfrm>
            <a:off x="6583680" y="-1097280"/>
            <a:ext cx="4206300" cy="4206300"/>
          </a:xfrm>
          <a:prstGeom prst="ellipse">
            <a:avLst/>
          </a:prstGeom>
          <a:solidFill>
            <a:srgbClr val="028090">
              <a:alpha val="12160"/>
            </a:srgbClr>
          </a:solidFill>
          <a:ln cap="flat" cmpd="sng" w="12700">
            <a:solidFill>
              <a:srgbClr val="028090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d3a3540611_0_70"/>
          <p:cNvSpPr/>
          <p:nvPr/>
        </p:nvSpPr>
        <p:spPr>
          <a:xfrm>
            <a:off x="7315200" y="3474720"/>
            <a:ext cx="2194500" cy="2194500"/>
          </a:xfrm>
          <a:prstGeom prst="ellipse">
            <a:avLst/>
          </a:prstGeom>
          <a:solidFill>
            <a:srgbClr val="028090">
              <a:alpha val="7840"/>
            </a:srgbClr>
          </a:solidFill>
          <a:ln cap="flat" cmpd="sng" w="12700">
            <a:solidFill>
              <a:srgbClr val="02809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d3a3540611_0_70"/>
          <p:cNvSpPr/>
          <p:nvPr/>
        </p:nvSpPr>
        <p:spPr>
          <a:xfrm>
            <a:off x="411480" y="384048"/>
            <a:ext cx="7315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d3a3540611_0_70"/>
          <p:cNvSpPr/>
          <p:nvPr/>
        </p:nvSpPr>
        <p:spPr>
          <a:xfrm>
            <a:off x="411480" y="804672"/>
            <a:ext cx="7315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d3a3540611_0_70"/>
          <p:cNvSpPr/>
          <p:nvPr/>
        </p:nvSpPr>
        <p:spPr>
          <a:xfrm>
            <a:off x="411480" y="1609344"/>
            <a:ext cx="4572000" cy="36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d3a3540611_0_70"/>
          <p:cNvSpPr/>
          <p:nvPr/>
        </p:nvSpPr>
        <p:spPr>
          <a:xfrm>
            <a:off x="411480" y="1755648"/>
            <a:ext cx="5577900" cy="365700"/>
          </a:xfrm>
          <a:prstGeom prst="rect">
            <a:avLst/>
          </a:prstGeom>
          <a:solidFill>
            <a:srgbClr val="FFFFFF">
              <a:alpha val="588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d3a3540611_0_70"/>
          <p:cNvSpPr/>
          <p:nvPr/>
        </p:nvSpPr>
        <p:spPr>
          <a:xfrm>
            <a:off x="411480" y="1755648"/>
            <a:ext cx="54900" cy="365700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d3a3540611_0_70"/>
          <p:cNvSpPr/>
          <p:nvPr/>
        </p:nvSpPr>
        <p:spPr>
          <a:xfrm>
            <a:off x="530352" y="1755648"/>
            <a:ext cx="27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d3a3540611_0_70"/>
          <p:cNvSpPr/>
          <p:nvPr/>
        </p:nvSpPr>
        <p:spPr>
          <a:xfrm>
            <a:off x="859536" y="1755648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Camera secured — vision hardware confirmed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d3a3540611_0_70"/>
          <p:cNvSpPr/>
          <p:nvPr/>
        </p:nvSpPr>
        <p:spPr>
          <a:xfrm>
            <a:off x="411480" y="2194560"/>
            <a:ext cx="5577900" cy="365700"/>
          </a:xfrm>
          <a:prstGeom prst="rect">
            <a:avLst/>
          </a:prstGeom>
          <a:solidFill>
            <a:srgbClr val="FFFFFF">
              <a:alpha val="588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d3a3540611_0_70"/>
          <p:cNvSpPr/>
          <p:nvPr/>
        </p:nvSpPr>
        <p:spPr>
          <a:xfrm>
            <a:off x="411480" y="2194560"/>
            <a:ext cx="54900" cy="365700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d3a3540611_0_70"/>
          <p:cNvSpPr/>
          <p:nvPr/>
        </p:nvSpPr>
        <p:spPr>
          <a:xfrm>
            <a:off x="530352" y="2194560"/>
            <a:ext cx="27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d3a3540611_0_70"/>
          <p:cNvSpPr/>
          <p:nvPr/>
        </p:nvSpPr>
        <p:spPr>
          <a:xfrm>
            <a:off x="859536" y="219456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Detection approach decided: OpenCV, no AI 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d3a3540611_0_70"/>
          <p:cNvSpPr/>
          <p:nvPr/>
        </p:nvSpPr>
        <p:spPr>
          <a:xfrm>
            <a:off x="411480" y="2633472"/>
            <a:ext cx="5577900" cy="365700"/>
          </a:xfrm>
          <a:prstGeom prst="rect">
            <a:avLst/>
          </a:prstGeom>
          <a:solidFill>
            <a:srgbClr val="FFFFFF">
              <a:alpha val="588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d3a3540611_0_70"/>
          <p:cNvSpPr/>
          <p:nvPr/>
        </p:nvSpPr>
        <p:spPr>
          <a:xfrm>
            <a:off x="411480" y="2633472"/>
            <a:ext cx="54900" cy="365700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d3a3540611_0_70"/>
          <p:cNvSpPr/>
          <p:nvPr/>
        </p:nvSpPr>
        <p:spPr>
          <a:xfrm>
            <a:off x="530352" y="2633472"/>
            <a:ext cx="27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d3a3540611_0_70"/>
          <p:cNvSpPr/>
          <p:nvPr/>
        </p:nvSpPr>
        <p:spPr>
          <a:xfrm>
            <a:off x="859536" y="2633472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Electrical components procured, Arduino code tested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d3a3540611_0_70"/>
          <p:cNvSpPr/>
          <p:nvPr/>
        </p:nvSpPr>
        <p:spPr>
          <a:xfrm>
            <a:off x="411480" y="3072384"/>
            <a:ext cx="5577900" cy="365700"/>
          </a:xfrm>
          <a:prstGeom prst="rect">
            <a:avLst/>
          </a:prstGeom>
          <a:solidFill>
            <a:srgbClr val="FFFFFF">
              <a:alpha val="588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d3a3540611_0_70"/>
          <p:cNvSpPr/>
          <p:nvPr/>
        </p:nvSpPr>
        <p:spPr>
          <a:xfrm>
            <a:off x="411480" y="3072384"/>
            <a:ext cx="54900" cy="365700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d3a3540611_0_70"/>
          <p:cNvSpPr/>
          <p:nvPr/>
        </p:nvSpPr>
        <p:spPr>
          <a:xfrm>
            <a:off x="530352" y="3072384"/>
            <a:ext cx="27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g3d3a3540611_0_70"/>
          <p:cNvSpPr/>
          <p:nvPr/>
        </p:nvSpPr>
        <p:spPr>
          <a:xfrm>
            <a:off x="859536" y="3072384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CAD updated — parts scaled, motor mounts &amp; wiring channels added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d3a3540611_0_70"/>
          <p:cNvSpPr/>
          <p:nvPr/>
        </p:nvSpPr>
        <p:spPr>
          <a:xfrm>
            <a:off x="411480" y="3511296"/>
            <a:ext cx="5577900" cy="365700"/>
          </a:xfrm>
          <a:prstGeom prst="rect">
            <a:avLst/>
          </a:prstGeom>
          <a:solidFill>
            <a:srgbClr val="FFFFFF">
              <a:alpha val="588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d3a3540611_0_70"/>
          <p:cNvSpPr/>
          <p:nvPr/>
        </p:nvSpPr>
        <p:spPr>
          <a:xfrm>
            <a:off x="411480" y="3511296"/>
            <a:ext cx="54900" cy="3657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d3a3540611_0_70"/>
          <p:cNvSpPr/>
          <p:nvPr/>
        </p:nvSpPr>
        <p:spPr>
          <a:xfrm>
            <a:off x="530352" y="3511296"/>
            <a:ext cx="27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d3a3540611_0_70"/>
          <p:cNvSpPr/>
          <p:nvPr/>
        </p:nvSpPr>
        <p:spPr>
          <a:xfrm>
            <a:off x="859536" y="3511296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CAD wrist joint &amp; end effector still in progress (target Week 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d3a3540611_0_70"/>
          <p:cNvSpPr/>
          <p:nvPr/>
        </p:nvSpPr>
        <p:spPr>
          <a:xfrm>
            <a:off x="411480" y="3950208"/>
            <a:ext cx="5577900" cy="365700"/>
          </a:xfrm>
          <a:prstGeom prst="rect">
            <a:avLst/>
          </a:prstGeom>
          <a:solidFill>
            <a:srgbClr val="FFFFFF">
              <a:alpha val="588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d3a3540611_0_70"/>
          <p:cNvSpPr/>
          <p:nvPr/>
        </p:nvSpPr>
        <p:spPr>
          <a:xfrm>
            <a:off x="411480" y="3950208"/>
            <a:ext cx="54900" cy="3657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d3a3540611_0_70"/>
          <p:cNvSpPr/>
          <p:nvPr/>
        </p:nvSpPr>
        <p:spPr>
          <a:xfrm>
            <a:off x="530352" y="3950208"/>
            <a:ext cx="27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d3a3540611_0_70"/>
          <p:cNvSpPr/>
          <p:nvPr/>
        </p:nvSpPr>
        <p:spPr>
          <a:xfrm>
            <a:off x="859536" y="3950208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Suction pump selection still pending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d3a3540611_0_70"/>
          <p:cNvSpPr/>
          <p:nvPr/>
        </p:nvSpPr>
        <p:spPr>
          <a:xfrm>
            <a:off x="6263640" y="1755648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Looking ahead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d3a3540611_0_70"/>
          <p:cNvSpPr/>
          <p:nvPr/>
        </p:nvSpPr>
        <p:spPr>
          <a:xfrm>
            <a:off x="6263640" y="2084832"/>
            <a:ext cx="2633400" cy="365700"/>
          </a:xfrm>
          <a:prstGeom prst="rect">
            <a:avLst/>
          </a:prstGeom>
          <a:solidFill>
            <a:srgbClr val="FFFFFF">
              <a:alpha val="588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d3a3540611_0_70"/>
          <p:cNvSpPr/>
          <p:nvPr/>
        </p:nvSpPr>
        <p:spPr>
          <a:xfrm>
            <a:off x="6263640" y="2084832"/>
            <a:ext cx="54900" cy="3657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d3a3540611_0_70"/>
          <p:cNvSpPr/>
          <p:nvPr/>
        </p:nvSpPr>
        <p:spPr>
          <a:xfrm>
            <a:off x="6364224" y="2157984"/>
            <a:ext cx="658500" cy="219600"/>
          </a:xfrm>
          <a:prstGeom prst="roundRect">
            <a:avLst>
              <a:gd fmla="val 16667" name="adj"/>
            </a:avLst>
          </a:prstGeom>
          <a:solidFill>
            <a:srgbClr val="028090">
              <a:alpha val="20000"/>
            </a:srgbClr>
          </a:solidFill>
          <a:ln cap="flat" cmpd="sng" w="12700">
            <a:solidFill>
              <a:srgbClr val="028090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d3a3540611_0_70"/>
          <p:cNvSpPr/>
          <p:nvPr/>
        </p:nvSpPr>
        <p:spPr>
          <a:xfrm>
            <a:off x="6364224" y="2157984"/>
            <a:ext cx="658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d3a3540611_0_70"/>
          <p:cNvSpPr/>
          <p:nvPr/>
        </p:nvSpPr>
        <p:spPr>
          <a:xfrm>
            <a:off x="7077456" y="2084832"/>
            <a:ext cx="173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OpenCV pipeline + serial integration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d3a3540611_0_70"/>
          <p:cNvSpPr/>
          <p:nvPr/>
        </p:nvSpPr>
        <p:spPr>
          <a:xfrm>
            <a:off x="6263640" y="2523744"/>
            <a:ext cx="2633400" cy="365700"/>
          </a:xfrm>
          <a:prstGeom prst="rect">
            <a:avLst/>
          </a:prstGeom>
          <a:solidFill>
            <a:srgbClr val="FFFFFF">
              <a:alpha val="588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d3a3540611_0_70"/>
          <p:cNvSpPr/>
          <p:nvPr/>
        </p:nvSpPr>
        <p:spPr>
          <a:xfrm>
            <a:off x="6263640" y="2523744"/>
            <a:ext cx="54900" cy="365700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d3a3540611_0_70"/>
          <p:cNvSpPr/>
          <p:nvPr/>
        </p:nvSpPr>
        <p:spPr>
          <a:xfrm>
            <a:off x="6364224" y="2596896"/>
            <a:ext cx="658500" cy="219600"/>
          </a:xfrm>
          <a:prstGeom prst="roundRect">
            <a:avLst>
              <a:gd fmla="val 16667" name="adj"/>
            </a:avLst>
          </a:prstGeom>
          <a:solidFill>
            <a:srgbClr val="E06530">
              <a:alpha val="20000"/>
            </a:srgbClr>
          </a:solidFill>
          <a:ln cap="flat" cmpd="sng" w="12700">
            <a:solidFill>
              <a:srgbClr val="E06530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d3a3540611_0_70"/>
          <p:cNvSpPr/>
          <p:nvPr/>
        </p:nvSpPr>
        <p:spPr>
          <a:xfrm>
            <a:off x="6364224" y="2596896"/>
            <a:ext cx="658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d3a3540611_0_70"/>
          <p:cNvSpPr/>
          <p:nvPr/>
        </p:nvSpPr>
        <p:spPr>
          <a:xfrm>
            <a:off x="7077456" y="2523744"/>
            <a:ext cx="173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Pump testing &amp; selection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d3a3540611_0_70"/>
          <p:cNvSpPr/>
          <p:nvPr/>
        </p:nvSpPr>
        <p:spPr>
          <a:xfrm>
            <a:off x="6263640" y="2962656"/>
            <a:ext cx="2633400" cy="365700"/>
          </a:xfrm>
          <a:prstGeom prst="rect">
            <a:avLst/>
          </a:prstGeom>
          <a:solidFill>
            <a:srgbClr val="FFFFFF">
              <a:alpha val="588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d3a3540611_0_70"/>
          <p:cNvSpPr/>
          <p:nvPr/>
        </p:nvSpPr>
        <p:spPr>
          <a:xfrm>
            <a:off x="6263640" y="2962656"/>
            <a:ext cx="54900" cy="3657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d3a3540611_0_70"/>
          <p:cNvSpPr/>
          <p:nvPr/>
        </p:nvSpPr>
        <p:spPr>
          <a:xfrm>
            <a:off x="6364224" y="3035808"/>
            <a:ext cx="658500" cy="219600"/>
          </a:xfrm>
          <a:prstGeom prst="roundRect">
            <a:avLst>
              <a:gd fmla="val 16667" name="adj"/>
            </a:avLst>
          </a:prstGeom>
          <a:solidFill>
            <a:srgbClr val="E8A020">
              <a:alpha val="20000"/>
            </a:srgbClr>
          </a:solidFill>
          <a:ln cap="flat" cmpd="sng" w="12700">
            <a:solidFill>
              <a:srgbClr val="E8A020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d3a3540611_0_70"/>
          <p:cNvSpPr/>
          <p:nvPr/>
        </p:nvSpPr>
        <p:spPr>
          <a:xfrm>
            <a:off x="6364224" y="3035808"/>
            <a:ext cx="658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g3d3a3540611_0_70"/>
          <p:cNvSpPr/>
          <p:nvPr/>
        </p:nvSpPr>
        <p:spPr>
          <a:xfrm>
            <a:off x="7077456" y="2962656"/>
            <a:ext cx="173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CAD fully complete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d3a3540611_0_70"/>
          <p:cNvSpPr/>
          <p:nvPr/>
        </p:nvSpPr>
        <p:spPr>
          <a:xfrm>
            <a:off x="6263640" y="3401568"/>
            <a:ext cx="2633400" cy="365700"/>
          </a:xfrm>
          <a:prstGeom prst="rect">
            <a:avLst/>
          </a:prstGeom>
          <a:solidFill>
            <a:srgbClr val="FFFFFF">
              <a:alpha val="588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d3a3540611_0_70"/>
          <p:cNvSpPr/>
          <p:nvPr/>
        </p:nvSpPr>
        <p:spPr>
          <a:xfrm>
            <a:off x="6263640" y="3401568"/>
            <a:ext cx="54900" cy="3657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d3a3540611_0_70"/>
          <p:cNvSpPr/>
          <p:nvPr/>
        </p:nvSpPr>
        <p:spPr>
          <a:xfrm>
            <a:off x="6364224" y="3474720"/>
            <a:ext cx="658500" cy="219600"/>
          </a:xfrm>
          <a:prstGeom prst="roundRect">
            <a:avLst>
              <a:gd fmla="val 16667" name="adj"/>
            </a:avLst>
          </a:prstGeom>
          <a:solidFill>
            <a:srgbClr val="028090">
              <a:alpha val="20000"/>
            </a:srgbClr>
          </a:solidFill>
          <a:ln cap="flat" cmpd="sng" w="12700">
            <a:solidFill>
              <a:srgbClr val="028090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d3a3540611_0_70"/>
          <p:cNvSpPr/>
          <p:nvPr/>
        </p:nvSpPr>
        <p:spPr>
          <a:xfrm>
            <a:off x="6364224" y="3474720"/>
            <a:ext cx="658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d3a3540611_0_70"/>
          <p:cNvSpPr/>
          <p:nvPr/>
        </p:nvSpPr>
        <p:spPr>
          <a:xfrm>
            <a:off x="7077456" y="3401568"/>
            <a:ext cx="173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Camera vision system complete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d3a3540611_0_70"/>
          <p:cNvSpPr/>
          <p:nvPr/>
        </p:nvSpPr>
        <p:spPr>
          <a:xfrm>
            <a:off x="6263640" y="3840480"/>
            <a:ext cx="2633400" cy="365700"/>
          </a:xfrm>
          <a:prstGeom prst="rect">
            <a:avLst/>
          </a:prstGeom>
          <a:solidFill>
            <a:srgbClr val="FFFFFF">
              <a:alpha val="588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d3a3540611_0_70"/>
          <p:cNvSpPr/>
          <p:nvPr/>
        </p:nvSpPr>
        <p:spPr>
          <a:xfrm>
            <a:off x="6263640" y="3840480"/>
            <a:ext cx="54900" cy="365700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d3a3540611_0_70"/>
          <p:cNvSpPr/>
          <p:nvPr/>
        </p:nvSpPr>
        <p:spPr>
          <a:xfrm>
            <a:off x="6364224" y="3913632"/>
            <a:ext cx="658500" cy="219600"/>
          </a:xfrm>
          <a:prstGeom prst="roundRect">
            <a:avLst>
              <a:gd fmla="val 16667" name="adj"/>
            </a:avLst>
          </a:prstGeom>
          <a:solidFill>
            <a:srgbClr val="2EAD7A">
              <a:alpha val="20000"/>
            </a:srgbClr>
          </a:solidFill>
          <a:ln cap="flat" cmpd="sng" w="12700">
            <a:solidFill>
              <a:srgbClr val="2EAD7A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d3a3540611_0_70"/>
          <p:cNvSpPr/>
          <p:nvPr/>
        </p:nvSpPr>
        <p:spPr>
          <a:xfrm>
            <a:off x="6364224" y="3913632"/>
            <a:ext cx="658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d3a3540611_0_70"/>
          <p:cNvSpPr/>
          <p:nvPr/>
        </p:nvSpPr>
        <p:spPr>
          <a:xfrm>
            <a:off x="7077456" y="3840480"/>
            <a:ext cx="173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End effector complete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d3a3540611_0_70"/>
          <p:cNvSpPr/>
          <p:nvPr/>
        </p:nvSpPr>
        <p:spPr>
          <a:xfrm>
            <a:off x="6263640" y="4279392"/>
            <a:ext cx="2633400" cy="365700"/>
          </a:xfrm>
          <a:prstGeom prst="rect">
            <a:avLst/>
          </a:prstGeom>
          <a:solidFill>
            <a:srgbClr val="FFFFFF">
              <a:alpha val="588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d3a3540611_0_70"/>
          <p:cNvSpPr/>
          <p:nvPr/>
        </p:nvSpPr>
        <p:spPr>
          <a:xfrm>
            <a:off x="6263640" y="4279392"/>
            <a:ext cx="54900" cy="365700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d3a3540611_0_70"/>
          <p:cNvSpPr/>
          <p:nvPr/>
        </p:nvSpPr>
        <p:spPr>
          <a:xfrm>
            <a:off x="6364224" y="4352544"/>
            <a:ext cx="658500" cy="219600"/>
          </a:xfrm>
          <a:prstGeom prst="roundRect">
            <a:avLst>
              <a:gd fmla="val 16667" name="adj"/>
            </a:avLst>
          </a:prstGeom>
          <a:solidFill>
            <a:srgbClr val="6B4E9E">
              <a:alpha val="20000"/>
            </a:srgbClr>
          </a:solidFill>
          <a:ln cap="flat" cmpd="sng" w="12700">
            <a:solidFill>
              <a:srgbClr val="6B4E9E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d3a3540611_0_70"/>
          <p:cNvSpPr/>
          <p:nvPr/>
        </p:nvSpPr>
        <p:spPr>
          <a:xfrm>
            <a:off x="6364224" y="4352544"/>
            <a:ext cx="658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d3a3540611_0_70"/>
          <p:cNvSpPr/>
          <p:nvPr/>
        </p:nvSpPr>
        <p:spPr>
          <a:xfrm>
            <a:off x="7077456" y="4279392"/>
            <a:ext cx="173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Assembly + digital twin (Gazebo)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g3d3a3540611_0_70"/>
          <p:cNvSpPr/>
          <p:nvPr/>
        </p:nvSpPr>
        <p:spPr>
          <a:xfrm>
            <a:off x="274320" y="4919472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2026-03-31T10:53:48Z</dcterms:created>
  <dc:creator>PptxGenJS</dc:creator>
</cp:coreProperties>
</file>