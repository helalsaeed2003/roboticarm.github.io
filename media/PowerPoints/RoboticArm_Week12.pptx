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8090"/>
          </a:solidFill>
          <a:ln w="12700">
            <a:solidFill>
              <a:srgbClr val="028090"/>
            </a:solidFill>
            <a:prstDash val="solid"/>
          </a:ln>
        </p:spPr>
      </p:sp>
      <p:sp>
        <p:nvSpPr>
          <p:cNvPr id="3" name="Shape 1"/>
          <p:cNvSpPr/>
          <p:nvPr/>
        </p:nvSpPr>
        <p:spPr>
          <a:xfrm>
            <a:off x="6949440" y="-1280160"/>
            <a:ext cx="3840480" cy="3840480"/>
          </a:xfrm>
          <a:prstGeom prst="ellipse">
            <a:avLst/>
          </a:prstGeom>
          <a:solidFill>
            <a:srgbClr val="028090">
              <a:alpha val="15000"/>
            </a:srgbClr>
          </a:solidFill>
          <a:ln w="12700">
            <a:solidFill>
              <a:srgbClr val="028090">
                <a:alpha val="15000"/>
              </a:srgbClr>
            </a:solidFill>
            <a:prstDash val="solid"/>
          </a:ln>
        </p:spPr>
      </p:sp>
      <p:sp>
        <p:nvSpPr>
          <p:cNvPr id="4" name="Shape 2"/>
          <p:cNvSpPr/>
          <p:nvPr/>
        </p:nvSpPr>
        <p:spPr>
          <a:xfrm>
            <a:off x="7680960" y="3291840"/>
            <a:ext cx="2011680" cy="2011680"/>
          </a:xfrm>
          <a:prstGeom prst="ellipse">
            <a:avLst/>
          </a:prstGeom>
          <a:solidFill>
            <a:srgbClr val="028090">
              <a:alpha val="10000"/>
            </a:srgbClr>
          </a:solidFill>
          <a:ln w="12700">
            <a:solidFill>
              <a:srgbClr val="028090">
                <a:alpha val="10000"/>
              </a:srgbClr>
            </a:solidFill>
            <a:prstDash val="solid"/>
          </a:ln>
        </p:spPr>
      </p:sp>
      <p:sp>
        <p:nvSpPr>
          <p:cNvPr id="5" name="Shape 3"/>
          <p:cNvSpPr/>
          <p:nvPr/>
        </p:nvSpPr>
        <p:spPr>
          <a:xfrm>
            <a:off x="438912" y="777240"/>
            <a:ext cx="1371600" cy="329184"/>
          </a:xfrm>
          <a:prstGeom prst="roundRect">
            <a:avLst>
              <a:gd name="adj" fmla="val 16667"/>
            </a:avLst>
          </a:prstGeom>
          <a:solidFill>
            <a:srgbClr val="028090"/>
          </a:solidFill>
          <a:ln w="12700">
            <a:solidFill>
              <a:srgbClr val="028090"/>
            </a:solidFill>
            <a:prstDash val="solid"/>
          </a:ln>
        </p:spPr>
      </p:sp>
      <p:sp>
        <p:nvSpPr>
          <p:cNvPr id="6" name="Text 4"/>
          <p:cNvSpPr/>
          <p:nvPr/>
        </p:nvSpPr>
        <p:spPr>
          <a:xfrm>
            <a:off x="438912" y="777240"/>
            <a:ext cx="1371600" cy="329184"/>
          </a:xfrm>
          <a:prstGeom prst="rect">
            <a:avLst/>
          </a:prstGeom>
          <a:noFill/>
          <a:ln/>
        </p:spPr>
        <p:txBody>
          <a:bodyPr wrap="square" lIns="0" tIns="0" rIns="0" bIns="0" rtlCol="0" anchor="ctr"/>
          <a:lstStyle/>
          <a:p>
            <a:pPr algn="ctr" indent="0" marL="0">
              <a:buNone/>
            </a:pPr>
            <a:r>
              <a:rPr lang="en-US" sz="1000" b="1" spc="200" kern="0" dirty="0">
                <a:solidFill>
                  <a:srgbClr val="FFFFFF"/>
                </a:solidFill>
              </a:rPr>
              <a:t>WEEK 12</a:t>
            </a:r>
            <a:endParaRPr lang="en-US" sz="1000" dirty="0"/>
          </a:p>
        </p:txBody>
      </p:sp>
      <p:sp>
        <p:nvSpPr>
          <p:cNvPr id="7" name="Text 5"/>
          <p:cNvSpPr/>
          <p:nvPr/>
        </p:nvSpPr>
        <p:spPr>
          <a:xfrm>
            <a:off x="384048" y="1353312"/>
            <a:ext cx="7772400" cy="868680"/>
          </a:xfrm>
          <a:prstGeom prst="rect">
            <a:avLst/>
          </a:prstGeom>
          <a:noFill/>
          <a:ln/>
        </p:spPr>
        <p:txBody>
          <a:bodyPr wrap="square"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Robotic Arm</a:t>
            </a:r>
            <a:endParaRPr lang="en-US" sz="5200" dirty="0"/>
          </a:p>
        </p:txBody>
      </p:sp>
      <p:sp>
        <p:nvSpPr>
          <p:cNvPr id="8" name="Text 6"/>
          <p:cNvSpPr/>
          <p:nvPr/>
        </p:nvSpPr>
        <p:spPr>
          <a:xfrm>
            <a:off x="384048" y="2176272"/>
            <a:ext cx="7772400" cy="594360"/>
          </a:xfrm>
          <a:prstGeom prst="rect">
            <a:avLst/>
          </a:prstGeom>
          <a:noFill/>
          <a:ln/>
        </p:spPr>
        <p:txBody>
          <a:bodyPr wrap="square" rtlCol="0" anchor="ctr"/>
          <a:lstStyle/>
          <a:p>
            <a:pPr indent="0" marL="0">
              <a:buNone/>
            </a:pPr>
            <a:r>
              <a:rPr lang="en-US" sz="3000" dirty="0">
                <a:solidFill>
                  <a:srgbClr val="C8E6F5"/>
                </a:solidFill>
                <a:latin typeface="Calibri" pitchFamily="34" charset="0"/>
                <a:ea typeface="Calibri" pitchFamily="34" charset="-122"/>
                <a:cs typeface="Calibri" pitchFamily="34" charset="-120"/>
              </a:rPr>
              <a:t>Pick &amp; Place System</a:t>
            </a:r>
            <a:endParaRPr lang="en-US" sz="3000" dirty="0"/>
          </a:p>
        </p:txBody>
      </p:sp>
      <p:sp>
        <p:nvSpPr>
          <p:cNvPr id="9" name="Shape 7"/>
          <p:cNvSpPr/>
          <p:nvPr/>
        </p:nvSpPr>
        <p:spPr>
          <a:xfrm>
            <a:off x="384048" y="2907792"/>
            <a:ext cx="4572000" cy="36576"/>
          </a:xfrm>
          <a:prstGeom prst="rect">
            <a:avLst/>
          </a:prstGeom>
          <a:solidFill>
            <a:srgbClr val="028090"/>
          </a:solidFill>
          <a:ln w="12700">
            <a:solidFill>
              <a:srgbClr val="028090"/>
            </a:solidFill>
            <a:prstDash val="solid"/>
          </a:ln>
        </p:spPr>
      </p:sp>
      <p:sp>
        <p:nvSpPr>
          <p:cNvPr id="10" name="Text 8"/>
          <p:cNvSpPr/>
          <p:nvPr/>
        </p:nvSpPr>
        <p:spPr>
          <a:xfrm>
            <a:off x="384048" y="3090672"/>
            <a:ext cx="7772400" cy="329184"/>
          </a:xfrm>
          <a:prstGeom prst="rect">
            <a:avLst/>
          </a:prstGeom>
          <a:noFill/>
          <a:ln/>
        </p:spPr>
        <p:txBody>
          <a:bodyPr wrap="square" rtlCol="0" anchor="ctr"/>
          <a:lstStyle/>
          <a:p>
            <a:pPr indent="0" marL="0">
              <a:buNone/>
            </a:pPr>
            <a:r>
              <a:rPr lang="en-US" sz="1300" dirty="0">
                <a:solidFill>
                  <a:srgbClr val="8494A8"/>
                </a:solidFill>
                <a:latin typeface="Calibri" pitchFamily="34" charset="0"/>
                <a:ea typeface="Calibri" pitchFamily="34" charset="-122"/>
                <a:cs typeface="Calibri" pitchFamily="34" charset="-120"/>
              </a:rPr>
              <a:t>Weekly Progress Report  ·  Mechatronics System Design 101</a:t>
            </a:r>
            <a:endParaRPr lang="en-US" sz="1300" dirty="0"/>
          </a:p>
        </p:txBody>
      </p:sp>
      <p:sp>
        <p:nvSpPr>
          <p:cNvPr id="11" name="Text 9"/>
          <p:cNvSpPr/>
          <p:nvPr/>
        </p:nvSpPr>
        <p:spPr>
          <a:xfrm>
            <a:off x="384048" y="4462272"/>
            <a:ext cx="8412480" cy="292608"/>
          </a:xfrm>
          <a:prstGeom prst="rect">
            <a:avLst/>
          </a:prstGeom>
          <a:noFill/>
          <a:ln/>
        </p:spPr>
        <p:txBody>
          <a:bodyPr wrap="square" rtlCol="0" anchor="ctr"/>
          <a:lstStyle/>
          <a:p>
            <a:pPr indent="0" marL="0">
              <a:buNone/>
            </a:pPr>
            <a:r>
              <a:rPr lang="en-US" sz="1100" i="1" dirty="0">
                <a:solidFill>
                  <a:srgbClr val="8494A8"/>
                </a:solidFill>
                <a:latin typeface="Calibri" pitchFamily="34" charset="0"/>
                <a:ea typeface="Calibri" pitchFamily="34" charset="-122"/>
                <a:cs typeface="Calibri" pitchFamily="34" charset="-120"/>
              </a:rPr>
              <a:t>Leen's Group  ·  Leen  ·  Mohamed  ·  Helal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3E"/>
          </a:solidFill>
          <a:ln w="12700">
            <a:solidFill>
              <a:srgbClr val="0D1B3E"/>
            </a:solidFill>
            <a:prstDash val="solid"/>
          </a:ln>
        </p:spPr>
      </p:sp>
      <p:sp>
        <p:nvSpPr>
          <p:cNvPr id="3" name="Shape 1"/>
          <p:cNvSpPr/>
          <p:nvPr/>
        </p:nvSpPr>
        <p:spPr>
          <a:xfrm>
            <a:off x="0" y="0"/>
            <a:ext cx="164592" cy="5143500"/>
          </a:xfrm>
          <a:prstGeom prst="rect">
            <a:avLst/>
          </a:prstGeom>
          <a:solidFill>
            <a:srgbClr val="028090"/>
          </a:solidFill>
          <a:ln w="12700">
            <a:solidFill>
              <a:srgbClr val="028090"/>
            </a:solidFill>
            <a:prstDash val="solid"/>
          </a:ln>
        </p:spPr>
      </p:sp>
      <p:sp>
        <p:nvSpPr>
          <p:cNvPr id="4" name="Text 2"/>
          <p:cNvSpPr/>
          <p:nvPr/>
        </p:nvSpPr>
        <p:spPr>
          <a:xfrm>
            <a:off x="347472" y="0"/>
            <a:ext cx="6583680" cy="658368"/>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12 — Snapshot</a:t>
            </a:r>
            <a:endParaRPr lang="en-US" sz="2000" dirty="0"/>
          </a:p>
        </p:txBody>
      </p:sp>
      <p:sp>
        <p:nvSpPr>
          <p:cNvPr id="5" name="Text 3"/>
          <p:cNvSpPr/>
          <p:nvPr/>
        </p:nvSpPr>
        <p:spPr>
          <a:xfrm>
            <a:off x="347472" y="804672"/>
            <a:ext cx="5577840" cy="274320"/>
          </a:xfrm>
          <a:prstGeom prst="rect">
            <a:avLst/>
          </a:prstGeom>
          <a:noFill/>
          <a:ln/>
        </p:spPr>
        <p:txBody>
          <a:bodyPr wrap="square" rtlCol="0" anchor="ctr"/>
          <a:lstStyle/>
          <a:p>
            <a:pPr indent="0" marL="0">
              <a:buNone/>
            </a:pPr>
            <a:r>
              <a:rPr lang="en-US" sz="1300" b="1" dirty="0">
                <a:solidFill>
                  <a:srgbClr val="0D1B3E"/>
                </a:solidFill>
              </a:rPr>
              <a:t>What we worked on this week</a:t>
            </a:r>
            <a:endParaRPr lang="en-US" sz="1300" dirty="0"/>
          </a:p>
        </p:txBody>
      </p:sp>
      <p:sp>
        <p:nvSpPr>
          <p:cNvPr id="6" name="Shape 4"/>
          <p:cNvSpPr/>
          <p:nvPr/>
        </p:nvSpPr>
        <p:spPr>
          <a:xfrm>
            <a:off x="347472" y="1133856"/>
            <a:ext cx="2688336" cy="1609344"/>
          </a:xfrm>
          <a:prstGeom prst="rect">
            <a:avLst/>
          </a:prstGeom>
          <a:solidFill>
            <a:srgbClr val="FFFFFF"/>
          </a:solidFill>
          <a:ln w="6350">
            <a:solidFill>
              <a:srgbClr val="E0E8F0"/>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347472" y="1133856"/>
            <a:ext cx="2688336" cy="201168"/>
          </a:xfrm>
          <a:prstGeom prst="rect">
            <a:avLst/>
          </a:prstGeom>
          <a:solidFill>
            <a:srgbClr val="2EAD7A"/>
          </a:solidFill>
          <a:ln w="12700">
            <a:solidFill>
              <a:srgbClr val="2EAD7A"/>
            </a:solidFill>
            <a:prstDash val="solid"/>
          </a:ln>
        </p:spPr>
      </p:sp>
      <p:sp>
        <p:nvSpPr>
          <p:cNvPr id="8" name="Shape 6"/>
          <p:cNvSpPr/>
          <p:nvPr/>
        </p:nvSpPr>
        <p:spPr>
          <a:xfrm>
            <a:off x="475488" y="1426464"/>
            <a:ext cx="292608" cy="292608"/>
          </a:xfrm>
          <a:prstGeom prst="ellipse">
            <a:avLst/>
          </a:prstGeom>
          <a:solidFill>
            <a:srgbClr val="2EAD7A"/>
          </a:solidFill>
          <a:ln w="12700">
            <a:solidFill>
              <a:srgbClr val="2EAD7A"/>
            </a:solidFill>
            <a:prstDash val="solid"/>
          </a:ln>
        </p:spPr>
      </p:sp>
      <p:sp>
        <p:nvSpPr>
          <p:cNvPr id="9" name="Text 7"/>
          <p:cNvSpPr/>
          <p:nvPr/>
        </p:nvSpPr>
        <p:spPr>
          <a:xfrm>
            <a:off x="475488" y="1426464"/>
            <a:ext cx="292608" cy="292608"/>
          </a:xfrm>
          <a:prstGeom prst="rect">
            <a:avLst/>
          </a:prstGeom>
          <a:noFill/>
          <a:ln/>
        </p:spPr>
        <p:txBody>
          <a:bodyPr wrap="square" lIns="0" tIns="0" rIns="0" bIns="0" rtlCol="0" anchor="ctr"/>
          <a:lstStyle/>
          <a:p>
            <a:pPr algn="ctr" indent="0" marL="0">
              <a:buNone/>
            </a:pPr>
            <a:r>
              <a:rPr lang="en-US" sz="850" b="1" dirty="0">
                <a:solidFill>
                  <a:srgbClr val="FFFFFF"/>
                </a:solidFill>
              </a:rPr>
              <a:t>01</a:t>
            </a:r>
            <a:endParaRPr lang="en-US" sz="850" dirty="0"/>
          </a:p>
        </p:txBody>
      </p:sp>
      <p:sp>
        <p:nvSpPr>
          <p:cNvPr id="10" name="Text 8"/>
          <p:cNvSpPr/>
          <p:nvPr/>
        </p:nvSpPr>
        <p:spPr>
          <a:xfrm>
            <a:off x="859536" y="1389888"/>
            <a:ext cx="2066544" cy="329184"/>
          </a:xfrm>
          <a:prstGeom prst="rect">
            <a:avLst/>
          </a:prstGeom>
          <a:noFill/>
          <a:ln/>
        </p:spPr>
        <p:txBody>
          <a:bodyPr wrap="square" rtlCol="0" anchor="ctr"/>
          <a:lstStyle/>
          <a:p>
            <a:pPr indent="0" marL="0">
              <a:buNone/>
            </a:pPr>
            <a:r>
              <a:rPr lang="en-US" sz="1050" b="1" dirty="0">
                <a:solidFill>
                  <a:srgbClr val="2C3E50"/>
                </a:solidFill>
              </a:rPr>
              <a:t>Detection — simplified &amp; improved</a:t>
            </a:r>
            <a:endParaRPr lang="en-US" sz="1050" dirty="0"/>
          </a:p>
        </p:txBody>
      </p:sp>
      <p:sp>
        <p:nvSpPr>
          <p:cNvPr id="11" name="Text 9"/>
          <p:cNvSpPr/>
          <p:nvPr/>
        </p:nvSpPr>
        <p:spPr>
          <a:xfrm>
            <a:off x="475488" y="1792224"/>
            <a:ext cx="2450592" cy="877824"/>
          </a:xfrm>
          <a:prstGeom prst="rect">
            <a:avLst/>
          </a:prstGeom>
          <a:noFill/>
          <a:ln/>
        </p:spPr>
        <p:txBody>
          <a:bodyPr wrap="square" rtlCol="0" anchor="ctr"/>
          <a:lstStyle/>
          <a:p>
            <a:pPr indent="0" marL="0">
              <a:buNone/>
            </a:pPr>
            <a:r>
              <a:rPr lang="en-US" sz="950" dirty="0">
                <a:solidFill>
                  <a:srgbClr val="8494A8"/>
                </a:solidFill>
              </a:rPr>
              <a:t>Decided egg and ball are similar enough in size — system detects object presence rather than classifying type. Detection now more reliable and practical.</a:t>
            </a:r>
            <a:endParaRPr lang="en-US" sz="950" dirty="0"/>
          </a:p>
        </p:txBody>
      </p:sp>
      <p:sp>
        <p:nvSpPr>
          <p:cNvPr id="12" name="Shape 10"/>
          <p:cNvSpPr/>
          <p:nvPr/>
        </p:nvSpPr>
        <p:spPr>
          <a:xfrm>
            <a:off x="3163824" y="1133856"/>
            <a:ext cx="2688336" cy="1609344"/>
          </a:xfrm>
          <a:prstGeom prst="rect">
            <a:avLst/>
          </a:prstGeom>
          <a:solidFill>
            <a:srgbClr val="FFFFFF"/>
          </a:solidFill>
          <a:ln w="6350">
            <a:solidFill>
              <a:srgbClr val="E0E8F0"/>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3163824" y="1133856"/>
            <a:ext cx="2688336" cy="201168"/>
          </a:xfrm>
          <a:prstGeom prst="rect">
            <a:avLst/>
          </a:prstGeom>
          <a:solidFill>
            <a:srgbClr val="E8A020"/>
          </a:solidFill>
          <a:ln w="12700">
            <a:solidFill>
              <a:srgbClr val="E8A020"/>
            </a:solidFill>
            <a:prstDash val="solid"/>
          </a:ln>
        </p:spPr>
      </p:sp>
      <p:sp>
        <p:nvSpPr>
          <p:cNvPr id="14" name="Shape 12"/>
          <p:cNvSpPr/>
          <p:nvPr/>
        </p:nvSpPr>
        <p:spPr>
          <a:xfrm>
            <a:off x="3291840" y="1426464"/>
            <a:ext cx="292608" cy="292608"/>
          </a:xfrm>
          <a:prstGeom prst="ellipse">
            <a:avLst/>
          </a:prstGeom>
          <a:solidFill>
            <a:srgbClr val="E8A020"/>
          </a:solidFill>
          <a:ln w="12700">
            <a:solidFill>
              <a:srgbClr val="E8A020"/>
            </a:solidFill>
            <a:prstDash val="solid"/>
          </a:ln>
        </p:spPr>
      </p:sp>
      <p:sp>
        <p:nvSpPr>
          <p:cNvPr id="15" name="Text 13"/>
          <p:cNvSpPr/>
          <p:nvPr/>
        </p:nvSpPr>
        <p:spPr>
          <a:xfrm>
            <a:off x="3291840" y="1426464"/>
            <a:ext cx="292608" cy="292608"/>
          </a:xfrm>
          <a:prstGeom prst="rect">
            <a:avLst/>
          </a:prstGeom>
          <a:noFill/>
          <a:ln/>
        </p:spPr>
        <p:txBody>
          <a:bodyPr wrap="square" lIns="0" tIns="0" rIns="0" bIns="0" rtlCol="0" anchor="ctr"/>
          <a:lstStyle/>
          <a:p>
            <a:pPr algn="ctr" indent="0" marL="0">
              <a:buNone/>
            </a:pPr>
            <a:r>
              <a:rPr lang="en-US" sz="850" b="1" dirty="0">
                <a:solidFill>
                  <a:srgbClr val="FFFFFF"/>
                </a:solidFill>
              </a:rPr>
              <a:t>02</a:t>
            </a:r>
            <a:endParaRPr lang="en-US" sz="850" dirty="0"/>
          </a:p>
        </p:txBody>
      </p:sp>
      <p:sp>
        <p:nvSpPr>
          <p:cNvPr id="16" name="Text 14"/>
          <p:cNvSpPr/>
          <p:nvPr/>
        </p:nvSpPr>
        <p:spPr>
          <a:xfrm>
            <a:off x="3675888" y="1389888"/>
            <a:ext cx="2066544" cy="329184"/>
          </a:xfrm>
          <a:prstGeom prst="rect">
            <a:avLst/>
          </a:prstGeom>
          <a:noFill/>
          <a:ln/>
        </p:spPr>
        <p:txBody>
          <a:bodyPr wrap="square" rtlCol="0" anchor="ctr"/>
          <a:lstStyle/>
          <a:p>
            <a:pPr indent="0" marL="0">
              <a:buNone/>
            </a:pPr>
            <a:r>
              <a:rPr lang="en-US" sz="1050" b="1" dirty="0">
                <a:solidFill>
                  <a:srgbClr val="2C3E50"/>
                </a:solidFill>
              </a:rPr>
              <a:t>End effector — parts acquired</a:t>
            </a:r>
            <a:endParaRPr lang="en-US" sz="1050" dirty="0"/>
          </a:p>
        </p:txBody>
      </p:sp>
      <p:sp>
        <p:nvSpPr>
          <p:cNvPr id="17" name="Text 15"/>
          <p:cNvSpPr/>
          <p:nvPr/>
        </p:nvSpPr>
        <p:spPr>
          <a:xfrm>
            <a:off x="3291840" y="1792224"/>
            <a:ext cx="2450592" cy="877824"/>
          </a:xfrm>
          <a:prstGeom prst="rect">
            <a:avLst/>
          </a:prstGeom>
          <a:noFill/>
          <a:ln/>
        </p:spPr>
        <p:txBody>
          <a:bodyPr wrap="square" rtlCol="0" anchor="ctr"/>
          <a:lstStyle/>
          <a:p>
            <a:pPr indent="0" marL="0">
              <a:buNone/>
            </a:pPr>
            <a:r>
              <a:rPr lang="en-US" sz="950" dirty="0">
                <a:solidFill>
                  <a:srgbClr val="8494A8"/>
                </a:solidFill>
              </a:rPr>
              <a:t>Tube, connector, and suction cup procured. Gripper still needs to be printed. One connecting part failed to print and needs to be reprinted.</a:t>
            </a:r>
            <a:endParaRPr lang="en-US" sz="950" dirty="0"/>
          </a:p>
        </p:txBody>
      </p:sp>
      <p:sp>
        <p:nvSpPr>
          <p:cNvPr id="18" name="Shape 16"/>
          <p:cNvSpPr/>
          <p:nvPr/>
        </p:nvSpPr>
        <p:spPr>
          <a:xfrm>
            <a:off x="347472" y="2889504"/>
            <a:ext cx="2688336" cy="1609344"/>
          </a:xfrm>
          <a:prstGeom prst="rect">
            <a:avLst/>
          </a:prstGeom>
          <a:solidFill>
            <a:srgbClr val="FFFFFF"/>
          </a:solidFill>
          <a:ln w="6350">
            <a:solidFill>
              <a:srgbClr val="E0E8F0"/>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347472" y="2889504"/>
            <a:ext cx="2688336" cy="201168"/>
          </a:xfrm>
          <a:prstGeom prst="rect">
            <a:avLst/>
          </a:prstGeom>
          <a:solidFill>
            <a:srgbClr val="028090"/>
          </a:solidFill>
          <a:ln w="12700">
            <a:solidFill>
              <a:srgbClr val="028090"/>
            </a:solidFill>
            <a:prstDash val="solid"/>
          </a:ln>
        </p:spPr>
      </p:sp>
      <p:sp>
        <p:nvSpPr>
          <p:cNvPr id="20" name="Shape 18"/>
          <p:cNvSpPr/>
          <p:nvPr/>
        </p:nvSpPr>
        <p:spPr>
          <a:xfrm>
            <a:off x="475488" y="3182112"/>
            <a:ext cx="292608" cy="292608"/>
          </a:xfrm>
          <a:prstGeom prst="ellipse">
            <a:avLst/>
          </a:prstGeom>
          <a:solidFill>
            <a:srgbClr val="028090"/>
          </a:solidFill>
          <a:ln w="12700">
            <a:solidFill>
              <a:srgbClr val="028090"/>
            </a:solidFill>
            <a:prstDash val="solid"/>
          </a:ln>
        </p:spPr>
      </p:sp>
      <p:sp>
        <p:nvSpPr>
          <p:cNvPr id="21" name="Text 19"/>
          <p:cNvSpPr/>
          <p:nvPr/>
        </p:nvSpPr>
        <p:spPr>
          <a:xfrm>
            <a:off x="475488" y="3182112"/>
            <a:ext cx="292608" cy="292608"/>
          </a:xfrm>
          <a:prstGeom prst="rect">
            <a:avLst/>
          </a:prstGeom>
          <a:noFill/>
          <a:ln/>
        </p:spPr>
        <p:txBody>
          <a:bodyPr wrap="square" lIns="0" tIns="0" rIns="0" bIns="0" rtlCol="0" anchor="ctr"/>
          <a:lstStyle/>
          <a:p>
            <a:pPr algn="ctr" indent="0" marL="0">
              <a:buNone/>
            </a:pPr>
            <a:r>
              <a:rPr lang="en-US" sz="850" b="1" dirty="0">
                <a:solidFill>
                  <a:srgbClr val="FFFFFF"/>
                </a:solidFill>
              </a:rPr>
              <a:t>03</a:t>
            </a:r>
            <a:endParaRPr lang="en-US" sz="850" dirty="0"/>
          </a:p>
        </p:txBody>
      </p:sp>
      <p:sp>
        <p:nvSpPr>
          <p:cNvPr id="22" name="Text 20"/>
          <p:cNvSpPr/>
          <p:nvPr/>
        </p:nvSpPr>
        <p:spPr>
          <a:xfrm>
            <a:off x="859536" y="3145536"/>
            <a:ext cx="2066544" cy="329184"/>
          </a:xfrm>
          <a:prstGeom prst="rect">
            <a:avLst/>
          </a:prstGeom>
          <a:noFill/>
          <a:ln/>
        </p:spPr>
        <p:txBody>
          <a:bodyPr wrap="square" rtlCol="0" anchor="ctr"/>
          <a:lstStyle/>
          <a:p>
            <a:pPr indent="0" marL="0">
              <a:buNone/>
            </a:pPr>
            <a:r>
              <a:rPr lang="en-US" sz="1050" b="1" dirty="0">
                <a:solidFill>
                  <a:srgbClr val="2C3E50"/>
                </a:solidFill>
              </a:rPr>
              <a:t>Mobile base — fully assembled</a:t>
            </a:r>
            <a:endParaRPr lang="en-US" sz="1050" dirty="0"/>
          </a:p>
        </p:txBody>
      </p:sp>
      <p:sp>
        <p:nvSpPr>
          <p:cNvPr id="23" name="Text 21"/>
          <p:cNvSpPr/>
          <p:nvPr/>
        </p:nvSpPr>
        <p:spPr>
          <a:xfrm>
            <a:off x="475488" y="3547872"/>
            <a:ext cx="2450592" cy="877824"/>
          </a:xfrm>
          <a:prstGeom prst="rect">
            <a:avLst/>
          </a:prstGeom>
          <a:noFill/>
          <a:ln/>
        </p:spPr>
        <p:txBody>
          <a:bodyPr wrap="square" rtlCol="0" anchor="ctr"/>
          <a:lstStyle/>
          <a:p>
            <a:pPr indent="0" marL="0">
              <a:buNone/>
            </a:pPr>
            <a:r>
              <a:rPr lang="en-US" sz="950" dirty="0">
                <a:solidFill>
                  <a:srgbClr val="8494A8"/>
                </a:solidFill>
              </a:rPr>
              <a:t>Both platforms drilled, 4 columns fitted between them, wheels on bottom platform, hole in top platform for wire routing. Arduino seated between the two bases.</a:t>
            </a:r>
            <a:endParaRPr lang="en-US" sz="950" dirty="0"/>
          </a:p>
        </p:txBody>
      </p:sp>
      <p:sp>
        <p:nvSpPr>
          <p:cNvPr id="24" name="Shape 22"/>
          <p:cNvSpPr/>
          <p:nvPr/>
        </p:nvSpPr>
        <p:spPr>
          <a:xfrm>
            <a:off x="3163824" y="2889504"/>
            <a:ext cx="2688336" cy="1609344"/>
          </a:xfrm>
          <a:prstGeom prst="rect">
            <a:avLst/>
          </a:prstGeom>
          <a:solidFill>
            <a:srgbClr val="FFFFFF"/>
          </a:solidFill>
          <a:ln w="6350">
            <a:solidFill>
              <a:srgbClr val="E0E8F0"/>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3163824" y="2889504"/>
            <a:ext cx="2688336" cy="201168"/>
          </a:xfrm>
          <a:prstGeom prst="rect">
            <a:avLst/>
          </a:prstGeom>
          <a:solidFill>
            <a:srgbClr val="2EAD7A"/>
          </a:solidFill>
          <a:ln w="12700">
            <a:solidFill>
              <a:srgbClr val="2EAD7A"/>
            </a:solidFill>
            <a:prstDash val="solid"/>
          </a:ln>
        </p:spPr>
      </p:sp>
      <p:sp>
        <p:nvSpPr>
          <p:cNvPr id="26" name="Shape 24"/>
          <p:cNvSpPr/>
          <p:nvPr/>
        </p:nvSpPr>
        <p:spPr>
          <a:xfrm>
            <a:off x="3291840" y="3182112"/>
            <a:ext cx="292608" cy="292608"/>
          </a:xfrm>
          <a:prstGeom prst="ellipse">
            <a:avLst/>
          </a:prstGeom>
          <a:solidFill>
            <a:srgbClr val="2EAD7A"/>
          </a:solidFill>
          <a:ln w="12700">
            <a:solidFill>
              <a:srgbClr val="2EAD7A"/>
            </a:solidFill>
            <a:prstDash val="solid"/>
          </a:ln>
        </p:spPr>
      </p:sp>
      <p:sp>
        <p:nvSpPr>
          <p:cNvPr id="27" name="Text 25"/>
          <p:cNvSpPr/>
          <p:nvPr/>
        </p:nvSpPr>
        <p:spPr>
          <a:xfrm>
            <a:off x="3291840" y="3182112"/>
            <a:ext cx="292608" cy="292608"/>
          </a:xfrm>
          <a:prstGeom prst="rect">
            <a:avLst/>
          </a:prstGeom>
          <a:noFill/>
          <a:ln/>
        </p:spPr>
        <p:txBody>
          <a:bodyPr wrap="square" lIns="0" tIns="0" rIns="0" bIns="0" rtlCol="0" anchor="ctr"/>
          <a:lstStyle/>
          <a:p>
            <a:pPr algn="ctr" indent="0" marL="0">
              <a:buNone/>
            </a:pPr>
            <a:r>
              <a:rPr lang="en-US" sz="850" b="1" dirty="0">
                <a:solidFill>
                  <a:srgbClr val="FFFFFF"/>
                </a:solidFill>
              </a:rPr>
              <a:t>04</a:t>
            </a:r>
            <a:endParaRPr lang="en-US" sz="850" dirty="0"/>
          </a:p>
        </p:txBody>
      </p:sp>
      <p:sp>
        <p:nvSpPr>
          <p:cNvPr id="28" name="Text 26"/>
          <p:cNvSpPr/>
          <p:nvPr/>
        </p:nvSpPr>
        <p:spPr>
          <a:xfrm>
            <a:off x="3675888" y="3145536"/>
            <a:ext cx="2066544" cy="329184"/>
          </a:xfrm>
          <a:prstGeom prst="rect">
            <a:avLst/>
          </a:prstGeom>
          <a:noFill/>
          <a:ln/>
        </p:spPr>
        <p:txBody>
          <a:bodyPr wrap="square" rtlCol="0" anchor="ctr"/>
          <a:lstStyle/>
          <a:p>
            <a:pPr indent="0" marL="0">
              <a:buNone/>
            </a:pPr>
            <a:r>
              <a:rPr lang="en-US" sz="1050" b="1" dirty="0">
                <a:solidFill>
                  <a:srgbClr val="2C3E50"/>
                </a:solidFill>
              </a:rPr>
              <a:t>Pump — tested</a:t>
            </a:r>
            <a:endParaRPr lang="en-US" sz="1050" dirty="0"/>
          </a:p>
        </p:txBody>
      </p:sp>
      <p:sp>
        <p:nvSpPr>
          <p:cNvPr id="29" name="Text 27"/>
          <p:cNvSpPr/>
          <p:nvPr/>
        </p:nvSpPr>
        <p:spPr>
          <a:xfrm>
            <a:off x="3291840" y="3547872"/>
            <a:ext cx="2450592" cy="877824"/>
          </a:xfrm>
          <a:prstGeom prst="rect">
            <a:avLst/>
          </a:prstGeom>
          <a:noFill/>
          <a:ln/>
        </p:spPr>
        <p:txBody>
          <a:bodyPr wrap="square" rtlCol="0" anchor="ctr"/>
          <a:lstStyle/>
          <a:p>
            <a:pPr indent="0" marL="0">
              <a:buNone/>
            </a:pPr>
            <a:r>
              <a:rPr lang="en-US" sz="950" dirty="0">
                <a:solidFill>
                  <a:srgbClr val="8494A8"/>
                </a:solidFill>
              </a:rPr>
              <a:t>Pump tested with the suction cup and tubing. Suction force verified on representative objects.</a:t>
            </a:r>
            <a:endParaRPr lang="en-US" sz="950" dirty="0"/>
          </a:p>
        </p:txBody>
      </p:sp>
      <p:sp>
        <p:nvSpPr>
          <p:cNvPr id="30" name="Text 28"/>
          <p:cNvSpPr/>
          <p:nvPr/>
        </p:nvSpPr>
        <p:spPr>
          <a:xfrm>
            <a:off x="6053328" y="804672"/>
            <a:ext cx="2834640" cy="274320"/>
          </a:xfrm>
          <a:prstGeom prst="rect">
            <a:avLst/>
          </a:prstGeom>
          <a:noFill/>
          <a:ln/>
        </p:spPr>
        <p:txBody>
          <a:bodyPr wrap="square" rtlCol="0" anchor="ctr"/>
          <a:lstStyle/>
          <a:p>
            <a:pPr indent="0" marL="0">
              <a:buNone/>
            </a:pPr>
            <a:r>
              <a:rPr lang="en-US" sz="1300" b="1" dirty="0">
                <a:solidFill>
                  <a:srgbClr val="0D1B3E"/>
                </a:solidFill>
              </a:rPr>
              <a:t>Status</a:t>
            </a:r>
            <a:endParaRPr lang="en-US" sz="1300" dirty="0"/>
          </a:p>
        </p:txBody>
      </p:sp>
      <p:sp>
        <p:nvSpPr>
          <p:cNvPr id="31" name="Shape 29"/>
          <p:cNvSpPr/>
          <p:nvPr/>
        </p:nvSpPr>
        <p:spPr>
          <a:xfrm>
            <a:off x="6053328" y="1133856"/>
            <a:ext cx="2834640" cy="530352"/>
          </a:xfrm>
          <a:prstGeom prst="rect">
            <a:avLst/>
          </a:prstGeom>
          <a:solidFill>
            <a:srgbClr val="FFFFFF"/>
          </a:solidFill>
          <a:ln w="6350">
            <a:solidFill>
              <a:srgbClr val="E0E8F0"/>
            </a:solidFill>
            <a:prstDash val="solid"/>
          </a:ln>
          <a:effectLst>
            <a:outerShdw sx="100000" sy="100000" kx="0" ky="0" algn="bl" rotWithShape="0" blurRad="101600" dist="38100" dir="8100000">
              <a:srgbClr val="000000">
                <a:alpha val="12000"/>
              </a:srgbClr>
            </a:outerShdw>
          </a:effectLst>
        </p:spPr>
      </p:sp>
      <p:sp>
        <p:nvSpPr>
          <p:cNvPr id="32" name="Shape 30"/>
          <p:cNvSpPr/>
          <p:nvPr/>
        </p:nvSpPr>
        <p:spPr>
          <a:xfrm>
            <a:off x="6053328" y="1133856"/>
            <a:ext cx="64008" cy="530352"/>
          </a:xfrm>
          <a:prstGeom prst="rect">
            <a:avLst/>
          </a:prstGeom>
          <a:solidFill>
            <a:srgbClr val="2EAD7A"/>
          </a:solidFill>
          <a:ln w="12700">
            <a:solidFill>
              <a:srgbClr val="2EAD7A"/>
            </a:solidFill>
            <a:prstDash val="solid"/>
          </a:ln>
        </p:spPr>
      </p:sp>
      <p:sp>
        <p:nvSpPr>
          <p:cNvPr id="33" name="Text 31"/>
          <p:cNvSpPr/>
          <p:nvPr/>
        </p:nvSpPr>
        <p:spPr>
          <a:xfrm>
            <a:off x="6181344" y="1133856"/>
            <a:ext cx="1188720" cy="530352"/>
          </a:xfrm>
          <a:prstGeom prst="rect">
            <a:avLst/>
          </a:prstGeom>
          <a:noFill/>
          <a:ln/>
        </p:spPr>
        <p:txBody>
          <a:bodyPr wrap="square" rtlCol="0" anchor="ctr"/>
          <a:lstStyle/>
          <a:p>
            <a:pPr indent="0" marL="0">
              <a:buNone/>
            </a:pPr>
            <a:r>
              <a:rPr lang="en-US" sz="950" b="1" dirty="0">
                <a:solidFill>
                  <a:srgbClr val="2C3E50"/>
                </a:solidFill>
              </a:rPr>
              <a:t>Mobile base</a:t>
            </a:r>
            <a:endParaRPr lang="en-US" sz="950" dirty="0"/>
          </a:p>
        </p:txBody>
      </p:sp>
      <p:sp>
        <p:nvSpPr>
          <p:cNvPr id="34" name="Shape 32"/>
          <p:cNvSpPr/>
          <p:nvPr/>
        </p:nvSpPr>
        <p:spPr>
          <a:xfrm>
            <a:off x="7443216" y="1261872"/>
            <a:ext cx="1335024" cy="256032"/>
          </a:xfrm>
          <a:prstGeom prst="roundRect">
            <a:avLst>
              <a:gd name="adj" fmla="val 14286"/>
            </a:avLst>
          </a:prstGeom>
          <a:solidFill>
            <a:srgbClr val="2EAD7A">
              <a:alpha val="18000"/>
            </a:srgbClr>
          </a:solidFill>
          <a:ln w="12700">
            <a:solidFill>
              <a:srgbClr val="2EAD7A">
                <a:alpha val="40000"/>
              </a:srgbClr>
            </a:solidFill>
            <a:prstDash val="solid"/>
          </a:ln>
        </p:spPr>
      </p:sp>
      <p:sp>
        <p:nvSpPr>
          <p:cNvPr id="35" name="Text 33"/>
          <p:cNvSpPr/>
          <p:nvPr/>
        </p:nvSpPr>
        <p:spPr>
          <a:xfrm>
            <a:off x="7443216" y="1261872"/>
            <a:ext cx="1335024" cy="256032"/>
          </a:xfrm>
          <a:prstGeom prst="rect">
            <a:avLst/>
          </a:prstGeom>
          <a:noFill/>
          <a:ln/>
        </p:spPr>
        <p:txBody>
          <a:bodyPr wrap="square" lIns="0" tIns="0" rIns="0" bIns="0" rtlCol="0" anchor="ctr"/>
          <a:lstStyle/>
          <a:p>
            <a:pPr algn="ctr" indent="0" marL="0">
              <a:buNone/>
            </a:pPr>
            <a:r>
              <a:rPr lang="en-US" sz="800" b="1" dirty="0">
                <a:solidFill>
                  <a:srgbClr val="165C3E"/>
                </a:solidFill>
              </a:rPr>
              <a:t>Assembled ✓</a:t>
            </a:r>
            <a:endParaRPr lang="en-US" sz="800" dirty="0"/>
          </a:p>
        </p:txBody>
      </p:sp>
      <p:sp>
        <p:nvSpPr>
          <p:cNvPr id="36" name="Shape 34"/>
          <p:cNvSpPr/>
          <p:nvPr/>
        </p:nvSpPr>
        <p:spPr>
          <a:xfrm>
            <a:off x="6053328" y="1755648"/>
            <a:ext cx="2834640" cy="530352"/>
          </a:xfrm>
          <a:prstGeom prst="rect">
            <a:avLst/>
          </a:prstGeom>
          <a:solidFill>
            <a:srgbClr val="FFFFFF"/>
          </a:solidFill>
          <a:ln w="6350">
            <a:solidFill>
              <a:srgbClr val="E0E8F0"/>
            </a:solidFill>
            <a:prstDash val="solid"/>
          </a:ln>
          <a:effectLst>
            <a:outerShdw sx="100000" sy="100000" kx="0" ky="0" algn="bl" rotWithShape="0" blurRad="101600" dist="38100" dir="8100000">
              <a:srgbClr val="000000">
                <a:alpha val="12000"/>
              </a:srgbClr>
            </a:outerShdw>
          </a:effectLst>
        </p:spPr>
      </p:sp>
      <p:sp>
        <p:nvSpPr>
          <p:cNvPr id="37" name="Shape 35"/>
          <p:cNvSpPr/>
          <p:nvPr/>
        </p:nvSpPr>
        <p:spPr>
          <a:xfrm>
            <a:off x="6053328" y="1755648"/>
            <a:ext cx="64008" cy="530352"/>
          </a:xfrm>
          <a:prstGeom prst="rect">
            <a:avLst/>
          </a:prstGeom>
          <a:solidFill>
            <a:srgbClr val="2EAD7A"/>
          </a:solidFill>
          <a:ln w="12700">
            <a:solidFill>
              <a:srgbClr val="2EAD7A"/>
            </a:solidFill>
            <a:prstDash val="solid"/>
          </a:ln>
        </p:spPr>
      </p:sp>
      <p:sp>
        <p:nvSpPr>
          <p:cNvPr id="38" name="Text 36"/>
          <p:cNvSpPr/>
          <p:nvPr/>
        </p:nvSpPr>
        <p:spPr>
          <a:xfrm>
            <a:off x="6181344" y="1755648"/>
            <a:ext cx="1188720" cy="530352"/>
          </a:xfrm>
          <a:prstGeom prst="rect">
            <a:avLst/>
          </a:prstGeom>
          <a:noFill/>
          <a:ln/>
        </p:spPr>
        <p:txBody>
          <a:bodyPr wrap="square" rtlCol="0" anchor="ctr"/>
          <a:lstStyle/>
          <a:p>
            <a:pPr indent="0" marL="0">
              <a:buNone/>
            </a:pPr>
            <a:r>
              <a:rPr lang="en-US" sz="950" b="1" dirty="0">
                <a:solidFill>
                  <a:srgbClr val="2C3E50"/>
                </a:solidFill>
              </a:rPr>
              <a:t>Detection</a:t>
            </a:r>
            <a:endParaRPr lang="en-US" sz="950" dirty="0"/>
          </a:p>
        </p:txBody>
      </p:sp>
      <p:sp>
        <p:nvSpPr>
          <p:cNvPr id="39" name="Shape 37"/>
          <p:cNvSpPr/>
          <p:nvPr/>
        </p:nvSpPr>
        <p:spPr>
          <a:xfrm>
            <a:off x="7443216" y="1883664"/>
            <a:ext cx="1335024" cy="256032"/>
          </a:xfrm>
          <a:prstGeom prst="roundRect">
            <a:avLst>
              <a:gd name="adj" fmla="val 14286"/>
            </a:avLst>
          </a:prstGeom>
          <a:solidFill>
            <a:srgbClr val="2EAD7A">
              <a:alpha val="18000"/>
            </a:srgbClr>
          </a:solidFill>
          <a:ln w="12700">
            <a:solidFill>
              <a:srgbClr val="2EAD7A">
                <a:alpha val="40000"/>
              </a:srgbClr>
            </a:solidFill>
            <a:prstDash val="solid"/>
          </a:ln>
        </p:spPr>
      </p:sp>
      <p:sp>
        <p:nvSpPr>
          <p:cNvPr id="40" name="Text 38"/>
          <p:cNvSpPr/>
          <p:nvPr/>
        </p:nvSpPr>
        <p:spPr>
          <a:xfrm>
            <a:off x="7443216" y="1883664"/>
            <a:ext cx="1335024" cy="256032"/>
          </a:xfrm>
          <a:prstGeom prst="rect">
            <a:avLst/>
          </a:prstGeom>
          <a:noFill/>
          <a:ln/>
        </p:spPr>
        <p:txBody>
          <a:bodyPr wrap="square" lIns="0" tIns="0" rIns="0" bIns="0" rtlCol="0" anchor="ctr"/>
          <a:lstStyle/>
          <a:p>
            <a:pPr algn="ctr" indent="0" marL="0">
              <a:buNone/>
            </a:pPr>
            <a:r>
              <a:rPr lang="en-US" sz="800" b="1" dirty="0">
                <a:solidFill>
                  <a:srgbClr val="165C3E"/>
                </a:solidFill>
              </a:rPr>
              <a:t>Simplified ✓</a:t>
            </a:r>
            <a:endParaRPr lang="en-US" sz="800" dirty="0"/>
          </a:p>
        </p:txBody>
      </p:sp>
      <p:sp>
        <p:nvSpPr>
          <p:cNvPr id="41" name="Shape 39"/>
          <p:cNvSpPr/>
          <p:nvPr/>
        </p:nvSpPr>
        <p:spPr>
          <a:xfrm>
            <a:off x="6053328" y="2377440"/>
            <a:ext cx="2834640" cy="530352"/>
          </a:xfrm>
          <a:prstGeom prst="rect">
            <a:avLst/>
          </a:prstGeom>
          <a:solidFill>
            <a:srgbClr val="FFFFFF"/>
          </a:solidFill>
          <a:ln w="6350">
            <a:solidFill>
              <a:srgbClr val="E0E8F0"/>
            </a:solidFill>
            <a:prstDash val="solid"/>
          </a:ln>
          <a:effectLst>
            <a:outerShdw sx="100000" sy="100000" kx="0" ky="0" algn="bl" rotWithShape="0" blurRad="101600" dist="38100" dir="8100000">
              <a:srgbClr val="000000">
                <a:alpha val="12000"/>
              </a:srgbClr>
            </a:outerShdw>
          </a:effectLst>
        </p:spPr>
      </p:sp>
      <p:sp>
        <p:nvSpPr>
          <p:cNvPr id="42" name="Shape 40"/>
          <p:cNvSpPr/>
          <p:nvPr/>
        </p:nvSpPr>
        <p:spPr>
          <a:xfrm>
            <a:off x="6053328" y="2377440"/>
            <a:ext cx="64008" cy="530352"/>
          </a:xfrm>
          <a:prstGeom prst="rect">
            <a:avLst/>
          </a:prstGeom>
          <a:solidFill>
            <a:srgbClr val="2EAD7A"/>
          </a:solidFill>
          <a:ln w="12700">
            <a:solidFill>
              <a:srgbClr val="2EAD7A"/>
            </a:solidFill>
            <a:prstDash val="solid"/>
          </a:ln>
        </p:spPr>
      </p:sp>
      <p:sp>
        <p:nvSpPr>
          <p:cNvPr id="43" name="Text 41"/>
          <p:cNvSpPr/>
          <p:nvPr/>
        </p:nvSpPr>
        <p:spPr>
          <a:xfrm>
            <a:off x="6181344" y="2377440"/>
            <a:ext cx="1188720" cy="530352"/>
          </a:xfrm>
          <a:prstGeom prst="rect">
            <a:avLst/>
          </a:prstGeom>
          <a:noFill/>
          <a:ln/>
        </p:spPr>
        <p:txBody>
          <a:bodyPr wrap="square" rtlCol="0" anchor="ctr"/>
          <a:lstStyle/>
          <a:p>
            <a:pPr indent="0" marL="0">
              <a:buNone/>
            </a:pPr>
            <a:r>
              <a:rPr lang="en-US" sz="950" b="1" dirty="0">
                <a:solidFill>
                  <a:srgbClr val="2C3E50"/>
                </a:solidFill>
              </a:rPr>
              <a:t>Pump</a:t>
            </a:r>
            <a:endParaRPr lang="en-US" sz="950" dirty="0"/>
          </a:p>
        </p:txBody>
      </p:sp>
      <p:sp>
        <p:nvSpPr>
          <p:cNvPr id="44" name="Shape 42"/>
          <p:cNvSpPr/>
          <p:nvPr/>
        </p:nvSpPr>
        <p:spPr>
          <a:xfrm>
            <a:off x="7443216" y="2505456"/>
            <a:ext cx="1335024" cy="256032"/>
          </a:xfrm>
          <a:prstGeom prst="roundRect">
            <a:avLst>
              <a:gd name="adj" fmla="val 14286"/>
            </a:avLst>
          </a:prstGeom>
          <a:solidFill>
            <a:srgbClr val="2EAD7A">
              <a:alpha val="18000"/>
            </a:srgbClr>
          </a:solidFill>
          <a:ln w="12700">
            <a:solidFill>
              <a:srgbClr val="2EAD7A">
                <a:alpha val="40000"/>
              </a:srgbClr>
            </a:solidFill>
            <a:prstDash val="solid"/>
          </a:ln>
        </p:spPr>
      </p:sp>
      <p:sp>
        <p:nvSpPr>
          <p:cNvPr id="45" name="Text 43"/>
          <p:cNvSpPr/>
          <p:nvPr/>
        </p:nvSpPr>
        <p:spPr>
          <a:xfrm>
            <a:off x="7443216" y="2505456"/>
            <a:ext cx="1335024" cy="256032"/>
          </a:xfrm>
          <a:prstGeom prst="rect">
            <a:avLst/>
          </a:prstGeom>
          <a:noFill/>
          <a:ln/>
        </p:spPr>
        <p:txBody>
          <a:bodyPr wrap="square" lIns="0" tIns="0" rIns="0" bIns="0" rtlCol="0" anchor="ctr"/>
          <a:lstStyle/>
          <a:p>
            <a:pPr algn="ctr" indent="0" marL="0">
              <a:buNone/>
            </a:pPr>
            <a:r>
              <a:rPr lang="en-US" sz="800" b="1" dirty="0">
                <a:solidFill>
                  <a:srgbClr val="165C3E"/>
                </a:solidFill>
              </a:rPr>
              <a:t>Tested ✓</a:t>
            </a:r>
            <a:endParaRPr lang="en-US" sz="800" dirty="0"/>
          </a:p>
        </p:txBody>
      </p:sp>
      <p:sp>
        <p:nvSpPr>
          <p:cNvPr id="46" name="Shape 44"/>
          <p:cNvSpPr/>
          <p:nvPr/>
        </p:nvSpPr>
        <p:spPr>
          <a:xfrm>
            <a:off x="6053328" y="2999232"/>
            <a:ext cx="2834640" cy="530352"/>
          </a:xfrm>
          <a:prstGeom prst="rect">
            <a:avLst/>
          </a:prstGeom>
          <a:solidFill>
            <a:srgbClr val="FFFFFF"/>
          </a:solidFill>
          <a:ln w="6350">
            <a:solidFill>
              <a:srgbClr val="E0E8F0"/>
            </a:solidFill>
            <a:prstDash val="solid"/>
          </a:ln>
          <a:effectLst>
            <a:outerShdw sx="100000" sy="100000" kx="0" ky="0" algn="bl" rotWithShape="0" blurRad="101600" dist="38100" dir="8100000">
              <a:srgbClr val="000000">
                <a:alpha val="12000"/>
              </a:srgbClr>
            </a:outerShdw>
          </a:effectLst>
        </p:spPr>
      </p:sp>
      <p:sp>
        <p:nvSpPr>
          <p:cNvPr id="47" name="Shape 45"/>
          <p:cNvSpPr/>
          <p:nvPr/>
        </p:nvSpPr>
        <p:spPr>
          <a:xfrm>
            <a:off x="6053328" y="2999232"/>
            <a:ext cx="64008" cy="530352"/>
          </a:xfrm>
          <a:prstGeom prst="rect">
            <a:avLst/>
          </a:prstGeom>
          <a:solidFill>
            <a:srgbClr val="E8A020"/>
          </a:solidFill>
          <a:ln w="12700">
            <a:solidFill>
              <a:srgbClr val="E8A020"/>
            </a:solidFill>
            <a:prstDash val="solid"/>
          </a:ln>
        </p:spPr>
      </p:sp>
      <p:sp>
        <p:nvSpPr>
          <p:cNvPr id="48" name="Text 46"/>
          <p:cNvSpPr/>
          <p:nvPr/>
        </p:nvSpPr>
        <p:spPr>
          <a:xfrm>
            <a:off x="6181344" y="2999232"/>
            <a:ext cx="1188720" cy="530352"/>
          </a:xfrm>
          <a:prstGeom prst="rect">
            <a:avLst/>
          </a:prstGeom>
          <a:noFill/>
          <a:ln/>
        </p:spPr>
        <p:txBody>
          <a:bodyPr wrap="square" rtlCol="0" anchor="ctr"/>
          <a:lstStyle/>
          <a:p>
            <a:pPr indent="0" marL="0">
              <a:buNone/>
            </a:pPr>
            <a:r>
              <a:rPr lang="en-US" sz="950" b="1" dirty="0">
                <a:solidFill>
                  <a:srgbClr val="2C3E50"/>
                </a:solidFill>
              </a:rPr>
              <a:t>End effector</a:t>
            </a:r>
            <a:endParaRPr lang="en-US" sz="950" dirty="0"/>
          </a:p>
        </p:txBody>
      </p:sp>
      <p:sp>
        <p:nvSpPr>
          <p:cNvPr id="49" name="Shape 47"/>
          <p:cNvSpPr/>
          <p:nvPr/>
        </p:nvSpPr>
        <p:spPr>
          <a:xfrm>
            <a:off x="7443216" y="3127248"/>
            <a:ext cx="1335024" cy="256032"/>
          </a:xfrm>
          <a:prstGeom prst="roundRect">
            <a:avLst>
              <a:gd name="adj" fmla="val 14286"/>
            </a:avLst>
          </a:prstGeom>
          <a:solidFill>
            <a:srgbClr val="E8A020">
              <a:alpha val="18000"/>
            </a:srgbClr>
          </a:solidFill>
          <a:ln w="12700">
            <a:solidFill>
              <a:srgbClr val="E8A020">
                <a:alpha val="40000"/>
              </a:srgbClr>
            </a:solidFill>
            <a:prstDash val="solid"/>
          </a:ln>
        </p:spPr>
      </p:sp>
      <p:sp>
        <p:nvSpPr>
          <p:cNvPr id="50" name="Text 48"/>
          <p:cNvSpPr/>
          <p:nvPr/>
        </p:nvSpPr>
        <p:spPr>
          <a:xfrm>
            <a:off x="7443216" y="3127248"/>
            <a:ext cx="1335024" cy="256032"/>
          </a:xfrm>
          <a:prstGeom prst="rect">
            <a:avLst/>
          </a:prstGeom>
          <a:noFill/>
          <a:ln/>
        </p:spPr>
        <p:txBody>
          <a:bodyPr wrap="square" lIns="0" tIns="0" rIns="0" bIns="0" rtlCol="0" anchor="ctr"/>
          <a:lstStyle/>
          <a:p>
            <a:pPr algn="ctr" indent="0" marL="0">
              <a:buNone/>
            </a:pPr>
            <a:r>
              <a:rPr lang="en-US" sz="800" b="1" dirty="0">
                <a:solidFill>
                  <a:srgbClr val="7A5000"/>
                </a:solidFill>
              </a:rPr>
              <a:t>In progress</a:t>
            </a:r>
            <a:endParaRPr lang="en-US" sz="800" dirty="0"/>
          </a:p>
        </p:txBody>
      </p:sp>
      <p:sp>
        <p:nvSpPr>
          <p:cNvPr id="51" name="Shape 49"/>
          <p:cNvSpPr/>
          <p:nvPr/>
        </p:nvSpPr>
        <p:spPr>
          <a:xfrm>
            <a:off x="6053328" y="3621024"/>
            <a:ext cx="2834640" cy="530352"/>
          </a:xfrm>
          <a:prstGeom prst="rect">
            <a:avLst/>
          </a:prstGeom>
          <a:solidFill>
            <a:srgbClr val="FFFFFF"/>
          </a:solidFill>
          <a:ln w="6350">
            <a:solidFill>
              <a:srgbClr val="E0E8F0"/>
            </a:solidFill>
            <a:prstDash val="solid"/>
          </a:ln>
          <a:effectLst>
            <a:outerShdw sx="100000" sy="100000" kx="0" ky="0" algn="bl" rotWithShape="0" blurRad="101600" dist="38100" dir="8100000">
              <a:srgbClr val="000000">
                <a:alpha val="12000"/>
              </a:srgbClr>
            </a:outerShdw>
          </a:effectLst>
        </p:spPr>
      </p:sp>
      <p:sp>
        <p:nvSpPr>
          <p:cNvPr id="52" name="Shape 50"/>
          <p:cNvSpPr/>
          <p:nvPr/>
        </p:nvSpPr>
        <p:spPr>
          <a:xfrm>
            <a:off x="6053328" y="3621024"/>
            <a:ext cx="64008" cy="530352"/>
          </a:xfrm>
          <a:prstGeom prst="rect">
            <a:avLst/>
          </a:prstGeom>
          <a:solidFill>
            <a:srgbClr val="E06530"/>
          </a:solidFill>
          <a:ln w="12700">
            <a:solidFill>
              <a:srgbClr val="E06530"/>
            </a:solidFill>
            <a:prstDash val="solid"/>
          </a:ln>
        </p:spPr>
      </p:sp>
      <p:sp>
        <p:nvSpPr>
          <p:cNvPr id="53" name="Text 51"/>
          <p:cNvSpPr/>
          <p:nvPr/>
        </p:nvSpPr>
        <p:spPr>
          <a:xfrm>
            <a:off x="6181344" y="3621024"/>
            <a:ext cx="1188720" cy="530352"/>
          </a:xfrm>
          <a:prstGeom prst="rect">
            <a:avLst/>
          </a:prstGeom>
          <a:noFill/>
          <a:ln/>
        </p:spPr>
        <p:txBody>
          <a:bodyPr wrap="square" rtlCol="0" anchor="ctr"/>
          <a:lstStyle/>
          <a:p>
            <a:pPr indent="0" marL="0">
              <a:buNone/>
            </a:pPr>
            <a:r>
              <a:rPr lang="en-US" sz="950" b="1" dirty="0">
                <a:solidFill>
                  <a:srgbClr val="2C3E50"/>
                </a:solidFill>
              </a:rPr>
              <a:t>Gripper print</a:t>
            </a:r>
            <a:endParaRPr lang="en-US" sz="950" dirty="0"/>
          </a:p>
        </p:txBody>
      </p:sp>
      <p:sp>
        <p:nvSpPr>
          <p:cNvPr id="54" name="Shape 52"/>
          <p:cNvSpPr/>
          <p:nvPr/>
        </p:nvSpPr>
        <p:spPr>
          <a:xfrm>
            <a:off x="7443216" y="3749040"/>
            <a:ext cx="1335024" cy="256032"/>
          </a:xfrm>
          <a:prstGeom prst="roundRect">
            <a:avLst>
              <a:gd name="adj" fmla="val 14286"/>
            </a:avLst>
          </a:prstGeom>
          <a:solidFill>
            <a:srgbClr val="E06530">
              <a:alpha val="18000"/>
            </a:srgbClr>
          </a:solidFill>
          <a:ln w="12700">
            <a:solidFill>
              <a:srgbClr val="E06530">
                <a:alpha val="40000"/>
              </a:srgbClr>
            </a:solidFill>
            <a:prstDash val="solid"/>
          </a:ln>
        </p:spPr>
      </p:sp>
      <p:sp>
        <p:nvSpPr>
          <p:cNvPr id="55" name="Text 53"/>
          <p:cNvSpPr/>
          <p:nvPr/>
        </p:nvSpPr>
        <p:spPr>
          <a:xfrm>
            <a:off x="7443216" y="3749040"/>
            <a:ext cx="1335024" cy="256032"/>
          </a:xfrm>
          <a:prstGeom prst="rect">
            <a:avLst/>
          </a:prstGeom>
          <a:noFill/>
          <a:ln/>
        </p:spPr>
        <p:txBody>
          <a:bodyPr wrap="square" lIns="0" tIns="0" rIns="0" bIns="0" rtlCol="0" anchor="ctr"/>
          <a:lstStyle/>
          <a:p>
            <a:pPr algn="ctr" indent="0" marL="0">
              <a:buNone/>
            </a:pPr>
            <a:r>
              <a:rPr lang="en-US" sz="800" b="1" dirty="0">
                <a:solidFill>
                  <a:srgbClr val="8B3000"/>
                </a:solidFill>
              </a:rPr>
              <a:t>Pending</a:t>
            </a:r>
            <a:endParaRPr lang="en-US" sz="800" dirty="0"/>
          </a:p>
        </p:txBody>
      </p:sp>
      <p:sp>
        <p:nvSpPr>
          <p:cNvPr id="56" name="Shape 54"/>
          <p:cNvSpPr/>
          <p:nvPr/>
        </p:nvSpPr>
        <p:spPr>
          <a:xfrm>
            <a:off x="6053328" y="4242816"/>
            <a:ext cx="2834640" cy="530352"/>
          </a:xfrm>
          <a:prstGeom prst="rect">
            <a:avLst/>
          </a:prstGeom>
          <a:solidFill>
            <a:srgbClr val="FFFFFF"/>
          </a:solidFill>
          <a:ln w="6350">
            <a:solidFill>
              <a:srgbClr val="E0E8F0"/>
            </a:solidFill>
            <a:prstDash val="solid"/>
          </a:ln>
          <a:effectLst>
            <a:outerShdw sx="100000" sy="100000" kx="0" ky="0" algn="bl" rotWithShape="0" blurRad="101600" dist="38100" dir="8100000">
              <a:srgbClr val="000000">
                <a:alpha val="12000"/>
              </a:srgbClr>
            </a:outerShdw>
          </a:effectLst>
        </p:spPr>
      </p:sp>
      <p:sp>
        <p:nvSpPr>
          <p:cNvPr id="57" name="Shape 55"/>
          <p:cNvSpPr/>
          <p:nvPr/>
        </p:nvSpPr>
        <p:spPr>
          <a:xfrm>
            <a:off x="6053328" y="4242816"/>
            <a:ext cx="64008" cy="530352"/>
          </a:xfrm>
          <a:prstGeom prst="rect">
            <a:avLst/>
          </a:prstGeom>
          <a:solidFill>
            <a:srgbClr val="E8A020"/>
          </a:solidFill>
          <a:ln w="12700">
            <a:solidFill>
              <a:srgbClr val="E8A020"/>
            </a:solidFill>
            <a:prstDash val="solid"/>
          </a:ln>
        </p:spPr>
      </p:sp>
      <p:sp>
        <p:nvSpPr>
          <p:cNvPr id="58" name="Text 56"/>
          <p:cNvSpPr/>
          <p:nvPr/>
        </p:nvSpPr>
        <p:spPr>
          <a:xfrm>
            <a:off x="6181344" y="4242816"/>
            <a:ext cx="1188720" cy="530352"/>
          </a:xfrm>
          <a:prstGeom prst="rect">
            <a:avLst/>
          </a:prstGeom>
          <a:noFill/>
          <a:ln/>
        </p:spPr>
        <p:txBody>
          <a:bodyPr wrap="square" rtlCol="0" anchor="ctr"/>
          <a:lstStyle/>
          <a:p>
            <a:pPr indent="0" marL="0">
              <a:buNone/>
            </a:pPr>
            <a:r>
              <a:rPr lang="en-US" sz="950" b="1" dirty="0">
                <a:solidFill>
                  <a:srgbClr val="2C3E50"/>
                </a:solidFill>
              </a:rPr>
              <a:t>Full assembly</a:t>
            </a:r>
            <a:endParaRPr lang="en-US" sz="950" dirty="0"/>
          </a:p>
        </p:txBody>
      </p:sp>
      <p:sp>
        <p:nvSpPr>
          <p:cNvPr id="59" name="Shape 57"/>
          <p:cNvSpPr/>
          <p:nvPr/>
        </p:nvSpPr>
        <p:spPr>
          <a:xfrm>
            <a:off x="7443216" y="4370832"/>
            <a:ext cx="1335024" cy="256032"/>
          </a:xfrm>
          <a:prstGeom prst="roundRect">
            <a:avLst>
              <a:gd name="adj" fmla="val 14286"/>
            </a:avLst>
          </a:prstGeom>
          <a:solidFill>
            <a:srgbClr val="E8A020">
              <a:alpha val="18000"/>
            </a:srgbClr>
          </a:solidFill>
          <a:ln w="12700">
            <a:solidFill>
              <a:srgbClr val="E8A020">
                <a:alpha val="40000"/>
              </a:srgbClr>
            </a:solidFill>
            <a:prstDash val="solid"/>
          </a:ln>
        </p:spPr>
      </p:sp>
      <p:sp>
        <p:nvSpPr>
          <p:cNvPr id="60" name="Text 58"/>
          <p:cNvSpPr/>
          <p:nvPr/>
        </p:nvSpPr>
        <p:spPr>
          <a:xfrm>
            <a:off x="7443216" y="4370832"/>
            <a:ext cx="1335024" cy="256032"/>
          </a:xfrm>
          <a:prstGeom prst="rect">
            <a:avLst/>
          </a:prstGeom>
          <a:noFill/>
          <a:ln/>
        </p:spPr>
        <p:txBody>
          <a:bodyPr wrap="square" lIns="0" tIns="0" rIns="0" bIns="0" rtlCol="0" anchor="ctr"/>
          <a:lstStyle/>
          <a:p>
            <a:pPr algn="ctr" indent="0" marL="0">
              <a:buNone/>
            </a:pPr>
            <a:r>
              <a:rPr lang="en-US" sz="800" b="1" dirty="0">
                <a:solidFill>
                  <a:srgbClr val="7A5000"/>
                </a:solidFill>
              </a:rPr>
              <a:t>Near ready</a:t>
            </a:r>
            <a:endParaRPr lang="en-US" sz="800" dirty="0"/>
          </a:p>
        </p:txBody>
      </p:sp>
      <p:sp>
        <p:nvSpPr>
          <p:cNvPr id="61" name="Shape 59"/>
          <p:cNvSpPr/>
          <p:nvPr/>
        </p:nvSpPr>
        <p:spPr>
          <a:xfrm>
            <a:off x="347472" y="4590288"/>
            <a:ext cx="8476488" cy="347472"/>
          </a:xfrm>
          <a:prstGeom prst="rect">
            <a:avLst/>
          </a:prstGeom>
          <a:solidFill>
            <a:srgbClr val="2EAD7A">
              <a:alpha val="12000"/>
            </a:srgbClr>
          </a:solidFill>
          <a:ln w="12700">
            <a:solidFill>
              <a:srgbClr val="2EAD7A">
                <a:alpha val="30000"/>
              </a:srgbClr>
            </a:solidFill>
            <a:prstDash val="solid"/>
          </a:ln>
        </p:spPr>
      </p:sp>
      <p:sp>
        <p:nvSpPr>
          <p:cNvPr id="62" name="Text 60"/>
          <p:cNvSpPr/>
          <p:nvPr/>
        </p:nvSpPr>
        <p:spPr>
          <a:xfrm>
            <a:off x="475488" y="4590288"/>
            <a:ext cx="8321040" cy="347472"/>
          </a:xfrm>
          <a:prstGeom prst="rect">
            <a:avLst/>
          </a:prstGeom>
          <a:noFill/>
          <a:ln/>
        </p:spPr>
        <p:txBody>
          <a:bodyPr wrap="square" rtlCol="0" anchor="ctr"/>
          <a:lstStyle/>
          <a:p>
            <a:pPr indent="0" marL="0">
              <a:buNone/>
            </a:pPr>
            <a:r>
              <a:rPr lang="en-US" sz="1000" b="1" dirty="0">
                <a:solidFill>
                  <a:srgbClr val="165C3E"/>
                </a:solidFill>
              </a:rPr>
              <a:t>✓  Major win: mobile base fully assembled — wheels, columns, wire routing, and Arduino housing all complete.</a:t>
            </a:r>
            <a:endParaRPr lang="en-US" sz="1000" dirty="0"/>
          </a:p>
        </p:txBody>
      </p:sp>
      <p:sp>
        <p:nvSpPr>
          <p:cNvPr id="63" name="Text 61"/>
          <p:cNvSpPr/>
          <p:nvPr/>
        </p:nvSpPr>
        <p:spPr>
          <a:xfrm>
            <a:off x="274320" y="4919472"/>
            <a:ext cx="8595360" cy="182880"/>
          </a:xfrm>
          <a:prstGeom prst="rect">
            <a:avLst/>
          </a:prstGeom>
          <a:noFill/>
          <a:ln/>
        </p:spPr>
        <p:txBody>
          <a:bodyPr wrap="square" rtlCol="0" anchor="ctr"/>
          <a:lstStyle/>
          <a:p>
            <a:pPr algn="r" indent="0" marL="0">
              <a:buNone/>
            </a:pPr>
            <a:r>
              <a:rPr lang="en-US" sz="800" dirty="0">
                <a:solidFill>
                  <a:srgbClr val="8494A8"/>
                </a:solidFill>
              </a:rPr>
              <a:t>Mechatronics System Design 101  ·  Leen's Group  ·  Week 12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3E"/>
          </a:solidFill>
          <a:ln w="12700">
            <a:solidFill>
              <a:srgbClr val="0D1B3E"/>
            </a:solidFill>
            <a:prstDash val="solid"/>
          </a:ln>
        </p:spPr>
      </p:sp>
      <p:sp>
        <p:nvSpPr>
          <p:cNvPr id="3" name="Shape 1"/>
          <p:cNvSpPr/>
          <p:nvPr/>
        </p:nvSpPr>
        <p:spPr>
          <a:xfrm>
            <a:off x="0" y="0"/>
            <a:ext cx="164592" cy="5143500"/>
          </a:xfrm>
          <a:prstGeom prst="rect">
            <a:avLst/>
          </a:prstGeom>
          <a:solidFill>
            <a:srgbClr val="0D1B3E"/>
          </a:solidFill>
          <a:ln w="12700">
            <a:solidFill>
              <a:srgbClr val="0D1B3E"/>
            </a:solidFill>
            <a:prstDash val="solid"/>
          </a:ln>
        </p:spPr>
      </p:sp>
      <p:sp>
        <p:nvSpPr>
          <p:cNvPr id="4" name="Text 2"/>
          <p:cNvSpPr/>
          <p:nvPr/>
        </p:nvSpPr>
        <p:spPr>
          <a:xfrm>
            <a:off x="347472" y="0"/>
            <a:ext cx="6583680" cy="658368"/>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Project Schedule — Gantt Chart</a:t>
            </a:r>
            <a:endParaRPr lang="en-US" sz="2000" dirty="0"/>
          </a:p>
        </p:txBody>
      </p:sp>
      <p:sp>
        <p:nvSpPr>
          <p:cNvPr id="5" name="Shape 3"/>
          <p:cNvSpPr/>
          <p:nvPr/>
        </p:nvSpPr>
        <p:spPr>
          <a:xfrm>
            <a:off x="347472" y="804672"/>
            <a:ext cx="8476488" cy="4114800"/>
          </a:xfrm>
          <a:prstGeom prst="rect">
            <a:avLst/>
          </a:prstGeom>
          <a:solidFill>
            <a:srgbClr val="E8EDF5"/>
          </a:solidFill>
          <a:ln w="12700">
            <a:solidFill>
              <a:srgbClr val="C8D4E8"/>
            </a:solidFill>
            <a:prstDash val="solid"/>
          </a:ln>
        </p:spPr>
      </p:sp>
      <p:sp>
        <p:nvSpPr>
          <p:cNvPr id="6" name="Text 4"/>
          <p:cNvSpPr/>
          <p:nvPr/>
        </p:nvSpPr>
        <p:spPr>
          <a:xfrm>
            <a:off x="347472" y="804672"/>
            <a:ext cx="8476488" cy="4114800"/>
          </a:xfrm>
          <a:prstGeom prst="rect">
            <a:avLst/>
          </a:prstGeom>
          <a:noFill/>
          <a:ln/>
        </p:spPr>
        <p:txBody>
          <a:bodyPr wrap="square" rtlCol="0" anchor="ctr"/>
          <a:lstStyle/>
          <a:p>
            <a:pPr algn="ctr" indent="0" marL="0">
              <a:buNone/>
            </a:pPr>
            <a:r>
              <a:rPr lang="en-US" sz="1600" i="1" dirty="0">
                <a:solidFill>
                  <a:srgbClr val="9BAEC8"/>
                </a:solidFill>
              </a:rPr>
              <a:t>[ Paste Gantt Chart Image Here ]</a:t>
            </a:r>
            <a:endParaRPr lang="en-US" sz="1600" dirty="0"/>
          </a:p>
        </p:txBody>
      </p:sp>
      <p:sp>
        <p:nvSpPr>
          <p:cNvPr id="7" name="Text 5"/>
          <p:cNvSpPr/>
          <p:nvPr/>
        </p:nvSpPr>
        <p:spPr>
          <a:xfrm>
            <a:off x="274320" y="4919472"/>
            <a:ext cx="8595360" cy="182880"/>
          </a:xfrm>
          <a:prstGeom prst="rect">
            <a:avLst/>
          </a:prstGeom>
          <a:noFill/>
          <a:ln/>
        </p:spPr>
        <p:txBody>
          <a:bodyPr wrap="square" rtlCol="0" anchor="ctr"/>
          <a:lstStyle/>
          <a:p>
            <a:pPr algn="r" indent="0" marL="0">
              <a:buNone/>
            </a:pPr>
            <a:r>
              <a:rPr lang="en-US" sz="800" dirty="0">
                <a:solidFill>
                  <a:srgbClr val="8494A8"/>
                </a:solidFill>
              </a:rPr>
              <a:t>Mechatronics System Design 101  ·  Leen's Group  ·  Week 12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3E"/>
          </a:solidFill>
          <a:ln w="12700">
            <a:solidFill>
              <a:srgbClr val="0D1B3E"/>
            </a:solidFill>
            <a:prstDash val="solid"/>
          </a:ln>
        </p:spPr>
      </p:sp>
      <p:sp>
        <p:nvSpPr>
          <p:cNvPr id="3" name="Shape 1"/>
          <p:cNvSpPr/>
          <p:nvPr/>
        </p:nvSpPr>
        <p:spPr>
          <a:xfrm>
            <a:off x="0" y="0"/>
            <a:ext cx="164592" cy="5143500"/>
          </a:xfrm>
          <a:prstGeom prst="rect">
            <a:avLst/>
          </a:prstGeom>
          <a:solidFill>
            <a:srgbClr val="028090"/>
          </a:solidFill>
          <a:ln w="12700">
            <a:solidFill>
              <a:srgbClr val="028090"/>
            </a:solidFill>
            <a:prstDash val="solid"/>
          </a:ln>
        </p:spPr>
      </p:sp>
      <p:sp>
        <p:nvSpPr>
          <p:cNvPr id="4" name="Text 2"/>
          <p:cNvSpPr/>
          <p:nvPr/>
        </p:nvSpPr>
        <p:spPr>
          <a:xfrm>
            <a:off x="347472" y="0"/>
            <a:ext cx="6583680" cy="658368"/>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Milestones &amp; Deliverables</a:t>
            </a:r>
            <a:endParaRPr lang="en-US" sz="2000" dirty="0"/>
          </a:p>
        </p:txBody>
      </p:sp>
      <p:sp>
        <p:nvSpPr>
          <p:cNvPr id="5" name="Shape 3"/>
          <p:cNvSpPr/>
          <p:nvPr/>
        </p:nvSpPr>
        <p:spPr>
          <a:xfrm>
            <a:off x="347472" y="804672"/>
            <a:ext cx="2212848" cy="292608"/>
          </a:xfrm>
          <a:prstGeom prst="rect">
            <a:avLst/>
          </a:prstGeom>
          <a:solidFill>
            <a:srgbClr val="0D1B3E"/>
          </a:solidFill>
          <a:ln w="6350">
            <a:solidFill>
              <a:srgbClr val="D0DCE8"/>
            </a:solidFill>
            <a:prstDash val="solid"/>
          </a:ln>
        </p:spPr>
      </p:sp>
      <p:sp>
        <p:nvSpPr>
          <p:cNvPr id="6" name="Text 4"/>
          <p:cNvSpPr/>
          <p:nvPr/>
        </p:nvSpPr>
        <p:spPr>
          <a:xfrm>
            <a:off x="438912" y="804672"/>
            <a:ext cx="2103120" cy="292608"/>
          </a:xfrm>
          <a:prstGeom prst="rect">
            <a:avLst/>
          </a:prstGeom>
          <a:noFill/>
          <a:ln/>
        </p:spPr>
        <p:txBody>
          <a:bodyPr wrap="square" rtlCol="0" anchor="ctr"/>
          <a:lstStyle/>
          <a:p>
            <a:pPr indent="0" marL="0">
              <a:buNone/>
            </a:pPr>
            <a:r>
              <a:rPr lang="en-US" sz="1000" b="1" dirty="0">
                <a:solidFill>
                  <a:srgbClr val="FFFFFF"/>
                </a:solidFill>
              </a:rPr>
              <a:t>Deliverable</a:t>
            </a:r>
            <a:endParaRPr lang="en-US" sz="1000" dirty="0"/>
          </a:p>
        </p:txBody>
      </p:sp>
      <p:sp>
        <p:nvSpPr>
          <p:cNvPr id="7" name="Shape 5"/>
          <p:cNvSpPr/>
          <p:nvPr/>
        </p:nvSpPr>
        <p:spPr>
          <a:xfrm>
            <a:off x="2578608" y="804672"/>
            <a:ext cx="1572768" cy="292608"/>
          </a:xfrm>
          <a:prstGeom prst="rect">
            <a:avLst/>
          </a:prstGeom>
          <a:solidFill>
            <a:srgbClr val="0D1B3E"/>
          </a:solidFill>
          <a:ln w="6350">
            <a:solidFill>
              <a:srgbClr val="D0DCE8"/>
            </a:solidFill>
            <a:prstDash val="solid"/>
          </a:ln>
        </p:spPr>
      </p:sp>
      <p:sp>
        <p:nvSpPr>
          <p:cNvPr id="8" name="Text 6"/>
          <p:cNvSpPr/>
          <p:nvPr/>
        </p:nvSpPr>
        <p:spPr>
          <a:xfrm>
            <a:off x="2670048" y="804672"/>
            <a:ext cx="1463040" cy="292608"/>
          </a:xfrm>
          <a:prstGeom prst="rect">
            <a:avLst/>
          </a:prstGeom>
          <a:noFill/>
          <a:ln/>
        </p:spPr>
        <p:txBody>
          <a:bodyPr wrap="square" rtlCol="0" anchor="ctr"/>
          <a:lstStyle/>
          <a:p>
            <a:pPr indent="0" marL="0">
              <a:buNone/>
            </a:pPr>
            <a:r>
              <a:rPr lang="en-US" sz="1000" b="1" dirty="0">
                <a:solidFill>
                  <a:srgbClr val="FFFFFF"/>
                </a:solidFill>
              </a:rPr>
              <a:t>Target</a:t>
            </a:r>
            <a:endParaRPr lang="en-US" sz="1000" dirty="0"/>
          </a:p>
        </p:txBody>
      </p:sp>
      <p:sp>
        <p:nvSpPr>
          <p:cNvPr id="9" name="Shape 7"/>
          <p:cNvSpPr/>
          <p:nvPr/>
        </p:nvSpPr>
        <p:spPr>
          <a:xfrm>
            <a:off x="4169664" y="804672"/>
            <a:ext cx="1389888" cy="292608"/>
          </a:xfrm>
          <a:prstGeom prst="rect">
            <a:avLst/>
          </a:prstGeom>
          <a:solidFill>
            <a:srgbClr val="0D1B3E"/>
          </a:solidFill>
          <a:ln w="6350">
            <a:solidFill>
              <a:srgbClr val="D0DCE8"/>
            </a:solidFill>
            <a:prstDash val="solid"/>
          </a:ln>
        </p:spPr>
      </p:sp>
      <p:sp>
        <p:nvSpPr>
          <p:cNvPr id="10" name="Text 8"/>
          <p:cNvSpPr/>
          <p:nvPr/>
        </p:nvSpPr>
        <p:spPr>
          <a:xfrm>
            <a:off x="4261104" y="804672"/>
            <a:ext cx="1280160" cy="292608"/>
          </a:xfrm>
          <a:prstGeom prst="rect">
            <a:avLst/>
          </a:prstGeom>
          <a:noFill/>
          <a:ln/>
        </p:spPr>
        <p:txBody>
          <a:bodyPr wrap="square" rtlCol="0" anchor="ctr"/>
          <a:lstStyle/>
          <a:p>
            <a:pPr indent="0" marL="0">
              <a:buNone/>
            </a:pPr>
            <a:r>
              <a:rPr lang="en-US" sz="1000" b="1" dirty="0">
                <a:solidFill>
                  <a:srgbClr val="FFFFFF"/>
                </a:solidFill>
              </a:rPr>
              <a:t>Status</a:t>
            </a:r>
            <a:endParaRPr lang="en-US" sz="1000" dirty="0"/>
          </a:p>
        </p:txBody>
      </p:sp>
      <p:sp>
        <p:nvSpPr>
          <p:cNvPr id="11" name="Shape 9"/>
          <p:cNvSpPr/>
          <p:nvPr/>
        </p:nvSpPr>
        <p:spPr>
          <a:xfrm>
            <a:off x="5577840" y="804672"/>
            <a:ext cx="3246120" cy="292608"/>
          </a:xfrm>
          <a:prstGeom prst="rect">
            <a:avLst/>
          </a:prstGeom>
          <a:solidFill>
            <a:srgbClr val="0D1B3E"/>
          </a:solidFill>
          <a:ln w="6350">
            <a:solidFill>
              <a:srgbClr val="D0DCE8"/>
            </a:solidFill>
            <a:prstDash val="solid"/>
          </a:ln>
        </p:spPr>
      </p:sp>
      <p:sp>
        <p:nvSpPr>
          <p:cNvPr id="12" name="Text 10"/>
          <p:cNvSpPr/>
          <p:nvPr/>
        </p:nvSpPr>
        <p:spPr>
          <a:xfrm>
            <a:off x="5669280" y="804672"/>
            <a:ext cx="3136392" cy="292608"/>
          </a:xfrm>
          <a:prstGeom prst="rect">
            <a:avLst/>
          </a:prstGeom>
          <a:noFill/>
          <a:ln/>
        </p:spPr>
        <p:txBody>
          <a:bodyPr wrap="square" rtlCol="0" anchor="ctr"/>
          <a:lstStyle/>
          <a:p>
            <a:pPr indent="0" marL="0">
              <a:buNone/>
            </a:pPr>
            <a:r>
              <a:rPr lang="en-US" sz="1000" b="1" dirty="0">
                <a:solidFill>
                  <a:srgbClr val="FFFFFF"/>
                </a:solidFill>
              </a:rPr>
              <a:t>This week</a:t>
            </a:r>
            <a:endParaRPr lang="en-US" sz="1000" dirty="0"/>
          </a:p>
        </p:txBody>
      </p:sp>
      <p:sp>
        <p:nvSpPr>
          <p:cNvPr id="13" name="Shape 11"/>
          <p:cNvSpPr/>
          <p:nvPr/>
        </p:nvSpPr>
        <p:spPr>
          <a:xfrm>
            <a:off x="347472" y="1097280"/>
            <a:ext cx="2212848" cy="420624"/>
          </a:xfrm>
          <a:prstGeom prst="rect">
            <a:avLst/>
          </a:prstGeom>
          <a:solidFill>
            <a:srgbClr val="EDF2F7"/>
          </a:solidFill>
          <a:ln w="6350">
            <a:solidFill>
              <a:srgbClr val="D0DCE8"/>
            </a:solidFill>
            <a:prstDash val="solid"/>
          </a:ln>
        </p:spPr>
      </p:sp>
      <p:sp>
        <p:nvSpPr>
          <p:cNvPr id="14" name="Shape 12"/>
          <p:cNvSpPr/>
          <p:nvPr/>
        </p:nvSpPr>
        <p:spPr>
          <a:xfrm>
            <a:off x="2578608" y="1097280"/>
            <a:ext cx="1572768" cy="420624"/>
          </a:xfrm>
          <a:prstGeom prst="rect">
            <a:avLst/>
          </a:prstGeom>
          <a:solidFill>
            <a:srgbClr val="EDF2F7"/>
          </a:solidFill>
          <a:ln w="6350">
            <a:solidFill>
              <a:srgbClr val="D0DCE8"/>
            </a:solidFill>
            <a:prstDash val="solid"/>
          </a:ln>
        </p:spPr>
      </p:sp>
      <p:sp>
        <p:nvSpPr>
          <p:cNvPr id="15" name="Shape 13"/>
          <p:cNvSpPr/>
          <p:nvPr/>
        </p:nvSpPr>
        <p:spPr>
          <a:xfrm>
            <a:off x="4169664" y="1097280"/>
            <a:ext cx="1389888" cy="420624"/>
          </a:xfrm>
          <a:prstGeom prst="rect">
            <a:avLst/>
          </a:prstGeom>
          <a:solidFill>
            <a:srgbClr val="EDF2F7"/>
          </a:solidFill>
          <a:ln w="6350">
            <a:solidFill>
              <a:srgbClr val="D0DCE8"/>
            </a:solidFill>
            <a:prstDash val="solid"/>
          </a:ln>
        </p:spPr>
      </p:sp>
      <p:sp>
        <p:nvSpPr>
          <p:cNvPr id="16" name="Shape 14"/>
          <p:cNvSpPr/>
          <p:nvPr/>
        </p:nvSpPr>
        <p:spPr>
          <a:xfrm>
            <a:off x="5577840" y="1097280"/>
            <a:ext cx="3246120" cy="420624"/>
          </a:xfrm>
          <a:prstGeom prst="rect">
            <a:avLst/>
          </a:prstGeom>
          <a:solidFill>
            <a:srgbClr val="EDF2F7"/>
          </a:solidFill>
          <a:ln w="6350">
            <a:solidFill>
              <a:srgbClr val="D0DCE8"/>
            </a:solidFill>
            <a:prstDash val="solid"/>
          </a:ln>
        </p:spPr>
      </p:sp>
      <p:sp>
        <p:nvSpPr>
          <p:cNvPr id="17" name="Text 15"/>
          <p:cNvSpPr/>
          <p:nvPr/>
        </p:nvSpPr>
        <p:spPr>
          <a:xfrm>
            <a:off x="438912" y="1097280"/>
            <a:ext cx="2103120" cy="420624"/>
          </a:xfrm>
          <a:prstGeom prst="rect">
            <a:avLst/>
          </a:prstGeom>
          <a:noFill/>
          <a:ln/>
        </p:spPr>
        <p:txBody>
          <a:bodyPr wrap="square" rtlCol="0" anchor="ctr"/>
          <a:lstStyle/>
          <a:p>
            <a:pPr indent="0" marL="0">
              <a:buNone/>
            </a:pPr>
            <a:r>
              <a:rPr lang="en-US" sz="950" b="1" dirty="0">
                <a:solidFill>
                  <a:srgbClr val="2C3E50"/>
                </a:solidFill>
              </a:rPr>
              <a:t>Mobile base</a:t>
            </a:r>
            <a:endParaRPr lang="en-US" sz="950" dirty="0"/>
          </a:p>
        </p:txBody>
      </p:sp>
      <p:sp>
        <p:nvSpPr>
          <p:cNvPr id="18" name="Text 16"/>
          <p:cNvSpPr/>
          <p:nvPr/>
        </p:nvSpPr>
        <p:spPr>
          <a:xfrm>
            <a:off x="2670048" y="1097280"/>
            <a:ext cx="1463040" cy="420624"/>
          </a:xfrm>
          <a:prstGeom prst="rect">
            <a:avLst/>
          </a:prstGeom>
          <a:noFill/>
          <a:ln/>
        </p:spPr>
        <p:txBody>
          <a:bodyPr wrap="square" rtlCol="0" anchor="ctr"/>
          <a:lstStyle/>
          <a:p>
            <a:pPr indent="0" marL="0">
              <a:buNone/>
            </a:pPr>
            <a:r>
              <a:rPr lang="en-US" sz="950" dirty="0">
                <a:solidFill>
                  <a:srgbClr val="2C3E50"/>
                </a:solidFill>
              </a:rPr>
              <a:t>Week 12</a:t>
            </a:r>
            <a:endParaRPr lang="en-US" sz="950" dirty="0"/>
          </a:p>
        </p:txBody>
      </p:sp>
      <p:sp>
        <p:nvSpPr>
          <p:cNvPr id="19" name="Shape 17"/>
          <p:cNvSpPr/>
          <p:nvPr/>
        </p:nvSpPr>
        <p:spPr>
          <a:xfrm>
            <a:off x="4261104" y="1179576"/>
            <a:ext cx="1207008" cy="237744"/>
          </a:xfrm>
          <a:prstGeom prst="roundRect">
            <a:avLst>
              <a:gd name="adj" fmla="val 15385"/>
            </a:avLst>
          </a:prstGeom>
          <a:solidFill>
            <a:srgbClr val="2EAD7A">
              <a:alpha val="18000"/>
            </a:srgbClr>
          </a:solidFill>
          <a:ln w="12700">
            <a:solidFill>
              <a:srgbClr val="2EAD7A">
                <a:alpha val="35000"/>
              </a:srgbClr>
            </a:solidFill>
            <a:prstDash val="solid"/>
          </a:ln>
        </p:spPr>
      </p:sp>
      <p:sp>
        <p:nvSpPr>
          <p:cNvPr id="20" name="Text 18"/>
          <p:cNvSpPr/>
          <p:nvPr/>
        </p:nvSpPr>
        <p:spPr>
          <a:xfrm>
            <a:off x="4261104" y="1179576"/>
            <a:ext cx="1207008" cy="237744"/>
          </a:xfrm>
          <a:prstGeom prst="rect">
            <a:avLst/>
          </a:prstGeom>
          <a:noFill/>
          <a:ln/>
        </p:spPr>
        <p:txBody>
          <a:bodyPr wrap="square" lIns="0" tIns="0" rIns="0" bIns="0" rtlCol="0" anchor="ctr"/>
          <a:lstStyle/>
          <a:p>
            <a:pPr algn="ctr" indent="0" marL="0">
              <a:buNone/>
            </a:pPr>
            <a:r>
              <a:rPr lang="en-US" sz="800" b="1" dirty="0">
                <a:solidFill>
                  <a:srgbClr val="165C3E"/>
                </a:solidFill>
              </a:rPr>
              <a:t>Done ✓</a:t>
            </a:r>
            <a:endParaRPr lang="en-US" sz="800" dirty="0"/>
          </a:p>
        </p:txBody>
      </p:sp>
      <p:sp>
        <p:nvSpPr>
          <p:cNvPr id="21" name="Text 19"/>
          <p:cNvSpPr/>
          <p:nvPr/>
        </p:nvSpPr>
        <p:spPr>
          <a:xfrm>
            <a:off x="5669280" y="1097280"/>
            <a:ext cx="3136392" cy="420624"/>
          </a:xfrm>
          <a:prstGeom prst="rect">
            <a:avLst/>
          </a:prstGeom>
          <a:noFill/>
          <a:ln/>
        </p:spPr>
        <p:txBody>
          <a:bodyPr wrap="square" rtlCol="0" anchor="ctr"/>
          <a:lstStyle/>
          <a:p>
            <a:pPr indent="0" marL="0">
              <a:buNone/>
            </a:pPr>
            <a:r>
              <a:rPr lang="en-US" sz="900" dirty="0">
                <a:solidFill>
                  <a:srgbClr val="8494A8"/>
                </a:solidFill>
              </a:rPr>
              <a:t>Drilled, columns fitted, wheels on, wire hole cut</a:t>
            </a:r>
            <a:endParaRPr lang="en-US" sz="900" dirty="0"/>
          </a:p>
        </p:txBody>
      </p:sp>
      <p:sp>
        <p:nvSpPr>
          <p:cNvPr id="22" name="Shape 20"/>
          <p:cNvSpPr/>
          <p:nvPr/>
        </p:nvSpPr>
        <p:spPr>
          <a:xfrm>
            <a:off x="347472" y="1554480"/>
            <a:ext cx="2212848" cy="420624"/>
          </a:xfrm>
          <a:prstGeom prst="rect">
            <a:avLst/>
          </a:prstGeom>
          <a:solidFill>
            <a:srgbClr val="FFFFFF"/>
          </a:solidFill>
          <a:ln w="6350">
            <a:solidFill>
              <a:srgbClr val="D0DCE8"/>
            </a:solidFill>
            <a:prstDash val="solid"/>
          </a:ln>
        </p:spPr>
      </p:sp>
      <p:sp>
        <p:nvSpPr>
          <p:cNvPr id="23" name="Shape 21"/>
          <p:cNvSpPr/>
          <p:nvPr/>
        </p:nvSpPr>
        <p:spPr>
          <a:xfrm>
            <a:off x="2578608" y="1554480"/>
            <a:ext cx="1572768" cy="420624"/>
          </a:xfrm>
          <a:prstGeom prst="rect">
            <a:avLst/>
          </a:prstGeom>
          <a:solidFill>
            <a:srgbClr val="FFFFFF"/>
          </a:solidFill>
          <a:ln w="6350">
            <a:solidFill>
              <a:srgbClr val="D0DCE8"/>
            </a:solidFill>
            <a:prstDash val="solid"/>
          </a:ln>
        </p:spPr>
      </p:sp>
      <p:sp>
        <p:nvSpPr>
          <p:cNvPr id="24" name="Shape 22"/>
          <p:cNvSpPr/>
          <p:nvPr/>
        </p:nvSpPr>
        <p:spPr>
          <a:xfrm>
            <a:off x="4169664" y="1554480"/>
            <a:ext cx="1389888" cy="420624"/>
          </a:xfrm>
          <a:prstGeom prst="rect">
            <a:avLst/>
          </a:prstGeom>
          <a:solidFill>
            <a:srgbClr val="FFFFFF"/>
          </a:solidFill>
          <a:ln w="6350">
            <a:solidFill>
              <a:srgbClr val="D0DCE8"/>
            </a:solidFill>
            <a:prstDash val="solid"/>
          </a:ln>
        </p:spPr>
      </p:sp>
      <p:sp>
        <p:nvSpPr>
          <p:cNvPr id="25" name="Shape 23"/>
          <p:cNvSpPr/>
          <p:nvPr/>
        </p:nvSpPr>
        <p:spPr>
          <a:xfrm>
            <a:off x="5577840" y="1554480"/>
            <a:ext cx="3246120" cy="420624"/>
          </a:xfrm>
          <a:prstGeom prst="rect">
            <a:avLst/>
          </a:prstGeom>
          <a:solidFill>
            <a:srgbClr val="FFFFFF"/>
          </a:solidFill>
          <a:ln w="6350">
            <a:solidFill>
              <a:srgbClr val="D0DCE8"/>
            </a:solidFill>
            <a:prstDash val="solid"/>
          </a:ln>
        </p:spPr>
      </p:sp>
      <p:sp>
        <p:nvSpPr>
          <p:cNvPr id="26" name="Text 24"/>
          <p:cNvSpPr/>
          <p:nvPr/>
        </p:nvSpPr>
        <p:spPr>
          <a:xfrm>
            <a:off x="438912" y="1554480"/>
            <a:ext cx="2103120" cy="420624"/>
          </a:xfrm>
          <a:prstGeom prst="rect">
            <a:avLst/>
          </a:prstGeom>
          <a:noFill/>
          <a:ln/>
        </p:spPr>
        <p:txBody>
          <a:bodyPr wrap="square" rtlCol="0" anchor="ctr"/>
          <a:lstStyle/>
          <a:p>
            <a:pPr indent="0" marL="0">
              <a:buNone/>
            </a:pPr>
            <a:r>
              <a:rPr lang="en-US" sz="950" b="1" dirty="0">
                <a:solidFill>
                  <a:srgbClr val="2C3E50"/>
                </a:solidFill>
              </a:rPr>
              <a:t>Detection system</a:t>
            </a:r>
            <a:endParaRPr lang="en-US" sz="950" dirty="0"/>
          </a:p>
        </p:txBody>
      </p:sp>
      <p:sp>
        <p:nvSpPr>
          <p:cNvPr id="27" name="Text 25"/>
          <p:cNvSpPr/>
          <p:nvPr/>
        </p:nvSpPr>
        <p:spPr>
          <a:xfrm>
            <a:off x="2670048" y="1554480"/>
            <a:ext cx="1463040" cy="420624"/>
          </a:xfrm>
          <a:prstGeom prst="rect">
            <a:avLst/>
          </a:prstGeom>
          <a:noFill/>
          <a:ln/>
        </p:spPr>
        <p:txBody>
          <a:bodyPr wrap="square" rtlCol="0" anchor="ctr"/>
          <a:lstStyle/>
          <a:p>
            <a:pPr indent="0" marL="0">
              <a:buNone/>
            </a:pPr>
            <a:r>
              <a:rPr lang="en-US" sz="950" dirty="0">
                <a:solidFill>
                  <a:srgbClr val="2C3E50"/>
                </a:solidFill>
              </a:rPr>
              <a:t>Week 12</a:t>
            </a:r>
            <a:endParaRPr lang="en-US" sz="950" dirty="0"/>
          </a:p>
        </p:txBody>
      </p:sp>
      <p:sp>
        <p:nvSpPr>
          <p:cNvPr id="28" name="Shape 26"/>
          <p:cNvSpPr/>
          <p:nvPr/>
        </p:nvSpPr>
        <p:spPr>
          <a:xfrm>
            <a:off x="4261104" y="1636776"/>
            <a:ext cx="1207008" cy="237744"/>
          </a:xfrm>
          <a:prstGeom prst="roundRect">
            <a:avLst>
              <a:gd name="adj" fmla="val 15385"/>
            </a:avLst>
          </a:prstGeom>
          <a:solidFill>
            <a:srgbClr val="2EAD7A">
              <a:alpha val="18000"/>
            </a:srgbClr>
          </a:solidFill>
          <a:ln w="12700">
            <a:solidFill>
              <a:srgbClr val="2EAD7A">
                <a:alpha val="35000"/>
              </a:srgbClr>
            </a:solidFill>
            <a:prstDash val="solid"/>
          </a:ln>
        </p:spPr>
      </p:sp>
      <p:sp>
        <p:nvSpPr>
          <p:cNvPr id="29" name="Text 27"/>
          <p:cNvSpPr/>
          <p:nvPr/>
        </p:nvSpPr>
        <p:spPr>
          <a:xfrm>
            <a:off x="4261104" y="1636776"/>
            <a:ext cx="1207008" cy="237744"/>
          </a:xfrm>
          <a:prstGeom prst="rect">
            <a:avLst/>
          </a:prstGeom>
          <a:noFill/>
          <a:ln/>
        </p:spPr>
        <p:txBody>
          <a:bodyPr wrap="square" lIns="0" tIns="0" rIns="0" bIns="0" rtlCol="0" anchor="ctr"/>
          <a:lstStyle/>
          <a:p>
            <a:pPr algn="ctr" indent="0" marL="0">
              <a:buNone/>
            </a:pPr>
            <a:r>
              <a:rPr lang="en-US" sz="800" b="1" dirty="0">
                <a:solidFill>
                  <a:srgbClr val="165C3E"/>
                </a:solidFill>
              </a:rPr>
              <a:t>Done ✓</a:t>
            </a:r>
            <a:endParaRPr lang="en-US" sz="800" dirty="0"/>
          </a:p>
        </p:txBody>
      </p:sp>
      <p:sp>
        <p:nvSpPr>
          <p:cNvPr id="30" name="Text 28"/>
          <p:cNvSpPr/>
          <p:nvPr/>
        </p:nvSpPr>
        <p:spPr>
          <a:xfrm>
            <a:off x="5669280" y="1554480"/>
            <a:ext cx="3136392" cy="420624"/>
          </a:xfrm>
          <a:prstGeom prst="rect">
            <a:avLst/>
          </a:prstGeom>
          <a:noFill/>
          <a:ln/>
        </p:spPr>
        <p:txBody>
          <a:bodyPr wrap="square" rtlCol="0" anchor="ctr"/>
          <a:lstStyle/>
          <a:p>
            <a:pPr indent="0" marL="0">
              <a:buNone/>
            </a:pPr>
            <a:r>
              <a:rPr lang="en-US" sz="900" dirty="0">
                <a:solidFill>
                  <a:srgbClr val="8494A8"/>
                </a:solidFill>
              </a:rPr>
              <a:t>Simplified — detects object presence reliably</a:t>
            </a:r>
            <a:endParaRPr lang="en-US" sz="900" dirty="0"/>
          </a:p>
        </p:txBody>
      </p:sp>
      <p:sp>
        <p:nvSpPr>
          <p:cNvPr id="31" name="Shape 29"/>
          <p:cNvSpPr/>
          <p:nvPr/>
        </p:nvSpPr>
        <p:spPr>
          <a:xfrm>
            <a:off x="347472" y="2011680"/>
            <a:ext cx="2212848" cy="420624"/>
          </a:xfrm>
          <a:prstGeom prst="rect">
            <a:avLst/>
          </a:prstGeom>
          <a:solidFill>
            <a:srgbClr val="EDF2F7"/>
          </a:solidFill>
          <a:ln w="6350">
            <a:solidFill>
              <a:srgbClr val="D0DCE8"/>
            </a:solidFill>
            <a:prstDash val="solid"/>
          </a:ln>
        </p:spPr>
      </p:sp>
      <p:sp>
        <p:nvSpPr>
          <p:cNvPr id="32" name="Shape 30"/>
          <p:cNvSpPr/>
          <p:nvPr/>
        </p:nvSpPr>
        <p:spPr>
          <a:xfrm>
            <a:off x="2578608" y="2011680"/>
            <a:ext cx="1572768" cy="420624"/>
          </a:xfrm>
          <a:prstGeom prst="rect">
            <a:avLst/>
          </a:prstGeom>
          <a:solidFill>
            <a:srgbClr val="EDF2F7"/>
          </a:solidFill>
          <a:ln w="6350">
            <a:solidFill>
              <a:srgbClr val="D0DCE8"/>
            </a:solidFill>
            <a:prstDash val="solid"/>
          </a:ln>
        </p:spPr>
      </p:sp>
      <p:sp>
        <p:nvSpPr>
          <p:cNvPr id="33" name="Shape 31"/>
          <p:cNvSpPr/>
          <p:nvPr/>
        </p:nvSpPr>
        <p:spPr>
          <a:xfrm>
            <a:off x="4169664" y="2011680"/>
            <a:ext cx="1389888" cy="420624"/>
          </a:xfrm>
          <a:prstGeom prst="rect">
            <a:avLst/>
          </a:prstGeom>
          <a:solidFill>
            <a:srgbClr val="EDF2F7"/>
          </a:solidFill>
          <a:ln w="6350">
            <a:solidFill>
              <a:srgbClr val="D0DCE8"/>
            </a:solidFill>
            <a:prstDash val="solid"/>
          </a:ln>
        </p:spPr>
      </p:sp>
      <p:sp>
        <p:nvSpPr>
          <p:cNvPr id="34" name="Shape 32"/>
          <p:cNvSpPr/>
          <p:nvPr/>
        </p:nvSpPr>
        <p:spPr>
          <a:xfrm>
            <a:off x="5577840" y="2011680"/>
            <a:ext cx="3246120" cy="420624"/>
          </a:xfrm>
          <a:prstGeom prst="rect">
            <a:avLst/>
          </a:prstGeom>
          <a:solidFill>
            <a:srgbClr val="EDF2F7"/>
          </a:solidFill>
          <a:ln w="6350">
            <a:solidFill>
              <a:srgbClr val="D0DCE8"/>
            </a:solidFill>
            <a:prstDash val="solid"/>
          </a:ln>
        </p:spPr>
      </p:sp>
      <p:sp>
        <p:nvSpPr>
          <p:cNvPr id="35" name="Text 33"/>
          <p:cNvSpPr/>
          <p:nvPr/>
        </p:nvSpPr>
        <p:spPr>
          <a:xfrm>
            <a:off x="438912" y="2011680"/>
            <a:ext cx="2103120" cy="420624"/>
          </a:xfrm>
          <a:prstGeom prst="rect">
            <a:avLst/>
          </a:prstGeom>
          <a:noFill/>
          <a:ln/>
        </p:spPr>
        <p:txBody>
          <a:bodyPr wrap="square" rtlCol="0" anchor="ctr"/>
          <a:lstStyle/>
          <a:p>
            <a:pPr indent="0" marL="0">
              <a:buNone/>
            </a:pPr>
            <a:r>
              <a:rPr lang="en-US" sz="950" b="1" dirty="0">
                <a:solidFill>
                  <a:srgbClr val="2C3E50"/>
                </a:solidFill>
              </a:rPr>
              <a:t>Pump testing</a:t>
            </a:r>
            <a:endParaRPr lang="en-US" sz="950" dirty="0"/>
          </a:p>
        </p:txBody>
      </p:sp>
      <p:sp>
        <p:nvSpPr>
          <p:cNvPr id="36" name="Text 34"/>
          <p:cNvSpPr/>
          <p:nvPr/>
        </p:nvSpPr>
        <p:spPr>
          <a:xfrm>
            <a:off x="2670048" y="2011680"/>
            <a:ext cx="1463040" cy="420624"/>
          </a:xfrm>
          <a:prstGeom prst="rect">
            <a:avLst/>
          </a:prstGeom>
          <a:noFill/>
          <a:ln/>
        </p:spPr>
        <p:txBody>
          <a:bodyPr wrap="square" rtlCol="0" anchor="ctr"/>
          <a:lstStyle/>
          <a:p>
            <a:pPr indent="0" marL="0">
              <a:buNone/>
            </a:pPr>
            <a:r>
              <a:rPr lang="en-US" sz="950" dirty="0">
                <a:solidFill>
                  <a:srgbClr val="2C3E50"/>
                </a:solidFill>
              </a:rPr>
              <a:t>Week 12</a:t>
            </a:r>
            <a:endParaRPr lang="en-US" sz="950" dirty="0"/>
          </a:p>
        </p:txBody>
      </p:sp>
      <p:sp>
        <p:nvSpPr>
          <p:cNvPr id="37" name="Shape 35"/>
          <p:cNvSpPr/>
          <p:nvPr/>
        </p:nvSpPr>
        <p:spPr>
          <a:xfrm>
            <a:off x="4261104" y="2093976"/>
            <a:ext cx="1207008" cy="237744"/>
          </a:xfrm>
          <a:prstGeom prst="roundRect">
            <a:avLst>
              <a:gd name="adj" fmla="val 15385"/>
            </a:avLst>
          </a:prstGeom>
          <a:solidFill>
            <a:srgbClr val="2EAD7A">
              <a:alpha val="18000"/>
            </a:srgbClr>
          </a:solidFill>
          <a:ln w="12700">
            <a:solidFill>
              <a:srgbClr val="2EAD7A">
                <a:alpha val="35000"/>
              </a:srgbClr>
            </a:solidFill>
            <a:prstDash val="solid"/>
          </a:ln>
        </p:spPr>
      </p:sp>
      <p:sp>
        <p:nvSpPr>
          <p:cNvPr id="38" name="Text 36"/>
          <p:cNvSpPr/>
          <p:nvPr/>
        </p:nvSpPr>
        <p:spPr>
          <a:xfrm>
            <a:off x="4261104" y="2093976"/>
            <a:ext cx="1207008" cy="237744"/>
          </a:xfrm>
          <a:prstGeom prst="rect">
            <a:avLst/>
          </a:prstGeom>
          <a:noFill/>
          <a:ln/>
        </p:spPr>
        <p:txBody>
          <a:bodyPr wrap="square" lIns="0" tIns="0" rIns="0" bIns="0" rtlCol="0" anchor="ctr"/>
          <a:lstStyle/>
          <a:p>
            <a:pPr algn="ctr" indent="0" marL="0">
              <a:buNone/>
            </a:pPr>
            <a:r>
              <a:rPr lang="en-US" sz="800" b="1" dirty="0">
                <a:solidFill>
                  <a:srgbClr val="165C3E"/>
                </a:solidFill>
              </a:rPr>
              <a:t>Done ✓</a:t>
            </a:r>
            <a:endParaRPr lang="en-US" sz="800" dirty="0"/>
          </a:p>
        </p:txBody>
      </p:sp>
      <p:sp>
        <p:nvSpPr>
          <p:cNvPr id="39" name="Text 37"/>
          <p:cNvSpPr/>
          <p:nvPr/>
        </p:nvSpPr>
        <p:spPr>
          <a:xfrm>
            <a:off x="5669280" y="2011680"/>
            <a:ext cx="3136392" cy="420624"/>
          </a:xfrm>
          <a:prstGeom prst="rect">
            <a:avLst/>
          </a:prstGeom>
          <a:noFill/>
          <a:ln/>
        </p:spPr>
        <p:txBody>
          <a:bodyPr wrap="square" rtlCol="0" anchor="ctr"/>
          <a:lstStyle/>
          <a:p>
            <a:pPr indent="0" marL="0">
              <a:buNone/>
            </a:pPr>
            <a:r>
              <a:rPr lang="en-US" sz="900" dirty="0">
                <a:solidFill>
                  <a:srgbClr val="8494A8"/>
                </a:solidFill>
              </a:rPr>
              <a:t>Suction confirmed working with tube and cup</a:t>
            </a:r>
            <a:endParaRPr lang="en-US" sz="900" dirty="0"/>
          </a:p>
        </p:txBody>
      </p:sp>
      <p:sp>
        <p:nvSpPr>
          <p:cNvPr id="40" name="Shape 38"/>
          <p:cNvSpPr/>
          <p:nvPr/>
        </p:nvSpPr>
        <p:spPr>
          <a:xfrm>
            <a:off x="347472" y="2468880"/>
            <a:ext cx="2212848" cy="420624"/>
          </a:xfrm>
          <a:prstGeom prst="rect">
            <a:avLst/>
          </a:prstGeom>
          <a:solidFill>
            <a:srgbClr val="FFFFFF"/>
          </a:solidFill>
          <a:ln w="6350">
            <a:solidFill>
              <a:srgbClr val="D0DCE8"/>
            </a:solidFill>
            <a:prstDash val="solid"/>
          </a:ln>
        </p:spPr>
      </p:sp>
      <p:sp>
        <p:nvSpPr>
          <p:cNvPr id="41" name="Shape 39"/>
          <p:cNvSpPr/>
          <p:nvPr/>
        </p:nvSpPr>
        <p:spPr>
          <a:xfrm>
            <a:off x="2578608" y="2468880"/>
            <a:ext cx="1572768" cy="420624"/>
          </a:xfrm>
          <a:prstGeom prst="rect">
            <a:avLst/>
          </a:prstGeom>
          <a:solidFill>
            <a:srgbClr val="FFFFFF"/>
          </a:solidFill>
          <a:ln w="6350">
            <a:solidFill>
              <a:srgbClr val="D0DCE8"/>
            </a:solidFill>
            <a:prstDash val="solid"/>
          </a:ln>
        </p:spPr>
      </p:sp>
      <p:sp>
        <p:nvSpPr>
          <p:cNvPr id="42" name="Shape 40"/>
          <p:cNvSpPr/>
          <p:nvPr/>
        </p:nvSpPr>
        <p:spPr>
          <a:xfrm>
            <a:off x="4169664" y="2468880"/>
            <a:ext cx="1389888" cy="420624"/>
          </a:xfrm>
          <a:prstGeom prst="rect">
            <a:avLst/>
          </a:prstGeom>
          <a:solidFill>
            <a:srgbClr val="FFFFFF"/>
          </a:solidFill>
          <a:ln w="6350">
            <a:solidFill>
              <a:srgbClr val="D0DCE8"/>
            </a:solidFill>
            <a:prstDash val="solid"/>
          </a:ln>
        </p:spPr>
      </p:sp>
      <p:sp>
        <p:nvSpPr>
          <p:cNvPr id="43" name="Shape 41"/>
          <p:cNvSpPr/>
          <p:nvPr/>
        </p:nvSpPr>
        <p:spPr>
          <a:xfrm>
            <a:off x="5577840" y="2468880"/>
            <a:ext cx="3246120" cy="420624"/>
          </a:xfrm>
          <a:prstGeom prst="rect">
            <a:avLst/>
          </a:prstGeom>
          <a:solidFill>
            <a:srgbClr val="FFFFFF"/>
          </a:solidFill>
          <a:ln w="6350">
            <a:solidFill>
              <a:srgbClr val="D0DCE8"/>
            </a:solidFill>
            <a:prstDash val="solid"/>
          </a:ln>
        </p:spPr>
      </p:sp>
      <p:sp>
        <p:nvSpPr>
          <p:cNvPr id="44" name="Text 42"/>
          <p:cNvSpPr/>
          <p:nvPr/>
        </p:nvSpPr>
        <p:spPr>
          <a:xfrm>
            <a:off x="438912" y="2468880"/>
            <a:ext cx="2103120" cy="420624"/>
          </a:xfrm>
          <a:prstGeom prst="rect">
            <a:avLst/>
          </a:prstGeom>
          <a:noFill/>
          <a:ln/>
        </p:spPr>
        <p:txBody>
          <a:bodyPr wrap="square" rtlCol="0" anchor="ctr"/>
          <a:lstStyle/>
          <a:p>
            <a:pPr indent="0" marL="0">
              <a:buNone/>
            </a:pPr>
            <a:r>
              <a:rPr lang="en-US" sz="950" b="1" dirty="0">
                <a:solidFill>
                  <a:srgbClr val="2C3E50"/>
                </a:solidFill>
              </a:rPr>
              <a:t>End effector (suction)</a:t>
            </a:r>
            <a:endParaRPr lang="en-US" sz="950" dirty="0"/>
          </a:p>
        </p:txBody>
      </p:sp>
      <p:sp>
        <p:nvSpPr>
          <p:cNvPr id="45" name="Text 43"/>
          <p:cNvSpPr/>
          <p:nvPr/>
        </p:nvSpPr>
        <p:spPr>
          <a:xfrm>
            <a:off x="2670048" y="2468880"/>
            <a:ext cx="1463040" cy="420624"/>
          </a:xfrm>
          <a:prstGeom prst="rect">
            <a:avLst/>
          </a:prstGeom>
          <a:noFill/>
          <a:ln/>
        </p:spPr>
        <p:txBody>
          <a:bodyPr wrap="square" rtlCol="0" anchor="ctr"/>
          <a:lstStyle/>
          <a:p>
            <a:pPr indent="0" marL="0">
              <a:buNone/>
            </a:pPr>
            <a:r>
              <a:rPr lang="en-US" sz="950" dirty="0">
                <a:solidFill>
                  <a:srgbClr val="2C3E50"/>
                </a:solidFill>
              </a:rPr>
              <a:t>Week 12</a:t>
            </a:r>
            <a:endParaRPr lang="en-US" sz="950" dirty="0"/>
          </a:p>
        </p:txBody>
      </p:sp>
      <p:sp>
        <p:nvSpPr>
          <p:cNvPr id="46" name="Shape 44"/>
          <p:cNvSpPr/>
          <p:nvPr/>
        </p:nvSpPr>
        <p:spPr>
          <a:xfrm>
            <a:off x="4261104" y="2551176"/>
            <a:ext cx="1207008" cy="237744"/>
          </a:xfrm>
          <a:prstGeom prst="roundRect">
            <a:avLst>
              <a:gd name="adj" fmla="val 15385"/>
            </a:avLst>
          </a:prstGeom>
          <a:solidFill>
            <a:srgbClr val="E8A020">
              <a:alpha val="18000"/>
            </a:srgbClr>
          </a:solidFill>
          <a:ln w="12700">
            <a:solidFill>
              <a:srgbClr val="E8A020">
                <a:alpha val="35000"/>
              </a:srgbClr>
            </a:solidFill>
            <a:prstDash val="solid"/>
          </a:ln>
        </p:spPr>
      </p:sp>
      <p:sp>
        <p:nvSpPr>
          <p:cNvPr id="47" name="Text 45"/>
          <p:cNvSpPr/>
          <p:nvPr/>
        </p:nvSpPr>
        <p:spPr>
          <a:xfrm>
            <a:off x="4261104" y="2551176"/>
            <a:ext cx="1207008" cy="237744"/>
          </a:xfrm>
          <a:prstGeom prst="rect">
            <a:avLst/>
          </a:prstGeom>
          <a:noFill/>
          <a:ln/>
        </p:spPr>
        <p:txBody>
          <a:bodyPr wrap="square" lIns="0" tIns="0" rIns="0" bIns="0" rtlCol="0" anchor="ctr"/>
          <a:lstStyle/>
          <a:p>
            <a:pPr algn="ctr" indent="0" marL="0">
              <a:buNone/>
            </a:pPr>
            <a:r>
              <a:rPr lang="en-US" sz="800" b="1" dirty="0">
                <a:solidFill>
                  <a:srgbClr val="7A5000"/>
                </a:solidFill>
              </a:rPr>
              <a:t>In progress</a:t>
            </a:r>
            <a:endParaRPr lang="en-US" sz="800" dirty="0"/>
          </a:p>
        </p:txBody>
      </p:sp>
      <p:sp>
        <p:nvSpPr>
          <p:cNvPr id="48" name="Text 46"/>
          <p:cNvSpPr/>
          <p:nvPr/>
        </p:nvSpPr>
        <p:spPr>
          <a:xfrm>
            <a:off x="5669280" y="2468880"/>
            <a:ext cx="3136392" cy="420624"/>
          </a:xfrm>
          <a:prstGeom prst="rect">
            <a:avLst/>
          </a:prstGeom>
          <a:noFill/>
          <a:ln/>
        </p:spPr>
        <p:txBody>
          <a:bodyPr wrap="square" rtlCol="0" anchor="ctr"/>
          <a:lstStyle/>
          <a:p>
            <a:pPr indent="0" marL="0">
              <a:buNone/>
            </a:pPr>
            <a:r>
              <a:rPr lang="en-US" sz="900" dirty="0">
                <a:solidFill>
                  <a:srgbClr val="8494A8"/>
                </a:solidFill>
              </a:rPr>
              <a:t>Tube, connector, cup acquired — needs connector part reprint</a:t>
            </a:r>
            <a:endParaRPr lang="en-US" sz="900" dirty="0"/>
          </a:p>
        </p:txBody>
      </p:sp>
      <p:sp>
        <p:nvSpPr>
          <p:cNvPr id="49" name="Shape 47"/>
          <p:cNvSpPr/>
          <p:nvPr/>
        </p:nvSpPr>
        <p:spPr>
          <a:xfrm>
            <a:off x="347472" y="2926080"/>
            <a:ext cx="2212848" cy="420624"/>
          </a:xfrm>
          <a:prstGeom prst="rect">
            <a:avLst/>
          </a:prstGeom>
          <a:solidFill>
            <a:srgbClr val="EDF2F7"/>
          </a:solidFill>
          <a:ln w="6350">
            <a:solidFill>
              <a:srgbClr val="D0DCE8"/>
            </a:solidFill>
            <a:prstDash val="solid"/>
          </a:ln>
        </p:spPr>
      </p:sp>
      <p:sp>
        <p:nvSpPr>
          <p:cNvPr id="50" name="Shape 48"/>
          <p:cNvSpPr/>
          <p:nvPr/>
        </p:nvSpPr>
        <p:spPr>
          <a:xfrm>
            <a:off x="2578608" y="2926080"/>
            <a:ext cx="1572768" cy="420624"/>
          </a:xfrm>
          <a:prstGeom prst="rect">
            <a:avLst/>
          </a:prstGeom>
          <a:solidFill>
            <a:srgbClr val="EDF2F7"/>
          </a:solidFill>
          <a:ln w="6350">
            <a:solidFill>
              <a:srgbClr val="D0DCE8"/>
            </a:solidFill>
            <a:prstDash val="solid"/>
          </a:ln>
        </p:spPr>
      </p:sp>
      <p:sp>
        <p:nvSpPr>
          <p:cNvPr id="51" name="Shape 49"/>
          <p:cNvSpPr/>
          <p:nvPr/>
        </p:nvSpPr>
        <p:spPr>
          <a:xfrm>
            <a:off x="4169664" y="2926080"/>
            <a:ext cx="1389888" cy="420624"/>
          </a:xfrm>
          <a:prstGeom prst="rect">
            <a:avLst/>
          </a:prstGeom>
          <a:solidFill>
            <a:srgbClr val="EDF2F7"/>
          </a:solidFill>
          <a:ln w="6350">
            <a:solidFill>
              <a:srgbClr val="D0DCE8"/>
            </a:solidFill>
            <a:prstDash val="solid"/>
          </a:ln>
        </p:spPr>
      </p:sp>
      <p:sp>
        <p:nvSpPr>
          <p:cNvPr id="52" name="Shape 50"/>
          <p:cNvSpPr/>
          <p:nvPr/>
        </p:nvSpPr>
        <p:spPr>
          <a:xfrm>
            <a:off x="5577840" y="2926080"/>
            <a:ext cx="3246120" cy="420624"/>
          </a:xfrm>
          <a:prstGeom prst="rect">
            <a:avLst/>
          </a:prstGeom>
          <a:solidFill>
            <a:srgbClr val="EDF2F7"/>
          </a:solidFill>
          <a:ln w="6350">
            <a:solidFill>
              <a:srgbClr val="D0DCE8"/>
            </a:solidFill>
            <a:prstDash val="solid"/>
          </a:ln>
        </p:spPr>
      </p:sp>
      <p:sp>
        <p:nvSpPr>
          <p:cNvPr id="53" name="Text 51"/>
          <p:cNvSpPr/>
          <p:nvPr/>
        </p:nvSpPr>
        <p:spPr>
          <a:xfrm>
            <a:off x="438912" y="2926080"/>
            <a:ext cx="2103120" cy="420624"/>
          </a:xfrm>
          <a:prstGeom prst="rect">
            <a:avLst/>
          </a:prstGeom>
          <a:noFill/>
          <a:ln/>
        </p:spPr>
        <p:txBody>
          <a:bodyPr wrap="square" rtlCol="0" anchor="ctr"/>
          <a:lstStyle/>
          <a:p>
            <a:pPr indent="0" marL="0">
              <a:buNone/>
            </a:pPr>
            <a:r>
              <a:rPr lang="en-US" sz="950" b="1" dirty="0">
                <a:solidFill>
                  <a:srgbClr val="2C3E50"/>
                </a:solidFill>
              </a:rPr>
              <a:t>Gripper print</a:t>
            </a:r>
            <a:endParaRPr lang="en-US" sz="950" dirty="0"/>
          </a:p>
        </p:txBody>
      </p:sp>
      <p:sp>
        <p:nvSpPr>
          <p:cNvPr id="54" name="Text 52"/>
          <p:cNvSpPr/>
          <p:nvPr/>
        </p:nvSpPr>
        <p:spPr>
          <a:xfrm>
            <a:off x="2670048" y="2926080"/>
            <a:ext cx="1463040" cy="420624"/>
          </a:xfrm>
          <a:prstGeom prst="rect">
            <a:avLst/>
          </a:prstGeom>
          <a:noFill/>
          <a:ln/>
        </p:spPr>
        <p:txBody>
          <a:bodyPr wrap="square" rtlCol="0" anchor="ctr"/>
          <a:lstStyle/>
          <a:p>
            <a:pPr indent="0" marL="0">
              <a:buNone/>
            </a:pPr>
            <a:r>
              <a:rPr lang="en-US" sz="950" dirty="0">
                <a:solidFill>
                  <a:srgbClr val="2C3E50"/>
                </a:solidFill>
              </a:rPr>
              <a:t>Week 12</a:t>
            </a:r>
            <a:endParaRPr lang="en-US" sz="950" dirty="0"/>
          </a:p>
        </p:txBody>
      </p:sp>
      <p:sp>
        <p:nvSpPr>
          <p:cNvPr id="55" name="Shape 53"/>
          <p:cNvSpPr/>
          <p:nvPr/>
        </p:nvSpPr>
        <p:spPr>
          <a:xfrm>
            <a:off x="4261104" y="3008376"/>
            <a:ext cx="1207008" cy="237744"/>
          </a:xfrm>
          <a:prstGeom prst="roundRect">
            <a:avLst>
              <a:gd name="adj" fmla="val 15385"/>
            </a:avLst>
          </a:prstGeom>
          <a:solidFill>
            <a:srgbClr val="E06530">
              <a:alpha val="18000"/>
            </a:srgbClr>
          </a:solidFill>
          <a:ln w="12700">
            <a:solidFill>
              <a:srgbClr val="E06530">
                <a:alpha val="35000"/>
              </a:srgbClr>
            </a:solidFill>
            <a:prstDash val="solid"/>
          </a:ln>
        </p:spPr>
      </p:sp>
      <p:sp>
        <p:nvSpPr>
          <p:cNvPr id="56" name="Text 54"/>
          <p:cNvSpPr/>
          <p:nvPr/>
        </p:nvSpPr>
        <p:spPr>
          <a:xfrm>
            <a:off x="4261104" y="3008376"/>
            <a:ext cx="1207008" cy="237744"/>
          </a:xfrm>
          <a:prstGeom prst="rect">
            <a:avLst/>
          </a:prstGeom>
          <a:noFill/>
          <a:ln/>
        </p:spPr>
        <p:txBody>
          <a:bodyPr wrap="square" lIns="0" tIns="0" rIns="0" bIns="0" rtlCol="0" anchor="ctr"/>
          <a:lstStyle/>
          <a:p>
            <a:pPr algn="ctr" indent="0" marL="0">
              <a:buNone/>
            </a:pPr>
            <a:r>
              <a:rPr lang="en-US" sz="800" b="1" dirty="0">
                <a:solidFill>
                  <a:srgbClr val="8B3000"/>
                </a:solidFill>
              </a:rPr>
              <a:t>Pending</a:t>
            </a:r>
            <a:endParaRPr lang="en-US" sz="800" dirty="0"/>
          </a:p>
        </p:txBody>
      </p:sp>
      <p:sp>
        <p:nvSpPr>
          <p:cNvPr id="57" name="Text 55"/>
          <p:cNvSpPr/>
          <p:nvPr/>
        </p:nvSpPr>
        <p:spPr>
          <a:xfrm>
            <a:off x="5669280" y="2926080"/>
            <a:ext cx="3136392" cy="420624"/>
          </a:xfrm>
          <a:prstGeom prst="rect">
            <a:avLst/>
          </a:prstGeom>
          <a:noFill/>
          <a:ln/>
        </p:spPr>
        <p:txBody>
          <a:bodyPr wrap="square" rtlCol="0" anchor="ctr"/>
          <a:lstStyle/>
          <a:p>
            <a:pPr indent="0" marL="0">
              <a:buNone/>
            </a:pPr>
            <a:r>
              <a:rPr lang="en-US" sz="900" dirty="0">
                <a:solidFill>
                  <a:srgbClr val="8494A8"/>
                </a:solidFill>
              </a:rPr>
              <a:t>Still needs to be printed</a:t>
            </a:r>
            <a:endParaRPr lang="en-US" sz="900" dirty="0"/>
          </a:p>
        </p:txBody>
      </p:sp>
      <p:sp>
        <p:nvSpPr>
          <p:cNvPr id="58" name="Shape 56"/>
          <p:cNvSpPr/>
          <p:nvPr/>
        </p:nvSpPr>
        <p:spPr>
          <a:xfrm>
            <a:off x="347472" y="3383280"/>
            <a:ext cx="2212848" cy="420624"/>
          </a:xfrm>
          <a:prstGeom prst="rect">
            <a:avLst/>
          </a:prstGeom>
          <a:solidFill>
            <a:srgbClr val="FFFFFF"/>
          </a:solidFill>
          <a:ln w="6350">
            <a:solidFill>
              <a:srgbClr val="D0DCE8"/>
            </a:solidFill>
            <a:prstDash val="solid"/>
          </a:ln>
        </p:spPr>
      </p:sp>
      <p:sp>
        <p:nvSpPr>
          <p:cNvPr id="59" name="Shape 57"/>
          <p:cNvSpPr/>
          <p:nvPr/>
        </p:nvSpPr>
        <p:spPr>
          <a:xfrm>
            <a:off x="2578608" y="3383280"/>
            <a:ext cx="1572768" cy="420624"/>
          </a:xfrm>
          <a:prstGeom prst="rect">
            <a:avLst/>
          </a:prstGeom>
          <a:solidFill>
            <a:srgbClr val="FFFFFF"/>
          </a:solidFill>
          <a:ln w="6350">
            <a:solidFill>
              <a:srgbClr val="D0DCE8"/>
            </a:solidFill>
            <a:prstDash val="solid"/>
          </a:ln>
        </p:spPr>
      </p:sp>
      <p:sp>
        <p:nvSpPr>
          <p:cNvPr id="60" name="Shape 58"/>
          <p:cNvSpPr/>
          <p:nvPr/>
        </p:nvSpPr>
        <p:spPr>
          <a:xfrm>
            <a:off x="4169664" y="3383280"/>
            <a:ext cx="1389888" cy="420624"/>
          </a:xfrm>
          <a:prstGeom prst="rect">
            <a:avLst/>
          </a:prstGeom>
          <a:solidFill>
            <a:srgbClr val="FFFFFF"/>
          </a:solidFill>
          <a:ln w="6350">
            <a:solidFill>
              <a:srgbClr val="D0DCE8"/>
            </a:solidFill>
            <a:prstDash val="solid"/>
          </a:ln>
        </p:spPr>
      </p:sp>
      <p:sp>
        <p:nvSpPr>
          <p:cNvPr id="61" name="Shape 59"/>
          <p:cNvSpPr/>
          <p:nvPr/>
        </p:nvSpPr>
        <p:spPr>
          <a:xfrm>
            <a:off x="5577840" y="3383280"/>
            <a:ext cx="3246120" cy="420624"/>
          </a:xfrm>
          <a:prstGeom prst="rect">
            <a:avLst/>
          </a:prstGeom>
          <a:solidFill>
            <a:srgbClr val="FFFFFF"/>
          </a:solidFill>
          <a:ln w="6350">
            <a:solidFill>
              <a:srgbClr val="D0DCE8"/>
            </a:solidFill>
            <a:prstDash val="solid"/>
          </a:ln>
        </p:spPr>
      </p:sp>
      <p:sp>
        <p:nvSpPr>
          <p:cNvPr id="62" name="Text 60"/>
          <p:cNvSpPr/>
          <p:nvPr/>
        </p:nvSpPr>
        <p:spPr>
          <a:xfrm>
            <a:off x="438912" y="3383280"/>
            <a:ext cx="2103120" cy="420624"/>
          </a:xfrm>
          <a:prstGeom prst="rect">
            <a:avLst/>
          </a:prstGeom>
          <a:noFill/>
          <a:ln/>
        </p:spPr>
        <p:txBody>
          <a:bodyPr wrap="square" rtlCol="0" anchor="ctr"/>
          <a:lstStyle/>
          <a:p>
            <a:pPr indent="0" marL="0">
              <a:buNone/>
            </a:pPr>
            <a:r>
              <a:rPr lang="en-US" sz="950" b="1" dirty="0">
                <a:solidFill>
                  <a:srgbClr val="2C3E50"/>
                </a:solidFill>
              </a:rPr>
              <a:t>Full assembly</a:t>
            </a:r>
            <a:endParaRPr lang="en-US" sz="950" dirty="0"/>
          </a:p>
        </p:txBody>
      </p:sp>
      <p:sp>
        <p:nvSpPr>
          <p:cNvPr id="63" name="Text 61"/>
          <p:cNvSpPr/>
          <p:nvPr/>
        </p:nvSpPr>
        <p:spPr>
          <a:xfrm>
            <a:off x="2670048" y="3383280"/>
            <a:ext cx="1463040" cy="420624"/>
          </a:xfrm>
          <a:prstGeom prst="rect">
            <a:avLst/>
          </a:prstGeom>
          <a:noFill/>
          <a:ln/>
        </p:spPr>
        <p:txBody>
          <a:bodyPr wrap="square" rtlCol="0" anchor="ctr"/>
          <a:lstStyle/>
          <a:p>
            <a:pPr indent="0" marL="0">
              <a:buNone/>
            </a:pPr>
            <a:r>
              <a:rPr lang="en-US" sz="950" dirty="0">
                <a:solidFill>
                  <a:srgbClr val="2C3E50"/>
                </a:solidFill>
              </a:rPr>
              <a:t>Week 12</a:t>
            </a:r>
            <a:endParaRPr lang="en-US" sz="950" dirty="0"/>
          </a:p>
        </p:txBody>
      </p:sp>
      <p:sp>
        <p:nvSpPr>
          <p:cNvPr id="64" name="Shape 62"/>
          <p:cNvSpPr/>
          <p:nvPr/>
        </p:nvSpPr>
        <p:spPr>
          <a:xfrm>
            <a:off x="4261104" y="3465576"/>
            <a:ext cx="1207008" cy="237744"/>
          </a:xfrm>
          <a:prstGeom prst="roundRect">
            <a:avLst>
              <a:gd name="adj" fmla="val 15385"/>
            </a:avLst>
          </a:prstGeom>
          <a:solidFill>
            <a:srgbClr val="E8A020">
              <a:alpha val="18000"/>
            </a:srgbClr>
          </a:solidFill>
          <a:ln w="12700">
            <a:solidFill>
              <a:srgbClr val="E8A020">
                <a:alpha val="35000"/>
              </a:srgbClr>
            </a:solidFill>
            <a:prstDash val="solid"/>
          </a:ln>
        </p:spPr>
      </p:sp>
      <p:sp>
        <p:nvSpPr>
          <p:cNvPr id="65" name="Text 63"/>
          <p:cNvSpPr/>
          <p:nvPr/>
        </p:nvSpPr>
        <p:spPr>
          <a:xfrm>
            <a:off x="4261104" y="3465576"/>
            <a:ext cx="1207008" cy="237744"/>
          </a:xfrm>
          <a:prstGeom prst="rect">
            <a:avLst/>
          </a:prstGeom>
          <a:noFill/>
          <a:ln/>
        </p:spPr>
        <p:txBody>
          <a:bodyPr wrap="square" lIns="0" tIns="0" rIns="0" bIns="0" rtlCol="0" anchor="ctr"/>
          <a:lstStyle/>
          <a:p>
            <a:pPr algn="ctr" indent="0" marL="0">
              <a:buNone/>
            </a:pPr>
            <a:r>
              <a:rPr lang="en-US" sz="800" b="1" dirty="0">
                <a:solidFill>
                  <a:srgbClr val="7A5000"/>
                </a:solidFill>
              </a:rPr>
              <a:t>Near ready</a:t>
            </a:r>
            <a:endParaRPr lang="en-US" sz="800" dirty="0"/>
          </a:p>
        </p:txBody>
      </p:sp>
      <p:sp>
        <p:nvSpPr>
          <p:cNvPr id="66" name="Text 64"/>
          <p:cNvSpPr/>
          <p:nvPr/>
        </p:nvSpPr>
        <p:spPr>
          <a:xfrm>
            <a:off x="5669280" y="3383280"/>
            <a:ext cx="3136392" cy="420624"/>
          </a:xfrm>
          <a:prstGeom prst="rect">
            <a:avLst/>
          </a:prstGeom>
          <a:noFill/>
          <a:ln/>
        </p:spPr>
        <p:txBody>
          <a:bodyPr wrap="square" rtlCol="0" anchor="ctr"/>
          <a:lstStyle/>
          <a:p>
            <a:pPr indent="0" marL="0">
              <a:buNone/>
            </a:pPr>
            <a:r>
              <a:rPr lang="en-US" sz="900" dirty="0">
                <a:solidFill>
                  <a:srgbClr val="8494A8"/>
                </a:solidFill>
              </a:rPr>
              <a:t>Blocked only by gripper and failed part reprint</a:t>
            </a:r>
            <a:endParaRPr lang="en-US" sz="900" dirty="0"/>
          </a:p>
        </p:txBody>
      </p:sp>
      <p:sp>
        <p:nvSpPr>
          <p:cNvPr id="67" name="Shape 65"/>
          <p:cNvSpPr/>
          <p:nvPr/>
        </p:nvSpPr>
        <p:spPr>
          <a:xfrm>
            <a:off x="347472" y="3840480"/>
            <a:ext cx="2212848" cy="420624"/>
          </a:xfrm>
          <a:prstGeom prst="rect">
            <a:avLst/>
          </a:prstGeom>
          <a:solidFill>
            <a:srgbClr val="EDF2F7"/>
          </a:solidFill>
          <a:ln w="6350">
            <a:solidFill>
              <a:srgbClr val="D0DCE8"/>
            </a:solidFill>
            <a:prstDash val="solid"/>
          </a:ln>
        </p:spPr>
      </p:sp>
      <p:sp>
        <p:nvSpPr>
          <p:cNvPr id="68" name="Shape 66"/>
          <p:cNvSpPr/>
          <p:nvPr/>
        </p:nvSpPr>
        <p:spPr>
          <a:xfrm>
            <a:off x="2578608" y="3840480"/>
            <a:ext cx="1572768" cy="420624"/>
          </a:xfrm>
          <a:prstGeom prst="rect">
            <a:avLst/>
          </a:prstGeom>
          <a:solidFill>
            <a:srgbClr val="EDF2F7"/>
          </a:solidFill>
          <a:ln w="6350">
            <a:solidFill>
              <a:srgbClr val="D0DCE8"/>
            </a:solidFill>
            <a:prstDash val="solid"/>
          </a:ln>
        </p:spPr>
      </p:sp>
      <p:sp>
        <p:nvSpPr>
          <p:cNvPr id="69" name="Shape 67"/>
          <p:cNvSpPr/>
          <p:nvPr/>
        </p:nvSpPr>
        <p:spPr>
          <a:xfrm>
            <a:off x="4169664" y="3840480"/>
            <a:ext cx="1389888" cy="420624"/>
          </a:xfrm>
          <a:prstGeom prst="rect">
            <a:avLst/>
          </a:prstGeom>
          <a:solidFill>
            <a:srgbClr val="EDF2F7"/>
          </a:solidFill>
          <a:ln w="6350">
            <a:solidFill>
              <a:srgbClr val="D0DCE8"/>
            </a:solidFill>
            <a:prstDash val="solid"/>
          </a:ln>
        </p:spPr>
      </p:sp>
      <p:sp>
        <p:nvSpPr>
          <p:cNvPr id="70" name="Shape 68"/>
          <p:cNvSpPr/>
          <p:nvPr/>
        </p:nvSpPr>
        <p:spPr>
          <a:xfrm>
            <a:off x="5577840" y="3840480"/>
            <a:ext cx="3246120" cy="420624"/>
          </a:xfrm>
          <a:prstGeom prst="rect">
            <a:avLst/>
          </a:prstGeom>
          <a:solidFill>
            <a:srgbClr val="EDF2F7"/>
          </a:solidFill>
          <a:ln w="6350">
            <a:solidFill>
              <a:srgbClr val="D0DCE8"/>
            </a:solidFill>
            <a:prstDash val="solid"/>
          </a:ln>
        </p:spPr>
      </p:sp>
      <p:sp>
        <p:nvSpPr>
          <p:cNvPr id="71" name="Text 69"/>
          <p:cNvSpPr/>
          <p:nvPr/>
        </p:nvSpPr>
        <p:spPr>
          <a:xfrm>
            <a:off x="438912" y="3840480"/>
            <a:ext cx="2103120" cy="420624"/>
          </a:xfrm>
          <a:prstGeom prst="rect">
            <a:avLst/>
          </a:prstGeom>
          <a:noFill/>
          <a:ln/>
        </p:spPr>
        <p:txBody>
          <a:bodyPr wrap="square" rtlCol="0" anchor="ctr"/>
          <a:lstStyle/>
          <a:p>
            <a:pPr indent="0" marL="0">
              <a:buNone/>
            </a:pPr>
            <a:r>
              <a:rPr lang="en-US" sz="950" b="1" dirty="0">
                <a:solidFill>
                  <a:srgbClr val="2C3E50"/>
                </a:solidFill>
              </a:rPr>
              <a:t>Control complete</a:t>
            </a:r>
            <a:endParaRPr lang="en-US" sz="950" dirty="0"/>
          </a:p>
        </p:txBody>
      </p:sp>
      <p:sp>
        <p:nvSpPr>
          <p:cNvPr id="72" name="Text 70"/>
          <p:cNvSpPr/>
          <p:nvPr/>
        </p:nvSpPr>
        <p:spPr>
          <a:xfrm>
            <a:off x="2670048" y="3840480"/>
            <a:ext cx="1463040" cy="420624"/>
          </a:xfrm>
          <a:prstGeom prst="rect">
            <a:avLst/>
          </a:prstGeom>
          <a:noFill/>
          <a:ln/>
        </p:spPr>
        <p:txBody>
          <a:bodyPr wrap="square" rtlCol="0" anchor="ctr"/>
          <a:lstStyle/>
          <a:p>
            <a:pPr indent="0" marL="0">
              <a:buNone/>
            </a:pPr>
            <a:r>
              <a:rPr lang="en-US" sz="950" dirty="0">
                <a:solidFill>
                  <a:srgbClr val="2C3E50"/>
                </a:solidFill>
              </a:rPr>
              <a:t>Week 12</a:t>
            </a:r>
            <a:endParaRPr lang="en-US" sz="950" dirty="0"/>
          </a:p>
        </p:txBody>
      </p:sp>
      <p:sp>
        <p:nvSpPr>
          <p:cNvPr id="73" name="Shape 71"/>
          <p:cNvSpPr/>
          <p:nvPr/>
        </p:nvSpPr>
        <p:spPr>
          <a:xfrm>
            <a:off x="4261104" y="3922776"/>
            <a:ext cx="1207008" cy="237744"/>
          </a:xfrm>
          <a:prstGeom prst="roundRect">
            <a:avLst>
              <a:gd name="adj" fmla="val 15385"/>
            </a:avLst>
          </a:prstGeom>
          <a:solidFill>
            <a:srgbClr val="2EAD7A">
              <a:alpha val="18000"/>
            </a:srgbClr>
          </a:solidFill>
          <a:ln w="12700">
            <a:solidFill>
              <a:srgbClr val="2EAD7A">
                <a:alpha val="35000"/>
              </a:srgbClr>
            </a:solidFill>
            <a:prstDash val="solid"/>
          </a:ln>
        </p:spPr>
      </p:sp>
      <p:sp>
        <p:nvSpPr>
          <p:cNvPr id="74" name="Text 72"/>
          <p:cNvSpPr/>
          <p:nvPr/>
        </p:nvSpPr>
        <p:spPr>
          <a:xfrm>
            <a:off x="4261104" y="3922776"/>
            <a:ext cx="1207008" cy="237744"/>
          </a:xfrm>
          <a:prstGeom prst="rect">
            <a:avLst/>
          </a:prstGeom>
          <a:noFill/>
          <a:ln/>
        </p:spPr>
        <p:txBody>
          <a:bodyPr wrap="square" lIns="0" tIns="0" rIns="0" bIns="0" rtlCol="0" anchor="ctr"/>
          <a:lstStyle/>
          <a:p>
            <a:pPr algn="ctr" indent="0" marL="0">
              <a:buNone/>
            </a:pPr>
            <a:r>
              <a:rPr lang="en-US" sz="800" b="1" dirty="0">
                <a:solidFill>
                  <a:srgbClr val="165C3E"/>
                </a:solidFill>
              </a:rPr>
              <a:t>On track</a:t>
            </a:r>
            <a:endParaRPr lang="en-US" sz="800" dirty="0"/>
          </a:p>
        </p:txBody>
      </p:sp>
      <p:sp>
        <p:nvSpPr>
          <p:cNvPr id="75" name="Text 73"/>
          <p:cNvSpPr/>
          <p:nvPr/>
        </p:nvSpPr>
        <p:spPr>
          <a:xfrm>
            <a:off x="5669280" y="3840480"/>
            <a:ext cx="3136392" cy="420624"/>
          </a:xfrm>
          <a:prstGeom prst="rect">
            <a:avLst/>
          </a:prstGeom>
          <a:noFill/>
          <a:ln/>
        </p:spPr>
        <p:txBody>
          <a:bodyPr wrap="square" rtlCol="0" anchor="ctr"/>
          <a:lstStyle/>
          <a:p>
            <a:pPr indent="0" marL="0">
              <a:buNone/>
            </a:pPr>
            <a:r>
              <a:rPr lang="en-US" sz="900" dirty="0">
                <a:solidFill>
                  <a:srgbClr val="8494A8"/>
                </a:solidFill>
              </a:rPr>
              <a:t>Manual control fully working — auto pending CV</a:t>
            </a:r>
            <a:endParaRPr lang="en-US" sz="900" dirty="0"/>
          </a:p>
        </p:txBody>
      </p:sp>
      <p:sp>
        <p:nvSpPr>
          <p:cNvPr id="76" name="Text 74"/>
          <p:cNvSpPr/>
          <p:nvPr/>
        </p:nvSpPr>
        <p:spPr>
          <a:xfrm>
            <a:off x="274320" y="4919472"/>
            <a:ext cx="8595360" cy="182880"/>
          </a:xfrm>
          <a:prstGeom prst="rect">
            <a:avLst/>
          </a:prstGeom>
          <a:noFill/>
          <a:ln/>
        </p:spPr>
        <p:txBody>
          <a:bodyPr wrap="square" rtlCol="0" anchor="ctr"/>
          <a:lstStyle/>
          <a:p>
            <a:pPr algn="r" indent="0" marL="0">
              <a:buNone/>
            </a:pPr>
            <a:r>
              <a:rPr lang="en-US" sz="800" dirty="0">
                <a:solidFill>
                  <a:srgbClr val="8494A8"/>
                </a:solidFill>
              </a:rPr>
              <a:t>Mechatronics System Design 101  ·  Leen's Group  ·  Week 12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3E"/>
          </a:solidFill>
          <a:ln w="12700">
            <a:solidFill>
              <a:srgbClr val="0D1B3E"/>
            </a:solidFill>
            <a:prstDash val="solid"/>
          </a:ln>
        </p:spPr>
      </p:sp>
      <p:sp>
        <p:nvSpPr>
          <p:cNvPr id="3" name="Shape 1"/>
          <p:cNvSpPr/>
          <p:nvPr/>
        </p:nvSpPr>
        <p:spPr>
          <a:xfrm>
            <a:off x="0" y="0"/>
            <a:ext cx="164592" cy="5143500"/>
          </a:xfrm>
          <a:prstGeom prst="rect">
            <a:avLst/>
          </a:prstGeom>
          <a:solidFill>
            <a:srgbClr val="E06530"/>
          </a:solidFill>
          <a:ln w="12700">
            <a:solidFill>
              <a:srgbClr val="E06530"/>
            </a:solidFill>
            <a:prstDash val="solid"/>
          </a:ln>
        </p:spPr>
      </p:sp>
      <p:sp>
        <p:nvSpPr>
          <p:cNvPr id="4" name="Text 2"/>
          <p:cNvSpPr/>
          <p:nvPr/>
        </p:nvSpPr>
        <p:spPr>
          <a:xfrm>
            <a:off x="347472" y="0"/>
            <a:ext cx="6583680" cy="658368"/>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Issues, Risks &amp; Action Items</a:t>
            </a:r>
            <a:endParaRPr lang="en-US" sz="2000" dirty="0"/>
          </a:p>
        </p:txBody>
      </p:sp>
      <p:sp>
        <p:nvSpPr>
          <p:cNvPr id="5" name="Text 3"/>
          <p:cNvSpPr/>
          <p:nvPr/>
        </p:nvSpPr>
        <p:spPr>
          <a:xfrm>
            <a:off x="347472" y="786384"/>
            <a:ext cx="4041648" cy="274320"/>
          </a:xfrm>
          <a:prstGeom prst="rect">
            <a:avLst/>
          </a:prstGeom>
          <a:noFill/>
          <a:ln/>
        </p:spPr>
        <p:txBody>
          <a:bodyPr wrap="square" rtlCol="0" anchor="ctr"/>
          <a:lstStyle/>
          <a:p>
            <a:pPr indent="0" marL="0">
              <a:buNone/>
            </a:pPr>
            <a:r>
              <a:rPr lang="en-US" sz="1300" b="1" dirty="0">
                <a:solidFill>
                  <a:srgbClr val="0D1B3E"/>
                </a:solidFill>
              </a:rPr>
              <a:t>Current issues &amp; risks</a:t>
            </a:r>
            <a:endParaRPr lang="en-US" sz="1300" dirty="0"/>
          </a:p>
        </p:txBody>
      </p:sp>
      <p:sp>
        <p:nvSpPr>
          <p:cNvPr id="6" name="Shape 4"/>
          <p:cNvSpPr/>
          <p:nvPr/>
        </p:nvSpPr>
        <p:spPr>
          <a:xfrm>
            <a:off x="347472" y="1133856"/>
            <a:ext cx="4041648" cy="841248"/>
          </a:xfrm>
          <a:prstGeom prst="rect">
            <a:avLst/>
          </a:prstGeom>
          <a:solidFill>
            <a:srgbClr val="FFFFFF"/>
          </a:solidFill>
          <a:ln w="6350">
            <a:solidFill>
              <a:srgbClr val="E0E8F0"/>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347472" y="1133856"/>
            <a:ext cx="73152" cy="841248"/>
          </a:xfrm>
          <a:prstGeom prst="rect">
            <a:avLst/>
          </a:prstGeom>
          <a:solidFill>
            <a:srgbClr val="C0392B"/>
          </a:solidFill>
          <a:ln w="12700">
            <a:solidFill>
              <a:srgbClr val="C0392B"/>
            </a:solidFill>
            <a:prstDash val="solid"/>
          </a:ln>
        </p:spPr>
      </p:sp>
      <p:sp>
        <p:nvSpPr>
          <p:cNvPr id="8" name="Shape 6"/>
          <p:cNvSpPr/>
          <p:nvPr/>
        </p:nvSpPr>
        <p:spPr>
          <a:xfrm>
            <a:off x="3108960" y="1207008"/>
            <a:ext cx="1170432" cy="219456"/>
          </a:xfrm>
          <a:prstGeom prst="roundRect">
            <a:avLst>
              <a:gd name="adj" fmla="val 16667"/>
            </a:avLst>
          </a:prstGeom>
          <a:solidFill>
            <a:srgbClr val="C0392B">
              <a:alpha val="18000"/>
            </a:srgbClr>
          </a:solidFill>
          <a:ln w="12700">
            <a:solidFill>
              <a:srgbClr val="C0392B">
                <a:alpha val="35000"/>
              </a:srgbClr>
            </a:solidFill>
            <a:prstDash val="solid"/>
          </a:ln>
        </p:spPr>
      </p:sp>
      <p:sp>
        <p:nvSpPr>
          <p:cNvPr id="9" name="Text 7"/>
          <p:cNvSpPr/>
          <p:nvPr/>
        </p:nvSpPr>
        <p:spPr>
          <a:xfrm>
            <a:off x="3108960" y="1207008"/>
            <a:ext cx="1170432" cy="219456"/>
          </a:xfrm>
          <a:prstGeom prst="rect">
            <a:avLst/>
          </a:prstGeom>
          <a:noFill/>
          <a:ln/>
        </p:spPr>
        <p:txBody>
          <a:bodyPr wrap="square" lIns="0" tIns="0" rIns="0" bIns="0" rtlCol="0" anchor="ctr"/>
          <a:lstStyle/>
          <a:p>
            <a:pPr algn="ctr" indent="0" marL="0">
              <a:buNone/>
            </a:pPr>
            <a:r>
              <a:rPr lang="en-US" sz="800" b="1" dirty="0">
                <a:solidFill>
                  <a:srgbClr val="6B1515"/>
                </a:solidFill>
              </a:rPr>
              <a:t>High</a:t>
            </a:r>
            <a:endParaRPr lang="en-US" sz="800" dirty="0"/>
          </a:p>
        </p:txBody>
      </p:sp>
      <p:sp>
        <p:nvSpPr>
          <p:cNvPr id="10" name="Text 8"/>
          <p:cNvSpPr/>
          <p:nvPr/>
        </p:nvSpPr>
        <p:spPr>
          <a:xfrm>
            <a:off x="493776" y="1188720"/>
            <a:ext cx="2523744" cy="256032"/>
          </a:xfrm>
          <a:prstGeom prst="rect">
            <a:avLst/>
          </a:prstGeom>
          <a:noFill/>
          <a:ln/>
        </p:spPr>
        <p:txBody>
          <a:bodyPr wrap="square" rtlCol="0" anchor="ctr"/>
          <a:lstStyle/>
          <a:p>
            <a:pPr indent="0" marL="0">
              <a:buNone/>
            </a:pPr>
            <a:r>
              <a:rPr lang="en-US" sz="1050" b="1" dirty="0">
                <a:solidFill>
                  <a:srgbClr val="2C3E50"/>
                </a:solidFill>
              </a:rPr>
              <a:t>Failed part print — end effector</a:t>
            </a:r>
            <a:endParaRPr lang="en-US" sz="1050" dirty="0"/>
          </a:p>
        </p:txBody>
      </p:sp>
      <p:sp>
        <p:nvSpPr>
          <p:cNvPr id="11" name="Text 9"/>
          <p:cNvSpPr/>
          <p:nvPr/>
        </p:nvSpPr>
        <p:spPr>
          <a:xfrm>
            <a:off x="493776" y="1463040"/>
            <a:ext cx="3401568" cy="475488"/>
          </a:xfrm>
          <a:prstGeom prst="rect">
            <a:avLst/>
          </a:prstGeom>
          <a:noFill/>
          <a:ln/>
        </p:spPr>
        <p:txBody>
          <a:bodyPr wrap="square" rtlCol="0" anchor="ctr"/>
          <a:lstStyle/>
          <a:p>
            <a:pPr indent="0" marL="0">
              <a:buNone/>
            </a:pPr>
            <a:r>
              <a:rPr lang="en-US" sz="950" dirty="0">
                <a:solidFill>
                  <a:srgbClr val="8494A8"/>
                </a:solidFill>
              </a:rPr>
              <a:t>One part that connects to the end effector failed to print. Needs to be reprinted before the end effector can be fully assembled.</a:t>
            </a:r>
            <a:endParaRPr lang="en-US" sz="950" dirty="0"/>
          </a:p>
        </p:txBody>
      </p:sp>
      <p:sp>
        <p:nvSpPr>
          <p:cNvPr id="12" name="Shape 10"/>
          <p:cNvSpPr/>
          <p:nvPr/>
        </p:nvSpPr>
        <p:spPr>
          <a:xfrm>
            <a:off x="347472" y="2084832"/>
            <a:ext cx="4041648" cy="841248"/>
          </a:xfrm>
          <a:prstGeom prst="rect">
            <a:avLst/>
          </a:prstGeom>
          <a:solidFill>
            <a:srgbClr val="FFFFFF"/>
          </a:solidFill>
          <a:ln w="6350">
            <a:solidFill>
              <a:srgbClr val="E0E8F0"/>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347472" y="2084832"/>
            <a:ext cx="73152" cy="841248"/>
          </a:xfrm>
          <a:prstGeom prst="rect">
            <a:avLst/>
          </a:prstGeom>
          <a:solidFill>
            <a:srgbClr val="C0392B"/>
          </a:solidFill>
          <a:ln w="12700">
            <a:solidFill>
              <a:srgbClr val="C0392B"/>
            </a:solidFill>
            <a:prstDash val="solid"/>
          </a:ln>
        </p:spPr>
      </p:sp>
      <p:sp>
        <p:nvSpPr>
          <p:cNvPr id="14" name="Shape 12"/>
          <p:cNvSpPr/>
          <p:nvPr/>
        </p:nvSpPr>
        <p:spPr>
          <a:xfrm>
            <a:off x="3108960" y="2157984"/>
            <a:ext cx="1170432" cy="219456"/>
          </a:xfrm>
          <a:prstGeom prst="roundRect">
            <a:avLst>
              <a:gd name="adj" fmla="val 16667"/>
            </a:avLst>
          </a:prstGeom>
          <a:solidFill>
            <a:srgbClr val="C0392B">
              <a:alpha val="18000"/>
            </a:srgbClr>
          </a:solidFill>
          <a:ln w="12700">
            <a:solidFill>
              <a:srgbClr val="C0392B">
                <a:alpha val="35000"/>
              </a:srgbClr>
            </a:solidFill>
            <a:prstDash val="solid"/>
          </a:ln>
        </p:spPr>
      </p:sp>
      <p:sp>
        <p:nvSpPr>
          <p:cNvPr id="15" name="Text 13"/>
          <p:cNvSpPr/>
          <p:nvPr/>
        </p:nvSpPr>
        <p:spPr>
          <a:xfrm>
            <a:off x="3108960" y="2157984"/>
            <a:ext cx="1170432" cy="219456"/>
          </a:xfrm>
          <a:prstGeom prst="rect">
            <a:avLst/>
          </a:prstGeom>
          <a:noFill/>
          <a:ln/>
        </p:spPr>
        <p:txBody>
          <a:bodyPr wrap="square" lIns="0" tIns="0" rIns="0" bIns="0" rtlCol="0" anchor="ctr"/>
          <a:lstStyle/>
          <a:p>
            <a:pPr algn="ctr" indent="0" marL="0">
              <a:buNone/>
            </a:pPr>
            <a:r>
              <a:rPr lang="en-US" sz="800" b="1" dirty="0">
                <a:solidFill>
                  <a:srgbClr val="6B1515"/>
                </a:solidFill>
              </a:rPr>
              <a:t>High</a:t>
            </a:r>
            <a:endParaRPr lang="en-US" sz="800" dirty="0"/>
          </a:p>
        </p:txBody>
      </p:sp>
      <p:sp>
        <p:nvSpPr>
          <p:cNvPr id="16" name="Text 14"/>
          <p:cNvSpPr/>
          <p:nvPr/>
        </p:nvSpPr>
        <p:spPr>
          <a:xfrm>
            <a:off x="493776" y="2139696"/>
            <a:ext cx="2523744" cy="256032"/>
          </a:xfrm>
          <a:prstGeom prst="rect">
            <a:avLst/>
          </a:prstGeom>
          <a:noFill/>
          <a:ln/>
        </p:spPr>
        <p:txBody>
          <a:bodyPr wrap="square" rtlCol="0" anchor="ctr"/>
          <a:lstStyle/>
          <a:p>
            <a:pPr indent="0" marL="0">
              <a:buNone/>
            </a:pPr>
            <a:r>
              <a:rPr lang="en-US" sz="1050" b="1" dirty="0">
                <a:solidFill>
                  <a:srgbClr val="2C3E50"/>
                </a:solidFill>
              </a:rPr>
              <a:t>Gripper not yet printed</a:t>
            </a:r>
            <a:endParaRPr lang="en-US" sz="1050" dirty="0"/>
          </a:p>
        </p:txBody>
      </p:sp>
      <p:sp>
        <p:nvSpPr>
          <p:cNvPr id="17" name="Text 15"/>
          <p:cNvSpPr/>
          <p:nvPr/>
        </p:nvSpPr>
        <p:spPr>
          <a:xfrm>
            <a:off x="493776" y="2414016"/>
            <a:ext cx="3401568" cy="475488"/>
          </a:xfrm>
          <a:prstGeom prst="rect">
            <a:avLst/>
          </a:prstGeom>
          <a:noFill/>
          <a:ln/>
        </p:spPr>
        <p:txBody>
          <a:bodyPr wrap="square" rtlCol="0" anchor="ctr"/>
          <a:lstStyle/>
          <a:p>
            <a:pPr indent="0" marL="0">
              <a:buNone/>
            </a:pPr>
            <a:r>
              <a:rPr lang="en-US" sz="950" dirty="0">
                <a:solidFill>
                  <a:srgbClr val="8494A8"/>
                </a:solidFill>
              </a:rPr>
              <a:t>Gripper design still needs to be printed. End effector assembly cannot be completed until this is done.</a:t>
            </a:r>
            <a:endParaRPr lang="en-US" sz="950" dirty="0"/>
          </a:p>
        </p:txBody>
      </p:sp>
      <p:sp>
        <p:nvSpPr>
          <p:cNvPr id="18" name="Shape 16"/>
          <p:cNvSpPr/>
          <p:nvPr/>
        </p:nvSpPr>
        <p:spPr>
          <a:xfrm>
            <a:off x="347472" y="3035808"/>
            <a:ext cx="4041648" cy="841248"/>
          </a:xfrm>
          <a:prstGeom prst="rect">
            <a:avLst/>
          </a:prstGeom>
          <a:solidFill>
            <a:srgbClr val="FFFFFF"/>
          </a:solidFill>
          <a:ln w="6350">
            <a:solidFill>
              <a:srgbClr val="E0E8F0"/>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347472" y="3035808"/>
            <a:ext cx="73152" cy="841248"/>
          </a:xfrm>
          <a:prstGeom prst="rect">
            <a:avLst/>
          </a:prstGeom>
          <a:solidFill>
            <a:srgbClr val="E06530"/>
          </a:solidFill>
          <a:ln w="12700">
            <a:solidFill>
              <a:srgbClr val="E06530"/>
            </a:solidFill>
            <a:prstDash val="solid"/>
          </a:ln>
        </p:spPr>
      </p:sp>
      <p:sp>
        <p:nvSpPr>
          <p:cNvPr id="20" name="Shape 18"/>
          <p:cNvSpPr/>
          <p:nvPr/>
        </p:nvSpPr>
        <p:spPr>
          <a:xfrm>
            <a:off x="3108960" y="3108960"/>
            <a:ext cx="1170432" cy="219456"/>
          </a:xfrm>
          <a:prstGeom prst="roundRect">
            <a:avLst>
              <a:gd name="adj" fmla="val 16667"/>
            </a:avLst>
          </a:prstGeom>
          <a:solidFill>
            <a:srgbClr val="E06530">
              <a:alpha val="18000"/>
            </a:srgbClr>
          </a:solidFill>
          <a:ln w="12700">
            <a:solidFill>
              <a:srgbClr val="E06530">
                <a:alpha val="35000"/>
              </a:srgbClr>
            </a:solidFill>
            <a:prstDash val="solid"/>
          </a:ln>
        </p:spPr>
      </p:sp>
      <p:sp>
        <p:nvSpPr>
          <p:cNvPr id="21" name="Text 19"/>
          <p:cNvSpPr/>
          <p:nvPr/>
        </p:nvSpPr>
        <p:spPr>
          <a:xfrm>
            <a:off x="3108960" y="3108960"/>
            <a:ext cx="1170432" cy="219456"/>
          </a:xfrm>
          <a:prstGeom prst="rect">
            <a:avLst/>
          </a:prstGeom>
          <a:noFill/>
          <a:ln/>
        </p:spPr>
        <p:txBody>
          <a:bodyPr wrap="square" lIns="0" tIns="0" rIns="0" bIns="0" rtlCol="0" anchor="ctr"/>
          <a:lstStyle/>
          <a:p>
            <a:pPr algn="ctr" indent="0" marL="0">
              <a:buNone/>
            </a:pPr>
            <a:r>
              <a:rPr lang="en-US" sz="800" b="1" dirty="0">
                <a:solidFill>
                  <a:srgbClr val="8B3000"/>
                </a:solidFill>
              </a:rPr>
              <a:t>Medium</a:t>
            </a:r>
            <a:endParaRPr lang="en-US" sz="800" dirty="0"/>
          </a:p>
        </p:txBody>
      </p:sp>
      <p:sp>
        <p:nvSpPr>
          <p:cNvPr id="22" name="Text 20"/>
          <p:cNvSpPr/>
          <p:nvPr/>
        </p:nvSpPr>
        <p:spPr>
          <a:xfrm>
            <a:off x="493776" y="3090672"/>
            <a:ext cx="2523744" cy="256032"/>
          </a:xfrm>
          <a:prstGeom prst="rect">
            <a:avLst/>
          </a:prstGeom>
          <a:noFill/>
          <a:ln/>
        </p:spPr>
        <p:txBody>
          <a:bodyPr wrap="square" rtlCol="0" anchor="ctr"/>
          <a:lstStyle/>
          <a:p>
            <a:pPr indent="0" marL="0">
              <a:buNone/>
            </a:pPr>
            <a:r>
              <a:rPr lang="en-US" sz="1050" b="1" dirty="0">
                <a:solidFill>
                  <a:srgbClr val="2C3E50"/>
                </a:solidFill>
              </a:rPr>
              <a:t>Full assembly pending</a:t>
            </a:r>
            <a:endParaRPr lang="en-US" sz="1050" dirty="0"/>
          </a:p>
        </p:txBody>
      </p:sp>
      <p:sp>
        <p:nvSpPr>
          <p:cNvPr id="23" name="Text 21"/>
          <p:cNvSpPr/>
          <p:nvPr/>
        </p:nvSpPr>
        <p:spPr>
          <a:xfrm>
            <a:off x="493776" y="3364992"/>
            <a:ext cx="3401568" cy="475488"/>
          </a:xfrm>
          <a:prstGeom prst="rect">
            <a:avLst/>
          </a:prstGeom>
          <a:noFill/>
          <a:ln/>
        </p:spPr>
        <p:txBody>
          <a:bodyPr wrap="square" rtlCol="0" anchor="ctr"/>
          <a:lstStyle/>
          <a:p>
            <a:pPr indent="0" marL="0">
              <a:buNone/>
            </a:pPr>
            <a:r>
              <a:rPr lang="en-US" sz="950" dirty="0">
                <a:solidFill>
                  <a:srgbClr val="8494A8"/>
                </a:solidFill>
              </a:rPr>
              <a:t>All other components are ready — assembly is blocked only by the two missing printed parts.</a:t>
            </a:r>
            <a:endParaRPr lang="en-US" sz="950" dirty="0"/>
          </a:p>
        </p:txBody>
      </p:sp>
      <p:sp>
        <p:nvSpPr>
          <p:cNvPr id="24" name="Shape 22"/>
          <p:cNvSpPr/>
          <p:nvPr/>
        </p:nvSpPr>
        <p:spPr>
          <a:xfrm>
            <a:off x="347472" y="3986784"/>
            <a:ext cx="4041648" cy="841248"/>
          </a:xfrm>
          <a:prstGeom prst="rect">
            <a:avLst/>
          </a:prstGeom>
          <a:solidFill>
            <a:srgbClr val="FFFFFF"/>
          </a:solidFill>
          <a:ln w="6350">
            <a:solidFill>
              <a:srgbClr val="E0E8F0"/>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347472" y="3986784"/>
            <a:ext cx="73152" cy="841248"/>
          </a:xfrm>
          <a:prstGeom prst="rect">
            <a:avLst/>
          </a:prstGeom>
          <a:solidFill>
            <a:srgbClr val="E8A020"/>
          </a:solidFill>
          <a:ln w="12700">
            <a:solidFill>
              <a:srgbClr val="E8A020"/>
            </a:solidFill>
            <a:prstDash val="solid"/>
          </a:ln>
        </p:spPr>
      </p:sp>
      <p:sp>
        <p:nvSpPr>
          <p:cNvPr id="26" name="Shape 24"/>
          <p:cNvSpPr/>
          <p:nvPr/>
        </p:nvSpPr>
        <p:spPr>
          <a:xfrm>
            <a:off x="3108960" y="4059936"/>
            <a:ext cx="1170432" cy="219456"/>
          </a:xfrm>
          <a:prstGeom prst="roundRect">
            <a:avLst>
              <a:gd name="adj" fmla="val 16667"/>
            </a:avLst>
          </a:prstGeom>
          <a:solidFill>
            <a:srgbClr val="E8A020">
              <a:alpha val="18000"/>
            </a:srgbClr>
          </a:solidFill>
          <a:ln w="12700">
            <a:solidFill>
              <a:srgbClr val="E8A020">
                <a:alpha val="35000"/>
              </a:srgbClr>
            </a:solidFill>
            <a:prstDash val="solid"/>
          </a:ln>
        </p:spPr>
      </p:sp>
      <p:sp>
        <p:nvSpPr>
          <p:cNvPr id="27" name="Text 25"/>
          <p:cNvSpPr/>
          <p:nvPr/>
        </p:nvSpPr>
        <p:spPr>
          <a:xfrm>
            <a:off x="3108960" y="4059936"/>
            <a:ext cx="1170432" cy="219456"/>
          </a:xfrm>
          <a:prstGeom prst="rect">
            <a:avLst/>
          </a:prstGeom>
          <a:noFill/>
          <a:ln/>
        </p:spPr>
        <p:txBody>
          <a:bodyPr wrap="square" lIns="0" tIns="0" rIns="0" bIns="0" rtlCol="0" anchor="ctr"/>
          <a:lstStyle/>
          <a:p>
            <a:pPr algn="ctr" indent="0" marL="0">
              <a:buNone/>
            </a:pPr>
            <a:r>
              <a:rPr lang="en-US" sz="800" b="1" dirty="0">
                <a:solidFill>
                  <a:srgbClr val="7A5000"/>
                </a:solidFill>
              </a:rPr>
              <a:t>Medium</a:t>
            </a:r>
            <a:endParaRPr lang="en-US" sz="800" dirty="0"/>
          </a:p>
        </p:txBody>
      </p:sp>
      <p:sp>
        <p:nvSpPr>
          <p:cNvPr id="28" name="Text 26"/>
          <p:cNvSpPr/>
          <p:nvPr/>
        </p:nvSpPr>
        <p:spPr>
          <a:xfrm>
            <a:off x="493776" y="4041648"/>
            <a:ext cx="2523744" cy="256032"/>
          </a:xfrm>
          <a:prstGeom prst="rect">
            <a:avLst/>
          </a:prstGeom>
          <a:noFill/>
          <a:ln/>
        </p:spPr>
        <p:txBody>
          <a:bodyPr wrap="square" rtlCol="0" anchor="ctr"/>
          <a:lstStyle/>
          <a:p>
            <a:pPr indent="0" marL="0">
              <a:buNone/>
            </a:pPr>
            <a:r>
              <a:rPr lang="en-US" sz="1050" b="1" dirty="0">
                <a:solidFill>
                  <a:srgbClr val="2C3E50"/>
                </a:solidFill>
              </a:rPr>
              <a:t>ROS2 joint positions</a:t>
            </a:r>
            <a:endParaRPr lang="en-US" sz="1050" dirty="0"/>
          </a:p>
        </p:txBody>
      </p:sp>
      <p:sp>
        <p:nvSpPr>
          <p:cNvPr id="29" name="Text 27"/>
          <p:cNvSpPr/>
          <p:nvPr/>
        </p:nvSpPr>
        <p:spPr>
          <a:xfrm>
            <a:off x="493776" y="4315968"/>
            <a:ext cx="3401568" cy="475488"/>
          </a:xfrm>
          <a:prstGeom prst="rect">
            <a:avLst/>
          </a:prstGeom>
          <a:noFill/>
          <a:ln/>
        </p:spPr>
        <p:txBody>
          <a:bodyPr wrap="square" rtlCol="0" anchor="ctr"/>
          <a:lstStyle/>
          <a:p>
            <a:pPr indent="0" marL="0">
              <a:buNone/>
            </a:pPr>
            <a:r>
              <a:rPr lang="en-US" sz="950" dirty="0">
                <a:solidFill>
                  <a:srgbClr val="8494A8"/>
                </a:solidFill>
              </a:rPr>
              <a:t>Joint connection issue from last week not yet resolved. Integration with live control still pending.</a:t>
            </a:r>
            <a:endParaRPr lang="en-US" sz="950" dirty="0"/>
          </a:p>
        </p:txBody>
      </p:sp>
      <p:sp>
        <p:nvSpPr>
          <p:cNvPr id="30" name="Text 28"/>
          <p:cNvSpPr/>
          <p:nvPr/>
        </p:nvSpPr>
        <p:spPr>
          <a:xfrm>
            <a:off x="4663440" y="786384"/>
            <a:ext cx="4160520" cy="274320"/>
          </a:xfrm>
          <a:prstGeom prst="rect">
            <a:avLst/>
          </a:prstGeom>
          <a:noFill/>
          <a:ln/>
        </p:spPr>
        <p:txBody>
          <a:bodyPr wrap="square" rtlCol="0" anchor="ctr"/>
          <a:lstStyle/>
          <a:p>
            <a:pPr indent="0" marL="0">
              <a:buNone/>
            </a:pPr>
            <a:r>
              <a:rPr lang="en-US" sz="1300" b="1" dirty="0">
                <a:solidFill>
                  <a:srgbClr val="0D1B3E"/>
                </a:solidFill>
              </a:rPr>
              <a:t>Action items</a:t>
            </a:r>
            <a:endParaRPr lang="en-US" sz="1300" dirty="0"/>
          </a:p>
        </p:txBody>
      </p:sp>
      <p:sp>
        <p:nvSpPr>
          <p:cNvPr id="31" name="Shape 29"/>
          <p:cNvSpPr/>
          <p:nvPr/>
        </p:nvSpPr>
        <p:spPr>
          <a:xfrm>
            <a:off x="4663440" y="1133856"/>
            <a:ext cx="4160520" cy="530352"/>
          </a:xfrm>
          <a:prstGeom prst="rect">
            <a:avLst/>
          </a:prstGeom>
          <a:solidFill>
            <a:srgbClr val="FFFFFF"/>
          </a:solidFill>
          <a:ln w="6350">
            <a:solidFill>
              <a:srgbClr val="E0E8F0"/>
            </a:solidFill>
            <a:prstDash val="solid"/>
          </a:ln>
        </p:spPr>
      </p:sp>
      <p:sp>
        <p:nvSpPr>
          <p:cNvPr id="32" name="Shape 30"/>
          <p:cNvSpPr/>
          <p:nvPr/>
        </p:nvSpPr>
        <p:spPr>
          <a:xfrm>
            <a:off x="4663440" y="1133856"/>
            <a:ext cx="73152" cy="530352"/>
          </a:xfrm>
          <a:prstGeom prst="rect">
            <a:avLst/>
          </a:prstGeom>
          <a:solidFill>
            <a:srgbClr val="C0392B"/>
          </a:solidFill>
          <a:ln w="12700">
            <a:solidFill>
              <a:srgbClr val="C0392B"/>
            </a:solidFill>
            <a:prstDash val="solid"/>
          </a:ln>
        </p:spPr>
      </p:sp>
      <p:sp>
        <p:nvSpPr>
          <p:cNvPr id="33" name="Text 31"/>
          <p:cNvSpPr/>
          <p:nvPr/>
        </p:nvSpPr>
        <p:spPr>
          <a:xfrm>
            <a:off x="4809744" y="1170432"/>
            <a:ext cx="2651760" cy="256032"/>
          </a:xfrm>
          <a:prstGeom prst="rect">
            <a:avLst/>
          </a:prstGeom>
          <a:noFill/>
          <a:ln/>
        </p:spPr>
        <p:txBody>
          <a:bodyPr wrap="square" rtlCol="0" anchor="ctr"/>
          <a:lstStyle/>
          <a:p>
            <a:pPr indent="0" marL="0">
              <a:buNone/>
            </a:pPr>
            <a:r>
              <a:rPr lang="en-US" sz="1000" b="1" dirty="0">
                <a:solidFill>
                  <a:srgbClr val="2C3E50"/>
                </a:solidFill>
              </a:rPr>
              <a:t>Reprint failed end effector connector</a:t>
            </a:r>
            <a:endParaRPr lang="en-US" sz="1000" dirty="0"/>
          </a:p>
        </p:txBody>
      </p:sp>
      <p:sp>
        <p:nvSpPr>
          <p:cNvPr id="34" name="Text 32"/>
          <p:cNvSpPr/>
          <p:nvPr/>
        </p:nvSpPr>
        <p:spPr>
          <a:xfrm>
            <a:off x="4809744" y="1444752"/>
            <a:ext cx="1371600" cy="182880"/>
          </a:xfrm>
          <a:prstGeom prst="rect">
            <a:avLst/>
          </a:prstGeom>
          <a:noFill/>
          <a:ln/>
        </p:spPr>
        <p:txBody>
          <a:bodyPr wrap="square" rtlCol="0" anchor="ctr"/>
          <a:lstStyle/>
          <a:p>
            <a:pPr indent="0" marL="0">
              <a:buNone/>
            </a:pPr>
            <a:r>
              <a:rPr lang="en-US" sz="900" dirty="0">
                <a:solidFill>
                  <a:srgbClr val="8494A8"/>
                </a:solidFill>
              </a:rPr>
              <a:t>Helal</a:t>
            </a:r>
            <a:endParaRPr lang="en-US" sz="900" dirty="0"/>
          </a:p>
        </p:txBody>
      </p:sp>
      <p:sp>
        <p:nvSpPr>
          <p:cNvPr id="35" name="Shape 33"/>
          <p:cNvSpPr/>
          <p:nvPr/>
        </p:nvSpPr>
        <p:spPr>
          <a:xfrm>
            <a:off x="7589520" y="1261872"/>
            <a:ext cx="1133856" cy="237744"/>
          </a:xfrm>
          <a:prstGeom prst="roundRect">
            <a:avLst>
              <a:gd name="adj" fmla="val 15385"/>
            </a:avLst>
          </a:prstGeom>
          <a:solidFill>
            <a:srgbClr val="C0392B">
              <a:alpha val="15000"/>
            </a:srgbClr>
          </a:solidFill>
          <a:ln w="12700">
            <a:solidFill>
              <a:srgbClr val="C0392B">
                <a:alpha val="35000"/>
              </a:srgbClr>
            </a:solidFill>
            <a:prstDash val="solid"/>
          </a:ln>
        </p:spPr>
      </p:sp>
      <p:sp>
        <p:nvSpPr>
          <p:cNvPr id="36" name="Text 34"/>
          <p:cNvSpPr/>
          <p:nvPr/>
        </p:nvSpPr>
        <p:spPr>
          <a:xfrm>
            <a:off x="7589520" y="1261872"/>
            <a:ext cx="1133856" cy="237744"/>
          </a:xfrm>
          <a:prstGeom prst="rect">
            <a:avLst/>
          </a:prstGeom>
          <a:noFill/>
          <a:ln/>
        </p:spPr>
        <p:txBody>
          <a:bodyPr wrap="square" lIns="0" tIns="0" rIns="0" bIns="0" rtlCol="0" anchor="ctr"/>
          <a:lstStyle/>
          <a:p>
            <a:pPr algn="ctr" indent="0" marL="0">
              <a:buNone/>
            </a:pPr>
            <a:r>
              <a:rPr lang="en-US" sz="850" b="1" dirty="0">
                <a:solidFill>
                  <a:srgbClr val="6B1515"/>
                </a:solidFill>
              </a:rPr>
              <a:t>Next week</a:t>
            </a:r>
            <a:endParaRPr lang="en-US" sz="850" dirty="0"/>
          </a:p>
        </p:txBody>
      </p:sp>
      <p:sp>
        <p:nvSpPr>
          <p:cNvPr id="37" name="Shape 35"/>
          <p:cNvSpPr/>
          <p:nvPr/>
        </p:nvSpPr>
        <p:spPr>
          <a:xfrm>
            <a:off x="4663440" y="1755648"/>
            <a:ext cx="4160520" cy="530352"/>
          </a:xfrm>
          <a:prstGeom prst="rect">
            <a:avLst/>
          </a:prstGeom>
          <a:solidFill>
            <a:srgbClr val="FFFFFF"/>
          </a:solidFill>
          <a:ln w="6350">
            <a:solidFill>
              <a:srgbClr val="E0E8F0"/>
            </a:solidFill>
            <a:prstDash val="solid"/>
          </a:ln>
        </p:spPr>
      </p:sp>
      <p:sp>
        <p:nvSpPr>
          <p:cNvPr id="38" name="Shape 36"/>
          <p:cNvSpPr/>
          <p:nvPr/>
        </p:nvSpPr>
        <p:spPr>
          <a:xfrm>
            <a:off x="4663440" y="1755648"/>
            <a:ext cx="73152" cy="530352"/>
          </a:xfrm>
          <a:prstGeom prst="rect">
            <a:avLst/>
          </a:prstGeom>
          <a:solidFill>
            <a:srgbClr val="C0392B"/>
          </a:solidFill>
          <a:ln w="12700">
            <a:solidFill>
              <a:srgbClr val="C0392B"/>
            </a:solidFill>
            <a:prstDash val="solid"/>
          </a:ln>
        </p:spPr>
      </p:sp>
      <p:sp>
        <p:nvSpPr>
          <p:cNvPr id="39" name="Text 37"/>
          <p:cNvSpPr/>
          <p:nvPr/>
        </p:nvSpPr>
        <p:spPr>
          <a:xfrm>
            <a:off x="4809744" y="1792224"/>
            <a:ext cx="2651760" cy="256032"/>
          </a:xfrm>
          <a:prstGeom prst="rect">
            <a:avLst/>
          </a:prstGeom>
          <a:noFill/>
          <a:ln/>
        </p:spPr>
        <p:txBody>
          <a:bodyPr wrap="square" rtlCol="0" anchor="ctr"/>
          <a:lstStyle/>
          <a:p>
            <a:pPr indent="0" marL="0">
              <a:buNone/>
            </a:pPr>
            <a:r>
              <a:rPr lang="en-US" sz="1000" b="1" dirty="0">
                <a:solidFill>
                  <a:srgbClr val="2C3E50"/>
                </a:solidFill>
              </a:rPr>
              <a:t>Print gripper</a:t>
            </a:r>
            <a:endParaRPr lang="en-US" sz="1000" dirty="0"/>
          </a:p>
        </p:txBody>
      </p:sp>
      <p:sp>
        <p:nvSpPr>
          <p:cNvPr id="40" name="Text 38"/>
          <p:cNvSpPr/>
          <p:nvPr/>
        </p:nvSpPr>
        <p:spPr>
          <a:xfrm>
            <a:off x="4809744" y="2066544"/>
            <a:ext cx="1371600" cy="182880"/>
          </a:xfrm>
          <a:prstGeom prst="rect">
            <a:avLst/>
          </a:prstGeom>
          <a:noFill/>
          <a:ln/>
        </p:spPr>
        <p:txBody>
          <a:bodyPr wrap="square" rtlCol="0" anchor="ctr"/>
          <a:lstStyle/>
          <a:p>
            <a:pPr indent="0" marL="0">
              <a:buNone/>
            </a:pPr>
            <a:r>
              <a:rPr lang="en-US" sz="900" dirty="0">
                <a:solidFill>
                  <a:srgbClr val="8494A8"/>
                </a:solidFill>
              </a:rPr>
              <a:t>Mohamed</a:t>
            </a:r>
            <a:endParaRPr lang="en-US" sz="900" dirty="0"/>
          </a:p>
        </p:txBody>
      </p:sp>
      <p:sp>
        <p:nvSpPr>
          <p:cNvPr id="41" name="Shape 39"/>
          <p:cNvSpPr/>
          <p:nvPr/>
        </p:nvSpPr>
        <p:spPr>
          <a:xfrm>
            <a:off x="7589520" y="1883664"/>
            <a:ext cx="1133856" cy="237744"/>
          </a:xfrm>
          <a:prstGeom prst="roundRect">
            <a:avLst>
              <a:gd name="adj" fmla="val 15385"/>
            </a:avLst>
          </a:prstGeom>
          <a:solidFill>
            <a:srgbClr val="C0392B">
              <a:alpha val="15000"/>
            </a:srgbClr>
          </a:solidFill>
          <a:ln w="12700">
            <a:solidFill>
              <a:srgbClr val="C0392B">
                <a:alpha val="35000"/>
              </a:srgbClr>
            </a:solidFill>
            <a:prstDash val="solid"/>
          </a:ln>
        </p:spPr>
      </p:sp>
      <p:sp>
        <p:nvSpPr>
          <p:cNvPr id="42" name="Text 40"/>
          <p:cNvSpPr/>
          <p:nvPr/>
        </p:nvSpPr>
        <p:spPr>
          <a:xfrm>
            <a:off x="7589520" y="1883664"/>
            <a:ext cx="1133856" cy="237744"/>
          </a:xfrm>
          <a:prstGeom prst="rect">
            <a:avLst/>
          </a:prstGeom>
          <a:noFill/>
          <a:ln/>
        </p:spPr>
        <p:txBody>
          <a:bodyPr wrap="square" lIns="0" tIns="0" rIns="0" bIns="0" rtlCol="0" anchor="ctr"/>
          <a:lstStyle/>
          <a:p>
            <a:pPr algn="ctr" indent="0" marL="0">
              <a:buNone/>
            </a:pPr>
            <a:r>
              <a:rPr lang="en-US" sz="850" b="1" dirty="0">
                <a:solidFill>
                  <a:srgbClr val="6B1515"/>
                </a:solidFill>
              </a:rPr>
              <a:t>Next week</a:t>
            </a:r>
            <a:endParaRPr lang="en-US" sz="850" dirty="0"/>
          </a:p>
        </p:txBody>
      </p:sp>
      <p:sp>
        <p:nvSpPr>
          <p:cNvPr id="43" name="Shape 41"/>
          <p:cNvSpPr/>
          <p:nvPr/>
        </p:nvSpPr>
        <p:spPr>
          <a:xfrm>
            <a:off x="4663440" y="2377440"/>
            <a:ext cx="4160520" cy="530352"/>
          </a:xfrm>
          <a:prstGeom prst="rect">
            <a:avLst/>
          </a:prstGeom>
          <a:solidFill>
            <a:srgbClr val="FFFFFF"/>
          </a:solidFill>
          <a:ln w="6350">
            <a:solidFill>
              <a:srgbClr val="E0E8F0"/>
            </a:solidFill>
            <a:prstDash val="solid"/>
          </a:ln>
        </p:spPr>
      </p:sp>
      <p:sp>
        <p:nvSpPr>
          <p:cNvPr id="44" name="Shape 42"/>
          <p:cNvSpPr/>
          <p:nvPr/>
        </p:nvSpPr>
        <p:spPr>
          <a:xfrm>
            <a:off x="4663440" y="2377440"/>
            <a:ext cx="73152" cy="530352"/>
          </a:xfrm>
          <a:prstGeom prst="rect">
            <a:avLst/>
          </a:prstGeom>
          <a:solidFill>
            <a:srgbClr val="E06530"/>
          </a:solidFill>
          <a:ln w="12700">
            <a:solidFill>
              <a:srgbClr val="E06530"/>
            </a:solidFill>
            <a:prstDash val="solid"/>
          </a:ln>
        </p:spPr>
      </p:sp>
      <p:sp>
        <p:nvSpPr>
          <p:cNvPr id="45" name="Text 43"/>
          <p:cNvSpPr/>
          <p:nvPr/>
        </p:nvSpPr>
        <p:spPr>
          <a:xfrm>
            <a:off x="4809744" y="2414016"/>
            <a:ext cx="2651760" cy="256032"/>
          </a:xfrm>
          <a:prstGeom prst="rect">
            <a:avLst/>
          </a:prstGeom>
          <a:noFill/>
          <a:ln/>
        </p:spPr>
        <p:txBody>
          <a:bodyPr wrap="square" rtlCol="0" anchor="ctr"/>
          <a:lstStyle/>
          <a:p>
            <a:pPr indent="0" marL="0">
              <a:buNone/>
            </a:pPr>
            <a:r>
              <a:rPr lang="en-US" sz="1000" b="1" dirty="0">
                <a:solidFill>
                  <a:srgbClr val="2C3E50"/>
                </a:solidFill>
              </a:rPr>
              <a:t>Assemble full end effector</a:t>
            </a:r>
            <a:endParaRPr lang="en-US" sz="1000" dirty="0"/>
          </a:p>
        </p:txBody>
      </p:sp>
      <p:sp>
        <p:nvSpPr>
          <p:cNvPr id="46" name="Text 44"/>
          <p:cNvSpPr/>
          <p:nvPr/>
        </p:nvSpPr>
        <p:spPr>
          <a:xfrm>
            <a:off x="4809744" y="2688336"/>
            <a:ext cx="1371600" cy="182880"/>
          </a:xfrm>
          <a:prstGeom prst="rect">
            <a:avLst/>
          </a:prstGeom>
          <a:noFill/>
          <a:ln/>
        </p:spPr>
        <p:txBody>
          <a:bodyPr wrap="square" rtlCol="0" anchor="ctr"/>
          <a:lstStyle/>
          <a:p>
            <a:pPr indent="0" marL="0">
              <a:buNone/>
            </a:pPr>
            <a:r>
              <a:rPr lang="en-US" sz="900" dirty="0">
                <a:solidFill>
                  <a:srgbClr val="8494A8"/>
                </a:solidFill>
              </a:rPr>
              <a:t>All</a:t>
            </a:r>
            <a:endParaRPr lang="en-US" sz="900" dirty="0"/>
          </a:p>
        </p:txBody>
      </p:sp>
      <p:sp>
        <p:nvSpPr>
          <p:cNvPr id="47" name="Shape 45"/>
          <p:cNvSpPr/>
          <p:nvPr/>
        </p:nvSpPr>
        <p:spPr>
          <a:xfrm>
            <a:off x="7589520" y="2505456"/>
            <a:ext cx="1133856" cy="237744"/>
          </a:xfrm>
          <a:prstGeom prst="roundRect">
            <a:avLst>
              <a:gd name="adj" fmla="val 15385"/>
            </a:avLst>
          </a:prstGeom>
          <a:solidFill>
            <a:srgbClr val="E06530">
              <a:alpha val="15000"/>
            </a:srgbClr>
          </a:solidFill>
          <a:ln w="12700">
            <a:solidFill>
              <a:srgbClr val="E06530">
                <a:alpha val="35000"/>
              </a:srgbClr>
            </a:solidFill>
            <a:prstDash val="solid"/>
          </a:ln>
        </p:spPr>
      </p:sp>
      <p:sp>
        <p:nvSpPr>
          <p:cNvPr id="48" name="Text 46"/>
          <p:cNvSpPr/>
          <p:nvPr/>
        </p:nvSpPr>
        <p:spPr>
          <a:xfrm>
            <a:off x="7589520" y="2505456"/>
            <a:ext cx="1133856" cy="237744"/>
          </a:xfrm>
          <a:prstGeom prst="rect">
            <a:avLst/>
          </a:prstGeom>
          <a:noFill/>
          <a:ln/>
        </p:spPr>
        <p:txBody>
          <a:bodyPr wrap="square" lIns="0" tIns="0" rIns="0" bIns="0" rtlCol="0" anchor="ctr"/>
          <a:lstStyle/>
          <a:p>
            <a:pPr algn="ctr" indent="0" marL="0">
              <a:buNone/>
            </a:pPr>
            <a:r>
              <a:rPr lang="en-US" sz="850" b="1" dirty="0">
                <a:solidFill>
                  <a:srgbClr val="8B3000"/>
                </a:solidFill>
              </a:rPr>
              <a:t>Next week</a:t>
            </a:r>
            <a:endParaRPr lang="en-US" sz="850" dirty="0"/>
          </a:p>
        </p:txBody>
      </p:sp>
      <p:sp>
        <p:nvSpPr>
          <p:cNvPr id="49" name="Shape 47"/>
          <p:cNvSpPr/>
          <p:nvPr/>
        </p:nvSpPr>
        <p:spPr>
          <a:xfrm>
            <a:off x="4663440" y="2999232"/>
            <a:ext cx="4160520" cy="530352"/>
          </a:xfrm>
          <a:prstGeom prst="rect">
            <a:avLst/>
          </a:prstGeom>
          <a:solidFill>
            <a:srgbClr val="FFFFFF"/>
          </a:solidFill>
          <a:ln w="6350">
            <a:solidFill>
              <a:srgbClr val="E0E8F0"/>
            </a:solidFill>
            <a:prstDash val="solid"/>
          </a:ln>
        </p:spPr>
      </p:sp>
      <p:sp>
        <p:nvSpPr>
          <p:cNvPr id="50" name="Shape 48"/>
          <p:cNvSpPr/>
          <p:nvPr/>
        </p:nvSpPr>
        <p:spPr>
          <a:xfrm>
            <a:off x="4663440" y="2999232"/>
            <a:ext cx="73152" cy="530352"/>
          </a:xfrm>
          <a:prstGeom prst="rect">
            <a:avLst/>
          </a:prstGeom>
          <a:solidFill>
            <a:srgbClr val="2EAD7A"/>
          </a:solidFill>
          <a:ln w="12700">
            <a:solidFill>
              <a:srgbClr val="2EAD7A"/>
            </a:solidFill>
            <a:prstDash val="solid"/>
          </a:ln>
        </p:spPr>
      </p:sp>
      <p:sp>
        <p:nvSpPr>
          <p:cNvPr id="51" name="Text 49"/>
          <p:cNvSpPr/>
          <p:nvPr/>
        </p:nvSpPr>
        <p:spPr>
          <a:xfrm>
            <a:off x="4809744" y="3035808"/>
            <a:ext cx="2651760" cy="256032"/>
          </a:xfrm>
          <a:prstGeom prst="rect">
            <a:avLst/>
          </a:prstGeom>
          <a:noFill/>
          <a:ln/>
        </p:spPr>
        <p:txBody>
          <a:bodyPr wrap="square" rtlCol="0" anchor="ctr"/>
          <a:lstStyle/>
          <a:p>
            <a:pPr indent="0" marL="0">
              <a:buNone/>
            </a:pPr>
            <a:r>
              <a:rPr lang="en-US" sz="1000" b="1" dirty="0">
                <a:solidFill>
                  <a:srgbClr val="2C3E50"/>
                </a:solidFill>
              </a:rPr>
              <a:t>Full system assembly</a:t>
            </a:r>
            <a:endParaRPr lang="en-US" sz="1000" dirty="0"/>
          </a:p>
        </p:txBody>
      </p:sp>
      <p:sp>
        <p:nvSpPr>
          <p:cNvPr id="52" name="Text 50"/>
          <p:cNvSpPr/>
          <p:nvPr/>
        </p:nvSpPr>
        <p:spPr>
          <a:xfrm>
            <a:off x="4809744" y="3310128"/>
            <a:ext cx="1371600" cy="182880"/>
          </a:xfrm>
          <a:prstGeom prst="rect">
            <a:avLst/>
          </a:prstGeom>
          <a:noFill/>
          <a:ln/>
        </p:spPr>
        <p:txBody>
          <a:bodyPr wrap="square" rtlCol="0" anchor="ctr"/>
          <a:lstStyle/>
          <a:p>
            <a:pPr indent="0" marL="0">
              <a:buNone/>
            </a:pPr>
            <a:r>
              <a:rPr lang="en-US" sz="900" dirty="0">
                <a:solidFill>
                  <a:srgbClr val="8494A8"/>
                </a:solidFill>
              </a:rPr>
              <a:t>All</a:t>
            </a:r>
            <a:endParaRPr lang="en-US" sz="900" dirty="0"/>
          </a:p>
        </p:txBody>
      </p:sp>
      <p:sp>
        <p:nvSpPr>
          <p:cNvPr id="53" name="Shape 51"/>
          <p:cNvSpPr/>
          <p:nvPr/>
        </p:nvSpPr>
        <p:spPr>
          <a:xfrm>
            <a:off x="7589520" y="3127248"/>
            <a:ext cx="1133856" cy="237744"/>
          </a:xfrm>
          <a:prstGeom prst="roundRect">
            <a:avLst>
              <a:gd name="adj" fmla="val 15385"/>
            </a:avLst>
          </a:prstGeom>
          <a:solidFill>
            <a:srgbClr val="2EAD7A">
              <a:alpha val="15000"/>
            </a:srgbClr>
          </a:solidFill>
          <a:ln w="12700">
            <a:solidFill>
              <a:srgbClr val="2EAD7A">
                <a:alpha val="35000"/>
              </a:srgbClr>
            </a:solidFill>
            <a:prstDash val="solid"/>
          </a:ln>
        </p:spPr>
      </p:sp>
      <p:sp>
        <p:nvSpPr>
          <p:cNvPr id="54" name="Text 52"/>
          <p:cNvSpPr/>
          <p:nvPr/>
        </p:nvSpPr>
        <p:spPr>
          <a:xfrm>
            <a:off x="7589520" y="3127248"/>
            <a:ext cx="1133856" cy="237744"/>
          </a:xfrm>
          <a:prstGeom prst="rect">
            <a:avLst/>
          </a:prstGeom>
          <a:noFill/>
          <a:ln/>
        </p:spPr>
        <p:txBody>
          <a:bodyPr wrap="square" lIns="0" tIns="0" rIns="0" bIns="0" rtlCol="0" anchor="ctr"/>
          <a:lstStyle/>
          <a:p>
            <a:pPr algn="ctr" indent="0" marL="0">
              <a:buNone/>
            </a:pPr>
            <a:r>
              <a:rPr lang="en-US" sz="850" b="1" dirty="0">
                <a:solidFill>
                  <a:srgbClr val="165C3E"/>
                </a:solidFill>
              </a:rPr>
              <a:t>Next week</a:t>
            </a:r>
            <a:endParaRPr lang="en-US" sz="850" dirty="0"/>
          </a:p>
        </p:txBody>
      </p:sp>
      <p:sp>
        <p:nvSpPr>
          <p:cNvPr id="55" name="Shape 53"/>
          <p:cNvSpPr/>
          <p:nvPr/>
        </p:nvSpPr>
        <p:spPr>
          <a:xfrm>
            <a:off x="4663440" y="3621024"/>
            <a:ext cx="4160520" cy="530352"/>
          </a:xfrm>
          <a:prstGeom prst="rect">
            <a:avLst/>
          </a:prstGeom>
          <a:solidFill>
            <a:srgbClr val="FFFFFF"/>
          </a:solidFill>
          <a:ln w="6350">
            <a:solidFill>
              <a:srgbClr val="E0E8F0"/>
            </a:solidFill>
            <a:prstDash val="solid"/>
          </a:ln>
        </p:spPr>
      </p:sp>
      <p:sp>
        <p:nvSpPr>
          <p:cNvPr id="56" name="Shape 54"/>
          <p:cNvSpPr/>
          <p:nvPr/>
        </p:nvSpPr>
        <p:spPr>
          <a:xfrm>
            <a:off x="4663440" y="3621024"/>
            <a:ext cx="73152" cy="530352"/>
          </a:xfrm>
          <a:prstGeom prst="rect">
            <a:avLst/>
          </a:prstGeom>
          <a:solidFill>
            <a:srgbClr val="6B4E9E"/>
          </a:solidFill>
          <a:ln w="12700">
            <a:solidFill>
              <a:srgbClr val="6B4E9E"/>
            </a:solidFill>
            <a:prstDash val="solid"/>
          </a:ln>
        </p:spPr>
      </p:sp>
      <p:sp>
        <p:nvSpPr>
          <p:cNvPr id="57" name="Text 55"/>
          <p:cNvSpPr/>
          <p:nvPr/>
        </p:nvSpPr>
        <p:spPr>
          <a:xfrm>
            <a:off x="4809744" y="3657600"/>
            <a:ext cx="2651760" cy="256032"/>
          </a:xfrm>
          <a:prstGeom prst="rect">
            <a:avLst/>
          </a:prstGeom>
          <a:noFill/>
          <a:ln/>
        </p:spPr>
        <p:txBody>
          <a:bodyPr wrap="square" rtlCol="0" anchor="ctr"/>
          <a:lstStyle/>
          <a:p>
            <a:pPr indent="0" marL="0">
              <a:buNone/>
            </a:pPr>
            <a:r>
              <a:rPr lang="en-US" sz="1000" b="1" dirty="0">
                <a:solidFill>
                  <a:srgbClr val="2C3E50"/>
                </a:solidFill>
              </a:rPr>
              <a:t>Fix ROS2 joint transforms</a:t>
            </a:r>
            <a:endParaRPr lang="en-US" sz="1000" dirty="0"/>
          </a:p>
        </p:txBody>
      </p:sp>
      <p:sp>
        <p:nvSpPr>
          <p:cNvPr id="58" name="Text 56"/>
          <p:cNvSpPr/>
          <p:nvPr/>
        </p:nvSpPr>
        <p:spPr>
          <a:xfrm>
            <a:off x="4809744" y="3931920"/>
            <a:ext cx="1371600" cy="182880"/>
          </a:xfrm>
          <a:prstGeom prst="rect">
            <a:avLst/>
          </a:prstGeom>
          <a:noFill/>
          <a:ln/>
        </p:spPr>
        <p:txBody>
          <a:bodyPr wrap="square" rtlCol="0" anchor="ctr"/>
          <a:lstStyle/>
          <a:p>
            <a:pPr indent="0" marL="0">
              <a:buNone/>
            </a:pPr>
            <a:r>
              <a:rPr lang="en-US" sz="900" dirty="0">
                <a:solidFill>
                  <a:srgbClr val="8494A8"/>
                </a:solidFill>
              </a:rPr>
              <a:t>Mohamed</a:t>
            </a:r>
            <a:endParaRPr lang="en-US" sz="900" dirty="0"/>
          </a:p>
        </p:txBody>
      </p:sp>
      <p:sp>
        <p:nvSpPr>
          <p:cNvPr id="59" name="Shape 57"/>
          <p:cNvSpPr/>
          <p:nvPr/>
        </p:nvSpPr>
        <p:spPr>
          <a:xfrm>
            <a:off x="7589520" y="3749040"/>
            <a:ext cx="1133856" cy="237744"/>
          </a:xfrm>
          <a:prstGeom prst="roundRect">
            <a:avLst>
              <a:gd name="adj" fmla="val 15385"/>
            </a:avLst>
          </a:prstGeom>
          <a:solidFill>
            <a:srgbClr val="6B4E9E">
              <a:alpha val="15000"/>
            </a:srgbClr>
          </a:solidFill>
          <a:ln w="12700">
            <a:solidFill>
              <a:srgbClr val="6B4E9E">
                <a:alpha val="35000"/>
              </a:srgbClr>
            </a:solidFill>
            <a:prstDash val="solid"/>
          </a:ln>
        </p:spPr>
      </p:sp>
      <p:sp>
        <p:nvSpPr>
          <p:cNvPr id="60" name="Text 58"/>
          <p:cNvSpPr/>
          <p:nvPr/>
        </p:nvSpPr>
        <p:spPr>
          <a:xfrm>
            <a:off x="7589520" y="3749040"/>
            <a:ext cx="1133856" cy="237744"/>
          </a:xfrm>
          <a:prstGeom prst="rect">
            <a:avLst/>
          </a:prstGeom>
          <a:noFill/>
          <a:ln/>
        </p:spPr>
        <p:txBody>
          <a:bodyPr wrap="square" lIns="0" tIns="0" rIns="0" bIns="0" rtlCol="0" anchor="ctr"/>
          <a:lstStyle/>
          <a:p>
            <a:pPr algn="ctr" indent="0" marL="0">
              <a:buNone/>
            </a:pPr>
            <a:r>
              <a:rPr lang="en-US" sz="850" b="1" dirty="0">
                <a:solidFill>
                  <a:srgbClr val="3D1F6E"/>
                </a:solidFill>
              </a:rPr>
              <a:t>Next week</a:t>
            </a:r>
            <a:endParaRPr lang="en-US" sz="850" dirty="0"/>
          </a:p>
        </p:txBody>
      </p:sp>
      <p:sp>
        <p:nvSpPr>
          <p:cNvPr id="61" name="Shape 59"/>
          <p:cNvSpPr/>
          <p:nvPr/>
        </p:nvSpPr>
        <p:spPr>
          <a:xfrm>
            <a:off x="4663440" y="4242816"/>
            <a:ext cx="4160520" cy="530352"/>
          </a:xfrm>
          <a:prstGeom prst="rect">
            <a:avLst/>
          </a:prstGeom>
          <a:solidFill>
            <a:srgbClr val="FFFFFF"/>
          </a:solidFill>
          <a:ln w="6350">
            <a:solidFill>
              <a:srgbClr val="E0E8F0"/>
            </a:solidFill>
            <a:prstDash val="solid"/>
          </a:ln>
        </p:spPr>
      </p:sp>
      <p:sp>
        <p:nvSpPr>
          <p:cNvPr id="62" name="Shape 60"/>
          <p:cNvSpPr/>
          <p:nvPr/>
        </p:nvSpPr>
        <p:spPr>
          <a:xfrm>
            <a:off x="4663440" y="4242816"/>
            <a:ext cx="73152" cy="530352"/>
          </a:xfrm>
          <a:prstGeom prst="rect">
            <a:avLst/>
          </a:prstGeom>
          <a:solidFill>
            <a:srgbClr val="028090"/>
          </a:solidFill>
          <a:ln w="12700">
            <a:solidFill>
              <a:srgbClr val="028090"/>
            </a:solidFill>
            <a:prstDash val="solid"/>
          </a:ln>
        </p:spPr>
      </p:sp>
      <p:sp>
        <p:nvSpPr>
          <p:cNvPr id="63" name="Text 61"/>
          <p:cNvSpPr/>
          <p:nvPr/>
        </p:nvSpPr>
        <p:spPr>
          <a:xfrm>
            <a:off x="4809744" y="4279392"/>
            <a:ext cx="2651760" cy="256032"/>
          </a:xfrm>
          <a:prstGeom prst="rect">
            <a:avLst/>
          </a:prstGeom>
          <a:noFill/>
          <a:ln/>
        </p:spPr>
        <p:txBody>
          <a:bodyPr wrap="square" rtlCol="0" anchor="ctr"/>
          <a:lstStyle/>
          <a:p>
            <a:pPr indent="0" marL="0">
              <a:buNone/>
            </a:pPr>
            <a:r>
              <a:rPr lang="en-US" sz="1000" b="1" dirty="0">
                <a:solidFill>
                  <a:srgbClr val="2C3E50"/>
                </a:solidFill>
              </a:rPr>
              <a:t>Test full pick-and-place cycle</a:t>
            </a:r>
            <a:endParaRPr lang="en-US" sz="1000" dirty="0"/>
          </a:p>
        </p:txBody>
      </p:sp>
      <p:sp>
        <p:nvSpPr>
          <p:cNvPr id="64" name="Text 62"/>
          <p:cNvSpPr/>
          <p:nvPr/>
        </p:nvSpPr>
        <p:spPr>
          <a:xfrm>
            <a:off x="4809744" y="4553712"/>
            <a:ext cx="1371600" cy="182880"/>
          </a:xfrm>
          <a:prstGeom prst="rect">
            <a:avLst/>
          </a:prstGeom>
          <a:noFill/>
          <a:ln/>
        </p:spPr>
        <p:txBody>
          <a:bodyPr wrap="square" rtlCol="0" anchor="ctr"/>
          <a:lstStyle/>
          <a:p>
            <a:pPr indent="0" marL="0">
              <a:buNone/>
            </a:pPr>
            <a:r>
              <a:rPr lang="en-US" sz="900" dirty="0">
                <a:solidFill>
                  <a:srgbClr val="8494A8"/>
                </a:solidFill>
              </a:rPr>
              <a:t>All</a:t>
            </a:r>
            <a:endParaRPr lang="en-US" sz="900" dirty="0"/>
          </a:p>
        </p:txBody>
      </p:sp>
      <p:sp>
        <p:nvSpPr>
          <p:cNvPr id="65" name="Shape 63"/>
          <p:cNvSpPr/>
          <p:nvPr/>
        </p:nvSpPr>
        <p:spPr>
          <a:xfrm>
            <a:off x="7589520" y="4370832"/>
            <a:ext cx="1133856" cy="237744"/>
          </a:xfrm>
          <a:prstGeom prst="roundRect">
            <a:avLst>
              <a:gd name="adj" fmla="val 15385"/>
            </a:avLst>
          </a:prstGeom>
          <a:solidFill>
            <a:srgbClr val="028090">
              <a:alpha val="15000"/>
            </a:srgbClr>
          </a:solidFill>
          <a:ln w="12700">
            <a:solidFill>
              <a:srgbClr val="028090">
                <a:alpha val="35000"/>
              </a:srgbClr>
            </a:solidFill>
            <a:prstDash val="solid"/>
          </a:ln>
        </p:spPr>
      </p:sp>
      <p:sp>
        <p:nvSpPr>
          <p:cNvPr id="66" name="Text 64"/>
          <p:cNvSpPr/>
          <p:nvPr/>
        </p:nvSpPr>
        <p:spPr>
          <a:xfrm>
            <a:off x="7589520" y="4370832"/>
            <a:ext cx="1133856" cy="237744"/>
          </a:xfrm>
          <a:prstGeom prst="rect">
            <a:avLst/>
          </a:prstGeom>
          <a:noFill/>
          <a:ln/>
        </p:spPr>
        <p:txBody>
          <a:bodyPr wrap="square" lIns="0" tIns="0" rIns="0" bIns="0" rtlCol="0" anchor="ctr"/>
          <a:lstStyle/>
          <a:p>
            <a:pPr algn="ctr" indent="0" marL="0">
              <a:buNone/>
            </a:pPr>
            <a:r>
              <a:rPr lang="en-US" sz="850" b="1" dirty="0">
                <a:solidFill>
                  <a:srgbClr val="015A68"/>
                </a:solidFill>
              </a:rPr>
              <a:t>Next week</a:t>
            </a:r>
            <a:endParaRPr lang="en-US" sz="850" dirty="0"/>
          </a:p>
        </p:txBody>
      </p:sp>
      <p:sp>
        <p:nvSpPr>
          <p:cNvPr id="67" name="Text 65"/>
          <p:cNvSpPr/>
          <p:nvPr/>
        </p:nvSpPr>
        <p:spPr>
          <a:xfrm>
            <a:off x="274320" y="4919472"/>
            <a:ext cx="8595360" cy="182880"/>
          </a:xfrm>
          <a:prstGeom prst="rect">
            <a:avLst/>
          </a:prstGeom>
          <a:noFill/>
          <a:ln/>
        </p:spPr>
        <p:txBody>
          <a:bodyPr wrap="square" rtlCol="0" anchor="ctr"/>
          <a:lstStyle/>
          <a:p>
            <a:pPr algn="r" indent="0" marL="0">
              <a:buNone/>
            </a:pPr>
            <a:r>
              <a:rPr lang="en-US" sz="800" dirty="0">
                <a:solidFill>
                  <a:srgbClr val="8494A8"/>
                </a:solidFill>
              </a:rPr>
              <a:t>Mechatronics System Design 101  ·  Leen's Group  ·  Week 12</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8090"/>
          </a:solidFill>
          <a:ln w="12700">
            <a:solidFill>
              <a:srgbClr val="028090"/>
            </a:solidFill>
            <a:prstDash val="solid"/>
          </a:ln>
        </p:spPr>
      </p:sp>
      <p:sp>
        <p:nvSpPr>
          <p:cNvPr id="3" name="Shape 1"/>
          <p:cNvSpPr/>
          <p:nvPr/>
        </p:nvSpPr>
        <p:spPr>
          <a:xfrm>
            <a:off x="6217920" y="-1097280"/>
            <a:ext cx="4572000" cy="4572000"/>
          </a:xfrm>
          <a:prstGeom prst="ellipse">
            <a:avLst/>
          </a:prstGeom>
          <a:solidFill>
            <a:srgbClr val="028090">
              <a:alpha val="12000"/>
            </a:srgbClr>
          </a:solidFill>
          <a:ln w="12700">
            <a:solidFill>
              <a:srgbClr val="028090">
                <a:alpha val="12000"/>
              </a:srgbClr>
            </a:solidFill>
            <a:prstDash val="solid"/>
          </a:ln>
        </p:spPr>
      </p:sp>
      <p:sp>
        <p:nvSpPr>
          <p:cNvPr id="4" name="Shape 2"/>
          <p:cNvSpPr/>
          <p:nvPr/>
        </p:nvSpPr>
        <p:spPr>
          <a:xfrm>
            <a:off x="7132320" y="3108960"/>
            <a:ext cx="2743200" cy="2743200"/>
          </a:xfrm>
          <a:prstGeom prst="ellipse">
            <a:avLst/>
          </a:prstGeom>
          <a:solidFill>
            <a:srgbClr val="028090">
              <a:alpha val="8000"/>
            </a:srgbClr>
          </a:solidFill>
          <a:ln w="12700">
            <a:solidFill>
              <a:srgbClr val="028090">
                <a:alpha val="8000"/>
              </a:srgbClr>
            </a:solidFill>
            <a:prstDash val="solid"/>
          </a:ln>
        </p:spPr>
      </p:sp>
      <p:sp>
        <p:nvSpPr>
          <p:cNvPr id="5" name="Text 3"/>
          <p:cNvSpPr/>
          <p:nvPr/>
        </p:nvSpPr>
        <p:spPr>
          <a:xfrm>
            <a:off x="411480" y="1280160"/>
            <a:ext cx="7315200" cy="822960"/>
          </a:xfrm>
          <a:prstGeom prst="rect">
            <a:avLst/>
          </a:prstGeom>
          <a:noFill/>
          <a:ln/>
        </p:spPr>
        <p:txBody>
          <a:bodyPr wrap="square" rtlCol="0" anchor="ctr"/>
          <a:lstStyle/>
          <a:p>
            <a:pPr indent="0" marL="0">
              <a:buNone/>
            </a:pPr>
            <a:r>
              <a:rPr lang="en-US" sz="5600" b="1" dirty="0">
                <a:solidFill>
                  <a:srgbClr val="FFFFFF"/>
                </a:solidFill>
                <a:latin typeface="Calibri" pitchFamily="34" charset="0"/>
                <a:ea typeface="Calibri" pitchFamily="34" charset="-122"/>
                <a:cs typeface="Calibri" pitchFamily="34" charset="-120"/>
              </a:rPr>
              <a:t>Individual</a:t>
            </a:r>
            <a:endParaRPr lang="en-US" sz="5600" dirty="0"/>
          </a:p>
        </p:txBody>
      </p:sp>
      <p:sp>
        <p:nvSpPr>
          <p:cNvPr id="6" name="Text 4"/>
          <p:cNvSpPr/>
          <p:nvPr/>
        </p:nvSpPr>
        <p:spPr>
          <a:xfrm>
            <a:off x="411480" y="2011680"/>
            <a:ext cx="7315200" cy="822960"/>
          </a:xfrm>
          <a:prstGeom prst="rect">
            <a:avLst/>
          </a:prstGeom>
          <a:noFill/>
          <a:ln/>
        </p:spPr>
        <p:txBody>
          <a:bodyPr wrap="square" rtlCol="0" anchor="ctr"/>
          <a:lstStyle/>
          <a:p>
            <a:pPr indent="0" marL="0">
              <a:buNone/>
            </a:pPr>
            <a:r>
              <a:rPr lang="en-US" sz="5600" b="1" dirty="0">
                <a:solidFill>
                  <a:srgbClr val="C8E6F5"/>
                </a:solidFill>
                <a:latin typeface="Calibri" pitchFamily="34" charset="0"/>
                <a:ea typeface="Calibri" pitchFamily="34" charset="-122"/>
                <a:cs typeface="Calibri" pitchFamily="34" charset="-120"/>
              </a:rPr>
              <a:t>Updates</a:t>
            </a:r>
            <a:endParaRPr lang="en-US" sz="5600" dirty="0"/>
          </a:p>
        </p:txBody>
      </p:sp>
      <p:sp>
        <p:nvSpPr>
          <p:cNvPr id="7" name="Shape 5"/>
          <p:cNvSpPr/>
          <p:nvPr/>
        </p:nvSpPr>
        <p:spPr>
          <a:xfrm>
            <a:off x="411480" y="2999232"/>
            <a:ext cx="3657600" cy="36576"/>
          </a:xfrm>
          <a:prstGeom prst="rect">
            <a:avLst/>
          </a:prstGeom>
          <a:solidFill>
            <a:srgbClr val="028090"/>
          </a:solidFill>
          <a:ln w="12700">
            <a:solidFill>
              <a:srgbClr val="028090"/>
            </a:solidFill>
            <a:prstDash val="solid"/>
          </a:ln>
        </p:spPr>
      </p:sp>
      <p:sp>
        <p:nvSpPr>
          <p:cNvPr id="8" name="Text 6"/>
          <p:cNvSpPr/>
          <p:nvPr/>
        </p:nvSpPr>
        <p:spPr>
          <a:xfrm>
            <a:off x="411480" y="3163824"/>
            <a:ext cx="6400800" cy="329184"/>
          </a:xfrm>
          <a:prstGeom prst="rect">
            <a:avLst/>
          </a:prstGeom>
          <a:noFill/>
          <a:ln/>
        </p:spPr>
        <p:txBody>
          <a:bodyPr wrap="square" rtlCol="0" anchor="ctr"/>
          <a:lstStyle/>
          <a:p>
            <a:pPr indent="0" marL="0">
              <a:buNone/>
            </a:pPr>
            <a:r>
              <a:rPr lang="en-US" sz="1300" dirty="0">
                <a:solidFill>
                  <a:srgbClr val="8494A8"/>
                </a:solidFill>
                <a:latin typeface="Calibri" pitchFamily="34" charset="0"/>
                <a:ea typeface="Calibri" pitchFamily="34" charset="-122"/>
                <a:cs typeface="Calibri" pitchFamily="34" charset="-120"/>
              </a:rPr>
              <a:t>What each member did, what they will do, what they need.</a:t>
            </a:r>
            <a:endParaRPr lang="en-US" sz="1300" dirty="0"/>
          </a:p>
        </p:txBody>
      </p:sp>
      <p:sp>
        <p:nvSpPr>
          <p:cNvPr id="9" name="Shape 7"/>
          <p:cNvSpPr/>
          <p:nvPr/>
        </p:nvSpPr>
        <p:spPr>
          <a:xfrm>
            <a:off x="411480" y="3749040"/>
            <a:ext cx="2560320" cy="475488"/>
          </a:xfrm>
          <a:prstGeom prst="roundRect">
            <a:avLst>
              <a:gd name="adj" fmla="val 15385"/>
            </a:avLst>
          </a:prstGeom>
          <a:solidFill>
            <a:srgbClr val="028090">
              <a:alpha val="20000"/>
            </a:srgbClr>
          </a:solidFill>
          <a:ln w="12700">
            <a:solidFill>
              <a:srgbClr val="028090">
                <a:alpha val="50000"/>
              </a:srgbClr>
            </a:solidFill>
            <a:prstDash val="solid"/>
          </a:ln>
        </p:spPr>
      </p:sp>
      <p:sp>
        <p:nvSpPr>
          <p:cNvPr id="10" name="Text 8"/>
          <p:cNvSpPr/>
          <p:nvPr/>
        </p:nvSpPr>
        <p:spPr>
          <a:xfrm>
            <a:off x="411480" y="3749040"/>
            <a:ext cx="2560320" cy="274320"/>
          </a:xfrm>
          <a:prstGeom prst="rect">
            <a:avLst/>
          </a:prstGeom>
          <a:noFill/>
          <a:ln/>
        </p:spPr>
        <p:txBody>
          <a:bodyPr wrap="square" lIns="0" tIns="0" rIns="0" bIns="0" rtlCol="0" anchor="b"/>
          <a:lstStyle/>
          <a:p>
            <a:pPr algn="ctr" indent="0" marL="0">
              <a:buNone/>
            </a:pPr>
            <a:r>
              <a:rPr lang="en-US" sz="1300" b="1" dirty="0">
                <a:solidFill>
                  <a:srgbClr val="FFFFFF"/>
                </a:solidFill>
              </a:rPr>
              <a:t>Leen</a:t>
            </a:r>
            <a:endParaRPr lang="en-US" sz="1300" dirty="0"/>
          </a:p>
        </p:txBody>
      </p:sp>
      <p:sp>
        <p:nvSpPr>
          <p:cNvPr id="11" name="Text 9"/>
          <p:cNvSpPr/>
          <p:nvPr/>
        </p:nvSpPr>
        <p:spPr>
          <a:xfrm>
            <a:off x="411480" y="4005072"/>
            <a:ext cx="2560320" cy="219456"/>
          </a:xfrm>
          <a:prstGeom prst="rect">
            <a:avLst/>
          </a:prstGeom>
          <a:noFill/>
          <a:ln/>
        </p:spPr>
        <p:txBody>
          <a:bodyPr wrap="square" lIns="0" tIns="0" rIns="0" bIns="0" rtlCol="0" anchor="t"/>
          <a:lstStyle/>
          <a:p>
            <a:pPr algn="ctr" indent="0" marL="0">
              <a:buNone/>
            </a:pPr>
            <a:r>
              <a:rPr lang="en-US" sz="900" dirty="0">
                <a:solidFill>
                  <a:srgbClr val="C8E6F5"/>
                </a:solidFill>
              </a:rPr>
              <a:t>Group Leader</a:t>
            </a:r>
            <a:endParaRPr lang="en-US" sz="900" dirty="0"/>
          </a:p>
        </p:txBody>
      </p:sp>
      <p:sp>
        <p:nvSpPr>
          <p:cNvPr id="12" name="Shape 10"/>
          <p:cNvSpPr/>
          <p:nvPr/>
        </p:nvSpPr>
        <p:spPr>
          <a:xfrm>
            <a:off x="3246120" y="3749040"/>
            <a:ext cx="2560320" cy="475488"/>
          </a:xfrm>
          <a:prstGeom prst="roundRect">
            <a:avLst>
              <a:gd name="adj" fmla="val 15385"/>
            </a:avLst>
          </a:prstGeom>
          <a:solidFill>
            <a:srgbClr val="2EAD7A">
              <a:alpha val="20000"/>
            </a:srgbClr>
          </a:solidFill>
          <a:ln w="12700">
            <a:solidFill>
              <a:srgbClr val="2EAD7A">
                <a:alpha val="50000"/>
              </a:srgbClr>
            </a:solidFill>
            <a:prstDash val="solid"/>
          </a:ln>
        </p:spPr>
      </p:sp>
      <p:sp>
        <p:nvSpPr>
          <p:cNvPr id="13" name="Text 11"/>
          <p:cNvSpPr/>
          <p:nvPr/>
        </p:nvSpPr>
        <p:spPr>
          <a:xfrm>
            <a:off x="3246120" y="3749040"/>
            <a:ext cx="2560320" cy="274320"/>
          </a:xfrm>
          <a:prstGeom prst="rect">
            <a:avLst/>
          </a:prstGeom>
          <a:noFill/>
          <a:ln/>
        </p:spPr>
        <p:txBody>
          <a:bodyPr wrap="square" lIns="0" tIns="0" rIns="0" bIns="0" rtlCol="0" anchor="b"/>
          <a:lstStyle/>
          <a:p>
            <a:pPr algn="ctr" indent="0" marL="0">
              <a:buNone/>
            </a:pPr>
            <a:r>
              <a:rPr lang="en-US" sz="1300" b="1" dirty="0">
                <a:solidFill>
                  <a:srgbClr val="FFFFFF"/>
                </a:solidFill>
              </a:rPr>
              <a:t>Mohamed</a:t>
            </a:r>
            <a:endParaRPr lang="en-US" sz="1300" dirty="0"/>
          </a:p>
        </p:txBody>
      </p:sp>
      <p:sp>
        <p:nvSpPr>
          <p:cNvPr id="14" name="Text 12"/>
          <p:cNvSpPr/>
          <p:nvPr/>
        </p:nvSpPr>
        <p:spPr>
          <a:xfrm>
            <a:off x="3246120" y="4005072"/>
            <a:ext cx="2560320" cy="219456"/>
          </a:xfrm>
          <a:prstGeom prst="rect">
            <a:avLst/>
          </a:prstGeom>
          <a:noFill/>
          <a:ln/>
        </p:spPr>
        <p:txBody>
          <a:bodyPr wrap="square" lIns="0" tIns="0" rIns="0" bIns="0" rtlCol="0" anchor="t"/>
          <a:lstStyle/>
          <a:p>
            <a:pPr algn="ctr" indent="0" marL="0">
              <a:buNone/>
            </a:pPr>
            <a:r>
              <a:rPr lang="en-US" sz="900" dirty="0">
                <a:solidFill>
                  <a:srgbClr val="C8E6F5"/>
                </a:solidFill>
              </a:rPr>
              <a:t>Member</a:t>
            </a:r>
            <a:endParaRPr lang="en-US" sz="900" dirty="0"/>
          </a:p>
        </p:txBody>
      </p:sp>
      <p:sp>
        <p:nvSpPr>
          <p:cNvPr id="15" name="Shape 13"/>
          <p:cNvSpPr/>
          <p:nvPr/>
        </p:nvSpPr>
        <p:spPr>
          <a:xfrm>
            <a:off x="6080760" y="3749040"/>
            <a:ext cx="2560320" cy="475488"/>
          </a:xfrm>
          <a:prstGeom prst="roundRect">
            <a:avLst>
              <a:gd name="adj" fmla="val 15385"/>
            </a:avLst>
          </a:prstGeom>
          <a:solidFill>
            <a:srgbClr val="6B4E9E">
              <a:alpha val="20000"/>
            </a:srgbClr>
          </a:solidFill>
          <a:ln w="12700">
            <a:solidFill>
              <a:srgbClr val="6B4E9E">
                <a:alpha val="50000"/>
              </a:srgbClr>
            </a:solidFill>
            <a:prstDash val="solid"/>
          </a:ln>
        </p:spPr>
      </p:sp>
      <p:sp>
        <p:nvSpPr>
          <p:cNvPr id="16" name="Text 14"/>
          <p:cNvSpPr/>
          <p:nvPr/>
        </p:nvSpPr>
        <p:spPr>
          <a:xfrm>
            <a:off x="6080760" y="3749040"/>
            <a:ext cx="2560320" cy="274320"/>
          </a:xfrm>
          <a:prstGeom prst="rect">
            <a:avLst/>
          </a:prstGeom>
          <a:noFill/>
          <a:ln/>
        </p:spPr>
        <p:txBody>
          <a:bodyPr wrap="square" lIns="0" tIns="0" rIns="0" bIns="0" rtlCol="0" anchor="b"/>
          <a:lstStyle/>
          <a:p>
            <a:pPr algn="ctr" indent="0" marL="0">
              <a:buNone/>
            </a:pPr>
            <a:r>
              <a:rPr lang="en-US" sz="1300" b="1" dirty="0">
                <a:solidFill>
                  <a:srgbClr val="FFFFFF"/>
                </a:solidFill>
              </a:rPr>
              <a:t>Helal</a:t>
            </a:r>
            <a:endParaRPr lang="en-US" sz="1300" dirty="0"/>
          </a:p>
        </p:txBody>
      </p:sp>
      <p:sp>
        <p:nvSpPr>
          <p:cNvPr id="17" name="Text 15"/>
          <p:cNvSpPr/>
          <p:nvPr/>
        </p:nvSpPr>
        <p:spPr>
          <a:xfrm>
            <a:off x="6080760" y="4005072"/>
            <a:ext cx="2560320" cy="219456"/>
          </a:xfrm>
          <a:prstGeom prst="rect">
            <a:avLst/>
          </a:prstGeom>
          <a:noFill/>
          <a:ln/>
        </p:spPr>
        <p:txBody>
          <a:bodyPr wrap="square" lIns="0" tIns="0" rIns="0" bIns="0" rtlCol="0" anchor="t"/>
          <a:lstStyle/>
          <a:p>
            <a:pPr algn="ctr" indent="0" marL="0">
              <a:buNone/>
            </a:pPr>
            <a:r>
              <a:rPr lang="en-US" sz="900" dirty="0">
                <a:solidFill>
                  <a:srgbClr val="C8E6F5"/>
                </a:solidFill>
              </a:rPr>
              <a:t>Member</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3E"/>
          </a:solidFill>
          <a:ln w="12700">
            <a:solidFill>
              <a:srgbClr val="0D1B3E"/>
            </a:solidFill>
            <a:prstDash val="solid"/>
          </a:ln>
        </p:spPr>
      </p:sp>
      <p:sp>
        <p:nvSpPr>
          <p:cNvPr id="3" name="Shape 1"/>
          <p:cNvSpPr/>
          <p:nvPr/>
        </p:nvSpPr>
        <p:spPr>
          <a:xfrm>
            <a:off x="0" y="0"/>
            <a:ext cx="164592" cy="5143500"/>
          </a:xfrm>
          <a:prstGeom prst="rect">
            <a:avLst/>
          </a:prstGeom>
          <a:solidFill>
            <a:srgbClr val="028090"/>
          </a:solidFill>
          <a:ln w="12700">
            <a:solidFill>
              <a:srgbClr val="028090"/>
            </a:solidFill>
            <a:prstDash val="solid"/>
          </a:ln>
        </p:spPr>
      </p:sp>
      <p:sp>
        <p:nvSpPr>
          <p:cNvPr id="4" name="Text 2"/>
          <p:cNvSpPr/>
          <p:nvPr/>
        </p:nvSpPr>
        <p:spPr>
          <a:xfrm>
            <a:off x="347472" y="0"/>
            <a:ext cx="8412480" cy="658368"/>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Leen — Group Leader  ·  Detection &amp; End Effector</a:t>
            </a:r>
            <a:endParaRPr lang="en-US" sz="2000" dirty="0"/>
          </a:p>
        </p:txBody>
      </p:sp>
      <p:sp>
        <p:nvSpPr>
          <p:cNvPr id="5" name="Shape 3"/>
          <p:cNvSpPr/>
          <p:nvPr/>
        </p:nvSpPr>
        <p:spPr>
          <a:xfrm>
            <a:off x="347472" y="786384"/>
            <a:ext cx="4114800" cy="1609344"/>
          </a:xfrm>
          <a:prstGeom prst="rect">
            <a:avLst/>
          </a:prstGeom>
          <a:solidFill>
            <a:srgbClr val="FFFFFF"/>
          </a:solidFill>
          <a:ln w="6350">
            <a:solidFill>
              <a:srgbClr val="E0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47472" y="786384"/>
            <a:ext cx="4114800" cy="256032"/>
          </a:xfrm>
          <a:prstGeom prst="rect">
            <a:avLst/>
          </a:prstGeom>
          <a:solidFill>
            <a:srgbClr val="2EAD7A"/>
          </a:solidFill>
          <a:ln w="12700">
            <a:solidFill>
              <a:srgbClr val="2EAD7A"/>
            </a:solidFill>
            <a:prstDash val="solid"/>
          </a:ln>
        </p:spPr>
      </p:sp>
      <p:sp>
        <p:nvSpPr>
          <p:cNvPr id="7" name="Text 5"/>
          <p:cNvSpPr/>
          <p:nvPr/>
        </p:nvSpPr>
        <p:spPr>
          <a:xfrm>
            <a:off x="438912" y="786384"/>
            <a:ext cx="3931920" cy="256032"/>
          </a:xfrm>
          <a:prstGeom prst="rect">
            <a:avLst/>
          </a:prstGeom>
          <a:noFill/>
          <a:ln/>
        </p:spPr>
        <p:txBody>
          <a:bodyPr wrap="square" rtlCol="0" anchor="ctr"/>
          <a:lstStyle/>
          <a:p>
            <a:pPr indent="0" marL="0">
              <a:buNone/>
            </a:pPr>
            <a:r>
              <a:rPr lang="en-US" sz="1000" b="1" dirty="0">
                <a:solidFill>
                  <a:srgbClr val="FFFFFF"/>
                </a:solidFill>
              </a:rPr>
              <a:t>Accomplished (since last report)</a:t>
            </a:r>
            <a:endParaRPr lang="en-US" sz="1000" dirty="0"/>
          </a:p>
        </p:txBody>
      </p:sp>
      <p:sp>
        <p:nvSpPr>
          <p:cNvPr id="8" name="Text 6"/>
          <p:cNvSpPr/>
          <p:nvPr/>
        </p:nvSpPr>
        <p:spPr>
          <a:xfrm>
            <a:off x="457200" y="1078992"/>
            <a:ext cx="3840480" cy="384048"/>
          </a:xfrm>
          <a:prstGeom prst="rect">
            <a:avLst/>
          </a:prstGeom>
          <a:noFill/>
          <a:ln/>
        </p:spPr>
        <p:txBody>
          <a:bodyPr wrap="square" rtlCol="0" anchor="ctr"/>
          <a:lstStyle/>
          <a:p>
            <a:pPr marL="342900" indent="-342900">
              <a:buSzPct val="100000"/>
              <a:buChar char="•"/>
            </a:pPr>
            <a:r>
              <a:rPr lang="en-US" sz="1000" dirty="0">
                <a:solidFill>
                  <a:srgbClr val="2C3E50"/>
                </a:solidFill>
              </a:rPr>
              <a:t>Improved and simplified detection system — egg and ball treated as same object category since sizes are nearly identical</a:t>
            </a:r>
            <a:endParaRPr lang="en-US" sz="1000" dirty="0"/>
          </a:p>
        </p:txBody>
      </p:sp>
      <p:sp>
        <p:nvSpPr>
          <p:cNvPr id="9" name="Text 7"/>
          <p:cNvSpPr/>
          <p:nvPr/>
        </p:nvSpPr>
        <p:spPr>
          <a:xfrm>
            <a:off x="457200" y="1481328"/>
            <a:ext cx="3840480" cy="384048"/>
          </a:xfrm>
          <a:prstGeom prst="rect">
            <a:avLst/>
          </a:prstGeom>
          <a:noFill/>
          <a:ln/>
        </p:spPr>
        <p:txBody>
          <a:bodyPr wrap="square" rtlCol="0" anchor="ctr"/>
          <a:lstStyle/>
          <a:p>
            <a:pPr marL="342900" indent="-342900">
              <a:buSzPct val="100000"/>
              <a:buChar char="•"/>
            </a:pPr>
            <a:r>
              <a:rPr lang="en-US" sz="1000" dirty="0">
                <a:solidFill>
                  <a:srgbClr val="2C3E50"/>
                </a:solidFill>
              </a:rPr>
              <a:t>System now detects object presence reliably without needing exact classification</a:t>
            </a:r>
            <a:endParaRPr lang="en-US" sz="1000" dirty="0"/>
          </a:p>
        </p:txBody>
      </p:sp>
      <p:sp>
        <p:nvSpPr>
          <p:cNvPr id="10" name="Text 8"/>
          <p:cNvSpPr/>
          <p:nvPr/>
        </p:nvSpPr>
        <p:spPr>
          <a:xfrm>
            <a:off x="457200" y="1883664"/>
            <a:ext cx="3840480" cy="384048"/>
          </a:xfrm>
          <a:prstGeom prst="rect">
            <a:avLst/>
          </a:prstGeom>
          <a:noFill/>
          <a:ln/>
        </p:spPr>
        <p:txBody>
          <a:bodyPr wrap="square" rtlCol="0" anchor="ctr"/>
          <a:lstStyle/>
          <a:p>
            <a:pPr marL="342900" indent="-342900">
              <a:buSzPct val="100000"/>
              <a:buChar char="•"/>
            </a:pPr>
            <a:r>
              <a:rPr lang="en-US" sz="1000" dirty="0">
                <a:solidFill>
                  <a:srgbClr val="2C3E50"/>
                </a:solidFill>
              </a:rPr>
              <a:t>Procured suction tube, connector, and suction cup for end effector assembly</a:t>
            </a:r>
            <a:endParaRPr lang="en-US" sz="1000" dirty="0"/>
          </a:p>
        </p:txBody>
      </p:sp>
      <p:sp>
        <p:nvSpPr>
          <p:cNvPr id="11" name="Shape 9"/>
          <p:cNvSpPr/>
          <p:nvPr/>
        </p:nvSpPr>
        <p:spPr>
          <a:xfrm>
            <a:off x="347472" y="2468880"/>
            <a:ext cx="4114800" cy="694944"/>
          </a:xfrm>
          <a:prstGeom prst="rect">
            <a:avLst/>
          </a:prstGeom>
          <a:solidFill>
            <a:srgbClr val="FFFFFF"/>
          </a:solidFill>
          <a:ln w="6350">
            <a:solidFill>
              <a:srgbClr val="E0E8F0"/>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347472" y="2468880"/>
            <a:ext cx="4114800" cy="256032"/>
          </a:xfrm>
          <a:prstGeom prst="rect">
            <a:avLst/>
          </a:prstGeom>
          <a:solidFill>
            <a:srgbClr val="E8A020"/>
          </a:solidFill>
          <a:ln w="12700">
            <a:solidFill>
              <a:srgbClr val="E8A020"/>
            </a:solidFill>
            <a:prstDash val="solid"/>
          </a:ln>
        </p:spPr>
      </p:sp>
      <p:sp>
        <p:nvSpPr>
          <p:cNvPr id="13" name="Text 11"/>
          <p:cNvSpPr/>
          <p:nvPr/>
        </p:nvSpPr>
        <p:spPr>
          <a:xfrm>
            <a:off x="438912" y="2468880"/>
            <a:ext cx="3931920" cy="256032"/>
          </a:xfrm>
          <a:prstGeom prst="rect">
            <a:avLst/>
          </a:prstGeom>
          <a:noFill/>
          <a:ln/>
        </p:spPr>
        <p:txBody>
          <a:bodyPr wrap="square" rtlCol="0" anchor="ctr"/>
          <a:lstStyle/>
          <a:p>
            <a:pPr indent="0" marL="0">
              <a:buNone/>
            </a:pPr>
            <a:r>
              <a:rPr lang="en-US" sz="1000" b="1" dirty="0">
                <a:solidFill>
                  <a:srgbClr val="FFFFFF"/>
                </a:solidFill>
              </a:rPr>
              <a:t>In progress</a:t>
            </a:r>
            <a:endParaRPr lang="en-US" sz="1000" dirty="0"/>
          </a:p>
        </p:txBody>
      </p:sp>
      <p:sp>
        <p:nvSpPr>
          <p:cNvPr id="14" name="Text 12"/>
          <p:cNvSpPr/>
          <p:nvPr/>
        </p:nvSpPr>
        <p:spPr>
          <a:xfrm>
            <a:off x="457200" y="2761488"/>
            <a:ext cx="3840480" cy="347472"/>
          </a:xfrm>
          <a:prstGeom prst="rect">
            <a:avLst/>
          </a:prstGeom>
          <a:noFill/>
          <a:ln/>
        </p:spPr>
        <p:txBody>
          <a:bodyPr wrap="square" rtlCol="0" anchor="ctr"/>
          <a:lstStyle/>
          <a:p>
            <a:pPr marL="342900" indent="-342900">
              <a:buSzPct val="100000"/>
              <a:buChar char="•"/>
            </a:pPr>
            <a:r>
              <a:rPr lang="en-US" sz="1000" dirty="0">
                <a:solidFill>
                  <a:srgbClr val="2C3E50"/>
                </a:solidFill>
              </a:rPr>
              <a:t>Integrating updated detection with the full auto control pipeline</a:t>
            </a:r>
            <a:endParaRPr lang="en-US" sz="1000" dirty="0"/>
          </a:p>
        </p:txBody>
      </p:sp>
      <p:sp>
        <p:nvSpPr>
          <p:cNvPr id="15" name="Shape 13"/>
          <p:cNvSpPr/>
          <p:nvPr/>
        </p:nvSpPr>
        <p:spPr>
          <a:xfrm>
            <a:off x="347472" y="3236976"/>
            <a:ext cx="4114800" cy="1261872"/>
          </a:xfrm>
          <a:prstGeom prst="rect">
            <a:avLst/>
          </a:prstGeom>
          <a:solidFill>
            <a:srgbClr val="FFFFFF"/>
          </a:solidFill>
          <a:ln w="6350">
            <a:solidFill>
              <a:srgbClr val="E0E8F0"/>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347472" y="3236976"/>
            <a:ext cx="4114800" cy="256032"/>
          </a:xfrm>
          <a:prstGeom prst="rect">
            <a:avLst/>
          </a:prstGeom>
          <a:solidFill>
            <a:srgbClr val="0D1B3E"/>
          </a:solidFill>
          <a:ln w="12700">
            <a:solidFill>
              <a:srgbClr val="0D1B3E"/>
            </a:solidFill>
            <a:prstDash val="solid"/>
          </a:ln>
        </p:spPr>
      </p:sp>
      <p:sp>
        <p:nvSpPr>
          <p:cNvPr id="17" name="Text 15"/>
          <p:cNvSpPr/>
          <p:nvPr/>
        </p:nvSpPr>
        <p:spPr>
          <a:xfrm>
            <a:off x="438912" y="3236976"/>
            <a:ext cx="3931920" cy="256032"/>
          </a:xfrm>
          <a:prstGeom prst="rect">
            <a:avLst/>
          </a:prstGeom>
          <a:noFill/>
          <a:ln/>
        </p:spPr>
        <p:txBody>
          <a:bodyPr wrap="square" rtlCol="0" anchor="ctr"/>
          <a:lstStyle/>
          <a:p>
            <a:pPr indent="0" marL="0">
              <a:buNone/>
            </a:pPr>
            <a:r>
              <a:rPr lang="en-US" sz="1000" b="1" dirty="0">
                <a:solidFill>
                  <a:srgbClr val="FFFFFF"/>
                </a:solidFill>
              </a:rPr>
              <a:t>Next week plan</a:t>
            </a:r>
            <a:endParaRPr lang="en-US" sz="1000" dirty="0"/>
          </a:p>
        </p:txBody>
      </p:sp>
      <p:sp>
        <p:nvSpPr>
          <p:cNvPr id="18" name="Text 16"/>
          <p:cNvSpPr/>
          <p:nvPr/>
        </p:nvSpPr>
        <p:spPr>
          <a:xfrm>
            <a:off x="457200" y="3529584"/>
            <a:ext cx="3840480" cy="292608"/>
          </a:xfrm>
          <a:prstGeom prst="rect">
            <a:avLst/>
          </a:prstGeom>
          <a:noFill/>
          <a:ln/>
        </p:spPr>
        <p:txBody>
          <a:bodyPr wrap="square" rtlCol="0" anchor="ctr"/>
          <a:lstStyle/>
          <a:p>
            <a:pPr marL="342900" indent="-342900">
              <a:buSzPct val="100000"/>
              <a:buChar char="•"/>
            </a:pPr>
            <a:r>
              <a:rPr lang="en-US" sz="1000" dirty="0">
                <a:solidFill>
                  <a:srgbClr val="2C3E50"/>
                </a:solidFill>
              </a:rPr>
              <a:t>Complete end effector assembly once reprints arrive</a:t>
            </a:r>
            <a:endParaRPr lang="en-US" sz="1000" dirty="0"/>
          </a:p>
        </p:txBody>
      </p:sp>
      <p:sp>
        <p:nvSpPr>
          <p:cNvPr id="19" name="Text 17"/>
          <p:cNvSpPr/>
          <p:nvPr/>
        </p:nvSpPr>
        <p:spPr>
          <a:xfrm>
            <a:off x="457200" y="3840480"/>
            <a:ext cx="3840480" cy="292608"/>
          </a:xfrm>
          <a:prstGeom prst="rect">
            <a:avLst/>
          </a:prstGeom>
          <a:noFill/>
          <a:ln/>
        </p:spPr>
        <p:txBody>
          <a:bodyPr wrap="square" rtlCol="0" anchor="ctr"/>
          <a:lstStyle/>
          <a:p>
            <a:pPr marL="342900" indent="-342900">
              <a:buSzPct val="100000"/>
              <a:buChar char="•"/>
            </a:pPr>
            <a:r>
              <a:rPr lang="en-US" sz="1000" dirty="0">
                <a:solidFill>
                  <a:srgbClr val="2C3E50"/>
                </a:solidFill>
              </a:rPr>
              <a:t>Test full detection-to-command pipeline</a:t>
            </a:r>
            <a:endParaRPr lang="en-US" sz="1000" dirty="0"/>
          </a:p>
        </p:txBody>
      </p:sp>
      <p:sp>
        <p:nvSpPr>
          <p:cNvPr id="20" name="Text 18"/>
          <p:cNvSpPr/>
          <p:nvPr/>
        </p:nvSpPr>
        <p:spPr>
          <a:xfrm>
            <a:off x="457200" y="4151376"/>
            <a:ext cx="3840480" cy="292608"/>
          </a:xfrm>
          <a:prstGeom prst="rect">
            <a:avLst/>
          </a:prstGeom>
          <a:noFill/>
          <a:ln/>
        </p:spPr>
        <p:txBody>
          <a:bodyPr wrap="square" rtlCol="0" anchor="ctr"/>
          <a:lstStyle/>
          <a:p>
            <a:pPr marL="342900" indent="-342900">
              <a:buSzPct val="100000"/>
              <a:buChar char="•"/>
            </a:pPr>
            <a:r>
              <a:rPr lang="en-US" sz="1000" dirty="0">
                <a:solidFill>
                  <a:srgbClr val="2C3E50"/>
                </a:solidFill>
              </a:rPr>
              <a:t>Begin full pick-and-place cycle testing</a:t>
            </a:r>
            <a:endParaRPr lang="en-US" sz="1000" dirty="0"/>
          </a:p>
        </p:txBody>
      </p:sp>
      <p:sp>
        <p:nvSpPr>
          <p:cNvPr id="21" name="Shape 19"/>
          <p:cNvSpPr/>
          <p:nvPr/>
        </p:nvSpPr>
        <p:spPr>
          <a:xfrm>
            <a:off x="4663440" y="786384"/>
            <a:ext cx="4206240" cy="1920240"/>
          </a:xfrm>
          <a:prstGeom prst="rect">
            <a:avLst/>
          </a:prstGeom>
          <a:solidFill>
            <a:srgbClr val="FFFFFF"/>
          </a:solidFill>
          <a:ln w="6350">
            <a:solidFill>
              <a:srgbClr val="E0E8F0"/>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4663440" y="786384"/>
            <a:ext cx="4206240" cy="256032"/>
          </a:xfrm>
          <a:prstGeom prst="rect">
            <a:avLst/>
          </a:prstGeom>
          <a:solidFill>
            <a:srgbClr val="028090"/>
          </a:solidFill>
          <a:ln w="12700">
            <a:solidFill>
              <a:srgbClr val="028090"/>
            </a:solidFill>
            <a:prstDash val="solid"/>
          </a:ln>
        </p:spPr>
      </p:sp>
      <p:sp>
        <p:nvSpPr>
          <p:cNvPr id="23" name="Text 21"/>
          <p:cNvSpPr/>
          <p:nvPr/>
        </p:nvSpPr>
        <p:spPr>
          <a:xfrm>
            <a:off x="4754880" y="786384"/>
            <a:ext cx="4023360" cy="256032"/>
          </a:xfrm>
          <a:prstGeom prst="rect">
            <a:avLst/>
          </a:prstGeom>
          <a:noFill/>
          <a:ln/>
        </p:spPr>
        <p:txBody>
          <a:bodyPr wrap="square" rtlCol="0" anchor="ctr"/>
          <a:lstStyle/>
          <a:p>
            <a:pPr indent="0" marL="0">
              <a:buNone/>
            </a:pPr>
            <a:r>
              <a:rPr lang="en-US" sz="1000" b="1" dirty="0">
                <a:solidFill>
                  <a:srgbClr val="FFFFFF"/>
                </a:solidFill>
              </a:rPr>
              <a:t>Detection — design decision</a:t>
            </a:r>
            <a:endParaRPr lang="en-US" sz="1000" dirty="0"/>
          </a:p>
        </p:txBody>
      </p:sp>
      <p:sp>
        <p:nvSpPr>
          <p:cNvPr id="24" name="Shape 22"/>
          <p:cNvSpPr/>
          <p:nvPr/>
        </p:nvSpPr>
        <p:spPr>
          <a:xfrm>
            <a:off x="4754880" y="1115568"/>
            <a:ext cx="3986784" cy="347472"/>
          </a:xfrm>
          <a:prstGeom prst="rect">
            <a:avLst/>
          </a:prstGeom>
          <a:solidFill>
            <a:srgbClr val="F4F6F9"/>
          </a:solidFill>
          <a:ln w="6350">
            <a:solidFill>
              <a:srgbClr val="E0EEF4"/>
            </a:solidFill>
            <a:prstDash val="solid"/>
          </a:ln>
        </p:spPr>
      </p:sp>
      <p:sp>
        <p:nvSpPr>
          <p:cNvPr id="25" name="Text 23"/>
          <p:cNvSpPr/>
          <p:nvPr/>
        </p:nvSpPr>
        <p:spPr>
          <a:xfrm>
            <a:off x="4846320" y="1115568"/>
            <a:ext cx="1097280" cy="347472"/>
          </a:xfrm>
          <a:prstGeom prst="rect">
            <a:avLst/>
          </a:prstGeom>
          <a:noFill/>
          <a:ln/>
        </p:spPr>
        <p:txBody>
          <a:bodyPr wrap="square" rtlCol="0" anchor="ctr"/>
          <a:lstStyle/>
          <a:p>
            <a:pPr indent="0" marL="0">
              <a:buNone/>
            </a:pPr>
            <a:r>
              <a:rPr lang="en-US" sz="900" b="1" dirty="0">
                <a:solidFill>
                  <a:srgbClr val="028090"/>
                </a:solidFill>
              </a:rPr>
              <a:t>Old approach</a:t>
            </a:r>
            <a:endParaRPr lang="en-US" sz="900" dirty="0"/>
          </a:p>
        </p:txBody>
      </p:sp>
      <p:sp>
        <p:nvSpPr>
          <p:cNvPr id="26" name="Text 24"/>
          <p:cNvSpPr/>
          <p:nvPr/>
        </p:nvSpPr>
        <p:spPr>
          <a:xfrm>
            <a:off x="5943600" y="1115568"/>
            <a:ext cx="2615184" cy="347472"/>
          </a:xfrm>
          <a:prstGeom prst="rect">
            <a:avLst/>
          </a:prstGeom>
          <a:noFill/>
          <a:ln/>
        </p:spPr>
        <p:txBody>
          <a:bodyPr wrap="square" rtlCol="0" anchor="ctr"/>
          <a:lstStyle/>
          <a:p>
            <a:pPr indent="0" marL="0">
              <a:buNone/>
            </a:pPr>
            <a:r>
              <a:rPr lang="en-US" sz="900" dirty="0">
                <a:solidFill>
                  <a:srgbClr val="2C3E50"/>
                </a:solidFill>
              </a:rPr>
              <a:t>Classify object type (bolt, egg, ball) separately — complex and error-prone</a:t>
            </a:r>
            <a:endParaRPr lang="en-US" sz="900" dirty="0"/>
          </a:p>
        </p:txBody>
      </p:sp>
      <p:sp>
        <p:nvSpPr>
          <p:cNvPr id="27" name="Shape 25"/>
          <p:cNvSpPr/>
          <p:nvPr/>
        </p:nvSpPr>
        <p:spPr>
          <a:xfrm>
            <a:off x="4754880" y="1517904"/>
            <a:ext cx="3986784" cy="347472"/>
          </a:xfrm>
          <a:prstGeom prst="rect">
            <a:avLst/>
          </a:prstGeom>
          <a:solidFill>
            <a:srgbClr val="FFFFFF"/>
          </a:solidFill>
          <a:ln w="6350">
            <a:solidFill>
              <a:srgbClr val="E0EEF4"/>
            </a:solidFill>
            <a:prstDash val="solid"/>
          </a:ln>
        </p:spPr>
      </p:sp>
      <p:sp>
        <p:nvSpPr>
          <p:cNvPr id="28" name="Text 26"/>
          <p:cNvSpPr/>
          <p:nvPr/>
        </p:nvSpPr>
        <p:spPr>
          <a:xfrm>
            <a:off x="4846320" y="1517904"/>
            <a:ext cx="1097280" cy="347472"/>
          </a:xfrm>
          <a:prstGeom prst="rect">
            <a:avLst/>
          </a:prstGeom>
          <a:noFill/>
          <a:ln/>
        </p:spPr>
        <p:txBody>
          <a:bodyPr wrap="square" rtlCol="0" anchor="ctr"/>
          <a:lstStyle/>
          <a:p>
            <a:pPr indent="0" marL="0">
              <a:buNone/>
            </a:pPr>
            <a:r>
              <a:rPr lang="en-US" sz="900" b="1" dirty="0">
                <a:solidFill>
                  <a:srgbClr val="028090"/>
                </a:solidFill>
              </a:rPr>
              <a:t>New approach</a:t>
            </a:r>
            <a:endParaRPr lang="en-US" sz="900" dirty="0"/>
          </a:p>
        </p:txBody>
      </p:sp>
      <p:sp>
        <p:nvSpPr>
          <p:cNvPr id="29" name="Text 27"/>
          <p:cNvSpPr/>
          <p:nvPr/>
        </p:nvSpPr>
        <p:spPr>
          <a:xfrm>
            <a:off x="5943600" y="1517904"/>
            <a:ext cx="2615184" cy="347472"/>
          </a:xfrm>
          <a:prstGeom prst="rect">
            <a:avLst/>
          </a:prstGeom>
          <a:noFill/>
          <a:ln/>
        </p:spPr>
        <p:txBody>
          <a:bodyPr wrap="square" rtlCol="0" anchor="ctr"/>
          <a:lstStyle/>
          <a:p>
            <a:pPr indent="0" marL="0">
              <a:buNone/>
            </a:pPr>
            <a:r>
              <a:rPr lang="en-US" sz="900" dirty="0">
                <a:solidFill>
                  <a:srgbClr val="2C3E50"/>
                </a:solidFill>
              </a:rPr>
              <a:t>Detect that an object is present and in range — simpler and more reliable</a:t>
            </a:r>
            <a:endParaRPr lang="en-US" sz="900" dirty="0"/>
          </a:p>
        </p:txBody>
      </p:sp>
      <p:sp>
        <p:nvSpPr>
          <p:cNvPr id="30" name="Shape 28"/>
          <p:cNvSpPr/>
          <p:nvPr/>
        </p:nvSpPr>
        <p:spPr>
          <a:xfrm>
            <a:off x="4754880" y="1920240"/>
            <a:ext cx="3986784" cy="347472"/>
          </a:xfrm>
          <a:prstGeom prst="rect">
            <a:avLst/>
          </a:prstGeom>
          <a:solidFill>
            <a:srgbClr val="F4F6F9"/>
          </a:solidFill>
          <a:ln w="6350">
            <a:solidFill>
              <a:srgbClr val="E0EEF4"/>
            </a:solidFill>
            <a:prstDash val="solid"/>
          </a:ln>
        </p:spPr>
      </p:sp>
      <p:sp>
        <p:nvSpPr>
          <p:cNvPr id="31" name="Text 29"/>
          <p:cNvSpPr/>
          <p:nvPr/>
        </p:nvSpPr>
        <p:spPr>
          <a:xfrm>
            <a:off x="4846320" y="1920240"/>
            <a:ext cx="1097280" cy="347472"/>
          </a:xfrm>
          <a:prstGeom prst="rect">
            <a:avLst/>
          </a:prstGeom>
          <a:noFill/>
          <a:ln/>
        </p:spPr>
        <p:txBody>
          <a:bodyPr wrap="square" rtlCol="0" anchor="ctr"/>
          <a:lstStyle/>
          <a:p>
            <a:pPr indent="0" marL="0">
              <a:buNone/>
            </a:pPr>
            <a:r>
              <a:rPr lang="en-US" sz="900" b="1" dirty="0">
                <a:solidFill>
                  <a:srgbClr val="028090"/>
                </a:solidFill>
              </a:rPr>
              <a:t>Justification</a:t>
            </a:r>
            <a:endParaRPr lang="en-US" sz="900" dirty="0"/>
          </a:p>
        </p:txBody>
      </p:sp>
      <p:sp>
        <p:nvSpPr>
          <p:cNvPr id="32" name="Text 30"/>
          <p:cNvSpPr/>
          <p:nvPr/>
        </p:nvSpPr>
        <p:spPr>
          <a:xfrm>
            <a:off x="5943600" y="1920240"/>
            <a:ext cx="2615184" cy="347472"/>
          </a:xfrm>
          <a:prstGeom prst="rect">
            <a:avLst/>
          </a:prstGeom>
          <a:noFill/>
          <a:ln/>
        </p:spPr>
        <p:txBody>
          <a:bodyPr wrap="square" rtlCol="0" anchor="ctr"/>
          <a:lstStyle/>
          <a:p>
            <a:pPr indent="0" marL="0">
              <a:buNone/>
            </a:pPr>
            <a:r>
              <a:rPr lang="en-US" sz="900" dirty="0">
                <a:solidFill>
                  <a:srgbClr val="2C3E50"/>
                </a:solidFill>
              </a:rPr>
              <a:t>Egg and ball are nearly identical in size — separate classification adds unnecessary complexity</a:t>
            </a:r>
            <a:endParaRPr lang="en-US" sz="900" dirty="0"/>
          </a:p>
        </p:txBody>
      </p:sp>
      <p:sp>
        <p:nvSpPr>
          <p:cNvPr id="33" name="Shape 31"/>
          <p:cNvSpPr/>
          <p:nvPr/>
        </p:nvSpPr>
        <p:spPr>
          <a:xfrm>
            <a:off x="4754880" y="2322576"/>
            <a:ext cx="3986784" cy="347472"/>
          </a:xfrm>
          <a:prstGeom prst="rect">
            <a:avLst/>
          </a:prstGeom>
          <a:solidFill>
            <a:srgbClr val="FFFFFF"/>
          </a:solidFill>
          <a:ln w="6350">
            <a:solidFill>
              <a:srgbClr val="E0EEF4"/>
            </a:solidFill>
            <a:prstDash val="solid"/>
          </a:ln>
        </p:spPr>
      </p:sp>
      <p:sp>
        <p:nvSpPr>
          <p:cNvPr id="34" name="Text 32"/>
          <p:cNvSpPr/>
          <p:nvPr/>
        </p:nvSpPr>
        <p:spPr>
          <a:xfrm>
            <a:off x="4846320" y="2322576"/>
            <a:ext cx="1097280" cy="347472"/>
          </a:xfrm>
          <a:prstGeom prst="rect">
            <a:avLst/>
          </a:prstGeom>
          <a:noFill/>
          <a:ln/>
        </p:spPr>
        <p:txBody>
          <a:bodyPr wrap="square" rtlCol="0" anchor="ctr"/>
          <a:lstStyle/>
          <a:p>
            <a:pPr indent="0" marL="0">
              <a:buNone/>
            </a:pPr>
            <a:r>
              <a:rPr lang="en-US" sz="900" b="1" dirty="0">
                <a:solidFill>
                  <a:srgbClr val="028090"/>
                </a:solidFill>
              </a:rPr>
              <a:t>Result</a:t>
            </a:r>
            <a:endParaRPr lang="en-US" sz="900" dirty="0"/>
          </a:p>
        </p:txBody>
      </p:sp>
      <p:sp>
        <p:nvSpPr>
          <p:cNvPr id="35" name="Text 33"/>
          <p:cNvSpPr/>
          <p:nvPr/>
        </p:nvSpPr>
        <p:spPr>
          <a:xfrm>
            <a:off x="5943600" y="2322576"/>
            <a:ext cx="2615184" cy="347472"/>
          </a:xfrm>
          <a:prstGeom prst="rect">
            <a:avLst/>
          </a:prstGeom>
          <a:noFill/>
          <a:ln/>
        </p:spPr>
        <p:txBody>
          <a:bodyPr wrap="square" rtlCol="0" anchor="ctr"/>
          <a:lstStyle/>
          <a:p>
            <a:pPr indent="0" marL="0">
              <a:buNone/>
            </a:pPr>
            <a:r>
              <a:rPr lang="en-US" sz="900" dirty="0">
                <a:solidFill>
                  <a:srgbClr val="2C3E50"/>
                </a:solidFill>
              </a:rPr>
              <a:t>Detection is now faster, more reliable, and easier to integrate with the control pipeline</a:t>
            </a:r>
            <a:endParaRPr lang="en-US" sz="900" dirty="0"/>
          </a:p>
        </p:txBody>
      </p:sp>
      <p:sp>
        <p:nvSpPr>
          <p:cNvPr id="36" name="Shape 34"/>
          <p:cNvSpPr/>
          <p:nvPr/>
        </p:nvSpPr>
        <p:spPr>
          <a:xfrm>
            <a:off x="4663440" y="2779776"/>
            <a:ext cx="4206240" cy="1719072"/>
          </a:xfrm>
          <a:prstGeom prst="rect">
            <a:avLst/>
          </a:prstGeom>
          <a:solidFill>
            <a:srgbClr val="FFFFFF"/>
          </a:solidFill>
          <a:ln w="6350">
            <a:solidFill>
              <a:srgbClr val="E0E8F0"/>
            </a:solidFill>
            <a:prstDash val="solid"/>
          </a:ln>
          <a:effectLst>
            <a:outerShdw sx="100000" sy="100000" kx="0" ky="0" algn="bl" rotWithShape="0" blurRad="101600" dist="38100" dir="8100000">
              <a:srgbClr val="000000">
                <a:alpha val="12000"/>
              </a:srgbClr>
            </a:outerShdw>
          </a:effectLst>
        </p:spPr>
      </p:sp>
      <p:sp>
        <p:nvSpPr>
          <p:cNvPr id="37" name="Shape 35"/>
          <p:cNvSpPr/>
          <p:nvPr/>
        </p:nvSpPr>
        <p:spPr>
          <a:xfrm>
            <a:off x="4663440" y="2779776"/>
            <a:ext cx="4206240" cy="256032"/>
          </a:xfrm>
          <a:prstGeom prst="rect">
            <a:avLst/>
          </a:prstGeom>
          <a:solidFill>
            <a:srgbClr val="E06530"/>
          </a:solidFill>
          <a:ln w="12700">
            <a:solidFill>
              <a:srgbClr val="E06530"/>
            </a:solidFill>
            <a:prstDash val="solid"/>
          </a:ln>
        </p:spPr>
      </p:sp>
      <p:sp>
        <p:nvSpPr>
          <p:cNvPr id="38" name="Text 36"/>
          <p:cNvSpPr/>
          <p:nvPr/>
        </p:nvSpPr>
        <p:spPr>
          <a:xfrm>
            <a:off x="4754880" y="2779776"/>
            <a:ext cx="4023360" cy="256032"/>
          </a:xfrm>
          <a:prstGeom prst="rect">
            <a:avLst/>
          </a:prstGeom>
          <a:noFill/>
          <a:ln/>
        </p:spPr>
        <p:txBody>
          <a:bodyPr wrap="square" rtlCol="0" anchor="ctr"/>
          <a:lstStyle/>
          <a:p>
            <a:pPr indent="0" marL="0">
              <a:buNone/>
            </a:pPr>
            <a:r>
              <a:rPr lang="en-US" sz="1000" b="1" dirty="0">
                <a:solidFill>
                  <a:srgbClr val="FFFFFF"/>
                </a:solidFill>
              </a:rPr>
              <a:t>End effector — parts status</a:t>
            </a:r>
            <a:endParaRPr lang="en-US" sz="1000" dirty="0"/>
          </a:p>
        </p:txBody>
      </p:sp>
      <p:sp>
        <p:nvSpPr>
          <p:cNvPr id="39" name="Shape 37"/>
          <p:cNvSpPr/>
          <p:nvPr/>
        </p:nvSpPr>
        <p:spPr>
          <a:xfrm>
            <a:off x="4754880" y="3108960"/>
            <a:ext cx="3986784" cy="347472"/>
          </a:xfrm>
          <a:prstGeom prst="rect">
            <a:avLst/>
          </a:prstGeom>
          <a:solidFill>
            <a:srgbClr val="F4F6F9"/>
          </a:solidFill>
          <a:ln w="6350">
            <a:solidFill>
              <a:srgbClr val="E0EEF4"/>
            </a:solidFill>
            <a:prstDash val="solid"/>
          </a:ln>
        </p:spPr>
      </p:sp>
      <p:sp>
        <p:nvSpPr>
          <p:cNvPr id="40" name="Text 38"/>
          <p:cNvSpPr/>
          <p:nvPr/>
        </p:nvSpPr>
        <p:spPr>
          <a:xfrm>
            <a:off x="4846320" y="3108960"/>
            <a:ext cx="1463040" cy="347472"/>
          </a:xfrm>
          <a:prstGeom prst="rect">
            <a:avLst/>
          </a:prstGeom>
          <a:noFill/>
          <a:ln/>
        </p:spPr>
        <p:txBody>
          <a:bodyPr wrap="square" rtlCol="0" anchor="ctr"/>
          <a:lstStyle/>
          <a:p>
            <a:pPr indent="0" marL="0">
              <a:buNone/>
            </a:pPr>
            <a:r>
              <a:rPr lang="en-US" sz="900" b="1" dirty="0">
                <a:solidFill>
                  <a:srgbClr val="028090"/>
                </a:solidFill>
              </a:rPr>
              <a:t>Suction cup</a:t>
            </a:r>
            <a:endParaRPr lang="en-US" sz="900" dirty="0"/>
          </a:p>
        </p:txBody>
      </p:sp>
      <p:sp>
        <p:nvSpPr>
          <p:cNvPr id="41" name="Text 39"/>
          <p:cNvSpPr/>
          <p:nvPr/>
        </p:nvSpPr>
        <p:spPr>
          <a:xfrm>
            <a:off x="6309360" y="3108960"/>
            <a:ext cx="2340864" cy="347472"/>
          </a:xfrm>
          <a:prstGeom prst="rect">
            <a:avLst/>
          </a:prstGeom>
          <a:noFill/>
          <a:ln/>
        </p:spPr>
        <p:txBody>
          <a:bodyPr wrap="square" rtlCol="0" anchor="ctr"/>
          <a:lstStyle/>
          <a:p>
            <a:pPr indent="0" marL="0">
              <a:buNone/>
            </a:pPr>
            <a:r>
              <a:rPr lang="en-US" sz="900" dirty="0">
                <a:solidFill>
                  <a:srgbClr val="165C3E"/>
                </a:solidFill>
              </a:rPr>
              <a:t>Procured ✓</a:t>
            </a:r>
            <a:endParaRPr lang="en-US" sz="900" dirty="0"/>
          </a:p>
        </p:txBody>
      </p:sp>
      <p:sp>
        <p:nvSpPr>
          <p:cNvPr id="42" name="Shape 40"/>
          <p:cNvSpPr/>
          <p:nvPr/>
        </p:nvSpPr>
        <p:spPr>
          <a:xfrm>
            <a:off x="4754880" y="3511296"/>
            <a:ext cx="3986784" cy="347472"/>
          </a:xfrm>
          <a:prstGeom prst="rect">
            <a:avLst/>
          </a:prstGeom>
          <a:solidFill>
            <a:srgbClr val="FFFFFF"/>
          </a:solidFill>
          <a:ln w="6350">
            <a:solidFill>
              <a:srgbClr val="E0EEF4"/>
            </a:solidFill>
            <a:prstDash val="solid"/>
          </a:ln>
        </p:spPr>
      </p:sp>
      <p:sp>
        <p:nvSpPr>
          <p:cNvPr id="43" name="Text 41"/>
          <p:cNvSpPr/>
          <p:nvPr/>
        </p:nvSpPr>
        <p:spPr>
          <a:xfrm>
            <a:off x="4846320" y="3511296"/>
            <a:ext cx="1463040" cy="347472"/>
          </a:xfrm>
          <a:prstGeom prst="rect">
            <a:avLst/>
          </a:prstGeom>
          <a:noFill/>
          <a:ln/>
        </p:spPr>
        <p:txBody>
          <a:bodyPr wrap="square" rtlCol="0" anchor="ctr"/>
          <a:lstStyle/>
          <a:p>
            <a:pPr indent="0" marL="0">
              <a:buNone/>
            </a:pPr>
            <a:r>
              <a:rPr lang="en-US" sz="900" b="1" dirty="0">
                <a:solidFill>
                  <a:srgbClr val="028090"/>
                </a:solidFill>
              </a:rPr>
              <a:t>Tube</a:t>
            </a:r>
            <a:endParaRPr lang="en-US" sz="900" dirty="0"/>
          </a:p>
        </p:txBody>
      </p:sp>
      <p:sp>
        <p:nvSpPr>
          <p:cNvPr id="44" name="Text 42"/>
          <p:cNvSpPr/>
          <p:nvPr/>
        </p:nvSpPr>
        <p:spPr>
          <a:xfrm>
            <a:off x="6309360" y="3511296"/>
            <a:ext cx="2340864" cy="347472"/>
          </a:xfrm>
          <a:prstGeom prst="rect">
            <a:avLst/>
          </a:prstGeom>
          <a:noFill/>
          <a:ln/>
        </p:spPr>
        <p:txBody>
          <a:bodyPr wrap="square" rtlCol="0" anchor="ctr"/>
          <a:lstStyle/>
          <a:p>
            <a:pPr indent="0" marL="0">
              <a:buNone/>
            </a:pPr>
            <a:r>
              <a:rPr lang="en-US" sz="900" dirty="0">
                <a:solidFill>
                  <a:srgbClr val="165C3E"/>
                </a:solidFill>
              </a:rPr>
              <a:t>Procured ✓</a:t>
            </a:r>
            <a:endParaRPr lang="en-US" sz="900" dirty="0"/>
          </a:p>
        </p:txBody>
      </p:sp>
      <p:sp>
        <p:nvSpPr>
          <p:cNvPr id="45" name="Shape 43"/>
          <p:cNvSpPr/>
          <p:nvPr/>
        </p:nvSpPr>
        <p:spPr>
          <a:xfrm>
            <a:off x="4754880" y="3913632"/>
            <a:ext cx="3986784" cy="347472"/>
          </a:xfrm>
          <a:prstGeom prst="rect">
            <a:avLst/>
          </a:prstGeom>
          <a:solidFill>
            <a:srgbClr val="F4F6F9"/>
          </a:solidFill>
          <a:ln w="6350">
            <a:solidFill>
              <a:srgbClr val="E0EEF4"/>
            </a:solidFill>
            <a:prstDash val="solid"/>
          </a:ln>
        </p:spPr>
      </p:sp>
      <p:sp>
        <p:nvSpPr>
          <p:cNvPr id="46" name="Text 44"/>
          <p:cNvSpPr/>
          <p:nvPr/>
        </p:nvSpPr>
        <p:spPr>
          <a:xfrm>
            <a:off x="4846320" y="3913632"/>
            <a:ext cx="1463040" cy="347472"/>
          </a:xfrm>
          <a:prstGeom prst="rect">
            <a:avLst/>
          </a:prstGeom>
          <a:noFill/>
          <a:ln/>
        </p:spPr>
        <p:txBody>
          <a:bodyPr wrap="square" rtlCol="0" anchor="ctr"/>
          <a:lstStyle/>
          <a:p>
            <a:pPr indent="0" marL="0">
              <a:buNone/>
            </a:pPr>
            <a:r>
              <a:rPr lang="en-US" sz="900" b="1" dirty="0">
                <a:solidFill>
                  <a:srgbClr val="028090"/>
                </a:solidFill>
              </a:rPr>
              <a:t>Connector</a:t>
            </a:r>
            <a:endParaRPr lang="en-US" sz="900" dirty="0"/>
          </a:p>
        </p:txBody>
      </p:sp>
      <p:sp>
        <p:nvSpPr>
          <p:cNvPr id="47" name="Text 45"/>
          <p:cNvSpPr/>
          <p:nvPr/>
        </p:nvSpPr>
        <p:spPr>
          <a:xfrm>
            <a:off x="6309360" y="3913632"/>
            <a:ext cx="2340864" cy="347472"/>
          </a:xfrm>
          <a:prstGeom prst="rect">
            <a:avLst/>
          </a:prstGeom>
          <a:noFill/>
          <a:ln/>
        </p:spPr>
        <p:txBody>
          <a:bodyPr wrap="square" rtlCol="0" anchor="ctr"/>
          <a:lstStyle/>
          <a:p>
            <a:pPr indent="0" marL="0">
              <a:buNone/>
            </a:pPr>
            <a:r>
              <a:rPr lang="en-US" sz="900" dirty="0">
                <a:solidFill>
                  <a:srgbClr val="165C3E"/>
                </a:solidFill>
              </a:rPr>
              <a:t>Procured ✓</a:t>
            </a:r>
            <a:endParaRPr lang="en-US" sz="900" dirty="0"/>
          </a:p>
        </p:txBody>
      </p:sp>
      <p:sp>
        <p:nvSpPr>
          <p:cNvPr id="48" name="Shape 46"/>
          <p:cNvSpPr/>
          <p:nvPr/>
        </p:nvSpPr>
        <p:spPr>
          <a:xfrm>
            <a:off x="4754880" y="4315968"/>
            <a:ext cx="3986784" cy="347472"/>
          </a:xfrm>
          <a:prstGeom prst="rect">
            <a:avLst/>
          </a:prstGeom>
          <a:solidFill>
            <a:srgbClr val="FFFFFF"/>
          </a:solidFill>
          <a:ln w="6350">
            <a:solidFill>
              <a:srgbClr val="E0EEF4"/>
            </a:solidFill>
            <a:prstDash val="solid"/>
          </a:ln>
        </p:spPr>
      </p:sp>
      <p:sp>
        <p:nvSpPr>
          <p:cNvPr id="49" name="Text 47"/>
          <p:cNvSpPr/>
          <p:nvPr/>
        </p:nvSpPr>
        <p:spPr>
          <a:xfrm>
            <a:off x="4846320" y="4315968"/>
            <a:ext cx="1463040" cy="347472"/>
          </a:xfrm>
          <a:prstGeom prst="rect">
            <a:avLst/>
          </a:prstGeom>
          <a:noFill/>
          <a:ln/>
        </p:spPr>
        <p:txBody>
          <a:bodyPr wrap="square" rtlCol="0" anchor="ctr"/>
          <a:lstStyle/>
          <a:p>
            <a:pPr indent="0" marL="0">
              <a:buNone/>
            </a:pPr>
            <a:r>
              <a:rPr lang="en-US" sz="900" b="1" dirty="0">
                <a:solidFill>
                  <a:srgbClr val="E06530"/>
                </a:solidFill>
              </a:rPr>
              <a:t>Connector part (3D print)</a:t>
            </a:r>
            <a:endParaRPr lang="en-US" sz="900" dirty="0"/>
          </a:p>
        </p:txBody>
      </p:sp>
      <p:sp>
        <p:nvSpPr>
          <p:cNvPr id="50" name="Text 48"/>
          <p:cNvSpPr/>
          <p:nvPr/>
        </p:nvSpPr>
        <p:spPr>
          <a:xfrm>
            <a:off x="6309360" y="4315968"/>
            <a:ext cx="2340864" cy="347472"/>
          </a:xfrm>
          <a:prstGeom prst="rect">
            <a:avLst/>
          </a:prstGeom>
          <a:noFill/>
          <a:ln/>
        </p:spPr>
        <p:txBody>
          <a:bodyPr wrap="square" rtlCol="0" anchor="ctr"/>
          <a:lstStyle/>
          <a:p>
            <a:pPr indent="0" marL="0">
              <a:buNone/>
            </a:pPr>
            <a:r>
              <a:rPr lang="en-US" sz="900" dirty="0">
                <a:solidFill>
                  <a:srgbClr val="C0392B"/>
                </a:solidFill>
              </a:rPr>
              <a:t>Failed — needs reprint</a:t>
            </a:r>
            <a:endParaRPr lang="en-US" sz="900" dirty="0"/>
          </a:p>
        </p:txBody>
      </p:sp>
      <p:sp>
        <p:nvSpPr>
          <p:cNvPr id="51" name="Shape 49"/>
          <p:cNvSpPr/>
          <p:nvPr/>
        </p:nvSpPr>
        <p:spPr>
          <a:xfrm>
            <a:off x="4754880" y="4718304"/>
            <a:ext cx="3986784" cy="347472"/>
          </a:xfrm>
          <a:prstGeom prst="rect">
            <a:avLst/>
          </a:prstGeom>
          <a:solidFill>
            <a:srgbClr val="F4F6F9"/>
          </a:solidFill>
          <a:ln w="6350">
            <a:solidFill>
              <a:srgbClr val="E0EEF4"/>
            </a:solidFill>
            <a:prstDash val="solid"/>
          </a:ln>
        </p:spPr>
      </p:sp>
      <p:sp>
        <p:nvSpPr>
          <p:cNvPr id="52" name="Text 50"/>
          <p:cNvSpPr/>
          <p:nvPr/>
        </p:nvSpPr>
        <p:spPr>
          <a:xfrm>
            <a:off x="4846320" y="4718304"/>
            <a:ext cx="1463040" cy="347472"/>
          </a:xfrm>
          <a:prstGeom prst="rect">
            <a:avLst/>
          </a:prstGeom>
          <a:noFill/>
          <a:ln/>
        </p:spPr>
        <p:txBody>
          <a:bodyPr wrap="square" rtlCol="0" anchor="ctr"/>
          <a:lstStyle/>
          <a:p>
            <a:pPr indent="0" marL="0">
              <a:buNone/>
            </a:pPr>
            <a:r>
              <a:rPr lang="en-US" sz="900" b="1" dirty="0">
                <a:solidFill>
                  <a:srgbClr val="E06530"/>
                </a:solidFill>
              </a:rPr>
              <a:t>Gripper</a:t>
            </a:r>
            <a:endParaRPr lang="en-US" sz="900" dirty="0"/>
          </a:p>
        </p:txBody>
      </p:sp>
      <p:sp>
        <p:nvSpPr>
          <p:cNvPr id="53" name="Text 51"/>
          <p:cNvSpPr/>
          <p:nvPr/>
        </p:nvSpPr>
        <p:spPr>
          <a:xfrm>
            <a:off x="6309360" y="4718304"/>
            <a:ext cx="2340864" cy="347472"/>
          </a:xfrm>
          <a:prstGeom prst="rect">
            <a:avLst/>
          </a:prstGeom>
          <a:noFill/>
          <a:ln/>
        </p:spPr>
        <p:txBody>
          <a:bodyPr wrap="square" rtlCol="0" anchor="ctr"/>
          <a:lstStyle/>
          <a:p>
            <a:pPr indent="0" marL="0">
              <a:buNone/>
            </a:pPr>
            <a:r>
              <a:rPr lang="en-US" sz="900" dirty="0">
                <a:solidFill>
                  <a:srgbClr val="C0392B"/>
                </a:solidFill>
              </a:rPr>
              <a:t>Not yet printed</a:t>
            </a:r>
            <a:endParaRPr lang="en-US" sz="900" dirty="0"/>
          </a:p>
        </p:txBody>
      </p:sp>
      <p:sp>
        <p:nvSpPr>
          <p:cNvPr id="54" name="Text 52"/>
          <p:cNvSpPr/>
          <p:nvPr/>
        </p:nvSpPr>
        <p:spPr>
          <a:xfrm>
            <a:off x="274320" y="4864608"/>
            <a:ext cx="8595360" cy="201168"/>
          </a:xfrm>
          <a:prstGeom prst="rect">
            <a:avLst/>
          </a:prstGeom>
          <a:noFill/>
          <a:ln/>
        </p:spPr>
        <p:txBody>
          <a:bodyPr wrap="square" rtlCol="0" anchor="ctr"/>
          <a:lstStyle/>
          <a:p>
            <a:pPr algn="r" indent="0" marL="0">
              <a:buNone/>
            </a:pPr>
            <a:r>
              <a:rPr lang="en-US" sz="800" dirty="0">
                <a:solidFill>
                  <a:srgbClr val="8494A8"/>
                </a:solidFill>
              </a:rPr>
              <a:t>Mechatronics System Design 101  ·  Leen's Group  ·  Week 12</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3E"/>
          </a:solidFill>
          <a:ln w="12700">
            <a:solidFill>
              <a:srgbClr val="0D1B3E"/>
            </a:solidFill>
            <a:prstDash val="solid"/>
          </a:ln>
        </p:spPr>
      </p:sp>
      <p:sp>
        <p:nvSpPr>
          <p:cNvPr id="3" name="Shape 1"/>
          <p:cNvSpPr/>
          <p:nvPr/>
        </p:nvSpPr>
        <p:spPr>
          <a:xfrm>
            <a:off x="0" y="0"/>
            <a:ext cx="164592" cy="5143500"/>
          </a:xfrm>
          <a:prstGeom prst="rect">
            <a:avLst/>
          </a:prstGeom>
          <a:solidFill>
            <a:srgbClr val="2EAD7A"/>
          </a:solidFill>
          <a:ln w="12700">
            <a:solidFill>
              <a:srgbClr val="2EAD7A"/>
            </a:solidFill>
            <a:prstDash val="solid"/>
          </a:ln>
        </p:spPr>
      </p:sp>
      <p:sp>
        <p:nvSpPr>
          <p:cNvPr id="4" name="Text 2"/>
          <p:cNvSpPr/>
          <p:nvPr/>
        </p:nvSpPr>
        <p:spPr>
          <a:xfrm>
            <a:off x="347472" y="0"/>
            <a:ext cx="8412480" cy="658368"/>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Mohamed — Member  ·  Base Assembly &amp; Pump Testing</a:t>
            </a:r>
            <a:endParaRPr lang="en-US" sz="2000" dirty="0"/>
          </a:p>
        </p:txBody>
      </p:sp>
      <p:sp>
        <p:nvSpPr>
          <p:cNvPr id="5" name="Shape 3"/>
          <p:cNvSpPr/>
          <p:nvPr/>
        </p:nvSpPr>
        <p:spPr>
          <a:xfrm>
            <a:off x="347472" y="786384"/>
            <a:ext cx="4114800" cy="1389888"/>
          </a:xfrm>
          <a:prstGeom prst="rect">
            <a:avLst/>
          </a:prstGeom>
          <a:solidFill>
            <a:srgbClr val="FFFFFF"/>
          </a:solidFill>
          <a:ln w="6350">
            <a:solidFill>
              <a:srgbClr val="E0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47472" y="786384"/>
            <a:ext cx="4114800" cy="256032"/>
          </a:xfrm>
          <a:prstGeom prst="rect">
            <a:avLst/>
          </a:prstGeom>
          <a:solidFill>
            <a:srgbClr val="2EAD7A"/>
          </a:solidFill>
          <a:ln w="12700">
            <a:solidFill>
              <a:srgbClr val="2EAD7A"/>
            </a:solidFill>
            <a:prstDash val="solid"/>
          </a:ln>
        </p:spPr>
      </p:sp>
      <p:sp>
        <p:nvSpPr>
          <p:cNvPr id="7" name="Text 5"/>
          <p:cNvSpPr/>
          <p:nvPr/>
        </p:nvSpPr>
        <p:spPr>
          <a:xfrm>
            <a:off x="438912" y="786384"/>
            <a:ext cx="3931920" cy="256032"/>
          </a:xfrm>
          <a:prstGeom prst="rect">
            <a:avLst/>
          </a:prstGeom>
          <a:noFill/>
          <a:ln/>
        </p:spPr>
        <p:txBody>
          <a:bodyPr wrap="square" rtlCol="0" anchor="ctr"/>
          <a:lstStyle/>
          <a:p>
            <a:pPr indent="0" marL="0">
              <a:buNone/>
            </a:pPr>
            <a:r>
              <a:rPr lang="en-US" sz="1000" b="1" dirty="0">
                <a:solidFill>
                  <a:srgbClr val="FFFFFF"/>
                </a:solidFill>
              </a:rPr>
              <a:t>Accomplished (since last report)</a:t>
            </a:r>
            <a:endParaRPr lang="en-US" sz="1000" dirty="0"/>
          </a:p>
        </p:txBody>
      </p:sp>
      <p:sp>
        <p:nvSpPr>
          <p:cNvPr id="8" name="Text 6"/>
          <p:cNvSpPr/>
          <p:nvPr/>
        </p:nvSpPr>
        <p:spPr>
          <a:xfrm>
            <a:off x="457200" y="1078992"/>
            <a:ext cx="3840480" cy="310896"/>
          </a:xfrm>
          <a:prstGeom prst="rect">
            <a:avLst/>
          </a:prstGeom>
          <a:noFill/>
          <a:ln/>
        </p:spPr>
        <p:txBody>
          <a:bodyPr wrap="square" rtlCol="0" anchor="ctr"/>
          <a:lstStyle/>
          <a:p>
            <a:pPr marL="342900" indent="-342900">
              <a:buSzPct val="100000"/>
              <a:buChar char="•"/>
            </a:pPr>
            <a:r>
              <a:rPr lang="en-US" sz="1000" dirty="0">
                <a:solidFill>
                  <a:srgbClr val="2C3E50"/>
                </a:solidFill>
              </a:rPr>
              <a:t>Assisted with drilling both circular base platforms</a:t>
            </a:r>
            <a:endParaRPr lang="en-US" sz="1000" dirty="0"/>
          </a:p>
        </p:txBody>
      </p:sp>
      <p:sp>
        <p:nvSpPr>
          <p:cNvPr id="9" name="Text 7"/>
          <p:cNvSpPr/>
          <p:nvPr/>
        </p:nvSpPr>
        <p:spPr>
          <a:xfrm>
            <a:off x="457200" y="1408176"/>
            <a:ext cx="3840480" cy="310896"/>
          </a:xfrm>
          <a:prstGeom prst="rect">
            <a:avLst/>
          </a:prstGeom>
          <a:noFill/>
          <a:ln/>
        </p:spPr>
        <p:txBody>
          <a:bodyPr wrap="square" rtlCol="0" anchor="ctr"/>
          <a:lstStyle/>
          <a:p>
            <a:pPr marL="342900" indent="-342900">
              <a:buSzPct val="100000"/>
              <a:buChar char="•"/>
            </a:pPr>
            <a:r>
              <a:rPr lang="en-US" sz="1000" dirty="0">
                <a:solidFill>
                  <a:srgbClr val="2C3E50"/>
                </a:solidFill>
              </a:rPr>
              <a:t>Helped assemble base structure — columns, wheels, and wire routing hole</a:t>
            </a:r>
            <a:endParaRPr lang="en-US" sz="1000" dirty="0"/>
          </a:p>
        </p:txBody>
      </p:sp>
      <p:sp>
        <p:nvSpPr>
          <p:cNvPr id="10" name="Text 8"/>
          <p:cNvSpPr/>
          <p:nvPr/>
        </p:nvSpPr>
        <p:spPr>
          <a:xfrm>
            <a:off x="457200" y="1737360"/>
            <a:ext cx="3840480" cy="310896"/>
          </a:xfrm>
          <a:prstGeom prst="rect">
            <a:avLst/>
          </a:prstGeom>
          <a:noFill/>
          <a:ln/>
        </p:spPr>
        <p:txBody>
          <a:bodyPr wrap="square" rtlCol="0" anchor="ctr"/>
          <a:lstStyle/>
          <a:p>
            <a:pPr marL="342900" indent="-342900">
              <a:buSzPct val="100000"/>
              <a:buChar char="•"/>
            </a:pPr>
            <a:r>
              <a:rPr lang="en-US" sz="1000" dirty="0">
                <a:solidFill>
                  <a:srgbClr val="2C3E50"/>
                </a:solidFill>
              </a:rPr>
              <a:t>Tested pump suction with tube and cup — confirmed working on representative objects</a:t>
            </a:r>
            <a:endParaRPr lang="en-US" sz="1000" dirty="0"/>
          </a:p>
        </p:txBody>
      </p:sp>
      <p:sp>
        <p:nvSpPr>
          <p:cNvPr id="11" name="Shape 9"/>
          <p:cNvSpPr/>
          <p:nvPr/>
        </p:nvSpPr>
        <p:spPr>
          <a:xfrm>
            <a:off x="347472" y="2249424"/>
            <a:ext cx="4114800" cy="694944"/>
          </a:xfrm>
          <a:prstGeom prst="rect">
            <a:avLst/>
          </a:prstGeom>
          <a:solidFill>
            <a:srgbClr val="FFFFFF"/>
          </a:solidFill>
          <a:ln w="6350">
            <a:solidFill>
              <a:srgbClr val="E0E8F0"/>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347472" y="2249424"/>
            <a:ext cx="4114800" cy="256032"/>
          </a:xfrm>
          <a:prstGeom prst="rect">
            <a:avLst/>
          </a:prstGeom>
          <a:solidFill>
            <a:srgbClr val="E8A020"/>
          </a:solidFill>
          <a:ln w="12700">
            <a:solidFill>
              <a:srgbClr val="E8A020"/>
            </a:solidFill>
            <a:prstDash val="solid"/>
          </a:ln>
        </p:spPr>
      </p:sp>
      <p:sp>
        <p:nvSpPr>
          <p:cNvPr id="13" name="Text 11"/>
          <p:cNvSpPr/>
          <p:nvPr/>
        </p:nvSpPr>
        <p:spPr>
          <a:xfrm>
            <a:off x="438912" y="2249424"/>
            <a:ext cx="3931920" cy="256032"/>
          </a:xfrm>
          <a:prstGeom prst="rect">
            <a:avLst/>
          </a:prstGeom>
          <a:noFill/>
          <a:ln/>
        </p:spPr>
        <p:txBody>
          <a:bodyPr wrap="square" rtlCol="0" anchor="ctr"/>
          <a:lstStyle/>
          <a:p>
            <a:pPr indent="0" marL="0">
              <a:buNone/>
            </a:pPr>
            <a:r>
              <a:rPr lang="en-US" sz="1000" b="1" dirty="0">
                <a:solidFill>
                  <a:srgbClr val="FFFFFF"/>
                </a:solidFill>
              </a:rPr>
              <a:t>In progress</a:t>
            </a:r>
            <a:endParaRPr lang="en-US" sz="1000" dirty="0"/>
          </a:p>
        </p:txBody>
      </p:sp>
      <p:sp>
        <p:nvSpPr>
          <p:cNvPr id="14" name="Text 12"/>
          <p:cNvSpPr/>
          <p:nvPr/>
        </p:nvSpPr>
        <p:spPr>
          <a:xfrm>
            <a:off x="457200" y="2542032"/>
            <a:ext cx="3840480" cy="347472"/>
          </a:xfrm>
          <a:prstGeom prst="rect">
            <a:avLst/>
          </a:prstGeom>
          <a:noFill/>
          <a:ln/>
        </p:spPr>
        <p:txBody>
          <a:bodyPr wrap="square" rtlCol="0" anchor="ctr"/>
          <a:lstStyle/>
          <a:p>
            <a:pPr marL="342900" indent="-342900">
              <a:buSzPct val="100000"/>
              <a:buChar char="•"/>
            </a:pPr>
            <a:r>
              <a:rPr lang="en-US" sz="1000" dirty="0">
                <a:solidFill>
                  <a:srgbClr val="2C3E50"/>
                </a:solidFill>
              </a:rPr>
              <a:t>Gripper design — needs to be printed</a:t>
            </a:r>
            <a:endParaRPr lang="en-US" sz="1000" dirty="0"/>
          </a:p>
        </p:txBody>
      </p:sp>
      <p:sp>
        <p:nvSpPr>
          <p:cNvPr id="15" name="Shape 13"/>
          <p:cNvSpPr/>
          <p:nvPr/>
        </p:nvSpPr>
        <p:spPr>
          <a:xfrm>
            <a:off x="347472" y="3017520"/>
            <a:ext cx="4114800" cy="1481328"/>
          </a:xfrm>
          <a:prstGeom prst="rect">
            <a:avLst/>
          </a:prstGeom>
          <a:solidFill>
            <a:srgbClr val="FFFFFF"/>
          </a:solidFill>
          <a:ln w="6350">
            <a:solidFill>
              <a:srgbClr val="E0E8F0"/>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347472" y="3017520"/>
            <a:ext cx="4114800" cy="256032"/>
          </a:xfrm>
          <a:prstGeom prst="rect">
            <a:avLst/>
          </a:prstGeom>
          <a:solidFill>
            <a:srgbClr val="0D1B3E"/>
          </a:solidFill>
          <a:ln w="12700">
            <a:solidFill>
              <a:srgbClr val="0D1B3E"/>
            </a:solidFill>
            <a:prstDash val="solid"/>
          </a:ln>
        </p:spPr>
      </p:sp>
      <p:sp>
        <p:nvSpPr>
          <p:cNvPr id="17" name="Text 15"/>
          <p:cNvSpPr/>
          <p:nvPr/>
        </p:nvSpPr>
        <p:spPr>
          <a:xfrm>
            <a:off x="438912" y="3017520"/>
            <a:ext cx="3931920" cy="256032"/>
          </a:xfrm>
          <a:prstGeom prst="rect">
            <a:avLst/>
          </a:prstGeom>
          <a:noFill/>
          <a:ln/>
        </p:spPr>
        <p:txBody>
          <a:bodyPr wrap="square" rtlCol="0" anchor="ctr"/>
          <a:lstStyle/>
          <a:p>
            <a:pPr indent="0" marL="0">
              <a:buNone/>
            </a:pPr>
            <a:r>
              <a:rPr lang="en-US" sz="1000" b="1" dirty="0">
                <a:solidFill>
                  <a:srgbClr val="FFFFFF"/>
                </a:solidFill>
              </a:rPr>
              <a:t>Next week plan</a:t>
            </a:r>
            <a:endParaRPr lang="en-US" sz="1000" dirty="0"/>
          </a:p>
        </p:txBody>
      </p:sp>
      <p:sp>
        <p:nvSpPr>
          <p:cNvPr id="18" name="Text 16"/>
          <p:cNvSpPr/>
          <p:nvPr/>
        </p:nvSpPr>
        <p:spPr>
          <a:xfrm>
            <a:off x="457200" y="3310128"/>
            <a:ext cx="3840480" cy="274320"/>
          </a:xfrm>
          <a:prstGeom prst="rect">
            <a:avLst/>
          </a:prstGeom>
          <a:noFill/>
          <a:ln/>
        </p:spPr>
        <p:txBody>
          <a:bodyPr wrap="square" rtlCol="0" anchor="ctr"/>
          <a:lstStyle/>
          <a:p>
            <a:pPr marL="342900" indent="-342900">
              <a:buSzPct val="100000"/>
              <a:buChar char="•"/>
            </a:pPr>
            <a:r>
              <a:rPr lang="en-US" sz="1000" dirty="0">
                <a:solidFill>
                  <a:srgbClr val="2C3E50"/>
                </a:solidFill>
              </a:rPr>
              <a:t>Print gripper</a:t>
            </a:r>
            <a:endParaRPr lang="en-US" sz="1000" dirty="0"/>
          </a:p>
        </p:txBody>
      </p:sp>
      <p:sp>
        <p:nvSpPr>
          <p:cNvPr id="19" name="Text 17"/>
          <p:cNvSpPr/>
          <p:nvPr/>
        </p:nvSpPr>
        <p:spPr>
          <a:xfrm>
            <a:off x="457200" y="3602736"/>
            <a:ext cx="3840480" cy="274320"/>
          </a:xfrm>
          <a:prstGeom prst="rect">
            <a:avLst/>
          </a:prstGeom>
          <a:noFill/>
          <a:ln/>
        </p:spPr>
        <p:txBody>
          <a:bodyPr wrap="square" rtlCol="0" anchor="ctr"/>
          <a:lstStyle/>
          <a:p>
            <a:pPr marL="342900" indent="-342900">
              <a:buSzPct val="100000"/>
              <a:buChar char="•"/>
            </a:pPr>
            <a:r>
              <a:rPr lang="en-US" sz="1000" dirty="0">
                <a:solidFill>
                  <a:srgbClr val="2C3E50"/>
                </a:solidFill>
              </a:rPr>
              <a:t>Assemble full end effector</a:t>
            </a:r>
            <a:endParaRPr lang="en-US" sz="1000" dirty="0"/>
          </a:p>
        </p:txBody>
      </p:sp>
      <p:sp>
        <p:nvSpPr>
          <p:cNvPr id="20" name="Text 18"/>
          <p:cNvSpPr/>
          <p:nvPr/>
        </p:nvSpPr>
        <p:spPr>
          <a:xfrm>
            <a:off x="457200" y="3895344"/>
            <a:ext cx="3840480" cy="274320"/>
          </a:xfrm>
          <a:prstGeom prst="rect">
            <a:avLst/>
          </a:prstGeom>
          <a:noFill/>
          <a:ln/>
        </p:spPr>
        <p:txBody>
          <a:bodyPr wrap="square" rtlCol="0" anchor="ctr"/>
          <a:lstStyle/>
          <a:p>
            <a:pPr marL="342900" indent="-342900">
              <a:buSzPct val="100000"/>
              <a:buChar char="•"/>
            </a:pPr>
            <a:r>
              <a:rPr lang="en-US" sz="1000" dirty="0">
                <a:solidFill>
                  <a:srgbClr val="2C3E50"/>
                </a:solidFill>
              </a:rPr>
              <a:t>Fix ROS2 joint position issue</a:t>
            </a:r>
            <a:endParaRPr lang="en-US" sz="1000" dirty="0"/>
          </a:p>
        </p:txBody>
      </p:sp>
      <p:sp>
        <p:nvSpPr>
          <p:cNvPr id="21" name="Text 19"/>
          <p:cNvSpPr/>
          <p:nvPr/>
        </p:nvSpPr>
        <p:spPr>
          <a:xfrm>
            <a:off x="457200" y="4187952"/>
            <a:ext cx="3840480" cy="274320"/>
          </a:xfrm>
          <a:prstGeom prst="rect">
            <a:avLst/>
          </a:prstGeom>
          <a:noFill/>
          <a:ln/>
        </p:spPr>
        <p:txBody>
          <a:bodyPr wrap="square" rtlCol="0" anchor="ctr"/>
          <a:lstStyle/>
          <a:p>
            <a:pPr marL="342900" indent="-342900">
              <a:buSzPct val="100000"/>
              <a:buChar char="•"/>
            </a:pPr>
            <a:r>
              <a:rPr lang="en-US" sz="1000" dirty="0">
                <a:solidFill>
                  <a:srgbClr val="2C3E50"/>
                </a:solidFill>
              </a:rPr>
              <a:t>Begin full system assembly and testing</a:t>
            </a:r>
            <a:endParaRPr lang="en-US" sz="1000" dirty="0"/>
          </a:p>
        </p:txBody>
      </p:sp>
      <p:sp>
        <p:nvSpPr>
          <p:cNvPr id="22" name="Shape 20"/>
          <p:cNvSpPr/>
          <p:nvPr/>
        </p:nvSpPr>
        <p:spPr>
          <a:xfrm>
            <a:off x="4663440" y="786384"/>
            <a:ext cx="4206240" cy="1865376"/>
          </a:xfrm>
          <a:prstGeom prst="rect">
            <a:avLst/>
          </a:prstGeom>
          <a:solidFill>
            <a:srgbClr val="FFFFFF"/>
          </a:solidFill>
          <a:ln w="6350">
            <a:solidFill>
              <a:srgbClr val="E0E8F0"/>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4663440" y="786384"/>
            <a:ext cx="4206240" cy="256032"/>
          </a:xfrm>
          <a:prstGeom prst="rect">
            <a:avLst/>
          </a:prstGeom>
          <a:solidFill>
            <a:srgbClr val="2EAD7A"/>
          </a:solidFill>
          <a:ln w="12700">
            <a:solidFill>
              <a:srgbClr val="2EAD7A"/>
            </a:solidFill>
            <a:prstDash val="solid"/>
          </a:ln>
        </p:spPr>
      </p:sp>
      <p:sp>
        <p:nvSpPr>
          <p:cNvPr id="24" name="Text 22"/>
          <p:cNvSpPr/>
          <p:nvPr/>
        </p:nvSpPr>
        <p:spPr>
          <a:xfrm>
            <a:off x="4754880" y="786384"/>
            <a:ext cx="4023360" cy="256032"/>
          </a:xfrm>
          <a:prstGeom prst="rect">
            <a:avLst/>
          </a:prstGeom>
          <a:noFill/>
          <a:ln/>
        </p:spPr>
        <p:txBody>
          <a:bodyPr wrap="square" rtlCol="0" anchor="ctr"/>
          <a:lstStyle/>
          <a:p>
            <a:pPr indent="0" marL="0">
              <a:buNone/>
            </a:pPr>
            <a:r>
              <a:rPr lang="en-US" sz="1000" b="1" dirty="0">
                <a:solidFill>
                  <a:srgbClr val="FFFFFF"/>
                </a:solidFill>
              </a:rPr>
              <a:t>Pump test results</a:t>
            </a:r>
            <a:endParaRPr lang="en-US" sz="1000" dirty="0"/>
          </a:p>
        </p:txBody>
      </p:sp>
      <p:sp>
        <p:nvSpPr>
          <p:cNvPr id="25" name="Shape 23"/>
          <p:cNvSpPr/>
          <p:nvPr/>
        </p:nvSpPr>
        <p:spPr>
          <a:xfrm>
            <a:off x="4754880" y="1115568"/>
            <a:ext cx="3986784" cy="329184"/>
          </a:xfrm>
          <a:prstGeom prst="rect">
            <a:avLst/>
          </a:prstGeom>
          <a:solidFill>
            <a:srgbClr val="F4F6F9"/>
          </a:solidFill>
          <a:ln w="6350">
            <a:solidFill>
              <a:srgbClr val="E0EEF4"/>
            </a:solidFill>
            <a:prstDash val="solid"/>
          </a:ln>
        </p:spPr>
      </p:sp>
      <p:sp>
        <p:nvSpPr>
          <p:cNvPr id="26" name="Text 24"/>
          <p:cNvSpPr/>
          <p:nvPr/>
        </p:nvSpPr>
        <p:spPr>
          <a:xfrm>
            <a:off x="4846320" y="1115568"/>
            <a:ext cx="822960" cy="329184"/>
          </a:xfrm>
          <a:prstGeom prst="rect">
            <a:avLst/>
          </a:prstGeom>
          <a:noFill/>
          <a:ln/>
        </p:spPr>
        <p:txBody>
          <a:bodyPr wrap="square" rtlCol="0" anchor="ctr"/>
          <a:lstStyle/>
          <a:p>
            <a:pPr indent="0" marL="0">
              <a:buNone/>
            </a:pPr>
            <a:r>
              <a:rPr lang="en-US" sz="950" b="1" dirty="0">
                <a:solidFill>
                  <a:srgbClr val="2EAD7A"/>
                </a:solidFill>
              </a:rPr>
              <a:t>Bolt</a:t>
            </a:r>
            <a:endParaRPr lang="en-US" sz="950" dirty="0"/>
          </a:p>
        </p:txBody>
      </p:sp>
      <p:sp>
        <p:nvSpPr>
          <p:cNvPr id="27" name="Text 25"/>
          <p:cNvSpPr/>
          <p:nvPr/>
        </p:nvSpPr>
        <p:spPr>
          <a:xfrm>
            <a:off x="5669280" y="1115568"/>
            <a:ext cx="2980944" cy="329184"/>
          </a:xfrm>
          <a:prstGeom prst="rect">
            <a:avLst/>
          </a:prstGeom>
          <a:noFill/>
          <a:ln/>
        </p:spPr>
        <p:txBody>
          <a:bodyPr wrap="square" rtlCol="0" anchor="ctr"/>
          <a:lstStyle/>
          <a:p>
            <a:pPr indent="0" marL="0">
              <a:buNone/>
            </a:pPr>
            <a:r>
              <a:rPr lang="en-US" sz="950" dirty="0">
                <a:solidFill>
                  <a:srgbClr val="165C3E"/>
                </a:solidFill>
              </a:rPr>
              <a:t>Picked up successfully ✓</a:t>
            </a:r>
            <a:endParaRPr lang="en-US" sz="950" dirty="0"/>
          </a:p>
        </p:txBody>
      </p:sp>
      <p:sp>
        <p:nvSpPr>
          <p:cNvPr id="28" name="Shape 26"/>
          <p:cNvSpPr/>
          <p:nvPr/>
        </p:nvSpPr>
        <p:spPr>
          <a:xfrm>
            <a:off x="4754880" y="1499616"/>
            <a:ext cx="3986784" cy="329184"/>
          </a:xfrm>
          <a:prstGeom prst="rect">
            <a:avLst/>
          </a:prstGeom>
          <a:solidFill>
            <a:srgbClr val="FFFFFF"/>
          </a:solidFill>
          <a:ln w="6350">
            <a:solidFill>
              <a:srgbClr val="E0EEF4"/>
            </a:solidFill>
            <a:prstDash val="solid"/>
          </a:ln>
        </p:spPr>
      </p:sp>
      <p:sp>
        <p:nvSpPr>
          <p:cNvPr id="29" name="Text 27"/>
          <p:cNvSpPr/>
          <p:nvPr/>
        </p:nvSpPr>
        <p:spPr>
          <a:xfrm>
            <a:off x="4846320" y="1499616"/>
            <a:ext cx="822960" cy="329184"/>
          </a:xfrm>
          <a:prstGeom prst="rect">
            <a:avLst/>
          </a:prstGeom>
          <a:noFill/>
          <a:ln/>
        </p:spPr>
        <p:txBody>
          <a:bodyPr wrap="square" rtlCol="0" anchor="ctr"/>
          <a:lstStyle/>
          <a:p>
            <a:pPr indent="0" marL="0">
              <a:buNone/>
            </a:pPr>
            <a:r>
              <a:rPr lang="en-US" sz="950" b="1" dirty="0">
                <a:solidFill>
                  <a:srgbClr val="2EAD7A"/>
                </a:solidFill>
              </a:rPr>
              <a:t>Ball</a:t>
            </a:r>
            <a:endParaRPr lang="en-US" sz="950" dirty="0"/>
          </a:p>
        </p:txBody>
      </p:sp>
      <p:sp>
        <p:nvSpPr>
          <p:cNvPr id="30" name="Text 28"/>
          <p:cNvSpPr/>
          <p:nvPr/>
        </p:nvSpPr>
        <p:spPr>
          <a:xfrm>
            <a:off x="5669280" y="1499616"/>
            <a:ext cx="2980944" cy="329184"/>
          </a:xfrm>
          <a:prstGeom prst="rect">
            <a:avLst/>
          </a:prstGeom>
          <a:noFill/>
          <a:ln/>
        </p:spPr>
        <p:txBody>
          <a:bodyPr wrap="square" rtlCol="0" anchor="ctr"/>
          <a:lstStyle/>
          <a:p>
            <a:pPr indent="0" marL="0">
              <a:buNone/>
            </a:pPr>
            <a:r>
              <a:rPr lang="en-US" sz="950" dirty="0">
                <a:solidFill>
                  <a:srgbClr val="165C3E"/>
                </a:solidFill>
              </a:rPr>
              <a:t>Picked up successfully ✓</a:t>
            </a:r>
            <a:endParaRPr lang="en-US" sz="950" dirty="0"/>
          </a:p>
        </p:txBody>
      </p:sp>
      <p:sp>
        <p:nvSpPr>
          <p:cNvPr id="31" name="Shape 29"/>
          <p:cNvSpPr/>
          <p:nvPr/>
        </p:nvSpPr>
        <p:spPr>
          <a:xfrm>
            <a:off x="4754880" y="1883664"/>
            <a:ext cx="3986784" cy="329184"/>
          </a:xfrm>
          <a:prstGeom prst="rect">
            <a:avLst/>
          </a:prstGeom>
          <a:solidFill>
            <a:srgbClr val="F4F6F9"/>
          </a:solidFill>
          <a:ln w="6350">
            <a:solidFill>
              <a:srgbClr val="E0EEF4"/>
            </a:solidFill>
            <a:prstDash val="solid"/>
          </a:ln>
        </p:spPr>
      </p:sp>
      <p:sp>
        <p:nvSpPr>
          <p:cNvPr id="32" name="Text 30"/>
          <p:cNvSpPr/>
          <p:nvPr/>
        </p:nvSpPr>
        <p:spPr>
          <a:xfrm>
            <a:off x="4846320" y="1883664"/>
            <a:ext cx="822960" cy="329184"/>
          </a:xfrm>
          <a:prstGeom prst="rect">
            <a:avLst/>
          </a:prstGeom>
          <a:noFill/>
          <a:ln/>
        </p:spPr>
        <p:txBody>
          <a:bodyPr wrap="square" rtlCol="0" anchor="ctr"/>
          <a:lstStyle/>
          <a:p>
            <a:pPr indent="0" marL="0">
              <a:buNone/>
            </a:pPr>
            <a:r>
              <a:rPr lang="en-US" sz="950" b="1" dirty="0">
                <a:solidFill>
                  <a:srgbClr val="2EAD7A"/>
                </a:solidFill>
              </a:rPr>
              <a:t>Egg</a:t>
            </a:r>
            <a:endParaRPr lang="en-US" sz="950" dirty="0"/>
          </a:p>
        </p:txBody>
      </p:sp>
      <p:sp>
        <p:nvSpPr>
          <p:cNvPr id="33" name="Text 31"/>
          <p:cNvSpPr/>
          <p:nvPr/>
        </p:nvSpPr>
        <p:spPr>
          <a:xfrm>
            <a:off x="5669280" y="1883664"/>
            <a:ext cx="2980944" cy="329184"/>
          </a:xfrm>
          <a:prstGeom prst="rect">
            <a:avLst/>
          </a:prstGeom>
          <a:noFill/>
          <a:ln/>
        </p:spPr>
        <p:txBody>
          <a:bodyPr wrap="square" rtlCol="0" anchor="ctr"/>
          <a:lstStyle/>
          <a:p>
            <a:pPr indent="0" marL="0">
              <a:buNone/>
            </a:pPr>
            <a:r>
              <a:rPr lang="en-US" sz="950" dirty="0">
                <a:solidFill>
                  <a:srgbClr val="165C3E"/>
                </a:solidFill>
              </a:rPr>
              <a:t>Picked up successfully ✓</a:t>
            </a:r>
            <a:endParaRPr lang="en-US" sz="950" dirty="0"/>
          </a:p>
        </p:txBody>
      </p:sp>
      <p:sp>
        <p:nvSpPr>
          <p:cNvPr id="34" name="Shape 32"/>
          <p:cNvSpPr/>
          <p:nvPr/>
        </p:nvSpPr>
        <p:spPr>
          <a:xfrm>
            <a:off x="4754880" y="2267712"/>
            <a:ext cx="3986784" cy="329184"/>
          </a:xfrm>
          <a:prstGeom prst="rect">
            <a:avLst/>
          </a:prstGeom>
          <a:solidFill>
            <a:srgbClr val="FFFFFF"/>
          </a:solidFill>
          <a:ln w="6350">
            <a:solidFill>
              <a:srgbClr val="E0EEF4"/>
            </a:solidFill>
            <a:prstDash val="solid"/>
          </a:ln>
        </p:spPr>
      </p:sp>
      <p:sp>
        <p:nvSpPr>
          <p:cNvPr id="35" name="Text 33"/>
          <p:cNvSpPr/>
          <p:nvPr/>
        </p:nvSpPr>
        <p:spPr>
          <a:xfrm>
            <a:off x="4846320" y="2267712"/>
            <a:ext cx="822960" cy="329184"/>
          </a:xfrm>
          <a:prstGeom prst="rect">
            <a:avLst/>
          </a:prstGeom>
          <a:noFill/>
          <a:ln/>
        </p:spPr>
        <p:txBody>
          <a:bodyPr wrap="square" rtlCol="0" anchor="ctr"/>
          <a:lstStyle/>
          <a:p>
            <a:pPr indent="0" marL="0">
              <a:buNone/>
            </a:pPr>
            <a:r>
              <a:rPr lang="en-US" sz="950" b="1" dirty="0">
                <a:solidFill>
                  <a:srgbClr val="2EAD7A"/>
                </a:solidFill>
              </a:rPr>
              <a:t>Seal</a:t>
            </a:r>
            <a:endParaRPr lang="en-US" sz="950" dirty="0"/>
          </a:p>
        </p:txBody>
      </p:sp>
      <p:sp>
        <p:nvSpPr>
          <p:cNvPr id="36" name="Text 34"/>
          <p:cNvSpPr/>
          <p:nvPr/>
        </p:nvSpPr>
        <p:spPr>
          <a:xfrm>
            <a:off x="5669280" y="2267712"/>
            <a:ext cx="2980944" cy="329184"/>
          </a:xfrm>
          <a:prstGeom prst="rect">
            <a:avLst/>
          </a:prstGeom>
          <a:noFill/>
          <a:ln/>
        </p:spPr>
        <p:txBody>
          <a:bodyPr wrap="square" rtlCol="0" anchor="ctr"/>
          <a:lstStyle/>
          <a:p>
            <a:pPr indent="0" marL="0">
              <a:buNone/>
            </a:pPr>
            <a:r>
              <a:rPr lang="en-US" sz="950" dirty="0">
                <a:solidFill>
                  <a:srgbClr val="165C3E"/>
                </a:solidFill>
              </a:rPr>
              <a:t>Cup seals on flat and curved surfaces ✓</a:t>
            </a:r>
            <a:endParaRPr lang="en-US" sz="950" dirty="0"/>
          </a:p>
        </p:txBody>
      </p:sp>
      <p:sp>
        <p:nvSpPr>
          <p:cNvPr id="37" name="Shape 35"/>
          <p:cNvSpPr/>
          <p:nvPr/>
        </p:nvSpPr>
        <p:spPr>
          <a:xfrm>
            <a:off x="4663440" y="2724912"/>
            <a:ext cx="4206240" cy="1773936"/>
          </a:xfrm>
          <a:prstGeom prst="rect">
            <a:avLst/>
          </a:prstGeom>
          <a:solidFill>
            <a:srgbClr val="FFFFFF"/>
          </a:solidFill>
          <a:ln w="6350">
            <a:solidFill>
              <a:srgbClr val="E0E8F0"/>
            </a:solidFill>
            <a:prstDash val="solid"/>
          </a:ln>
          <a:effectLst>
            <a:outerShdw sx="100000" sy="100000" kx="0" ky="0" algn="bl" rotWithShape="0" blurRad="101600" dist="38100" dir="8100000">
              <a:srgbClr val="000000">
                <a:alpha val="12000"/>
              </a:srgbClr>
            </a:outerShdw>
          </a:effectLst>
        </p:spPr>
      </p:sp>
      <p:sp>
        <p:nvSpPr>
          <p:cNvPr id="38" name="Shape 36"/>
          <p:cNvSpPr/>
          <p:nvPr/>
        </p:nvSpPr>
        <p:spPr>
          <a:xfrm>
            <a:off x="4663440" y="2724912"/>
            <a:ext cx="4206240" cy="256032"/>
          </a:xfrm>
          <a:prstGeom prst="rect">
            <a:avLst/>
          </a:prstGeom>
          <a:solidFill>
            <a:srgbClr val="E06530"/>
          </a:solidFill>
          <a:ln w="12700">
            <a:solidFill>
              <a:srgbClr val="E06530"/>
            </a:solidFill>
            <a:prstDash val="solid"/>
          </a:ln>
        </p:spPr>
      </p:sp>
      <p:sp>
        <p:nvSpPr>
          <p:cNvPr id="39" name="Text 37"/>
          <p:cNvSpPr/>
          <p:nvPr/>
        </p:nvSpPr>
        <p:spPr>
          <a:xfrm>
            <a:off x="4754880" y="2724912"/>
            <a:ext cx="4023360" cy="256032"/>
          </a:xfrm>
          <a:prstGeom prst="rect">
            <a:avLst/>
          </a:prstGeom>
          <a:noFill/>
          <a:ln/>
        </p:spPr>
        <p:txBody>
          <a:bodyPr wrap="square" rtlCol="0" anchor="ctr"/>
          <a:lstStyle/>
          <a:p>
            <a:pPr indent="0" marL="0">
              <a:buNone/>
            </a:pPr>
            <a:r>
              <a:rPr lang="en-US" sz="1000" b="1" dirty="0">
                <a:solidFill>
                  <a:srgbClr val="FFFFFF"/>
                </a:solidFill>
              </a:rPr>
              <a:t>Help needed / questions</a:t>
            </a:r>
            <a:endParaRPr lang="en-US" sz="1000" dirty="0"/>
          </a:p>
        </p:txBody>
      </p:sp>
      <p:sp>
        <p:nvSpPr>
          <p:cNvPr id="40" name="Text 38"/>
          <p:cNvSpPr/>
          <p:nvPr/>
        </p:nvSpPr>
        <p:spPr>
          <a:xfrm>
            <a:off x="4773168" y="3017520"/>
            <a:ext cx="3931920" cy="1426464"/>
          </a:xfrm>
          <a:prstGeom prst="rect">
            <a:avLst/>
          </a:prstGeom>
          <a:noFill/>
          <a:ln/>
        </p:spPr>
        <p:txBody>
          <a:bodyPr wrap="square" rtlCol="0" anchor="ctr"/>
          <a:lstStyle/>
          <a:p>
            <a:pPr indent="0" marL="0">
              <a:buNone/>
            </a:pPr>
            <a:r>
              <a:rPr lang="en-US" sz="1000" dirty="0">
                <a:solidFill>
                  <a:srgbClr val="2C3E50"/>
                </a:solidFill>
              </a:rPr>
              <a:t>Gripper print is the last remaining blocker for end effector completion. Once printed and assembled, full system testing can begin. ROS2 joint transform issue still needs to be resolved before digital twin can mirror real arm.</a:t>
            </a:r>
            <a:endParaRPr lang="en-US" sz="1000" dirty="0"/>
          </a:p>
        </p:txBody>
      </p:sp>
      <p:sp>
        <p:nvSpPr>
          <p:cNvPr id="41" name="Text 39"/>
          <p:cNvSpPr/>
          <p:nvPr/>
        </p:nvSpPr>
        <p:spPr>
          <a:xfrm>
            <a:off x="274320" y="4864608"/>
            <a:ext cx="8595360" cy="201168"/>
          </a:xfrm>
          <a:prstGeom prst="rect">
            <a:avLst/>
          </a:prstGeom>
          <a:noFill/>
          <a:ln/>
        </p:spPr>
        <p:txBody>
          <a:bodyPr wrap="square" rtlCol="0" anchor="ctr"/>
          <a:lstStyle/>
          <a:p>
            <a:pPr algn="r" indent="0" marL="0">
              <a:buNone/>
            </a:pPr>
            <a:r>
              <a:rPr lang="en-US" sz="800" dirty="0">
                <a:solidFill>
                  <a:srgbClr val="8494A8"/>
                </a:solidFill>
              </a:rPr>
              <a:t>Mechatronics System Design 101  ·  Leen's Group  ·  Week 12</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3E"/>
          </a:solidFill>
          <a:ln w="12700">
            <a:solidFill>
              <a:srgbClr val="0D1B3E"/>
            </a:solidFill>
            <a:prstDash val="solid"/>
          </a:ln>
        </p:spPr>
      </p:sp>
      <p:sp>
        <p:nvSpPr>
          <p:cNvPr id="3" name="Shape 1"/>
          <p:cNvSpPr/>
          <p:nvPr/>
        </p:nvSpPr>
        <p:spPr>
          <a:xfrm>
            <a:off x="0" y="0"/>
            <a:ext cx="164592" cy="5143500"/>
          </a:xfrm>
          <a:prstGeom prst="rect">
            <a:avLst/>
          </a:prstGeom>
          <a:solidFill>
            <a:srgbClr val="6B4E9E"/>
          </a:solidFill>
          <a:ln w="12700">
            <a:solidFill>
              <a:srgbClr val="6B4E9E"/>
            </a:solidFill>
            <a:prstDash val="solid"/>
          </a:ln>
        </p:spPr>
      </p:sp>
      <p:sp>
        <p:nvSpPr>
          <p:cNvPr id="4" name="Text 2"/>
          <p:cNvSpPr/>
          <p:nvPr/>
        </p:nvSpPr>
        <p:spPr>
          <a:xfrm>
            <a:off x="347472" y="0"/>
            <a:ext cx="8412480" cy="658368"/>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Helal — Member  ·  Base Assembly &amp; End Effector</a:t>
            </a:r>
            <a:endParaRPr lang="en-US" sz="2000" dirty="0"/>
          </a:p>
        </p:txBody>
      </p:sp>
      <p:sp>
        <p:nvSpPr>
          <p:cNvPr id="5" name="Shape 3"/>
          <p:cNvSpPr/>
          <p:nvPr/>
        </p:nvSpPr>
        <p:spPr>
          <a:xfrm>
            <a:off x="347472" y="786384"/>
            <a:ext cx="4114800" cy="1901952"/>
          </a:xfrm>
          <a:prstGeom prst="rect">
            <a:avLst/>
          </a:prstGeom>
          <a:solidFill>
            <a:srgbClr val="FFFFFF"/>
          </a:solidFill>
          <a:ln w="6350">
            <a:solidFill>
              <a:srgbClr val="E0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47472" y="786384"/>
            <a:ext cx="4114800" cy="256032"/>
          </a:xfrm>
          <a:prstGeom prst="rect">
            <a:avLst/>
          </a:prstGeom>
          <a:solidFill>
            <a:srgbClr val="2EAD7A"/>
          </a:solidFill>
          <a:ln w="12700">
            <a:solidFill>
              <a:srgbClr val="2EAD7A"/>
            </a:solidFill>
            <a:prstDash val="solid"/>
          </a:ln>
        </p:spPr>
      </p:sp>
      <p:sp>
        <p:nvSpPr>
          <p:cNvPr id="7" name="Text 5"/>
          <p:cNvSpPr/>
          <p:nvPr/>
        </p:nvSpPr>
        <p:spPr>
          <a:xfrm>
            <a:off x="438912" y="786384"/>
            <a:ext cx="3931920" cy="256032"/>
          </a:xfrm>
          <a:prstGeom prst="rect">
            <a:avLst/>
          </a:prstGeom>
          <a:noFill/>
          <a:ln/>
        </p:spPr>
        <p:txBody>
          <a:bodyPr wrap="square" rtlCol="0" anchor="ctr"/>
          <a:lstStyle/>
          <a:p>
            <a:pPr indent="0" marL="0">
              <a:buNone/>
            </a:pPr>
            <a:r>
              <a:rPr lang="en-US" sz="1000" b="1" dirty="0">
                <a:solidFill>
                  <a:srgbClr val="FFFFFF"/>
                </a:solidFill>
              </a:rPr>
              <a:t>Accomplished (since last report)</a:t>
            </a:r>
            <a:endParaRPr lang="en-US" sz="1000" dirty="0"/>
          </a:p>
        </p:txBody>
      </p:sp>
      <p:sp>
        <p:nvSpPr>
          <p:cNvPr id="8" name="Text 6"/>
          <p:cNvSpPr/>
          <p:nvPr/>
        </p:nvSpPr>
        <p:spPr>
          <a:xfrm>
            <a:off x="457200" y="1078992"/>
            <a:ext cx="3840480" cy="256032"/>
          </a:xfrm>
          <a:prstGeom prst="rect">
            <a:avLst/>
          </a:prstGeom>
          <a:noFill/>
          <a:ln/>
        </p:spPr>
        <p:txBody>
          <a:bodyPr wrap="square" rtlCol="0" anchor="ctr"/>
          <a:lstStyle/>
          <a:p>
            <a:pPr marL="342900" indent="-342900">
              <a:buSzPct val="100000"/>
              <a:buChar char="•"/>
            </a:pPr>
            <a:r>
              <a:rPr lang="en-US" sz="950" dirty="0">
                <a:solidFill>
                  <a:srgbClr val="2C3E50"/>
                </a:solidFill>
              </a:rPr>
              <a:t>Drilled both circular base platforms</a:t>
            </a:r>
            <a:endParaRPr lang="en-US" sz="950" dirty="0"/>
          </a:p>
        </p:txBody>
      </p:sp>
      <p:sp>
        <p:nvSpPr>
          <p:cNvPr id="9" name="Text 7"/>
          <p:cNvSpPr/>
          <p:nvPr/>
        </p:nvSpPr>
        <p:spPr>
          <a:xfrm>
            <a:off x="457200" y="1353312"/>
            <a:ext cx="3840480" cy="256032"/>
          </a:xfrm>
          <a:prstGeom prst="rect">
            <a:avLst/>
          </a:prstGeom>
          <a:noFill/>
          <a:ln/>
        </p:spPr>
        <p:txBody>
          <a:bodyPr wrap="square" rtlCol="0" anchor="ctr"/>
          <a:lstStyle/>
          <a:p>
            <a:pPr marL="342900" indent="-342900">
              <a:buSzPct val="100000"/>
              <a:buChar char="•"/>
            </a:pPr>
            <a:r>
              <a:rPr lang="en-US" sz="950" dirty="0">
                <a:solidFill>
                  <a:srgbClr val="2C3E50"/>
                </a:solidFill>
              </a:rPr>
              <a:t>Fitted 4 standoff columns between the two platforms</a:t>
            </a:r>
            <a:endParaRPr lang="en-US" sz="950" dirty="0"/>
          </a:p>
        </p:txBody>
      </p:sp>
      <p:sp>
        <p:nvSpPr>
          <p:cNvPr id="10" name="Text 8"/>
          <p:cNvSpPr/>
          <p:nvPr/>
        </p:nvSpPr>
        <p:spPr>
          <a:xfrm>
            <a:off x="457200" y="1627632"/>
            <a:ext cx="3840480" cy="256032"/>
          </a:xfrm>
          <a:prstGeom prst="rect">
            <a:avLst/>
          </a:prstGeom>
          <a:noFill/>
          <a:ln/>
        </p:spPr>
        <p:txBody>
          <a:bodyPr wrap="square" rtlCol="0" anchor="ctr"/>
          <a:lstStyle/>
          <a:p>
            <a:pPr marL="342900" indent="-342900">
              <a:buSzPct val="100000"/>
              <a:buChar char="•"/>
            </a:pPr>
            <a:r>
              <a:rPr lang="en-US" sz="950" dirty="0">
                <a:solidFill>
                  <a:srgbClr val="2C3E50"/>
                </a:solidFill>
              </a:rPr>
              <a:t>Attached wheels to bottom platform</a:t>
            </a:r>
            <a:endParaRPr lang="en-US" sz="950" dirty="0"/>
          </a:p>
        </p:txBody>
      </p:sp>
      <p:sp>
        <p:nvSpPr>
          <p:cNvPr id="11" name="Text 9"/>
          <p:cNvSpPr/>
          <p:nvPr/>
        </p:nvSpPr>
        <p:spPr>
          <a:xfrm>
            <a:off x="457200" y="1901952"/>
            <a:ext cx="3840480" cy="256032"/>
          </a:xfrm>
          <a:prstGeom prst="rect">
            <a:avLst/>
          </a:prstGeom>
          <a:noFill/>
          <a:ln/>
        </p:spPr>
        <p:txBody>
          <a:bodyPr wrap="square" rtlCol="0" anchor="ctr"/>
          <a:lstStyle/>
          <a:p>
            <a:pPr marL="342900" indent="-342900">
              <a:buSzPct val="100000"/>
              <a:buChar char="•"/>
            </a:pPr>
            <a:r>
              <a:rPr lang="en-US" sz="950" dirty="0">
                <a:solidFill>
                  <a:srgbClr val="2C3E50"/>
                </a:solidFill>
              </a:rPr>
              <a:t>Cut wire routing hole in top platform</a:t>
            </a:r>
            <a:endParaRPr lang="en-US" sz="950" dirty="0"/>
          </a:p>
        </p:txBody>
      </p:sp>
      <p:sp>
        <p:nvSpPr>
          <p:cNvPr id="12" name="Text 10"/>
          <p:cNvSpPr/>
          <p:nvPr/>
        </p:nvSpPr>
        <p:spPr>
          <a:xfrm>
            <a:off x="457200" y="2176272"/>
            <a:ext cx="3840480" cy="256032"/>
          </a:xfrm>
          <a:prstGeom prst="rect">
            <a:avLst/>
          </a:prstGeom>
          <a:noFill/>
          <a:ln/>
        </p:spPr>
        <p:txBody>
          <a:bodyPr wrap="square" rtlCol="0" anchor="ctr"/>
          <a:lstStyle/>
          <a:p>
            <a:pPr marL="342900" indent="-342900">
              <a:buSzPct val="100000"/>
              <a:buChar char="•"/>
            </a:pPr>
            <a:r>
              <a:rPr lang="en-US" sz="950" dirty="0">
                <a:solidFill>
                  <a:srgbClr val="2C3E50"/>
                </a:solidFill>
              </a:rPr>
              <a:t>Arduino seated and secured between the two platforms</a:t>
            </a:r>
            <a:endParaRPr lang="en-US" sz="950" dirty="0"/>
          </a:p>
        </p:txBody>
      </p:sp>
      <p:sp>
        <p:nvSpPr>
          <p:cNvPr id="13" name="Text 11"/>
          <p:cNvSpPr/>
          <p:nvPr/>
        </p:nvSpPr>
        <p:spPr>
          <a:xfrm>
            <a:off x="457200" y="2450592"/>
            <a:ext cx="3840480" cy="256032"/>
          </a:xfrm>
          <a:prstGeom prst="rect">
            <a:avLst/>
          </a:prstGeom>
          <a:noFill/>
          <a:ln/>
        </p:spPr>
        <p:txBody>
          <a:bodyPr wrap="square" rtlCol="0" anchor="ctr"/>
          <a:lstStyle/>
          <a:p>
            <a:pPr marL="342900" indent="-342900">
              <a:buSzPct val="100000"/>
              <a:buChar char="•"/>
            </a:pPr>
            <a:r>
              <a:rPr lang="en-US" sz="950" dirty="0">
                <a:solidFill>
                  <a:srgbClr val="2C3E50"/>
                </a:solidFill>
              </a:rPr>
              <a:t>Procured suction tube, connector, and suction cup</a:t>
            </a:r>
            <a:endParaRPr lang="en-US" sz="950" dirty="0"/>
          </a:p>
        </p:txBody>
      </p:sp>
      <p:sp>
        <p:nvSpPr>
          <p:cNvPr id="14" name="Shape 12"/>
          <p:cNvSpPr/>
          <p:nvPr/>
        </p:nvSpPr>
        <p:spPr>
          <a:xfrm>
            <a:off x="347472" y="2761488"/>
            <a:ext cx="4114800" cy="694944"/>
          </a:xfrm>
          <a:prstGeom prst="rect">
            <a:avLst/>
          </a:prstGeom>
          <a:solidFill>
            <a:srgbClr val="FFFFFF"/>
          </a:solidFill>
          <a:ln w="6350">
            <a:solidFill>
              <a:srgbClr val="E0E8F0"/>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347472" y="2761488"/>
            <a:ext cx="4114800" cy="256032"/>
          </a:xfrm>
          <a:prstGeom prst="rect">
            <a:avLst/>
          </a:prstGeom>
          <a:solidFill>
            <a:srgbClr val="E8A020"/>
          </a:solidFill>
          <a:ln w="12700">
            <a:solidFill>
              <a:srgbClr val="E8A020"/>
            </a:solidFill>
            <a:prstDash val="solid"/>
          </a:ln>
        </p:spPr>
      </p:sp>
      <p:sp>
        <p:nvSpPr>
          <p:cNvPr id="16" name="Text 14"/>
          <p:cNvSpPr/>
          <p:nvPr/>
        </p:nvSpPr>
        <p:spPr>
          <a:xfrm>
            <a:off x="438912" y="2761488"/>
            <a:ext cx="3931920" cy="256032"/>
          </a:xfrm>
          <a:prstGeom prst="rect">
            <a:avLst/>
          </a:prstGeom>
          <a:noFill/>
          <a:ln/>
        </p:spPr>
        <p:txBody>
          <a:bodyPr wrap="square" rtlCol="0" anchor="ctr"/>
          <a:lstStyle/>
          <a:p>
            <a:pPr indent="0" marL="0">
              <a:buNone/>
            </a:pPr>
            <a:r>
              <a:rPr lang="en-US" sz="1000" b="1" dirty="0">
                <a:solidFill>
                  <a:srgbClr val="FFFFFF"/>
                </a:solidFill>
              </a:rPr>
              <a:t>In progress</a:t>
            </a:r>
            <a:endParaRPr lang="en-US" sz="1000" dirty="0"/>
          </a:p>
        </p:txBody>
      </p:sp>
      <p:sp>
        <p:nvSpPr>
          <p:cNvPr id="17" name="Text 15"/>
          <p:cNvSpPr/>
          <p:nvPr/>
        </p:nvSpPr>
        <p:spPr>
          <a:xfrm>
            <a:off x="457200" y="3054096"/>
            <a:ext cx="3840480" cy="347472"/>
          </a:xfrm>
          <a:prstGeom prst="rect">
            <a:avLst/>
          </a:prstGeom>
          <a:noFill/>
          <a:ln/>
        </p:spPr>
        <p:txBody>
          <a:bodyPr wrap="square" rtlCol="0" anchor="ctr"/>
          <a:lstStyle/>
          <a:p>
            <a:pPr marL="342900" indent="-342900">
              <a:buSzPct val="100000"/>
              <a:buChar char="•"/>
            </a:pPr>
            <a:r>
              <a:rPr lang="en-US" sz="1000" dirty="0">
                <a:solidFill>
                  <a:srgbClr val="2C3E50"/>
                </a:solidFill>
              </a:rPr>
              <a:t>Reprint of failed end effector connector part</a:t>
            </a:r>
            <a:endParaRPr lang="en-US" sz="1000" dirty="0"/>
          </a:p>
        </p:txBody>
      </p:sp>
      <p:sp>
        <p:nvSpPr>
          <p:cNvPr id="18" name="Shape 16"/>
          <p:cNvSpPr/>
          <p:nvPr/>
        </p:nvSpPr>
        <p:spPr>
          <a:xfrm>
            <a:off x="347472" y="3529584"/>
            <a:ext cx="4114800" cy="969264"/>
          </a:xfrm>
          <a:prstGeom prst="rect">
            <a:avLst/>
          </a:prstGeom>
          <a:solidFill>
            <a:srgbClr val="FFFFFF"/>
          </a:solidFill>
          <a:ln w="6350">
            <a:solidFill>
              <a:srgbClr val="E0E8F0"/>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347472" y="3529584"/>
            <a:ext cx="4114800" cy="256032"/>
          </a:xfrm>
          <a:prstGeom prst="rect">
            <a:avLst/>
          </a:prstGeom>
          <a:solidFill>
            <a:srgbClr val="0D1B3E"/>
          </a:solidFill>
          <a:ln w="12700">
            <a:solidFill>
              <a:srgbClr val="0D1B3E"/>
            </a:solidFill>
            <a:prstDash val="solid"/>
          </a:ln>
        </p:spPr>
      </p:sp>
      <p:sp>
        <p:nvSpPr>
          <p:cNvPr id="20" name="Text 18"/>
          <p:cNvSpPr/>
          <p:nvPr/>
        </p:nvSpPr>
        <p:spPr>
          <a:xfrm>
            <a:off x="438912" y="3529584"/>
            <a:ext cx="3931920" cy="256032"/>
          </a:xfrm>
          <a:prstGeom prst="rect">
            <a:avLst/>
          </a:prstGeom>
          <a:noFill/>
          <a:ln/>
        </p:spPr>
        <p:txBody>
          <a:bodyPr wrap="square" rtlCol="0" anchor="ctr"/>
          <a:lstStyle/>
          <a:p>
            <a:pPr indent="0" marL="0">
              <a:buNone/>
            </a:pPr>
            <a:r>
              <a:rPr lang="en-US" sz="1000" b="1" dirty="0">
                <a:solidFill>
                  <a:srgbClr val="FFFFFF"/>
                </a:solidFill>
              </a:rPr>
              <a:t>Next week plan</a:t>
            </a:r>
            <a:endParaRPr lang="en-US" sz="1000" dirty="0"/>
          </a:p>
        </p:txBody>
      </p:sp>
      <p:sp>
        <p:nvSpPr>
          <p:cNvPr id="21" name="Text 19"/>
          <p:cNvSpPr/>
          <p:nvPr/>
        </p:nvSpPr>
        <p:spPr>
          <a:xfrm>
            <a:off x="457200" y="3822192"/>
            <a:ext cx="3840480" cy="201168"/>
          </a:xfrm>
          <a:prstGeom prst="rect">
            <a:avLst/>
          </a:prstGeom>
          <a:noFill/>
          <a:ln/>
        </p:spPr>
        <p:txBody>
          <a:bodyPr wrap="square" rtlCol="0" anchor="ctr"/>
          <a:lstStyle/>
          <a:p>
            <a:pPr marL="342900" indent="-342900">
              <a:buSzPct val="100000"/>
              <a:buChar char="•"/>
            </a:pPr>
            <a:r>
              <a:rPr lang="en-US" sz="950" dirty="0">
                <a:solidFill>
                  <a:srgbClr val="2C3E50"/>
                </a:solidFill>
              </a:rPr>
              <a:t>Reprint connector part and assemble end effector</a:t>
            </a:r>
            <a:endParaRPr lang="en-US" sz="950" dirty="0"/>
          </a:p>
        </p:txBody>
      </p:sp>
      <p:sp>
        <p:nvSpPr>
          <p:cNvPr id="22" name="Text 20"/>
          <p:cNvSpPr/>
          <p:nvPr/>
        </p:nvSpPr>
        <p:spPr>
          <a:xfrm>
            <a:off x="457200" y="4041648"/>
            <a:ext cx="3840480" cy="201168"/>
          </a:xfrm>
          <a:prstGeom prst="rect">
            <a:avLst/>
          </a:prstGeom>
          <a:noFill/>
          <a:ln/>
        </p:spPr>
        <p:txBody>
          <a:bodyPr wrap="square" rtlCol="0" anchor="ctr"/>
          <a:lstStyle/>
          <a:p>
            <a:pPr marL="342900" indent="-342900">
              <a:buSzPct val="100000"/>
              <a:buChar char="•"/>
            </a:pPr>
            <a:r>
              <a:rPr lang="en-US" sz="950" dirty="0">
                <a:solidFill>
                  <a:srgbClr val="2C3E50"/>
                </a:solidFill>
              </a:rPr>
              <a:t>Attach wheels and DC motors to base</a:t>
            </a:r>
            <a:endParaRPr lang="en-US" sz="950" dirty="0"/>
          </a:p>
        </p:txBody>
      </p:sp>
      <p:sp>
        <p:nvSpPr>
          <p:cNvPr id="23" name="Text 21"/>
          <p:cNvSpPr/>
          <p:nvPr/>
        </p:nvSpPr>
        <p:spPr>
          <a:xfrm>
            <a:off x="457200" y="4261104"/>
            <a:ext cx="3840480" cy="201168"/>
          </a:xfrm>
          <a:prstGeom prst="rect">
            <a:avLst/>
          </a:prstGeom>
          <a:noFill/>
          <a:ln/>
        </p:spPr>
        <p:txBody>
          <a:bodyPr wrap="square" rtlCol="0" anchor="ctr"/>
          <a:lstStyle/>
          <a:p>
            <a:pPr marL="342900" indent="-342900">
              <a:buSzPct val="100000"/>
              <a:buChar char="•"/>
            </a:pPr>
            <a:r>
              <a:rPr lang="en-US" sz="950" dirty="0">
                <a:solidFill>
                  <a:srgbClr val="2C3E50"/>
                </a:solidFill>
              </a:rPr>
              <a:t>Begin full system assembly</a:t>
            </a:r>
            <a:endParaRPr lang="en-US" sz="950" dirty="0"/>
          </a:p>
        </p:txBody>
      </p:sp>
      <p:sp>
        <p:nvSpPr>
          <p:cNvPr id="24" name="Shape 22"/>
          <p:cNvSpPr/>
          <p:nvPr/>
        </p:nvSpPr>
        <p:spPr>
          <a:xfrm>
            <a:off x="4663440" y="786384"/>
            <a:ext cx="4206240" cy="2798064"/>
          </a:xfrm>
          <a:prstGeom prst="rect">
            <a:avLst/>
          </a:prstGeom>
          <a:solidFill>
            <a:srgbClr val="FFFFFF"/>
          </a:solidFill>
          <a:ln w="6350">
            <a:solidFill>
              <a:srgbClr val="E0E8F0"/>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4663440" y="786384"/>
            <a:ext cx="4206240" cy="256032"/>
          </a:xfrm>
          <a:prstGeom prst="rect">
            <a:avLst/>
          </a:prstGeom>
          <a:solidFill>
            <a:srgbClr val="6B4E9E"/>
          </a:solidFill>
          <a:ln w="12700">
            <a:solidFill>
              <a:srgbClr val="6B4E9E"/>
            </a:solidFill>
            <a:prstDash val="solid"/>
          </a:ln>
        </p:spPr>
      </p:sp>
      <p:sp>
        <p:nvSpPr>
          <p:cNvPr id="26" name="Text 24"/>
          <p:cNvSpPr/>
          <p:nvPr/>
        </p:nvSpPr>
        <p:spPr>
          <a:xfrm>
            <a:off x="4754880" y="786384"/>
            <a:ext cx="4023360" cy="256032"/>
          </a:xfrm>
          <a:prstGeom prst="rect">
            <a:avLst/>
          </a:prstGeom>
          <a:noFill/>
          <a:ln/>
        </p:spPr>
        <p:txBody>
          <a:bodyPr wrap="square" rtlCol="0" anchor="ctr"/>
          <a:lstStyle/>
          <a:p>
            <a:pPr indent="0" marL="0">
              <a:buNone/>
            </a:pPr>
            <a:r>
              <a:rPr lang="en-US" sz="1000" b="1" dirty="0">
                <a:solidFill>
                  <a:srgbClr val="FFFFFF"/>
                </a:solidFill>
              </a:rPr>
              <a:t>Mobile base — what was built</a:t>
            </a:r>
            <a:endParaRPr lang="en-US" sz="1000" dirty="0"/>
          </a:p>
        </p:txBody>
      </p:sp>
      <p:sp>
        <p:nvSpPr>
          <p:cNvPr id="27" name="Shape 25"/>
          <p:cNvSpPr/>
          <p:nvPr/>
        </p:nvSpPr>
        <p:spPr>
          <a:xfrm>
            <a:off x="4754880" y="1115568"/>
            <a:ext cx="3986784" cy="329184"/>
          </a:xfrm>
          <a:prstGeom prst="rect">
            <a:avLst/>
          </a:prstGeom>
          <a:solidFill>
            <a:srgbClr val="F4F6F9"/>
          </a:solidFill>
          <a:ln w="6350">
            <a:solidFill>
              <a:srgbClr val="E0EEF4"/>
            </a:solidFill>
            <a:prstDash val="solid"/>
          </a:ln>
        </p:spPr>
      </p:sp>
      <p:sp>
        <p:nvSpPr>
          <p:cNvPr id="28" name="Text 26"/>
          <p:cNvSpPr/>
          <p:nvPr/>
        </p:nvSpPr>
        <p:spPr>
          <a:xfrm>
            <a:off x="4846320" y="1115568"/>
            <a:ext cx="1188720" cy="329184"/>
          </a:xfrm>
          <a:prstGeom prst="rect">
            <a:avLst/>
          </a:prstGeom>
          <a:noFill/>
          <a:ln/>
        </p:spPr>
        <p:txBody>
          <a:bodyPr wrap="square" rtlCol="0" anchor="ctr"/>
          <a:lstStyle/>
          <a:p>
            <a:pPr indent="0" marL="0">
              <a:buNone/>
            </a:pPr>
            <a:r>
              <a:rPr lang="en-US" sz="900" b="1" dirty="0">
                <a:solidFill>
                  <a:srgbClr val="6B4E9E"/>
                </a:solidFill>
              </a:rPr>
              <a:t>Top platform</a:t>
            </a:r>
            <a:endParaRPr lang="en-US" sz="900" dirty="0"/>
          </a:p>
        </p:txBody>
      </p:sp>
      <p:sp>
        <p:nvSpPr>
          <p:cNvPr id="29" name="Text 27"/>
          <p:cNvSpPr/>
          <p:nvPr/>
        </p:nvSpPr>
        <p:spPr>
          <a:xfrm>
            <a:off x="6035040" y="1115568"/>
            <a:ext cx="2615184" cy="329184"/>
          </a:xfrm>
          <a:prstGeom prst="rect">
            <a:avLst/>
          </a:prstGeom>
          <a:noFill/>
          <a:ln/>
        </p:spPr>
        <p:txBody>
          <a:bodyPr wrap="square" rtlCol="0" anchor="ctr"/>
          <a:lstStyle/>
          <a:p>
            <a:pPr indent="0" marL="0">
              <a:buNone/>
            </a:pPr>
            <a:r>
              <a:rPr lang="en-US" sz="900" dirty="0">
                <a:solidFill>
                  <a:srgbClr val="2C3E50"/>
                </a:solidFill>
              </a:rPr>
              <a:t>Circular — drilled — wire hole cut for Arduino wiring</a:t>
            </a:r>
            <a:endParaRPr lang="en-US" sz="900" dirty="0"/>
          </a:p>
        </p:txBody>
      </p:sp>
      <p:sp>
        <p:nvSpPr>
          <p:cNvPr id="30" name="Shape 28"/>
          <p:cNvSpPr/>
          <p:nvPr/>
        </p:nvSpPr>
        <p:spPr>
          <a:xfrm>
            <a:off x="4754880" y="1499616"/>
            <a:ext cx="3986784" cy="329184"/>
          </a:xfrm>
          <a:prstGeom prst="rect">
            <a:avLst/>
          </a:prstGeom>
          <a:solidFill>
            <a:srgbClr val="FFFFFF"/>
          </a:solidFill>
          <a:ln w="6350">
            <a:solidFill>
              <a:srgbClr val="E0EEF4"/>
            </a:solidFill>
            <a:prstDash val="solid"/>
          </a:ln>
        </p:spPr>
      </p:sp>
      <p:sp>
        <p:nvSpPr>
          <p:cNvPr id="31" name="Text 29"/>
          <p:cNvSpPr/>
          <p:nvPr/>
        </p:nvSpPr>
        <p:spPr>
          <a:xfrm>
            <a:off x="4846320" y="1499616"/>
            <a:ext cx="1188720" cy="329184"/>
          </a:xfrm>
          <a:prstGeom prst="rect">
            <a:avLst/>
          </a:prstGeom>
          <a:noFill/>
          <a:ln/>
        </p:spPr>
        <p:txBody>
          <a:bodyPr wrap="square" rtlCol="0" anchor="ctr"/>
          <a:lstStyle/>
          <a:p>
            <a:pPr indent="0" marL="0">
              <a:buNone/>
            </a:pPr>
            <a:r>
              <a:rPr lang="en-US" sz="900" b="1" dirty="0">
                <a:solidFill>
                  <a:srgbClr val="6B4E9E"/>
                </a:solidFill>
              </a:rPr>
              <a:t>Arduino</a:t>
            </a:r>
            <a:endParaRPr lang="en-US" sz="900" dirty="0"/>
          </a:p>
        </p:txBody>
      </p:sp>
      <p:sp>
        <p:nvSpPr>
          <p:cNvPr id="32" name="Text 30"/>
          <p:cNvSpPr/>
          <p:nvPr/>
        </p:nvSpPr>
        <p:spPr>
          <a:xfrm>
            <a:off x="6035040" y="1499616"/>
            <a:ext cx="2615184" cy="329184"/>
          </a:xfrm>
          <a:prstGeom prst="rect">
            <a:avLst/>
          </a:prstGeom>
          <a:noFill/>
          <a:ln/>
        </p:spPr>
        <p:txBody>
          <a:bodyPr wrap="square" rtlCol="0" anchor="ctr"/>
          <a:lstStyle/>
          <a:p>
            <a:pPr indent="0" marL="0">
              <a:buNone/>
            </a:pPr>
            <a:r>
              <a:rPr lang="en-US" sz="900" dirty="0">
                <a:solidFill>
                  <a:srgbClr val="2C3E50"/>
                </a:solidFill>
              </a:rPr>
              <a:t>Seated between platforms — wires routed through top hole</a:t>
            </a:r>
            <a:endParaRPr lang="en-US" sz="900" dirty="0"/>
          </a:p>
        </p:txBody>
      </p:sp>
      <p:sp>
        <p:nvSpPr>
          <p:cNvPr id="33" name="Shape 31"/>
          <p:cNvSpPr/>
          <p:nvPr/>
        </p:nvSpPr>
        <p:spPr>
          <a:xfrm>
            <a:off x="4754880" y="1883664"/>
            <a:ext cx="3986784" cy="329184"/>
          </a:xfrm>
          <a:prstGeom prst="rect">
            <a:avLst/>
          </a:prstGeom>
          <a:solidFill>
            <a:srgbClr val="F4F6F9"/>
          </a:solidFill>
          <a:ln w="6350">
            <a:solidFill>
              <a:srgbClr val="E0EEF4"/>
            </a:solidFill>
            <a:prstDash val="solid"/>
          </a:ln>
        </p:spPr>
      </p:sp>
      <p:sp>
        <p:nvSpPr>
          <p:cNvPr id="34" name="Text 32"/>
          <p:cNvSpPr/>
          <p:nvPr/>
        </p:nvSpPr>
        <p:spPr>
          <a:xfrm>
            <a:off x="4846320" y="1883664"/>
            <a:ext cx="1188720" cy="329184"/>
          </a:xfrm>
          <a:prstGeom prst="rect">
            <a:avLst/>
          </a:prstGeom>
          <a:noFill/>
          <a:ln/>
        </p:spPr>
        <p:txBody>
          <a:bodyPr wrap="square" rtlCol="0" anchor="ctr"/>
          <a:lstStyle/>
          <a:p>
            <a:pPr indent="0" marL="0">
              <a:buNone/>
            </a:pPr>
            <a:r>
              <a:rPr lang="en-US" sz="900" b="1" dirty="0">
                <a:solidFill>
                  <a:srgbClr val="6B4E9E"/>
                </a:solidFill>
              </a:rPr>
              <a:t>Columns</a:t>
            </a:r>
            <a:endParaRPr lang="en-US" sz="900" dirty="0"/>
          </a:p>
        </p:txBody>
      </p:sp>
      <p:sp>
        <p:nvSpPr>
          <p:cNvPr id="35" name="Text 33"/>
          <p:cNvSpPr/>
          <p:nvPr/>
        </p:nvSpPr>
        <p:spPr>
          <a:xfrm>
            <a:off x="6035040" y="1883664"/>
            <a:ext cx="2615184" cy="329184"/>
          </a:xfrm>
          <a:prstGeom prst="rect">
            <a:avLst/>
          </a:prstGeom>
          <a:noFill/>
          <a:ln/>
        </p:spPr>
        <p:txBody>
          <a:bodyPr wrap="square" rtlCol="0" anchor="ctr"/>
          <a:lstStyle/>
          <a:p>
            <a:pPr indent="0" marL="0">
              <a:buNone/>
            </a:pPr>
            <a:r>
              <a:rPr lang="en-US" sz="900" dirty="0">
                <a:solidFill>
                  <a:srgbClr val="2C3E50"/>
                </a:solidFill>
              </a:rPr>
              <a:t>4× standoffs spacing the two platforms apart</a:t>
            </a:r>
            <a:endParaRPr lang="en-US" sz="900" dirty="0"/>
          </a:p>
        </p:txBody>
      </p:sp>
      <p:sp>
        <p:nvSpPr>
          <p:cNvPr id="36" name="Shape 34"/>
          <p:cNvSpPr/>
          <p:nvPr/>
        </p:nvSpPr>
        <p:spPr>
          <a:xfrm>
            <a:off x="4754880" y="2267712"/>
            <a:ext cx="3986784" cy="329184"/>
          </a:xfrm>
          <a:prstGeom prst="rect">
            <a:avLst/>
          </a:prstGeom>
          <a:solidFill>
            <a:srgbClr val="FFFFFF"/>
          </a:solidFill>
          <a:ln w="6350">
            <a:solidFill>
              <a:srgbClr val="E0EEF4"/>
            </a:solidFill>
            <a:prstDash val="solid"/>
          </a:ln>
        </p:spPr>
      </p:sp>
      <p:sp>
        <p:nvSpPr>
          <p:cNvPr id="37" name="Text 35"/>
          <p:cNvSpPr/>
          <p:nvPr/>
        </p:nvSpPr>
        <p:spPr>
          <a:xfrm>
            <a:off x="4846320" y="2267712"/>
            <a:ext cx="1188720" cy="329184"/>
          </a:xfrm>
          <a:prstGeom prst="rect">
            <a:avLst/>
          </a:prstGeom>
          <a:noFill/>
          <a:ln/>
        </p:spPr>
        <p:txBody>
          <a:bodyPr wrap="square" rtlCol="0" anchor="ctr"/>
          <a:lstStyle/>
          <a:p>
            <a:pPr indent="0" marL="0">
              <a:buNone/>
            </a:pPr>
            <a:r>
              <a:rPr lang="en-US" sz="900" b="1" dirty="0">
                <a:solidFill>
                  <a:srgbClr val="6B4E9E"/>
                </a:solidFill>
              </a:rPr>
              <a:t>Bottom platform</a:t>
            </a:r>
            <a:endParaRPr lang="en-US" sz="900" dirty="0"/>
          </a:p>
        </p:txBody>
      </p:sp>
      <p:sp>
        <p:nvSpPr>
          <p:cNvPr id="38" name="Text 36"/>
          <p:cNvSpPr/>
          <p:nvPr/>
        </p:nvSpPr>
        <p:spPr>
          <a:xfrm>
            <a:off x="6035040" y="2267712"/>
            <a:ext cx="2615184" cy="329184"/>
          </a:xfrm>
          <a:prstGeom prst="rect">
            <a:avLst/>
          </a:prstGeom>
          <a:noFill/>
          <a:ln/>
        </p:spPr>
        <p:txBody>
          <a:bodyPr wrap="square" rtlCol="0" anchor="ctr"/>
          <a:lstStyle/>
          <a:p>
            <a:pPr indent="0" marL="0">
              <a:buNone/>
            </a:pPr>
            <a:r>
              <a:rPr lang="en-US" sz="900" dirty="0">
                <a:solidFill>
                  <a:srgbClr val="2C3E50"/>
                </a:solidFill>
              </a:rPr>
              <a:t>Circular — drilled — wheels attached underneath</a:t>
            </a:r>
            <a:endParaRPr lang="en-US" sz="900" dirty="0"/>
          </a:p>
        </p:txBody>
      </p:sp>
      <p:sp>
        <p:nvSpPr>
          <p:cNvPr id="39" name="Shape 37"/>
          <p:cNvSpPr/>
          <p:nvPr/>
        </p:nvSpPr>
        <p:spPr>
          <a:xfrm>
            <a:off x="4754880" y="2651760"/>
            <a:ext cx="3986784" cy="329184"/>
          </a:xfrm>
          <a:prstGeom prst="rect">
            <a:avLst/>
          </a:prstGeom>
          <a:solidFill>
            <a:srgbClr val="F4F6F9"/>
          </a:solidFill>
          <a:ln w="6350">
            <a:solidFill>
              <a:srgbClr val="E0EEF4"/>
            </a:solidFill>
            <a:prstDash val="solid"/>
          </a:ln>
        </p:spPr>
      </p:sp>
      <p:sp>
        <p:nvSpPr>
          <p:cNvPr id="40" name="Text 38"/>
          <p:cNvSpPr/>
          <p:nvPr/>
        </p:nvSpPr>
        <p:spPr>
          <a:xfrm>
            <a:off x="4846320" y="2651760"/>
            <a:ext cx="1188720" cy="329184"/>
          </a:xfrm>
          <a:prstGeom prst="rect">
            <a:avLst/>
          </a:prstGeom>
          <a:noFill/>
          <a:ln/>
        </p:spPr>
        <p:txBody>
          <a:bodyPr wrap="square" rtlCol="0" anchor="ctr"/>
          <a:lstStyle/>
          <a:p>
            <a:pPr indent="0" marL="0">
              <a:buNone/>
            </a:pPr>
            <a:r>
              <a:rPr lang="en-US" sz="900" b="1" dirty="0">
                <a:solidFill>
                  <a:srgbClr val="6B4E9E"/>
                </a:solidFill>
              </a:rPr>
              <a:t>Wheels</a:t>
            </a:r>
            <a:endParaRPr lang="en-US" sz="900" dirty="0"/>
          </a:p>
        </p:txBody>
      </p:sp>
      <p:sp>
        <p:nvSpPr>
          <p:cNvPr id="41" name="Text 39"/>
          <p:cNvSpPr/>
          <p:nvPr/>
        </p:nvSpPr>
        <p:spPr>
          <a:xfrm>
            <a:off x="6035040" y="2651760"/>
            <a:ext cx="2615184" cy="329184"/>
          </a:xfrm>
          <a:prstGeom prst="rect">
            <a:avLst/>
          </a:prstGeom>
          <a:noFill/>
          <a:ln/>
        </p:spPr>
        <p:txBody>
          <a:bodyPr wrap="square" rtlCol="0" anchor="ctr"/>
          <a:lstStyle/>
          <a:p>
            <a:pPr indent="0" marL="0">
              <a:buNone/>
            </a:pPr>
            <a:r>
              <a:rPr lang="en-US" sz="900" dirty="0">
                <a:solidFill>
                  <a:srgbClr val="2C3E50"/>
                </a:solidFill>
              </a:rPr>
              <a:t>DC motors + wheels on bottom for mobile movement</a:t>
            </a:r>
            <a:endParaRPr lang="en-US" sz="900" dirty="0"/>
          </a:p>
        </p:txBody>
      </p:sp>
      <p:sp>
        <p:nvSpPr>
          <p:cNvPr id="42" name="Shape 40"/>
          <p:cNvSpPr/>
          <p:nvPr/>
        </p:nvSpPr>
        <p:spPr>
          <a:xfrm>
            <a:off x="4754880" y="3035808"/>
            <a:ext cx="3986784" cy="329184"/>
          </a:xfrm>
          <a:prstGeom prst="rect">
            <a:avLst/>
          </a:prstGeom>
          <a:solidFill>
            <a:srgbClr val="FFFFFF"/>
          </a:solidFill>
          <a:ln w="6350">
            <a:solidFill>
              <a:srgbClr val="E0EEF4"/>
            </a:solidFill>
            <a:prstDash val="solid"/>
          </a:ln>
        </p:spPr>
      </p:sp>
      <p:sp>
        <p:nvSpPr>
          <p:cNvPr id="43" name="Text 41"/>
          <p:cNvSpPr/>
          <p:nvPr/>
        </p:nvSpPr>
        <p:spPr>
          <a:xfrm>
            <a:off x="4846320" y="3035808"/>
            <a:ext cx="1188720" cy="329184"/>
          </a:xfrm>
          <a:prstGeom prst="rect">
            <a:avLst/>
          </a:prstGeom>
          <a:noFill/>
          <a:ln/>
        </p:spPr>
        <p:txBody>
          <a:bodyPr wrap="square" rtlCol="0" anchor="ctr"/>
          <a:lstStyle/>
          <a:p>
            <a:pPr indent="0" marL="0">
              <a:buNone/>
            </a:pPr>
            <a:r>
              <a:rPr lang="en-US" sz="900" b="1" dirty="0">
                <a:solidFill>
                  <a:srgbClr val="6B4E9E"/>
                </a:solidFill>
              </a:rPr>
              <a:t>Power</a:t>
            </a:r>
            <a:endParaRPr lang="en-US" sz="900" dirty="0"/>
          </a:p>
        </p:txBody>
      </p:sp>
      <p:sp>
        <p:nvSpPr>
          <p:cNvPr id="44" name="Text 42"/>
          <p:cNvSpPr/>
          <p:nvPr/>
        </p:nvSpPr>
        <p:spPr>
          <a:xfrm>
            <a:off x="6035040" y="3035808"/>
            <a:ext cx="2615184" cy="329184"/>
          </a:xfrm>
          <a:prstGeom prst="rect">
            <a:avLst/>
          </a:prstGeom>
          <a:noFill/>
          <a:ln/>
        </p:spPr>
        <p:txBody>
          <a:bodyPr wrap="square" rtlCol="0" anchor="ctr"/>
          <a:lstStyle/>
          <a:p>
            <a:pPr indent="0" marL="0">
              <a:buNone/>
            </a:pPr>
            <a:r>
              <a:rPr lang="en-US" sz="900" dirty="0">
                <a:solidFill>
                  <a:srgbClr val="2C3E50"/>
                </a:solidFill>
              </a:rPr>
              <a:t>Batteries and relay housed in base structure</a:t>
            </a:r>
            <a:endParaRPr lang="en-US" sz="900" dirty="0"/>
          </a:p>
        </p:txBody>
      </p:sp>
      <p:sp>
        <p:nvSpPr>
          <p:cNvPr id="45" name="Shape 43"/>
          <p:cNvSpPr/>
          <p:nvPr/>
        </p:nvSpPr>
        <p:spPr>
          <a:xfrm>
            <a:off x="4663440" y="3657600"/>
            <a:ext cx="4206240" cy="841248"/>
          </a:xfrm>
          <a:prstGeom prst="rect">
            <a:avLst/>
          </a:prstGeom>
          <a:solidFill>
            <a:srgbClr val="FFFFFF"/>
          </a:solidFill>
          <a:ln w="6350">
            <a:solidFill>
              <a:srgbClr val="E0E8F0"/>
            </a:solidFill>
            <a:prstDash val="solid"/>
          </a:ln>
          <a:effectLst>
            <a:outerShdw sx="100000" sy="100000" kx="0" ky="0" algn="bl" rotWithShape="0" blurRad="101600" dist="38100" dir="8100000">
              <a:srgbClr val="000000">
                <a:alpha val="12000"/>
              </a:srgbClr>
            </a:outerShdw>
          </a:effectLst>
        </p:spPr>
      </p:sp>
      <p:sp>
        <p:nvSpPr>
          <p:cNvPr id="46" name="Shape 44"/>
          <p:cNvSpPr/>
          <p:nvPr/>
        </p:nvSpPr>
        <p:spPr>
          <a:xfrm>
            <a:off x="4663440" y="3657600"/>
            <a:ext cx="4206240" cy="256032"/>
          </a:xfrm>
          <a:prstGeom prst="rect">
            <a:avLst/>
          </a:prstGeom>
          <a:solidFill>
            <a:srgbClr val="E06530"/>
          </a:solidFill>
          <a:ln w="12700">
            <a:solidFill>
              <a:srgbClr val="E06530"/>
            </a:solidFill>
            <a:prstDash val="solid"/>
          </a:ln>
        </p:spPr>
      </p:sp>
      <p:sp>
        <p:nvSpPr>
          <p:cNvPr id="47" name="Text 45"/>
          <p:cNvSpPr/>
          <p:nvPr/>
        </p:nvSpPr>
        <p:spPr>
          <a:xfrm>
            <a:off x="4754880" y="3657600"/>
            <a:ext cx="4023360" cy="256032"/>
          </a:xfrm>
          <a:prstGeom prst="rect">
            <a:avLst/>
          </a:prstGeom>
          <a:noFill/>
          <a:ln/>
        </p:spPr>
        <p:txBody>
          <a:bodyPr wrap="square" rtlCol="0" anchor="ctr"/>
          <a:lstStyle/>
          <a:p>
            <a:pPr indent="0" marL="0">
              <a:buNone/>
            </a:pPr>
            <a:r>
              <a:rPr lang="en-US" sz="1000" b="1" dirty="0">
                <a:solidFill>
                  <a:srgbClr val="FFFFFF"/>
                </a:solidFill>
              </a:rPr>
              <a:t>Help needed / questions</a:t>
            </a:r>
            <a:endParaRPr lang="en-US" sz="1000" dirty="0"/>
          </a:p>
        </p:txBody>
      </p:sp>
      <p:sp>
        <p:nvSpPr>
          <p:cNvPr id="48" name="Text 46"/>
          <p:cNvSpPr/>
          <p:nvPr/>
        </p:nvSpPr>
        <p:spPr>
          <a:xfrm>
            <a:off x="4773168" y="3950208"/>
            <a:ext cx="3931920" cy="512064"/>
          </a:xfrm>
          <a:prstGeom prst="rect">
            <a:avLst/>
          </a:prstGeom>
          <a:noFill/>
          <a:ln/>
        </p:spPr>
        <p:txBody>
          <a:bodyPr wrap="square" rtlCol="0" anchor="ctr"/>
          <a:lstStyle/>
          <a:p>
            <a:pPr indent="0" marL="0">
              <a:buNone/>
            </a:pPr>
            <a:r>
              <a:rPr lang="en-US" sz="1000" dirty="0">
                <a:solidFill>
                  <a:srgbClr val="2C3E50"/>
                </a:solidFill>
              </a:rPr>
              <a:t>Connector part reprint is the only remaining blocker before end effector can be assembled.</a:t>
            </a:r>
            <a:endParaRPr lang="en-US" sz="1000" dirty="0"/>
          </a:p>
        </p:txBody>
      </p:sp>
      <p:sp>
        <p:nvSpPr>
          <p:cNvPr id="49" name="Text 47"/>
          <p:cNvSpPr/>
          <p:nvPr/>
        </p:nvSpPr>
        <p:spPr>
          <a:xfrm>
            <a:off x="274320" y="4864608"/>
            <a:ext cx="8595360" cy="201168"/>
          </a:xfrm>
          <a:prstGeom prst="rect">
            <a:avLst/>
          </a:prstGeom>
          <a:noFill/>
          <a:ln/>
        </p:spPr>
        <p:txBody>
          <a:bodyPr wrap="square" rtlCol="0" anchor="ctr"/>
          <a:lstStyle/>
          <a:p>
            <a:pPr algn="r" indent="0" marL="0">
              <a:buNone/>
            </a:pPr>
            <a:r>
              <a:rPr lang="en-US" sz="800" dirty="0">
                <a:solidFill>
                  <a:srgbClr val="8494A8"/>
                </a:solidFill>
              </a:rPr>
              <a:t>Mechatronics System Design 101  ·  Leen's Group  ·  Week 12</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8090"/>
          </a:solidFill>
          <a:ln w="12700">
            <a:solidFill>
              <a:srgbClr val="028090"/>
            </a:solidFill>
            <a:prstDash val="solid"/>
          </a:ln>
        </p:spPr>
      </p:sp>
      <p:sp>
        <p:nvSpPr>
          <p:cNvPr id="3" name="Shape 1"/>
          <p:cNvSpPr/>
          <p:nvPr/>
        </p:nvSpPr>
        <p:spPr>
          <a:xfrm>
            <a:off x="6583680" y="-1097280"/>
            <a:ext cx="4206240" cy="4206240"/>
          </a:xfrm>
          <a:prstGeom prst="ellipse">
            <a:avLst/>
          </a:prstGeom>
          <a:solidFill>
            <a:srgbClr val="028090">
              <a:alpha val="12000"/>
            </a:srgbClr>
          </a:solidFill>
          <a:ln w="12700">
            <a:solidFill>
              <a:srgbClr val="028090">
                <a:alpha val="12000"/>
              </a:srgbClr>
            </a:solidFill>
            <a:prstDash val="solid"/>
          </a:ln>
        </p:spPr>
      </p:sp>
      <p:sp>
        <p:nvSpPr>
          <p:cNvPr id="4" name="Shape 2"/>
          <p:cNvSpPr/>
          <p:nvPr/>
        </p:nvSpPr>
        <p:spPr>
          <a:xfrm>
            <a:off x="7315200" y="3474720"/>
            <a:ext cx="2194560" cy="2194560"/>
          </a:xfrm>
          <a:prstGeom prst="ellipse">
            <a:avLst/>
          </a:prstGeom>
          <a:solidFill>
            <a:srgbClr val="028090">
              <a:alpha val="8000"/>
            </a:srgbClr>
          </a:solidFill>
          <a:ln w="12700">
            <a:solidFill>
              <a:srgbClr val="028090">
                <a:alpha val="8000"/>
              </a:srgbClr>
            </a:solidFill>
            <a:prstDash val="solid"/>
          </a:ln>
        </p:spPr>
      </p:sp>
      <p:sp>
        <p:nvSpPr>
          <p:cNvPr id="5" name="Text 3"/>
          <p:cNvSpPr/>
          <p:nvPr/>
        </p:nvSpPr>
        <p:spPr>
          <a:xfrm>
            <a:off x="411480" y="384048"/>
            <a:ext cx="7315200" cy="457200"/>
          </a:xfrm>
          <a:prstGeom prst="rect">
            <a:avLst/>
          </a:prstGeom>
          <a:noFill/>
          <a:ln/>
        </p:spPr>
        <p:txBody>
          <a:bodyPr wrap="square" rtlCol="0" anchor="ctr"/>
          <a:lstStyle/>
          <a:p>
            <a:pPr indent="0" marL="0">
              <a:buNone/>
            </a:pPr>
            <a:r>
              <a:rPr lang="en-US" sz="1800" dirty="0">
                <a:solidFill>
                  <a:srgbClr val="028090"/>
                </a:solidFill>
                <a:latin typeface="Calibri" pitchFamily="34" charset="0"/>
                <a:ea typeface="Calibri" pitchFamily="34" charset="-122"/>
                <a:cs typeface="Calibri" pitchFamily="34" charset="-120"/>
              </a:rPr>
              <a:t>Week 12</a:t>
            </a:r>
            <a:endParaRPr lang="en-US" sz="1800" dirty="0"/>
          </a:p>
        </p:txBody>
      </p:sp>
      <p:sp>
        <p:nvSpPr>
          <p:cNvPr id="6" name="Text 4"/>
          <p:cNvSpPr/>
          <p:nvPr/>
        </p:nvSpPr>
        <p:spPr>
          <a:xfrm>
            <a:off x="411480" y="786384"/>
            <a:ext cx="7315200" cy="749808"/>
          </a:xfrm>
          <a:prstGeom prst="rect">
            <a:avLst/>
          </a:prstGeom>
          <a:noFill/>
          <a:ln/>
        </p:spPr>
        <p:txBody>
          <a:bodyPr wrap="square"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Wrap-up</a:t>
            </a:r>
            <a:endParaRPr lang="en-US" sz="4600" dirty="0"/>
          </a:p>
        </p:txBody>
      </p:sp>
      <p:sp>
        <p:nvSpPr>
          <p:cNvPr id="7" name="Shape 5"/>
          <p:cNvSpPr/>
          <p:nvPr/>
        </p:nvSpPr>
        <p:spPr>
          <a:xfrm>
            <a:off x="411480" y="1591056"/>
            <a:ext cx="4572000" cy="36576"/>
          </a:xfrm>
          <a:prstGeom prst="rect">
            <a:avLst/>
          </a:prstGeom>
          <a:solidFill>
            <a:srgbClr val="028090"/>
          </a:solidFill>
          <a:ln w="12700">
            <a:solidFill>
              <a:srgbClr val="028090"/>
            </a:solidFill>
            <a:prstDash val="solid"/>
          </a:ln>
        </p:spPr>
      </p:sp>
      <p:sp>
        <p:nvSpPr>
          <p:cNvPr id="8" name="Shape 6"/>
          <p:cNvSpPr/>
          <p:nvPr/>
        </p:nvSpPr>
        <p:spPr>
          <a:xfrm>
            <a:off x="411480" y="1737360"/>
            <a:ext cx="5577840" cy="310896"/>
          </a:xfrm>
          <a:prstGeom prst="rect">
            <a:avLst/>
          </a:prstGeom>
          <a:solidFill>
            <a:srgbClr val="FFFFFF">
              <a:alpha val="6000"/>
            </a:srgbClr>
          </a:solidFill>
          <a:ln w="12700">
            <a:solidFill>
              <a:srgbClr val="FFFFFF">
                <a:alpha val="15000"/>
              </a:srgbClr>
            </a:solidFill>
            <a:prstDash val="solid"/>
          </a:ln>
        </p:spPr>
      </p:sp>
      <p:sp>
        <p:nvSpPr>
          <p:cNvPr id="9" name="Shape 7"/>
          <p:cNvSpPr/>
          <p:nvPr/>
        </p:nvSpPr>
        <p:spPr>
          <a:xfrm>
            <a:off x="411480" y="1737360"/>
            <a:ext cx="54864" cy="310896"/>
          </a:xfrm>
          <a:prstGeom prst="rect">
            <a:avLst/>
          </a:prstGeom>
          <a:solidFill>
            <a:srgbClr val="2EAD7A"/>
          </a:solidFill>
          <a:ln w="12700">
            <a:solidFill>
              <a:srgbClr val="2EAD7A"/>
            </a:solidFill>
            <a:prstDash val="solid"/>
          </a:ln>
        </p:spPr>
      </p:sp>
      <p:sp>
        <p:nvSpPr>
          <p:cNvPr id="10" name="Text 8"/>
          <p:cNvSpPr/>
          <p:nvPr/>
        </p:nvSpPr>
        <p:spPr>
          <a:xfrm>
            <a:off x="530352" y="1737360"/>
            <a:ext cx="274320" cy="310896"/>
          </a:xfrm>
          <a:prstGeom prst="rect">
            <a:avLst/>
          </a:prstGeom>
          <a:noFill/>
          <a:ln/>
        </p:spPr>
        <p:txBody>
          <a:bodyPr wrap="square" rtlCol="0" anchor="ctr"/>
          <a:lstStyle/>
          <a:p>
            <a:pPr algn="ctr" indent="0" marL="0">
              <a:buNone/>
            </a:pPr>
            <a:r>
              <a:rPr lang="en-US" sz="1000" dirty="0">
                <a:solidFill>
                  <a:srgbClr val="2EAD7A"/>
                </a:solidFill>
              </a:rPr>
              <a:t>✓</a:t>
            </a:r>
            <a:endParaRPr lang="en-US" sz="1000" dirty="0"/>
          </a:p>
        </p:txBody>
      </p:sp>
      <p:sp>
        <p:nvSpPr>
          <p:cNvPr id="11" name="Text 9"/>
          <p:cNvSpPr/>
          <p:nvPr/>
        </p:nvSpPr>
        <p:spPr>
          <a:xfrm>
            <a:off x="859536" y="1737360"/>
            <a:ext cx="5029200" cy="310896"/>
          </a:xfrm>
          <a:prstGeom prst="rect">
            <a:avLst/>
          </a:prstGeom>
          <a:noFill/>
          <a:ln/>
        </p:spPr>
        <p:txBody>
          <a:bodyPr wrap="square" rtlCol="0" anchor="ctr"/>
          <a:lstStyle/>
          <a:p>
            <a:pPr indent="0" marL="0">
              <a:buNone/>
            </a:pPr>
            <a:r>
              <a:rPr lang="en-US" sz="1000" dirty="0">
                <a:solidFill>
                  <a:srgbClr val="D0E4F0"/>
                </a:solidFill>
              </a:rPr>
              <a:t>Mobile base fully assembled — drilled, columns, wheels, wire routing</a:t>
            </a:r>
            <a:endParaRPr lang="en-US" sz="1000" dirty="0"/>
          </a:p>
        </p:txBody>
      </p:sp>
      <p:sp>
        <p:nvSpPr>
          <p:cNvPr id="12" name="Shape 10"/>
          <p:cNvSpPr/>
          <p:nvPr/>
        </p:nvSpPr>
        <p:spPr>
          <a:xfrm>
            <a:off x="411480" y="2121408"/>
            <a:ext cx="5577840" cy="310896"/>
          </a:xfrm>
          <a:prstGeom prst="rect">
            <a:avLst/>
          </a:prstGeom>
          <a:solidFill>
            <a:srgbClr val="FFFFFF">
              <a:alpha val="6000"/>
            </a:srgbClr>
          </a:solidFill>
          <a:ln w="12700">
            <a:solidFill>
              <a:srgbClr val="FFFFFF">
                <a:alpha val="15000"/>
              </a:srgbClr>
            </a:solidFill>
            <a:prstDash val="solid"/>
          </a:ln>
        </p:spPr>
      </p:sp>
      <p:sp>
        <p:nvSpPr>
          <p:cNvPr id="13" name="Shape 11"/>
          <p:cNvSpPr/>
          <p:nvPr/>
        </p:nvSpPr>
        <p:spPr>
          <a:xfrm>
            <a:off x="411480" y="2121408"/>
            <a:ext cx="54864" cy="310896"/>
          </a:xfrm>
          <a:prstGeom prst="rect">
            <a:avLst/>
          </a:prstGeom>
          <a:solidFill>
            <a:srgbClr val="2EAD7A"/>
          </a:solidFill>
          <a:ln w="12700">
            <a:solidFill>
              <a:srgbClr val="2EAD7A"/>
            </a:solidFill>
            <a:prstDash val="solid"/>
          </a:ln>
        </p:spPr>
      </p:sp>
      <p:sp>
        <p:nvSpPr>
          <p:cNvPr id="14" name="Text 12"/>
          <p:cNvSpPr/>
          <p:nvPr/>
        </p:nvSpPr>
        <p:spPr>
          <a:xfrm>
            <a:off x="530352" y="2121408"/>
            <a:ext cx="274320" cy="310896"/>
          </a:xfrm>
          <a:prstGeom prst="rect">
            <a:avLst/>
          </a:prstGeom>
          <a:noFill/>
          <a:ln/>
        </p:spPr>
        <p:txBody>
          <a:bodyPr wrap="square" rtlCol="0" anchor="ctr"/>
          <a:lstStyle/>
          <a:p>
            <a:pPr algn="ctr" indent="0" marL="0">
              <a:buNone/>
            </a:pPr>
            <a:r>
              <a:rPr lang="en-US" sz="1000" dirty="0">
                <a:solidFill>
                  <a:srgbClr val="2EAD7A"/>
                </a:solidFill>
              </a:rPr>
              <a:t>✓</a:t>
            </a:r>
            <a:endParaRPr lang="en-US" sz="1000" dirty="0"/>
          </a:p>
        </p:txBody>
      </p:sp>
      <p:sp>
        <p:nvSpPr>
          <p:cNvPr id="15" name="Text 13"/>
          <p:cNvSpPr/>
          <p:nvPr/>
        </p:nvSpPr>
        <p:spPr>
          <a:xfrm>
            <a:off x="859536" y="2121408"/>
            <a:ext cx="5029200" cy="310896"/>
          </a:xfrm>
          <a:prstGeom prst="rect">
            <a:avLst/>
          </a:prstGeom>
          <a:noFill/>
          <a:ln/>
        </p:spPr>
        <p:txBody>
          <a:bodyPr wrap="square" rtlCol="0" anchor="ctr"/>
          <a:lstStyle/>
          <a:p>
            <a:pPr indent="0" marL="0">
              <a:buNone/>
            </a:pPr>
            <a:r>
              <a:rPr lang="en-US" sz="1000" dirty="0">
                <a:solidFill>
                  <a:srgbClr val="D0E4F0"/>
                </a:solidFill>
              </a:rPr>
              <a:t>Detection simplified — object presence detection, egg/ball treated as one</a:t>
            </a:r>
            <a:endParaRPr lang="en-US" sz="1000" dirty="0"/>
          </a:p>
        </p:txBody>
      </p:sp>
      <p:sp>
        <p:nvSpPr>
          <p:cNvPr id="16" name="Shape 14"/>
          <p:cNvSpPr/>
          <p:nvPr/>
        </p:nvSpPr>
        <p:spPr>
          <a:xfrm>
            <a:off x="411480" y="2505456"/>
            <a:ext cx="5577840" cy="310896"/>
          </a:xfrm>
          <a:prstGeom prst="rect">
            <a:avLst/>
          </a:prstGeom>
          <a:solidFill>
            <a:srgbClr val="FFFFFF">
              <a:alpha val="6000"/>
            </a:srgbClr>
          </a:solidFill>
          <a:ln w="12700">
            <a:solidFill>
              <a:srgbClr val="FFFFFF">
                <a:alpha val="15000"/>
              </a:srgbClr>
            </a:solidFill>
            <a:prstDash val="solid"/>
          </a:ln>
        </p:spPr>
      </p:sp>
      <p:sp>
        <p:nvSpPr>
          <p:cNvPr id="17" name="Shape 15"/>
          <p:cNvSpPr/>
          <p:nvPr/>
        </p:nvSpPr>
        <p:spPr>
          <a:xfrm>
            <a:off x="411480" y="2505456"/>
            <a:ext cx="54864" cy="310896"/>
          </a:xfrm>
          <a:prstGeom prst="rect">
            <a:avLst/>
          </a:prstGeom>
          <a:solidFill>
            <a:srgbClr val="2EAD7A"/>
          </a:solidFill>
          <a:ln w="12700">
            <a:solidFill>
              <a:srgbClr val="2EAD7A"/>
            </a:solidFill>
            <a:prstDash val="solid"/>
          </a:ln>
        </p:spPr>
      </p:sp>
      <p:sp>
        <p:nvSpPr>
          <p:cNvPr id="18" name="Text 16"/>
          <p:cNvSpPr/>
          <p:nvPr/>
        </p:nvSpPr>
        <p:spPr>
          <a:xfrm>
            <a:off x="530352" y="2505456"/>
            <a:ext cx="274320" cy="310896"/>
          </a:xfrm>
          <a:prstGeom prst="rect">
            <a:avLst/>
          </a:prstGeom>
          <a:noFill/>
          <a:ln/>
        </p:spPr>
        <p:txBody>
          <a:bodyPr wrap="square" rtlCol="0" anchor="ctr"/>
          <a:lstStyle/>
          <a:p>
            <a:pPr algn="ctr" indent="0" marL="0">
              <a:buNone/>
            </a:pPr>
            <a:r>
              <a:rPr lang="en-US" sz="1000" dirty="0">
                <a:solidFill>
                  <a:srgbClr val="2EAD7A"/>
                </a:solidFill>
              </a:rPr>
              <a:t>✓</a:t>
            </a:r>
            <a:endParaRPr lang="en-US" sz="1000" dirty="0"/>
          </a:p>
        </p:txBody>
      </p:sp>
      <p:sp>
        <p:nvSpPr>
          <p:cNvPr id="19" name="Text 17"/>
          <p:cNvSpPr/>
          <p:nvPr/>
        </p:nvSpPr>
        <p:spPr>
          <a:xfrm>
            <a:off x="859536" y="2505456"/>
            <a:ext cx="5029200" cy="310896"/>
          </a:xfrm>
          <a:prstGeom prst="rect">
            <a:avLst/>
          </a:prstGeom>
          <a:noFill/>
          <a:ln/>
        </p:spPr>
        <p:txBody>
          <a:bodyPr wrap="square" rtlCol="0" anchor="ctr"/>
          <a:lstStyle/>
          <a:p>
            <a:pPr indent="0" marL="0">
              <a:buNone/>
            </a:pPr>
            <a:r>
              <a:rPr lang="en-US" sz="1000" dirty="0">
                <a:solidFill>
                  <a:srgbClr val="D0E4F0"/>
                </a:solidFill>
              </a:rPr>
              <a:t>Pump tested — all three objects picked up successfully</a:t>
            </a:r>
            <a:endParaRPr lang="en-US" sz="1000" dirty="0"/>
          </a:p>
        </p:txBody>
      </p:sp>
      <p:sp>
        <p:nvSpPr>
          <p:cNvPr id="20" name="Shape 18"/>
          <p:cNvSpPr/>
          <p:nvPr/>
        </p:nvSpPr>
        <p:spPr>
          <a:xfrm>
            <a:off x="411480" y="2889504"/>
            <a:ext cx="5577840" cy="310896"/>
          </a:xfrm>
          <a:prstGeom prst="rect">
            <a:avLst/>
          </a:prstGeom>
          <a:solidFill>
            <a:srgbClr val="FFFFFF">
              <a:alpha val="6000"/>
            </a:srgbClr>
          </a:solidFill>
          <a:ln w="12700">
            <a:solidFill>
              <a:srgbClr val="FFFFFF">
                <a:alpha val="15000"/>
              </a:srgbClr>
            </a:solidFill>
            <a:prstDash val="solid"/>
          </a:ln>
        </p:spPr>
      </p:sp>
      <p:sp>
        <p:nvSpPr>
          <p:cNvPr id="21" name="Shape 19"/>
          <p:cNvSpPr/>
          <p:nvPr/>
        </p:nvSpPr>
        <p:spPr>
          <a:xfrm>
            <a:off x="411480" y="2889504"/>
            <a:ext cx="54864" cy="310896"/>
          </a:xfrm>
          <a:prstGeom prst="rect">
            <a:avLst/>
          </a:prstGeom>
          <a:solidFill>
            <a:srgbClr val="2EAD7A"/>
          </a:solidFill>
          <a:ln w="12700">
            <a:solidFill>
              <a:srgbClr val="2EAD7A"/>
            </a:solidFill>
            <a:prstDash val="solid"/>
          </a:ln>
        </p:spPr>
      </p:sp>
      <p:sp>
        <p:nvSpPr>
          <p:cNvPr id="22" name="Text 20"/>
          <p:cNvSpPr/>
          <p:nvPr/>
        </p:nvSpPr>
        <p:spPr>
          <a:xfrm>
            <a:off x="530352" y="2889504"/>
            <a:ext cx="274320" cy="310896"/>
          </a:xfrm>
          <a:prstGeom prst="rect">
            <a:avLst/>
          </a:prstGeom>
          <a:noFill/>
          <a:ln/>
        </p:spPr>
        <p:txBody>
          <a:bodyPr wrap="square" rtlCol="0" anchor="ctr"/>
          <a:lstStyle/>
          <a:p>
            <a:pPr algn="ctr" indent="0" marL="0">
              <a:buNone/>
            </a:pPr>
            <a:r>
              <a:rPr lang="en-US" sz="1000" dirty="0">
                <a:solidFill>
                  <a:srgbClr val="2EAD7A"/>
                </a:solidFill>
              </a:rPr>
              <a:t>✓</a:t>
            </a:r>
            <a:endParaRPr lang="en-US" sz="1000" dirty="0"/>
          </a:p>
        </p:txBody>
      </p:sp>
      <p:sp>
        <p:nvSpPr>
          <p:cNvPr id="23" name="Text 21"/>
          <p:cNvSpPr/>
          <p:nvPr/>
        </p:nvSpPr>
        <p:spPr>
          <a:xfrm>
            <a:off x="859536" y="2889504"/>
            <a:ext cx="5029200" cy="310896"/>
          </a:xfrm>
          <a:prstGeom prst="rect">
            <a:avLst/>
          </a:prstGeom>
          <a:noFill/>
          <a:ln/>
        </p:spPr>
        <p:txBody>
          <a:bodyPr wrap="square" rtlCol="0" anchor="ctr"/>
          <a:lstStyle/>
          <a:p>
            <a:pPr indent="0" marL="0">
              <a:buNone/>
            </a:pPr>
            <a:r>
              <a:rPr lang="en-US" sz="1000" dirty="0">
                <a:solidFill>
                  <a:srgbClr val="D0E4F0"/>
                </a:solidFill>
              </a:rPr>
              <a:t>End effector parts procured — tube, connector, suction cup</a:t>
            </a:r>
            <a:endParaRPr lang="en-US" sz="1000" dirty="0"/>
          </a:p>
        </p:txBody>
      </p:sp>
      <p:sp>
        <p:nvSpPr>
          <p:cNvPr id="24" name="Shape 22"/>
          <p:cNvSpPr/>
          <p:nvPr/>
        </p:nvSpPr>
        <p:spPr>
          <a:xfrm>
            <a:off x="411480" y="3273552"/>
            <a:ext cx="5577840" cy="310896"/>
          </a:xfrm>
          <a:prstGeom prst="rect">
            <a:avLst/>
          </a:prstGeom>
          <a:solidFill>
            <a:srgbClr val="FFFFFF">
              <a:alpha val="6000"/>
            </a:srgbClr>
          </a:solidFill>
          <a:ln w="12700">
            <a:solidFill>
              <a:srgbClr val="FFFFFF">
                <a:alpha val="15000"/>
              </a:srgbClr>
            </a:solidFill>
            <a:prstDash val="solid"/>
          </a:ln>
        </p:spPr>
      </p:sp>
      <p:sp>
        <p:nvSpPr>
          <p:cNvPr id="25" name="Shape 23"/>
          <p:cNvSpPr/>
          <p:nvPr/>
        </p:nvSpPr>
        <p:spPr>
          <a:xfrm>
            <a:off x="411480" y="3273552"/>
            <a:ext cx="54864" cy="310896"/>
          </a:xfrm>
          <a:prstGeom prst="rect">
            <a:avLst/>
          </a:prstGeom>
          <a:solidFill>
            <a:srgbClr val="E06530"/>
          </a:solidFill>
          <a:ln w="12700">
            <a:solidFill>
              <a:srgbClr val="E06530"/>
            </a:solidFill>
            <a:prstDash val="solid"/>
          </a:ln>
        </p:spPr>
      </p:sp>
      <p:sp>
        <p:nvSpPr>
          <p:cNvPr id="26" name="Text 24"/>
          <p:cNvSpPr/>
          <p:nvPr/>
        </p:nvSpPr>
        <p:spPr>
          <a:xfrm>
            <a:off x="530352" y="3273552"/>
            <a:ext cx="274320" cy="310896"/>
          </a:xfrm>
          <a:prstGeom prst="rect">
            <a:avLst/>
          </a:prstGeom>
          <a:noFill/>
          <a:ln/>
        </p:spPr>
        <p:txBody>
          <a:bodyPr wrap="square" rtlCol="0" anchor="ctr"/>
          <a:lstStyle/>
          <a:p>
            <a:pPr algn="ctr" indent="0" marL="0">
              <a:buNone/>
            </a:pPr>
            <a:r>
              <a:rPr lang="en-US" sz="1000" dirty="0">
                <a:solidFill>
                  <a:srgbClr val="E06530"/>
                </a:solidFill>
              </a:rPr>
              <a:t>⚠</a:t>
            </a:r>
            <a:endParaRPr lang="en-US" sz="1000" dirty="0"/>
          </a:p>
        </p:txBody>
      </p:sp>
      <p:sp>
        <p:nvSpPr>
          <p:cNvPr id="27" name="Text 25"/>
          <p:cNvSpPr/>
          <p:nvPr/>
        </p:nvSpPr>
        <p:spPr>
          <a:xfrm>
            <a:off x="859536" y="3273552"/>
            <a:ext cx="5029200" cy="310896"/>
          </a:xfrm>
          <a:prstGeom prst="rect">
            <a:avLst/>
          </a:prstGeom>
          <a:noFill/>
          <a:ln/>
        </p:spPr>
        <p:txBody>
          <a:bodyPr wrap="square" rtlCol="0" anchor="ctr"/>
          <a:lstStyle/>
          <a:p>
            <a:pPr indent="0" marL="0">
              <a:buNone/>
            </a:pPr>
            <a:r>
              <a:rPr lang="en-US" sz="1000" dirty="0">
                <a:solidFill>
                  <a:srgbClr val="D0E4F0"/>
                </a:solidFill>
              </a:rPr>
              <a:t>Connector part failed to print — needs reprinting</a:t>
            </a:r>
            <a:endParaRPr lang="en-US" sz="1000" dirty="0"/>
          </a:p>
        </p:txBody>
      </p:sp>
      <p:sp>
        <p:nvSpPr>
          <p:cNvPr id="28" name="Shape 26"/>
          <p:cNvSpPr/>
          <p:nvPr/>
        </p:nvSpPr>
        <p:spPr>
          <a:xfrm>
            <a:off x="411480" y="3657600"/>
            <a:ext cx="5577840" cy="310896"/>
          </a:xfrm>
          <a:prstGeom prst="rect">
            <a:avLst/>
          </a:prstGeom>
          <a:solidFill>
            <a:srgbClr val="FFFFFF">
              <a:alpha val="6000"/>
            </a:srgbClr>
          </a:solidFill>
          <a:ln w="12700">
            <a:solidFill>
              <a:srgbClr val="FFFFFF">
                <a:alpha val="15000"/>
              </a:srgbClr>
            </a:solidFill>
            <a:prstDash val="solid"/>
          </a:ln>
        </p:spPr>
      </p:sp>
      <p:sp>
        <p:nvSpPr>
          <p:cNvPr id="29" name="Shape 27"/>
          <p:cNvSpPr/>
          <p:nvPr/>
        </p:nvSpPr>
        <p:spPr>
          <a:xfrm>
            <a:off x="411480" y="3657600"/>
            <a:ext cx="54864" cy="310896"/>
          </a:xfrm>
          <a:prstGeom prst="rect">
            <a:avLst/>
          </a:prstGeom>
          <a:solidFill>
            <a:srgbClr val="E06530"/>
          </a:solidFill>
          <a:ln w="12700">
            <a:solidFill>
              <a:srgbClr val="E06530"/>
            </a:solidFill>
            <a:prstDash val="solid"/>
          </a:ln>
        </p:spPr>
      </p:sp>
      <p:sp>
        <p:nvSpPr>
          <p:cNvPr id="30" name="Text 28"/>
          <p:cNvSpPr/>
          <p:nvPr/>
        </p:nvSpPr>
        <p:spPr>
          <a:xfrm>
            <a:off x="530352" y="3657600"/>
            <a:ext cx="274320" cy="310896"/>
          </a:xfrm>
          <a:prstGeom prst="rect">
            <a:avLst/>
          </a:prstGeom>
          <a:noFill/>
          <a:ln/>
        </p:spPr>
        <p:txBody>
          <a:bodyPr wrap="square" rtlCol="0" anchor="ctr"/>
          <a:lstStyle/>
          <a:p>
            <a:pPr algn="ctr" indent="0" marL="0">
              <a:buNone/>
            </a:pPr>
            <a:r>
              <a:rPr lang="en-US" sz="1000" dirty="0">
                <a:solidFill>
                  <a:srgbClr val="E06530"/>
                </a:solidFill>
              </a:rPr>
              <a:t>⚠</a:t>
            </a:r>
            <a:endParaRPr lang="en-US" sz="1000" dirty="0"/>
          </a:p>
        </p:txBody>
      </p:sp>
      <p:sp>
        <p:nvSpPr>
          <p:cNvPr id="31" name="Text 29"/>
          <p:cNvSpPr/>
          <p:nvPr/>
        </p:nvSpPr>
        <p:spPr>
          <a:xfrm>
            <a:off x="859536" y="3657600"/>
            <a:ext cx="5029200" cy="310896"/>
          </a:xfrm>
          <a:prstGeom prst="rect">
            <a:avLst/>
          </a:prstGeom>
          <a:noFill/>
          <a:ln/>
        </p:spPr>
        <p:txBody>
          <a:bodyPr wrap="square" rtlCol="0" anchor="ctr"/>
          <a:lstStyle/>
          <a:p>
            <a:pPr indent="0" marL="0">
              <a:buNone/>
            </a:pPr>
            <a:r>
              <a:rPr lang="en-US" sz="1000" dirty="0">
                <a:solidFill>
                  <a:srgbClr val="D0E4F0"/>
                </a:solidFill>
              </a:rPr>
              <a:t>Gripper not yet printed — last blocker for end effector</a:t>
            </a:r>
            <a:endParaRPr lang="en-US" sz="1000" dirty="0"/>
          </a:p>
        </p:txBody>
      </p:sp>
      <p:sp>
        <p:nvSpPr>
          <p:cNvPr id="32" name="Shape 30"/>
          <p:cNvSpPr/>
          <p:nvPr/>
        </p:nvSpPr>
        <p:spPr>
          <a:xfrm>
            <a:off x="411480" y="4041648"/>
            <a:ext cx="5577840" cy="310896"/>
          </a:xfrm>
          <a:prstGeom prst="rect">
            <a:avLst/>
          </a:prstGeom>
          <a:solidFill>
            <a:srgbClr val="FFFFFF">
              <a:alpha val="6000"/>
            </a:srgbClr>
          </a:solidFill>
          <a:ln w="12700">
            <a:solidFill>
              <a:srgbClr val="FFFFFF">
                <a:alpha val="15000"/>
              </a:srgbClr>
            </a:solidFill>
            <a:prstDash val="solid"/>
          </a:ln>
        </p:spPr>
      </p:sp>
      <p:sp>
        <p:nvSpPr>
          <p:cNvPr id="33" name="Shape 31"/>
          <p:cNvSpPr/>
          <p:nvPr/>
        </p:nvSpPr>
        <p:spPr>
          <a:xfrm>
            <a:off x="411480" y="4041648"/>
            <a:ext cx="54864" cy="310896"/>
          </a:xfrm>
          <a:prstGeom prst="rect">
            <a:avLst/>
          </a:prstGeom>
          <a:solidFill>
            <a:srgbClr val="E06530"/>
          </a:solidFill>
          <a:ln w="12700">
            <a:solidFill>
              <a:srgbClr val="E06530"/>
            </a:solidFill>
            <a:prstDash val="solid"/>
          </a:ln>
        </p:spPr>
      </p:sp>
      <p:sp>
        <p:nvSpPr>
          <p:cNvPr id="34" name="Text 32"/>
          <p:cNvSpPr/>
          <p:nvPr/>
        </p:nvSpPr>
        <p:spPr>
          <a:xfrm>
            <a:off x="530352" y="4041648"/>
            <a:ext cx="274320" cy="310896"/>
          </a:xfrm>
          <a:prstGeom prst="rect">
            <a:avLst/>
          </a:prstGeom>
          <a:noFill/>
          <a:ln/>
        </p:spPr>
        <p:txBody>
          <a:bodyPr wrap="square" rtlCol="0" anchor="ctr"/>
          <a:lstStyle/>
          <a:p>
            <a:pPr algn="ctr" indent="0" marL="0">
              <a:buNone/>
            </a:pPr>
            <a:r>
              <a:rPr lang="en-US" sz="1000" dirty="0">
                <a:solidFill>
                  <a:srgbClr val="E06530"/>
                </a:solidFill>
              </a:rPr>
              <a:t>⚠</a:t>
            </a:r>
            <a:endParaRPr lang="en-US" sz="1000" dirty="0"/>
          </a:p>
        </p:txBody>
      </p:sp>
      <p:sp>
        <p:nvSpPr>
          <p:cNvPr id="35" name="Text 33"/>
          <p:cNvSpPr/>
          <p:nvPr/>
        </p:nvSpPr>
        <p:spPr>
          <a:xfrm>
            <a:off x="859536" y="4041648"/>
            <a:ext cx="5029200" cy="310896"/>
          </a:xfrm>
          <a:prstGeom prst="rect">
            <a:avLst/>
          </a:prstGeom>
          <a:noFill/>
          <a:ln/>
        </p:spPr>
        <p:txBody>
          <a:bodyPr wrap="square" rtlCol="0" anchor="ctr"/>
          <a:lstStyle/>
          <a:p>
            <a:pPr indent="0" marL="0">
              <a:buNone/>
            </a:pPr>
            <a:r>
              <a:rPr lang="en-US" sz="1000" dirty="0">
                <a:solidFill>
                  <a:srgbClr val="D0E4F0"/>
                </a:solidFill>
              </a:rPr>
              <a:t>ROS2 joint positions still not resolved</a:t>
            </a:r>
            <a:endParaRPr lang="en-US" sz="1000" dirty="0"/>
          </a:p>
        </p:txBody>
      </p:sp>
      <p:sp>
        <p:nvSpPr>
          <p:cNvPr id="36" name="Text 34"/>
          <p:cNvSpPr/>
          <p:nvPr/>
        </p:nvSpPr>
        <p:spPr>
          <a:xfrm>
            <a:off x="6263640" y="1737360"/>
            <a:ext cx="2651760" cy="274320"/>
          </a:xfrm>
          <a:prstGeom prst="rect">
            <a:avLst/>
          </a:prstGeom>
          <a:noFill/>
          <a:ln/>
        </p:spPr>
        <p:txBody>
          <a:bodyPr wrap="square" rtlCol="0" anchor="ctr"/>
          <a:lstStyle/>
          <a:p>
            <a:pPr indent="0" marL="0">
              <a:buNone/>
            </a:pPr>
            <a:r>
              <a:rPr lang="en-US" sz="1200" b="1" dirty="0">
                <a:solidFill>
                  <a:srgbClr val="C8E6F5"/>
                </a:solidFill>
              </a:rPr>
              <a:t>Looking ahead</a:t>
            </a:r>
            <a:endParaRPr lang="en-US" sz="1200" dirty="0"/>
          </a:p>
        </p:txBody>
      </p:sp>
      <p:sp>
        <p:nvSpPr>
          <p:cNvPr id="37" name="Shape 35"/>
          <p:cNvSpPr/>
          <p:nvPr/>
        </p:nvSpPr>
        <p:spPr>
          <a:xfrm>
            <a:off x="6263640" y="2066544"/>
            <a:ext cx="2633472" cy="365760"/>
          </a:xfrm>
          <a:prstGeom prst="rect">
            <a:avLst/>
          </a:prstGeom>
          <a:solidFill>
            <a:srgbClr val="FFFFFF">
              <a:alpha val="6000"/>
            </a:srgbClr>
          </a:solidFill>
          <a:ln w="12700">
            <a:solidFill>
              <a:srgbClr val="FFFFFF">
                <a:alpha val="15000"/>
              </a:srgbClr>
            </a:solidFill>
            <a:prstDash val="solid"/>
          </a:ln>
        </p:spPr>
      </p:sp>
      <p:sp>
        <p:nvSpPr>
          <p:cNvPr id="38" name="Shape 36"/>
          <p:cNvSpPr/>
          <p:nvPr/>
        </p:nvSpPr>
        <p:spPr>
          <a:xfrm>
            <a:off x="6263640" y="2066544"/>
            <a:ext cx="54864" cy="365760"/>
          </a:xfrm>
          <a:prstGeom prst="rect">
            <a:avLst/>
          </a:prstGeom>
          <a:solidFill>
            <a:srgbClr val="C0392B"/>
          </a:solidFill>
          <a:ln w="12700">
            <a:solidFill>
              <a:srgbClr val="C0392B"/>
            </a:solidFill>
            <a:prstDash val="solid"/>
          </a:ln>
        </p:spPr>
      </p:sp>
      <p:sp>
        <p:nvSpPr>
          <p:cNvPr id="39" name="Shape 37"/>
          <p:cNvSpPr/>
          <p:nvPr/>
        </p:nvSpPr>
        <p:spPr>
          <a:xfrm>
            <a:off x="6364224" y="2139696"/>
            <a:ext cx="658368" cy="219456"/>
          </a:xfrm>
          <a:prstGeom prst="roundRect">
            <a:avLst>
              <a:gd name="adj" fmla="val 16667"/>
            </a:avLst>
          </a:prstGeom>
          <a:solidFill>
            <a:srgbClr val="C0392B">
              <a:alpha val="20000"/>
            </a:srgbClr>
          </a:solidFill>
          <a:ln w="12700">
            <a:solidFill>
              <a:srgbClr val="C0392B">
                <a:alpha val="35000"/>
              </a:srgbClr>
            </a:solidFill>
            <a:prstDash val="solid"/>
          </a:ln>
        </p:spPr>
      </p:sp>
      <p:sp>
        <p:nvSpPr>
          <p:cNvPr id="40" name="Text 38"/>
          <p:cNvSpPr/>
          <p:nvPr/>
        </p:nvSpPr>
        <p:spPr>
          <a:xfrm>
            <a:off x="6364224" y="2139696"/>
            <a:ext cx="658368" cy="219456"/>
          </a:xfrm>
          <a:prstGeom prst="rect">
            <a:avLst/>
          </a:prstGeom>
          <a:noFill/>
          <a:ln/>
        </p:spPr>
        <p:txBody>
          <a:bodyPr wrap="square" lIns="0" tIns="0" rIns="0" bIns="0" rtlCol="0" anchor="ctr"/>
          <a:lstStyle/>
          <a:p>
            <a:pPr algn="ctr" indent="0" marL="0">
              <a:buNone/>
            </a:pPr>
            <a:r>
              <a:rPr lang="en-US" sz="750" b="1" dirty="0">
                <a:solidFill>
                  <a:srgbClr val="FFFFFF"/>
                </a:solidFill>
              </a:rPr>
              <a:t>Next</a:t>
            </a:r>
            <a:endParaRPr lang="en-US" sz="750" dirty="0"/>
          </a:p>
        </p:txBody>
      </p:sp>
      <p:sp>
        <p:nvSpPr>
          <p:cNvPr id="41" name="Text 39"/>
          <p:cNvSpPr/>
          <p:nvPr/>
        </p:nvSpPr>
        <p:spPr>
          <a:xfrm>
            <a:off x="7077456" y="2066544"/>
            <a:ext cx="1737360" cy="365760"/>
          </a:xfrm>
          <a:prstGeom prst="rect">
            <a:avLst/>
          </a:prstGeom>
          <a:noFill/>
          <a:ln/>
        </p:spPr>
        <p:txBody>
          <a:bodyPr wrap="square" rtlCol="0" anchor="ctr"/>
          <a:lstStyle/>
          <a:p>
            <a:pPr indent="0" marL="0">
              <a:buNone/>
            </a:pPr>
            <a:r>
              <a:rPr lang="en-US" sz="900" dirty="0">
                <a:solidFill>
                  <a:srgbClr val="C8D8E8"/>
                </a:solidFill>
              </a:rPr>
              <a:t>Reprint connector + print gripper</a:t>
            </a:r>
            <a:endParaRPr lang="en-US" sz="900" dirty="0"/>
          </a:p>
        </p:txBody>
      </p:sp>
      <p:sp>
        <p:nvSpPr>
          <p:cNvPr id="42" name="Shape 40"/>
          <p:cNvSpPr/>
          <p:nvPr/>
        </p:nvSpPr>
        <p:spPr>
          <a:xfrm>
            <a:off x="6263640" y="2505456"/>
            <a:ext cx="2633472" cy="365760"/>
          </a:xfrm>
          <a:prstGeom prst="rect">
            <a:avLst/>
          </a:prstGeom>
          <a:solidFill>
            <a:srgbClr val="FFFFFF">
              <a:alpha val="6000"/>
            </a:srgbClr>
          </a:solidFill>
          <a:ln w="12700">
            <a:solidFill>
              <a:srgbClr val="FFFFFF">
                <a:alpha val="15000"/>
              </a:srgbClr>
            </a:solidFill>
            <a:prstDash val="solid"/>
          </a:ln>
        </p:spPr>
      </p:sp>
      <p:sp>
        <p:nvSpPr>
          <p:cNvPr id="43" name="Shape 41"/>
          <p:cNvSpPr/>
          <p:nvPr/>
        </p:nvSpPr>
        <p:spPr>
          <a:xfrm>
            <a:off x="6263640" y="2505456"/>
            <a:ext cx="54864" cy="365760"/>
          </a:xfrm>
          <a:prstGeom prst="rect">
            <a:avLst/>
          </a:prstGeom>
          <a:solidFill>
            <a:srgbClr val="E06530"/>
          </a:solidFill>
          <a:ln w="12700">
            <a:solidFill>
              <a:srgbClr val="E06530"/>
            </a:solidFill>
            <a:prstDash val="solid"/>
          </a:ln>
        </p:spPr>
      </p:sp>
      <p:sp>
        <p:nvSpPr>
          <p:cNvPr id="44" name="Shape 42"/>
          <p:cNvSpPr/>
          <p:nvPr/>
        </p:nvSpPr>
        <p:spPr>
          <a:xfrm>
            <a:off x="6364224" y="2578608"/>
            <a:ext cx="658368" cy="219456"/>
          </a:xfrm>
          <a:prstGeom prst="roundRect">
            <a:avLst>
              <a:gd name="adj" fmla="val 16667"/>
            </a:avLst>
          </a:prstGeom>
          <a:solidFill>
            <a:srgbClr val="E06530">
              <a:alpha val="20000"/>
            </a:srgbClr>
          </a:solidFill>
          <a:ln w="12700">
            <a:solidFill>
              <a:srgbClr val="E06530">
                <a:alpha val="35000"/>
              </a:srgbClr>
            </a:solidFill>
            <a:prstDash val="solid"/>
          </a:ln>
        </p:spPr>
      </p:sp>
      <p:sp>
        <p:nvSpPr>
          <p:cNvPr id="45" name="Text 43"/>
          <p:cNvSpPr/>
          <p:nvPr/>
        </p:nvSpPr>
        <p:spPr>
          <a:xfrm>
            <a:off x="6364224" y="2578608"/>
            <a:ext cx="658368" cy="219456"/>
          </a:xfrm>
          <a:prstGeom prst="rect">
            <a:avLst/>
          </a:prstGeom>
          <a:noFill/>
          <a:ln/>
        </p:spPr>
        <p:txBody>
          <a:bodyPr wrap="square" lIns="0" tIns="0" rIns="0" bIns="0" rtlCol="0" anchor="ctr"/>
          <a:lstStyle/>
          <a:p>
            <a:pPr algn="ctr" indent="0" marL="0">
              <a:buNone/>
            </a:pPr>
            <a:r>
              <a:rPr lang="en-US" sz="750" b="1" dirty="0">
                <a:solidFill>
                  <a:srgbClr val="FFFFFF"/>
                </a:solidFill>
              </a:rPr>
              <a:t>Next</a:t>
            </a:r>
            <a:endParaRPr lang="en-US" sz="750" dirty="0"/>
          </a:p>
        </p:txBody>
      </p:sp>
      <p:sp>
        <p:nvSpPr>
          <p:cNvPr id="46" name="Text 44"/>
          <p:cNvSpPr/>
          <p:nvPr/>
        </p:nvSpPr>
        <p:spPr>
          <a:xfrm>
            <a:off x="7077456" y="2505456"/>
            <a:ext cx="1737360" cy="365760"/>
          </a:xfrm>
          <a:prstGeom prst="rect">
            <a:avLst/>
          </a:prstGeom>
          <a:noFill/>
          <a:ln/>
        </p:spPr>
        <p:txBody>
          <a:bodyPr wrap="square" rtlCol="0" anchor="ctr"/>
          <a:lstStyle/>
          <a:p>
            <a:pPr indent="0" marL="0">
              <a:buNone/>
            </a:pPr>
            <a:r>
              <a:rPr lang="en-US" sz="900" dirty="0">
                <a:solidFill>
                  <a:srgbClr val="C8D8E8"/>
                </a:solidFill>
              </a:rPr>
              <a:t>Assemble full end effector</a:t>
            </a:r>
            <a:endParaRPr lang="en-US" sz="900" dirty="0"/>
          </a:p>
        </p:txBody>
      </p:sp>
      <p:sp>
        <p:nvSpPr>
          <p:cNvPr id="47" name="Shape 45"/>
          <p:cNvSpPr/>
          <p:nvPr/>
        </p:nvSpPr>
        <p:spPr>
          <a:xfrm>
            <a:off x="6263640" y="2944368"/>
            <a:ext cx="2633472" cy="365760"/>
          </a:xfrm>
          <a:prstGeom prst="rect">
            <a:avLst/>
          </a:prstGeom>
          <a:solidFill>
            <a:srgbClr val="FFFFFF">
              <a:alpha val="6000"/>
            </a:srgbClr>
          </a:solidFill>
          <a:ln w="12700">
            <a:solidFill>
              <a:srgbClr val="FFFFFF">
                <a:alpha val="15000"/>
              </a:srgbClr>
            </a:solidFill>
            <a:prstDash val="solid"/>
          </a:ln>
        </p:spPr>
      </p:sp>
      <p:sp>
        <p:nvSpPr>
          <p:cNvPr id="48" name="Shape 46"/>
          <p:cNvSpPr/>
          <p:nvPr/>
        </p:nvSpPr>
        <p:spPr>
          <a:xfrm>
            <a:off x="6263640" y="2944368"/>
            <a:ext cx="54864" cy="365760"/>
          </a:xfrm>
          <a:prstGeom prst="rect">
            <a:avLst/>
          </a:prstGeom>
          <a:solidFill>
            <a:srgbClr val="028090"/>
          </a:solidFill>
          <a:ln w="12700">
            <a:solidFill>
              <a:srgbClr val="028090"/>
            </a:solidFill>
            <a:prstDash val="solid"/>
          </a:ln>
        </p:spPr>
      </p:sp>
      <p:sp>
        <p:nvSpPr>
          <p:cNvPr id="49" name="Shape 47"/>
          <p:cNvSpPr/>
          <p:nvPr/>
        </p:nvSpPr>
        <p:spPr>
          <a:xfrm>
            <a:off x="6364224" y="3017520"/>
            <a:ext cx="658368" cy="219456"/>
          </a:xfrm>
          <a:prstGeom prst="roundRect">
            <a:avLst>
              <a:gd name="adj" fmla="val 16667"/>
            </a:avLst>
          </a:prstGeom>
          <a:solidFill>
            <a:srgbClr val="028090">
              <a:alpha val="20000"/>
            </a:srgbClr>
          </a:solidFill>
          <a:ln w="12700">
            <a:solidFill>
              <a:srgbClr val="028090">
                <a:alpha val="35000"/>
              </a:srgbClr>
            </a:solidFill>
            <a:prstDash val="solid"/>
          </a:ln>
        </p:spPr>
      </p:sp>
      <p:sp>
        <p:nvSpPr>
          <p:cNvPr id="50" name="Text 48"/>
          <p:cNvSpPr/>
          <p:nvPr/>
        </p:nvSpPr>
        <p:spPr>
          <a:xfrm>
            <a:off x="6364224" y="3017520"/>
            <a:ext cx="658368" cy="219456"/>
          </a:xfrm>
          <a:prstGeom prst="rect">
            <a:avLst/>
          </a:prstGeom>
          <a:noFill/>
          <a:ln/>
        </p:spPr>
        <p:txBody>
          <a:bodyPr wrap="square" lIns="0" tIns="0" rIns="0" bIns="0" rtlCol="0" anchor="ctr"/>
          <a:lstStyle/>
          <a:p>
            <a:pPr algn="ctr" indent="0" marL="0">
              <a:buNone/>
            </a:pPr>
            <a:r>
              <a:rPr lang="en-US" sz="750" b="1" dirty="0">
                <a:solidFill>
                  <a:srgbClr val="FFFFFF"/>
                </a:solidFill>
              </a:rPr>
              <a:t>Next</a:t>
            </a:r>
            <a:endParaRPr lang="en-US" sz="750" dirty="0"/>
          </a:p>
        </p:txBody>
      </p:sp>
      <p:sp>
        <p:nvSpPr>
          <p:cNvPr id="51" name="Text 49"/>
          <p:cNvSpPr/>
          <p:nvPr/>
        </p:nvSpPr>
        <p:spPr>
          <a:xfrm>
            <a:off x="7077456" y="2944368"/>
            <a:ext cx="1737360" cy="365760"/>
          </a:xfrm>
          <a:prstGeom prst="rect">
            <a:avLst/>
          </a:prstGeom>
          <a:noFill/>
          <a:ln/>
        </p:spPr>
        <p:txBody>
          <a:bodyPr wrap="square" rtlCol="0" anchor="ctr"/>
          <a:lstStyle/>
          <a:p>
            <a:pPr indent="0" marL="0">
              <a:buNone/>
            </a:pPr>
            <a:r>
              <a:rPr lang="en-US" sz="900" dirty="0">
                <a:solidFill>
                  <a:srgbClr val="C8D8E8"/>
                </a:solidFill>
              </a:rPr>
              <a:t>Attach wheels + motors to base</a:t>
            </a:r>
            <a:endParaRPr lang="en-US" sz="900" dirty="0"/>
          </a:p>
        </p:txBody>
      </p:sp>
      <p:sp>
        <p:nvSpPr>
          <p:cNvPr id="52" name="Shape 50"/>
          <p:cNvSpPr/>
          <p:nvPr/>
        </p:nvSpPr>
        <p:spPr>
          <a:xfrm>
            <a:off x="6263640" y="3383280"/>
            <a:ext cx="2633472" cy="365760"/>
          </a:xfrm>
          <a:prstGeom prst="rect">
            <a:avLst/>
          </a:prstGeom>
          <a:solidFill>
            <a:srgbClr val="FFFFFF">
              <a:alpha val="6000"/>
            </a:srgbClr>
          </a:solidFill>
          <a:ln w="12700">
            <a:solidFill>
              <a:srgbClr val="FFFFFF">
                <a:alpha val="15000"/>
              </a:srgbClr>
            </a:solidFill>
            <a:prstDash val="solid"/>
          </a:ln>
        </p:spPr>
      </p:sp>
      <p:sp>
        <p:nvSpPr>
          <p:cNvPr id="53" name="Shape 51"/>
          <p:cNvSpPr/>
          <p:nvPr/>
        </p:nvSpPr>
        <p:spPr>
          <a:xfrm>
            <a:off x="6263640" y="3383280"/>
            <a:ext cx="54864" cy="365760"/>
          </a:xfrm>
          <a:prstGeom prst="rect">
            <a:avLst/>
          </a:prstGeom>
          <a:solidFill>
            <a:srgbClr val="2EAD7A"/>
          </a:solidFill>
          <a:ln w="12700">
            <a:solidFill>
              <a:srgbClr val="2EAD7A"/>
            </a:solidFill>
            <a:prstDash val="solid"/>
          </a:ln>
        </p:spPr>
      </p:sp>
      <p:sp>
        <p:nvSpPr>
          <p:cNvPr id="54" name="Shape 52"/>
          <p:cNvSpPr/>
          <p:nvPr/>
        </p:nvSpPr>
        <p:spPr>
          <a:xfrm>
            <a:off x="6364224" y="3456432"/>
            <a:ext cx="658368" cy="219456"/>
          </a:xfrm>
          <a:prstGeom prst="roundRect">
            <a:avLst>
              <a:gd name="adj" fmla="val 16667"/>
            </a:avLst>
          </a:prstGeom>
          <a:solidFill>
            <a:srgbClr val="2EAD7A">
              <a:alpha val="20000"/>
            </a:srgbClr>
          </a:solidFill>
          <a:ln w="12700">
            <a:solidFill>
              <a:srgbClr val="2EAD7A">
                <a:alpha val="35000"/>
              </a:srgbClr>
            </a:solidFill>
            <a:prstDash val="solid"/>
          </a:ln>
        </p:spPr>
      </p:sp>
      <p:sp>
        <p:nvSpPr>
          <p:cNvPr id="55" name="Text 53"/>
          <p:cNvSpPr/>
          <p:nvPr/>
        </p:nvSpPr>
        <p:spPr>
          <a:xfrm>
            <a:off x="6364224" y="3456432"/>
            <a:ext cx="658368" cy="219456"/>
          </a:xfrm>
          <a:prstGeom prst="rect">
            <a:avLst/>
          </a:prstGeom>
          <a:noFill/>
          <a:ln/>
        </p:spPr>
        <p:txBody>
          <a:bodyPr wrap="square" lIns="0" tIns="0" rIns="0" bIns="0" rtlCol="0" anchor="ctr"/>
          <a:lstStyle/>
          <a:p>
            <a:pPr algn="ctr" indent="0" marL="0">
              <a:buNone/>
            </a:pPr>
            <a:r>
              <a:rPr lang="en-US" sz="750" b="1" dirty="0">
                <a:solidFill>
                  <a:srgbClr val="FFFFFF"/>
                </a:solidFill>
              </a:rPr>
              <a:t>Next</a:t>
            </a:r>
            <a:endParaRPr lang="en-US" sz="750" dirty="0"/>
          </a:p>
        </p:txBody>
      </p:sp>
      <p:sp>
        <p:nvSpPr>
          <p:cNvPr id="56" name="Text 54"/>
          <p:cNvSpPr/>
          <p:nvPr/>
        </p:nvSpPr>
        <p:spPr>
          <a:xfrm>
            <a:off x="7077456" y="3383280"/>
            <a:ext cx="1737360" cy="365760"/>
          </a:xfrm>
          <a:prstGeom prst="rect">
            <a:avLst/>
          </a:prstGeom>
          <a:noFill/>
          <a:ln/>
        </p:spPr>
        <p:txBody>
          <a:bodyPr wrap="square" rtlCol="0" anchor="ctr"/>
          <a:lstStyle/>
          <a:p>
            <a:pPr indent="0" marL="0">
              <a:buNone/>
            </a:pPr>
            <a:r>
              <a:rPr lang="en-US" sz="900" dirty="0">
                <a:solidFill>
                  <a:srgbClr val="C8D8E8"/>
                </a:solidFill>
              </a:rPr>
              <a:t>Full system assembly</a:t>
            </a:r>
            <a:endParaRPr lang="en-US" sz="900" dirty="0"/>
          </a:p>
        </p:txBody>
      </p:sp>
      <p:sp>
        <p:nvSpPr>
          <p:cNvPr id="57" name="Shape 55"/>
          <p:cNvSpPr/>
          <p:nvPr/>
        </p:nvSpPr>
        <p:spPr>
          <a:xfrm>
            <a:off x="6263640" y="3822192"/>
            <a:ext cx="2633472" cy="365760"/>
          </a:xfrm>
          <a:prstGeom prst="rect">
            <a:avLst/>
          </a:prstGeom>
          <a:solidFill>
            <a:srgbClr val="FFFFFF">
              <a:alpha val="6000"/>
            </a:srgbClr>
          </a:solidFill>
          <a:ln w="12700">
            <a:solidFill>
              <a:srgbClr val="FFFFFF">
                <a:alpha val="15000"/>
              </a:srgbClr>
            </a:solidFill>
            <a:prstDash val="solid"/>
          </a:ln>
        </p:spPr>
      </p:sp>
      <p:sp>
        <p:nvSpPr>
          <p:cNvPr id="58" name="Shape 56"/>
          <p:cNvSpPr/>
          <p:nvPr/>
        </p:nvSpPr>
        <p:spPr>
          <a:xfrm>
            <a:off x="6263640" y="3822192"/>
            <a:ext cx="54864" cy="365760"/>
          </a:xfrm>
          <a:prstGeom prst="rect">
            <a:avLst/>
          </a:prstGeom>
          <a:solidFill>
            <a:srgbClr val="6B4E9E"/>
          </a:solidFill>
          <a:ln w="12700">
            <a:solidFill>
              <a:srgbClr val="6B4E9E"/>
            </a:solidFill>
            <a:prstDash val="solid"/>
          </a:ln>
        </p:spPr>
      </p:sp>
      <p:sp>
        <p:nvSpPr>
          <p:cNvPr id="59" name="Shape 57"/>
          <p:cNvSpPr/>
          <p:nvPr/>
        </p:nvSpPr>
        <p:spPr>
          <a:xfrm>
            <a:off x="6364224" y="3895344"/>
            <a:ext cx="658368" cy="219456"/>
          </a:xfrm>
          <a:prstGeom prst="roundRect">
            <a:avLst>
              <a:gd name="adj" fmla="val 16667"/>
            </a:avLst>
          </a:prstGeom>
          <a:solidFill>
            <a:srgbClr val="6B4E9E">
              <a:alpha val="20000"/>
            </a:srgbClr>
          </a:solidFill>
          <a:ln w="12700">
            <a:solidFill>
              <a:srgbClr val="6B4E9E">
                <a:alpha val="35000"/>
              </a:srgbClr>
            </a:solidFill>
            <a:prstDash val="solid"/>
          </a:ln>
        </p:spPr>
      </p:sp>
      <p:sp>
        <p:nvSpPr>
          <p:cNvPr id="60" name="Text 58"/>
          <p:cNvSpPr/>
          <p:nvPr/>
        </p:nvSpPr>
        <p:spPr>
          <a:xfrm>
            <a:off x="6364224" y="3895344"/>
            <a:ext cx="658368" cy="219456"/>
          </a:xfrm>
          <a:prstGeom prst="rect">
            <a:avLst/>
          </a:prstGeom>
          <a:noFill/>
          <a:ln/>
        </p:spPr>
        <p:txBody>
          <a:bodyPr wrap="square" lIns="0" tIns="0" rIns="0" bIns="0" rtlCol="0" anchor="ctr"/>
          <a:lstStyle/>
          <a:p>
            <a:pPr algn="ctr" indent="0" marL="0">
              <a:buNone/>
            </a:pPr>
            <a:r>
              <a:rPr lang="en-US" sz="750" b="1" dirty="0">
                <a:solidFill>
                  <a:srgbClr val="FFFFFF"/>
                </a:solidFill>
              </a:rPr>
              <a:t>Next</a:t>
            </a:r>
            <a:endParaRPr lang="en-US" sz="750" dirty="0"/>
          </a:p>
        </p:txBody>
      </p:sp>
      <p:sp>
        <p:nvSpPr>
          <p:cNvPr id="61" name="Text 59"/>
          <p:cNvSpPr/>
          <p:nvPr/>
        </p:nvSpPr>
        <p:spPr>
          <a:xfrm>
            <a:off x="7077456" y="3822192"/>
            <a:ext cx="1737360" cy="365760"/>
          </a:xfrm>
          <a:prstGeom prst="rect">
            <a:avLst/>
          </a:prstGeom>
          <a:noFill/>
          <a:ln/>
        </p:spPr>
        <p:txBody>
          <a:bodyPr wrap="square" rtlCol="0" anchor="ctr"/>
          <a:lstStyle/>
          <a:p>
            <a:pPr indent="0" marL="0">
              <a:buNone/>
            </a:pPr>
            <a:r>
              <a:rPr lang="en-US" sz="900" dirty="0">
                <a:solidFill>
                  <a:srgbClr val="C8D8E8"/>
                </a:solidFill>
              </a:rPr>
              <a:t>Fix ROS2 joint transforms</a:t>
            </a:r>
            <a:endParaRPr lang="en-US" sz="900" dirty="0"/>
          </a:p>
        </p:txBody>
      </p:sp>
      <p:sp>
        <p:nvSpPr>
          <p:cNvPr id="62" name="Shape 60"/>
          <p:cNvSpPr/>
          <p:nvPr/>
        </p:nvSpPr>
        <p:spPr>
          <a:xfrm>
            <a:off x="6263640" y="4261104"/>
            <a:ext cx="2633472" cy="365760"/>
          </a:xfrm>
          <a:prstGeom prst="rect">
            <a:avLst/>
          </a:prstGeom>
          <a:solidFill>
            <a:srgbClr val="FFFFFF">
              <a:alpha val="6000"/>
            </a:srgbClr>
          </a:solidFill>
          <a:ln w="12700">
            <a:solidFill>
              <a:srgbClr val="FFFFFF">
                <a:alpha val="15000"/>
              </a:srgbClr>
            </a:solidFill>
            <a:prstDash val="solid"/>
          </a:ln>
        </p:spPr>
      </p:sp>
      <p:sp>
        <p:nvSpPr>
          <p:cNvPr id="63" name="Shape 61"/>
          <p:cNvSpPr/>
          <p:nvPr/>
        </p:nvSpPr>
        <p:spPr>
          <a:xfrm>
            <a:off x="6263640" y="4261104"/>
            <a:ext cx="54864" cy="365760"/>
          </a:xfrm>
          <a:prstGeom prst="rect">
            <a:avLst/>
          </a:prstGeom>
          <a:solidFill>
            <a:srgbClr val="2EAD7A"/>
          </a:solidFill>
          <a:ln w="12700">
            <a:solidFill>
              <a:srgbClr val="2EAD7A"/>
            </a:solidFill>
            <a:prstDash val="solid"/>
          </a:ln>
        </p:spPr>
      </p:sp>
      <p:sp>
        <p:nvSpPr>
          <p:cNvPr id="64" name="Shape 62"/>
          <p:cNvSpPr/>
          <p:nvPr/>
        </p:nvSpPr>
        <p:spPr>
          <a:xfrm>
            <a:off x="6364224" y="4334256"/>
            <a:ext cx="658368" cy="219456"/>
          </a:xfrm>
          <a:prstGeom prst="roundRect">
            <a:avLst>
              <a:gd name="adj" fmla="val 16667"/>
            </a:avLst>
          </a:prstGeom>
          <a:solidFill>
            <a:srgbClr val="2EAD7A">
              <a:alpha val="20000"/>
            </a:srgbClr>
          </a:solidFill>
          <a:ln w="12700">
            <a:solidFill>
              <a:srgbClr val="2EAD7A">
                <a:alpha val="35000"/>
              </a:srgbClr>
            </a:solidFill>
            <a:prstDash val="solid"/>
          </a:ln>
        </p:spPr>
      </p:sp>
      <p:sp>
        <p:nvSpPr>
          <p:cNvPr id="65" name="Text 63"/>
          <p:cNvSpPr/>
          <p:nvPr/>
        </p:nvSpPr>
        <p:spPr>
          <a:xfrm>
            <a:off x="6364224" y="4334256"/>
            <a:ext cx="658368" cy="219456"/>
          </a:xfrm>
          <a:prstGeom prst="rect">
            <a:avLst/>
          </a:prstGeom>
          <a:noFill/>
          <a:ln/>
        </p:spPr>
        <p:txBody>
          <a:bodyPr wrap="square" lIns="0" tIns="0" rIns="0" bIns="0" rtlCol="0" anchor="ctr"/>
          <a:lstStyle/>
          <a:p>
            <a:pPr algn="ctr" indent="0" marL="0">
              <a:buNone/>
            </a:pPr>
            <a:r>
              <a:rPr lang="en-US" sz="750" b="1" dirty="0">
                <a:solidFill>
                  <a:srgbClr val="FFFFFF"/>
                </a:solidFill>
              </a:rPr>
              <a:t>Next</a:t>
            </a:r>
            <a:endParaRPr lang="en-US" sz="750" dirty="0"/>
          </a:p>
        </p:txBody>
      </p:sp>
      <p:sp>
        <p:nvSpPr>
          <p:cNvPr id="66" name="Text 64"/>
          <p:cNvSpPr/>
          <p:nvPr/>
        </p:nvSpPr>
        <p:spPr>
          <a:xfrm>
            <a:off x="7077456" y="4261104"/>
            <a:ext cx="1737360" cy="365760"/>
          </a:xfrm>
          <a:prstGeom prst="rect">
            <a:avLst/>
          </a:prstGeom>
          <a:noFill/>
          <a:ln/>
        </p:spPr>
        <p:txBody>
          <a:bodyPr wrap="square" rtlCol="0" anchor="ctr"/>
          <a:lstStyle/>
          <a:p>
            <a:pPr indent="0" marL="0">
              <a:buNone/>
            </a:pPr>
            <a:r>
              <a:rPr lang="en-US" sz="900" dirty="0">
                <a:solidFill>
                  <a:srgbClr val="C8D8E8"/>
                </a:solidFill>
              </a:rPr>
              <a:t>Full pick-and-place demo</a:t>
            </a:r>
            <a:endParaRPr lang="en-US" sz="900" dirty="0"/>
          </a:p>
        </p:txBody>
      </p:sp>
      <p:sp>
        <p:nvSpPr>
          <p:cNvPr id="67" name="Text 65"/>
          <p:cNvSpPr/>
          <p:nvPr/>
        </p:nvSpPr>
        <p:spPr>
          <a:xfrm>
            <a:off x="274320" y="4919472"/>
            <a:ext cx="8595360" cy="182880"/>
          </a:xfrm>
          <a:prstGeom prst="rect">
            <a:avLst/>
          </a:prstGeom>
          <a:noFill/>
          <a:ln/>
        </p:spPr>
        <p:txBody>
          <a:bodyPr wrap="square" rtlCol="0" anchor="ctr"/>
          <a:lstStyle/>
          <a:p>
            <a:pPr algn="r" indent="0" marL="0">
              <a:buNone/>
            </a:pPr>
            <a:r>
              <a:rPr lang="en-US" sz="800" dirty="0">
                <a:solidFill>
                  <a:srgbClr val="8494A8"/>
                </a:solidFill>
              </a:rPr>
              <a:t>Mechatronics System Design 101  ·  Leen's Group  ·  Week 12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Robotic Arm – Week 12 Progress Report</dc:title>
  <dc:subject>PptxGenJS Presentation</dc:subject>
  <dc:creator>PptxGenJS</dc:creator>
  <cp:lastModifiedBy>PptxGenJS</cp:lastModifiedBy>
  <cp:revision>1</cp:revision>
  <dcterms:created xsi:type="dcterms:W3CDTF">2026-06-02T10:56:17Z</dcterms:created>
  <dcterms:modified xsi:type="dcterms:W3CDTF">2026-06-02T10:56:17Z</dcterms:modified>
</cp:coreProperties>
</file>