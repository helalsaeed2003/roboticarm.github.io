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61276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6949440" y="-1280160"/>
            <a:ext cx="3840480" cy="3840480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Shape 2"/>
          <p:cNvSpPr/>
          <p:nvPr/>
        </p:nvSpPr>
        <p:spPr>
          <a:xfrm>
            <a:off x="7680960" y="3291840"/>
            <a:ext cx="2011680" cy="2011680"/>
          </a:xfrm>
          <a:prstGeom prst="ellipse">
            <a:avLst/>
          </a:prstGeom>
          <a:solidFill>
            <a:srgbClr val="028090">
              <a:alpha val="10000"/>
            </a:srgbClr>
          </a:solidFill>
          <a:ln w="12700">
            <a:solidFill>
              <a:srgbClr val="02809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" name="Shape 3"/>
          <p:cNvSpPr/>
          <p:nvPr/>
        </p:nvSpPr>
        <p:spPr>
          <a:xfrm>
            <a:off x="438912" y="777240"/>
            <a:ext cx="1280160" cy="329184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" name="Text 4"/>
          <p:cNvSpPr/>
          <p:nvPr/>
        </p:nvSpPr>
        <p:spPr>
          <a:xfrm>
            <a:off x="438912" y="77724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</a:rPr>
              <a:t>WEEK 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84048" y="1353312"/>
            <a:ext cx="7772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 Arm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384048" y="2176272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&amp; Place System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384048" y="2907792"/>
            <a:ext cx="45720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" name="Text 8"/>
          <p:cNvSpPr/>
          <p:nvPr/>
        </p:nvSpPr>
        <p:spPr>
          <a:xfrm>
            <a:off x="384048" y="3090672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4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Progress Report  ·  Mechatronics System Design 101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4048" y="345643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4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1 – April 7, 2025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4048" y="446227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4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Leen's Group  ·  Leen  ·  Mohamed  ·  Helal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6583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— Snapshot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47472" y="804672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What we worked on this week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" y="1152144"/>
            <a:ext cx="5577840" cy="859536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7" name="Shape 5"/>
          <p:cNvSpPr/>
          <p:nvPr/>
        </p:nvSpPr>
        <p:spPr>
          <a:xfrm>
            <a:off x="347472" y="1152144"/>
            <a:ext cx="73152" cy="85953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" name="Shape 6"/>
          <p:cNvSpPr/>
          <p:nvPr/>
        </p:nvSpPr>
        <p:spPr>
          <a:xfrm>
            <a:off x="493776" y="1353312"/>
            <a:ext cx="329184" cy="3291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" name="Text 7"/>
          <p:cNvSpPr/>
          <p:nvPr/>
        </p:nvSpPr>
        <p:spPr>
          <a:xfrm>
            <a:off x="493776" y="13533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32688" y="1243584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</a:rPr>
              <a:t>OpenCV — data collection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32688" y="1536192"/>
            <a:ext cx="4846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494A8"/>
                </a:solidFill>
              </a:rPr>
              <a:t>Began gathering image data for the objects to be picked up. Camera connected and capture pipeline initiated.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7472" y="2121408"/>
            <a:ext cx="5577840" cy="859536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3" name="Shape 11"/>
          <p:cNvSpPr/>
          <p:nvPr/>
        </p:nvSpPr>
        <p:spPr>
          <a:xfrm>
            <a:off x="347472" y="2121408"/>
            <a:ext cx="73152" cy="859536"/>
          </a:xfrm>
          <a:prstGeom prst="rect">
            <a:avLst/>
          </a:prstGeom>
          <a:solidFill>
            <a:srgbClr val="2EAD7A"/>
          </a:solidFill>
          <a:ln w="12700">
            <a:solidFill>
              <a:srgbClr val="2EAD7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4" name="Shape 12"/>
          <p:cNvSpPr/>
          <p:nvPr/>
        </p:nvSpPr>
        <p:spPr>
          <a:xfrm>
            <a:off x="493776" y="2322576"/>
            <a:ext cx="329184" cy="329184"/>
          </a:xfrm>
          <a:prstGeom prst="ellipse">
            <a:avLst/>
          </a:prstGeom>
          <a:solidFill>
            <a:srgbClr val="2EAD7A"/>
          </a:solidFill>
          <a:ln w="12700">
            <a:solidFill>
              <a:srgbClr val="2EAD7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5" name="Text 13"/>
          <p:cNvSpPr/>
          <p:nvPr/>
        </p:nvSpPr>
        <p:spPr>
          <a:xfrm>
            <a:off x="493776" y="23225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32688" y="2212848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</a:rPr>
              <a:t>End effector design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32688" y="2505456"/>
            <a:ext cx="4846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494A8"/>
                </a:solidFill>
              </a:rPr>
              <a:t>Conducted suction force calculations for cup sizing. Explored alternative gripper concepts alongside the suction cup approach.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3090672"/>
            <a:ext cx="5577840" cy="859536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9" name="Shape 17"/>
          <p:cNvSpPr/>
          <p:nvPr/>
        </p:nvSpPr>
        <p:spPr>
          <a:xfrm>
            <a:off x="347472" y="3090672"/>
            <a:ext cx="73152" cy="859536"/>
          </a:xfrm>
          <a:prstGeom prst="rect">
            <a:avLst/>
          </a:prstGeom>
          <a:solidFill>
            <a:srgbClr val="6B4E9E"/>
          </a:solidFill>
          <a:ln w="12700">
            <a:solidFill>
              <a:srgbClr val="6B4E9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0" name="Shape 18"/>
          <p:cNvSpPr/>
          <p:nvPr/>
        </p:nvSpPr>
        <p:spPr>
          <a:xfrm>
            <a:off x="493776" y="3291840"/>
            <a:ext cx="329184" cy="329184"/>
          </a:xfrm>
          <a:prstGeom prst="ellipse">
            <a:avLst/>
          </a:prstGeom>
          <a:solidFill>
            <a:srgbClr val="6B4E9E"/>
          </a:solidFill>
          <a:ln w="12700">
            <a:solidFill>
              <a:srgbClr val="6B4E9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1" name="Text 19"/>
          <p:cNvSpPr/>
          <p:nvPr/>
        </p:nvSpPr>
        <p:spPr>
          <a:xfrm>
            <a:off x="493776" y="3291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32688" y="3182112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</a:rPr>
              <a:t>Manual motor control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32688" y="3474720"/>
            <a:ext cx="4846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494A8"/>
                </a:solidFill>
              </a:rPr>
              <a:t>Diagnosed incorrect motors (continuous rotation), sourced correct servos, then implemented full gamepad control via Firmata + Processing libraries.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44768" y="8046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Status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144768" y="1152144"/>
            <a:ext cx="27432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6" name="Shape 24"/>
          <p:cNvSpPr/>
          <p:nvPr/>
        </p:nvSpPr>
        <p:spPr>
          <a:xfrm>
            <a:off x="6144768" y="1152144"/>
            <a:ext cx="64008" cy="566928"/>
          </a:xfrm>
          <a:prstGeom prst="rect">
            <a:avLst/>
          </a:prstGeom>
          <a:solidFill>
            <a:srgbClr val="E06530"/>
          </a:solidFill>
          <a:ln w="12700">
            <a:solidFill>
              <a:srgbClr val="E0653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7" name="Text 25"/>
          <p:cNvSpPr/>
          <p:nvPr/>
        </p:nvSpPr>
        <p:spPr>
          <a:xfrm>
            <a:off x="6272784" y="1207008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3E50"/>
                </a:solidFill>
              </a:rPr>
              <a:t>Schedule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479792" y="1298448"/>
            <a:ext cx="1298448" cy="237744"/>
          </a:xfrm>
          <a:prstGeom prst="roundRect">
            <a:avLst>
              <a:gd name="adj" fmla="val 15385"/>
            </a:avLst>
          </a:prstGeom>
          <a:solidFill>
            <a:srgbClr val="E06530">
              <a:alpha val="18000"/>
            </a:srgbClr>
          </a:solidFill>
          <a:ln w="12700">
            <a:solidFill>
              <a:srgbClr val="E0653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9" name="Text 27"/>
          <p:cNvSpPr/>
          <p:nvPr/>
        </p:nvSpPr>
        <p:spPr>
          <a:xfrm>
            <a:off x="7479792" y="1298448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B3000"/>
                </a:solidFill>
              </a:rPr>
              <a:t>Behind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144768" y="1810512"/>
            <a:ext cx="27432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31" name="Shape 29"/>
          <p:cNvSpPr/>
          <p:nvPr/>
        </p:nvSpPr>
        <p:spPr>
          <a:xfrm>
            <a:off x="6144768" y="1810512"/>
            <a:ext cx="64008" cy="5669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2" name="Text 30"/>
          <p:cNvSpPr/>
          <p:nvPr/>
        </p:nvSpPr>
        <p:spPr>
          <a:xfrm>
            <a:off x="6272784" y="1865376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3E50"/>
                </a:solidFill>
              </a:rPr>
              <a:t>CAD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479792" y="1956816"/>
            <a:ext cx="1298448" cy="237744"/>
          </a:xfrm>
          <a:prstGeom prst="roundRect">
            <a:avLst>
              <a:gd name="adj" fmla="val 15385"/>
            </a:avLst>
          </a:prstGeom>
          <a:solidFill>
            <a:srgbClr val="C0392B">
              <a:alpha val="18000"/>
            </a:srgbClr>
          </a:solidFill>
          <a:ln w="12700">
            <a:solidFill>
              <a:srgbClr val="C0392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4" name="Text 32"/>
          <p:cNvSpPr/>
          <p:nvPr/>
        </p:nvSpPr>
        <p:spPr>
          <a:xfrm>
            <a:off x="7479792" y="1956816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B1515"/>
                </a:solidFill>
              </a:rPr>
              <a:t>No progress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144768" y="2468880"/>
            <a:ext cx="27432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36" name="Shape 34"/>
          <p:cNvSpPr/>
          <p:nvPr/>
        </p:nvSpPr>
        <p:spPr>
          <a:xfrm>
            <a:off x="6144768" y="2468880"/>
            <a:ext cx="64008" cy="56692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7" name="Text 35"/>
          <p:cNvSpPr/>
          <p:nvPr/>
        </p:nvSpPr>
        <p:spPr>
          <a:xfrm>
            <a:off x="6272784" y="2523744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3E50"/>
                </a:solidFill>
              </a:rPr>
              <a:t>OpenCV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479792" y="2615184"/>
            <a:ext cx="1298448" cy="237744"/>
          </a:xfrm>
          <a:prstGeom prst="roundRect">
            <a:avLst>
              <a:gd name="adj" fmla="val 15385"/>
            </a:avLst>
          </a:prstGeom>
          <a:solidFill>
            <a:srgbClr val="E8A020">
              <a:alpha val="18000"/>
            </a:srgbClr>
          </a:solidFill>
          <a:ln w="12700">
            <a:solidFill>
              <a:srgbClr val="E8A02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9" name="Text 37"/>
          <p:cNvSpPr/>
          <p:nvPr/>
        </p:nvSpPr>
        <p:spPr>
          <a:xfrm>
            <a:off x="7479792" y="2615184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A5000"/>
                </a:solidFill>
              </a:rPr>
              <a:t>In progress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144768" y="3127248"/>
            <a:ext cx="27432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41" name="Shape 39"/>
          <p:cNvSpPr/>
          <p:nvPr/>
        </p:nvSpPr>
        <p:spPr>
          <a:xfrm>
            <a:off x="6144768" y="3127248"/>
            <a:ext cx="64008" cy="56692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2" name="Text 40"/>
          <p:cNvSpPr/>
          <p:nvPr/>
        </p:nvSpPr>
        <p:spPr>
          <a:xfrm>
            <a:off x="6272784" y="3182112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3E50"/>
                </a:solidFill>
              </a:rPr>
              <a:t>End effector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479792" y="3273552"/>
            <a:ext cx="1298448" cy="237744"/>
          </a:xfrm>
          <a:prstGeom prst="roundRect">
            <a:avLst>
              <a:gd name="adj" fmla="val 15385"/>
            </a:avLst>
          </a:prstGeom>
          <a:solidFill>
            <a:srgbClr val="E8A020">
              <a:alpha val="18000"/>
            </a:srgbClr>
          </a:solidFill>
          <a:ln w="12700">
            <a:solidFill>
              <a:srgbClr val="E8A02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4" name="Text 42"/>
          <p:cNvSpPr/>
          <p:nvPr/>
        </p:nvSpPr>
        <p:spPr>
          <a:xfrm>
            <a:off x="7479792" y="3273552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A5000"/>
                </a:solidFill>
              </a:rPr>
              <a:t>Started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144768" y="3785616"/>
            <a:ext cx="27432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46" name="Shape 44"/>
          <p:cNvSpPr/>
          <p:nvPr/>
        </p:nvSpPr>
        <p:spPr>
          <a:xfrm>
            <a:off x="6144768" y="3785616"/>
            <a:ext cx="64008" cy="5669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7" name="Text 45"/>
          <p:cNvSpPr/>
          <p:nvPr/>
        </p:nvSpPr>
        <p:spPr>
          <a:xfrm>
            <a:off x="6272784" y="3840480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3E50"/>
                </a:solidFill>
              </a:rPr>
              <a:t>ROS2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479792" y="3931920"/>
            <a:ext cx="1298448" cy="237744"/>
          </a:xfrm>
          <a:prstGeom prst="roundRect">
            <a:avLst>
              <a:gd name="adj" fmla="val 15385"/>
            </a:avLst>
          </a:prstGeom>
          <a:solidFill>
            <a:srgbClr val="C0392B">
              <a:alpha val="18000"/>
            </a:srgbClr>
          </a:solidFill>
          <a:ln w="12700">
            <a:solidFill>
              <a:srgbClr val="C0392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9" name="Text 47"/>
          <p:cNvSpPr/>
          <p:nvPr/>
        </p:nvSpPr>
        <p:spPr>
          <a:xfrm>
            <a:off x="7479792" y="3931920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B1515"/>
                </a:solidFill>
              </a:rPr>
              <a:t>Not started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347472" y="4151376"/>
            <a:ext cx="8476488" cy="384048"/>
          </a:xfrm>
          <a:prstGeom prst="rect">
            <a:avLst/>
          </a:prstGeom>
          <a:solidFill>
            <a:srgbClr val="C0392B">
              <a:alpha val="12000"/>
            </a:srgbClr>
          </a:solidFill>
          <a:ln w="12700">
            <a:solidFill>
              <a:srgbClr val="C0392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1" name="Text 49"/>
          <p:cNvSpPr/>
          <p:nvPr/>
        </p:nvSpPr>
        <p:spPr>
          <a:xfrm>
            <a:off x="475488" y="4151376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1A1A"/>
                </a:solidFill>
              </a:rPr>
              <a:t>⚠  CAD made no progress this week — now targeting Week 7. ROS2 has not been started — critically behind schedule.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274320" y="4919472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494A8"/>
                </a:solidFill>
              </a:rPr>
              <a:t>Mechatronics System Design 101  ·  Leen's Group  ·  Week 5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6583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Schedule — Gantt Chart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47472" y="804672"/>
            <a:ext cx="8476488" cy="4114800"/>
          </a:xfrm>
          <a:prstGeom prst="rect">
            <a:avLst/>
          </a:prstGeom>
          <a:solidFill>
            <a:srgbClr val="E8EDF5"/>
          </a:solidFill>
          <a:ln w="12700">
            <a:solidFill>
              <a:srgbClr val="C8D4E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" name="Text 4"/>
          <p:cNvSpPr/>
          <p:nvPr/>
        </p:nvSpPr>
        <p:spPr>
          <a:xfrm>
            <a:off x="347472" y="804672"/>
            <a:ext cx="8476488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9BAEC8"/>
                </a:solidFill>
              </a:rPr>
              <a:t>[ Paste Gantt Chart Image Here ]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4320" y="4919472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494A8"/>
                </a:solidFill>
              </a:rPr>
              <a:t>Mechatronics System Design 101  ·  Leen's Group  ·  Week 5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6583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 &amp; Deliverables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47472" y="804672"/>
            <a:ext cx="2212848" cy="292608"/>
          </a:xfrm>
          <a:prstGeom prst="rect">
            <a:avLst/>
          </a:prstGeom>
          <a:solidFill>
            <a:srgbClr val="0D1B3E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" name="Text 4"/>
          <p:cNvSpPr/>
          <p:nvPr/>
        </p:nvSpPr>
        <p:spPr>
          <a:xfrm>
            <a:off x="438912" y="804672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Deliverable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78608" y="804672"/>
            <a:ext cx="1572768" cy="292608"/>
          </a:xfrm>
          <a:prstGeom prst="rect">
            <a:avLst/>
          </a:prstGeom>
          <a:solidFill>
            <a:srgbClr val="0D1B3E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" name="Text 6"/>
          <p:cNvSpPr/>
          <p:nvPr/>
        </p:nvSpPr>
        <p:spPr>
          <a:xfrm>
            <a:off x="2670048" y="80467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Target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69664" y="804672"/>
            <a:ext cx="1389888" cy="292608"/>
          </a:xfrm>
          <a:prstGeom prst="rect">
            <a:avLst/>
          </a:prstGeom>
          <a:solidFill>
            <a:srgbClr val="0D1B3E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" name="Text 8"/>
          <p:cNvSpPr/>
          <p:nvPr/>
        </p:nvSpPr>
        <p:spPr>
          <a:xfrm>
            <a:off x="4261104" y="80467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Status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577840" y="804672"/>
            <a:ext cx="3246120" cy="292608"/>
          </a:xfrm>
          <a:prstGeom prst="rect">
            <a:avLst/>
          </a:prstGeom>
          <a:solidFill>
            <a:srgbClr val="0D1B3E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" name="Text 10"/>
          <p:cNvSpPr/>
          <p:nvPr/>
        </p:nvSpPr>
        <p:spPr>
          <a:xfrm>
            <a:off x="5669280" y="804672"/>
            <a:ext cx="3136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This week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7472" y="1097280"/>
            <a:ext cx="2212848" cy="457200"/>
          </a:xfrm>
          <a:prstGeom prst="rect">
            <a:avLst/>
          </a:prstGeom>
          <a:solidFill>
            <a:srgbClr val="EDF2F7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4" name="Shape 12"/>
          <p:cNvSpPr/>
          <p:nvPr/>
        </p:nvSpPr>
        <p:spPr>
          <a:xfrm>
            <a:off x="2578608" y="1097280"/>
            <a:ext cx="1572768" cy="457200"/>
          </a:xfrm>
          <a:prstGeom prst="rect">
            <a:avLst/>
          </a:prstGeom>
          <a:solidFill>
            <a:srgbClr val="EDF2F7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5" name="Shape 13"/>
          <p:cNvSpPr/>
          <p:nvPr/>
        </p:nvSpPr>
        <p:spPr>
          <a:xfrm>
            <a:off x="4169664" y="1097280"/>
            <a:ext cx="1389888" cy="457200"/>
          </a:xfrm>
          <a:prstGeom prst="rect">
            <a:avLst/>
          </a:prstGeom>
          <a:solidFill>
            <a:srgbClr val="EDF2F7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6" name="Shape 14"/>
          <p:cNvSpPr/>
          <p:nvPr/>
        </p:nvSpPr>
        <p:spPr>
          <a:xfrm>
            <a:off x="5577840" y="1097280"/>
            <a:ext cx="3246120" cy="457200"/>
          </a:xfrm>
          <a:prstGeom prst="rect">
            <a:avLst/>
          </a:prstGeom>
          <a:solidFill>
            <a:srgbClr val="EDF2F7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7" name="Text 15"/>
          <p:cNvSpPr/>
          <p:nvPr/>
        </p:nvSpPr>
        <p:spPr>
          <a:xfrm>
            <a:off x="438912" y="10972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3E50"/>
                </a:solidFill>
              </a:rPr>
              <a:t>CAD model complete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70048" y="10972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Week 7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261104" y="1188720"/>
            <a:ext cx="1207008" cy="256032"/>
          </a:xfrm>
          <a:prstGeom prst="roundRect">
            <a:avLst>
              <a:gd name="adj" fmla="val 14286"/>
            </a:avLst>
          </a:prstGeom>
          <a:solidFill>
            <a:srgbClr val="E06530">
              <a:alpha val="18000"/>
            </a:srgbClr>
          </a:solidFill>
          <a:ln w="12700">
            <a:solidFill>
              <a:srgbClr val="E06530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0" name="Text 18"/>
          <p:cNvSpPr/>
          <p:nvPr/>
        </p:nvSpPr>
        <p:spPr>
          <a:xfrm>
            <a:off x="4261104" y="1188720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B3000"/>
                </a:solidFill>
              </a:rPr>
              <a:t>Behind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669280" y="1097280"/>
            <a:ext cx="3136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494A8"/>
                </a:solidFill>
              </a:rPr>
              <a:t>No progress this week — 1 week delay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47472" y="1591056"/>
            <a:ext cx="221284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3" name="Shape 21"/>
          <p:cNvSpPr/>
          <p:nvPr/>
        </p:nvSpPr>
        <p:spPr>
          <a:xfrm>
            <a:off x="2578608" y="1591056"/>
            <a:ext cx="157276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4" name="Shape 22"/>
          <p:cNvSpPr/>
          <p:nvPr/>
        </p:nvSpPr>
        <p:spPr>
          <a:xfrm>
            <a:off x="4169664" y="1591056"/>
            <a:ext cx="138988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5" name="Shape 23"/>
          <p:cNvSpPr/>
          <p:nvPr/>
        </p:nvSpPr>
        <p:spPr>
          <a:xfrm>
            <a:off x="5577840" y="1591056"/>
            <a:ext cx="3246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6" name="Text 24"/>
          <p:cNvSpPr/>
          <p:nvPr/>
        </p:nvSpPr>
        <p:spPr>
          <a:xfrm>
            <a:off x="438912" y="1591056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3E50"/>
                </a:solidFill>
              </a:rPr>
              <a:t>Camera vision (OpenCV)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670048" y="159105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Week 8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261104" y="1682496"/>
            <a:ext cx="1207008" cy="256032"/>
          </a:xfrm>
          <a:prstGeom prst="roundRect">
            <a:avLst>
              <a:gd name="adj" fmla="val 14286"/>
            </a:avLst>
          </a:prstGeom>
          <a:solidFill>
            <a:srgbClr val="E8A020">
              <a:alpha val="18000"/>
            </a:srgbClr>
          </a:solidFill>
          <a:ln w="12700">
            <a:solidFill>
              <a:srgbClr val="E8A020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9" name="Text 27"/>
          <p:cNvSpPr/>
          <p:nvPr/>
        </p:nvSpPr>
        <p:spPr>
          <a:xfrm>
            <a:off x="4261104" y="1682496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A5000"/>
                </a:solidFill>
              </a:rPr>
              <a:t>In progress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669280" y="1591056"/>
            <a:ext cx="3136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494A8"/>
                </a:solidFill>
              </a:rPr>
              <a:t>Collecting image data for detection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47472" y="2084832"/>
            <a:ext cx="2212848" cy="457200"/>
          </a:xfrm>
          <a:prstGeom prst="rect">
            <a:avLst/>
          </a:prstGeom>
          <a:solidFill>
            <a:srgbClr val="EDF2F7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2" name="Shape 30"/>
          <p:cNvSpPr/>
          <p:nvPr/>
        </p:nvSpPr>
        <p:spPr>
          <a:xfrm>
            <a:off x="2578608" y="2084832"/>
            <a:ext cx="1572768" cy="457200"/>
          </a:xfrm>
          <a:prstGeom prst="rect">
            <a:avLst/>
          </a:prstGeom>
          <a:solidFill>
            <a:srgbClr val="EDF2F7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3" name="Shape 31"/>
          <p:cNvSpPr/>
          <p:nvPr/>
        </p:nvSpPr>
        <p:spPr>
          <a:xfrm>
            <a:off x="4169664" y="2084832"/>
            <a:ext cx="1389888" cy="457200"/>
          </a:xfrm>
          <a:prstGeom prst="rect">
            <a:avLst/>
          </a:prstGeom>
          <a:solidFill>
            <a:srgbClr val="EDF2F7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4" name="Shape 32"/>
          <p:cNvSpPr/>
          <p:nvPr/>
        </p:nvSpPr>
        <p:spPr>
          <a:xfrm>
            <a:off x="5577840" y="2084832"/>
            <a:ext cx="3246120" cy="457200"/>
          </a:xfrm>
          <a:prstGeom prst="rect">
            <a:avLst/>
          </a:prstGeom>
          <a:solidFill>
            <a:srgbClr val="EDF2F7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5" name="Text 33"/>
          <p:cNvSpPr/>
          <p:nvPr/>
        </p:nvSpPr>
        <p:spPr>
          <a:xfrm>
            <a:off x="438912" y="208483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3E50"/>
                </a:solidFill>
              </a:rPr>
              <a:t>End effector design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670048" y="208483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Week 8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261104" y="2176272"/>
            <a:ext cx="1207008" cy="256032"/>
          </a:xfrm>
          <a:prstGeom prst="roundRect">
            <a:avLst>
              <a:gd name="adj" fmla="val 14286"/>
            </a:avLst>
          </a:prstGeom>
          <a:solidFill>
            <a:srgbClr val="E8A020">
              <a:alpha val="18000"/>
            </a:srgbClr>
          </a:solidFill>
          <a:ln w="12700">
            <a:solidFill>
              <a:srgbClr val="E8A020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8" name="Text 36"/>
          <p:cNvSpPr/>
          <p:nvPr/>
        </p:nvSpPr>
        <p:spPr>
          <a:xfrm>
            <a:off x="4261104" y="2176272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A5000"/>
                </a:solidFill>
              </a:rPr>
              <a:t>Started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669280" y="2084832"/>
            <a:ext cx="3136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494A8"/>
                </a:solidFill>
              </a:rPr>
              <a:t>Suction calculations done, alternatives reviewed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47472" y="2578608"/>
            <a:ext cx="221284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1" name="Shape 39"/>
          <p:cNvSpPr/>
          <p:nvPr/>
        </p:nvSpPr>
        <p:spPr>
          <a:xfrm>
            <a:off x="2578608" y="2578608"/>
            <a:ext cx="157276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2" name="Shape 40"/>
          <p:cNvSpPr/>
          <p:nvPr/>
        </p:nvSpPr>
        <p:spPr>
          <a:xfrm>
            <a:off x="4169664" y="2578608"/>
            <a:ext cx="138988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3" name="Shape 41"/>
          <p:cNvSpPr/>
          <p:nvPr/>
        </p:nvSpPr>
        <p:spPr>
          <a:xfrm>
            <a:off x="5577840" y="2578608"/>
            <a:ext cx="3246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4" name="Text 42"/>
          <p:cNvSpPr/>
          <p:nvPr/>
        </p:nvSpPr>
        <p:spPr>
          <a:xfrm>
            <a:off x="438912" y="257860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3E50"/>
                </a:solidFill>
              </a:rPr>
              <a:t>Manual motor control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670048" y="257860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Week 5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261104" y="2670048"/>
            <a:ext cx="1207008" cy="256032"/>
          </a:xfrm>
          <a:prstGeom prst="roundRect">
            <a:avLst>
              <a:gd name="adj" fmla="val 14286"/>
            </a:avLst>
          </a:prstGeom>
          <a:solidFill>
            <a:srgbClr val="2EAD7A">
              <a:alpha val="18000"/>
            </a:srgbClr>
          </a:solidFill>
          <a:ln w="12700">
            <a:solidFill>
              <a:srgbClr val="2EAD7A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7" name="Text 45"/>
          <p:cNvSpPr/>
          <p:nvPr/>
        </p:nvSpPr>
        <p:spPr>
          <a:xfrm>
            <a:off x="4261104" y="267004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5C3E"/>
                </a:solidFill>
              </a:rPr>
              <a:t>Done ✓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5669280" y="2578608"/>
            <a:ext cx="3136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494A8"/>
                </a:solidFill>
              </a:rPr>
              <a:t>Gamepad control via Firmata + Processing working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47472" y="3072384"/>
            <a:ext cx="2212848" cy="457200"/>
          </a:xfrm>
          <a:prstGeom prst="rect">
            <a:avLst/>
          </a:prstGeom>
          <a:solidFill>
            <a:srgbClr val="EDF2F7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0" name="Shape 48"/>
          <p:cNvSpPr/>
          <p:nvPr/>
        </p:nvSpPr>
        <p:spPr>
          <a:xfrm>
            <a:off x="2578608" y="3072384"/>
            <a:ext cx="1572768" cy="457200"/>
          </a:xfrm>
          <a:prstGeom prst="rect">
            <a:avLst/>
          </a:prstGeom>
          <a:solidFill>
            <a:srgbClr val="EDF2F7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1" name="Shape 49"/>
          <p:cNvSpPr/>
          <p:nvPr/>
        </p:nvSpPr>
        <p:spPr>
          <a:xfrm>
            <a:off x="4169664" y="3072384"/>
            <a:ext cx="1389888" cy="457200"/>
          </a:xfrm>
          <a:prstGeom prst="rect">
            <a:avLst/>
          </a:prstGeom>
          <a:solidFill>
            <a:srgbClr val="EDF2F7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2" name="Shape 50"/>
          <p:cNvSpPr/>
          <p:nvPr/>
        </p:nvSpPr>
        <p:spPr>
          <a:xfrm>
            <a:off x="5577840" y="3072384"/>
            <a:ext cx="3246120" cy="457200"/>
          </a:xfrm>
          <a:prstGeom prst="rect">
            <a:avLst/>
          </a:prstGeom>
          <a:solidFill>
            <a:srgbClr val="EDF2F7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3" name="Text 51"/>
          <p:cNvSpPr/>
          <p:nvPr/>
        </p:nvSpPr>
        <p:spPr>
          <a:xfrm>
            <a:off x="438912" y="3072384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3E50"/>
                </a:solidFill>
              </a:rPr>
              <a:t>ROS2 / Digital twin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670048" y="3072384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Week 10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261104" y="3163824"/>
            <a:ext cx="1207008" cy="256032"/>
          </a:xfrm>
          <a:prstGeom prst="roundRect">
            <a:avLst>
              <a:gd name="adj" fmla="val 14286"/>
            </a:avLst>
          </a:prstGeom>
          <a:solidFill>
            <a:srgbClr val="C0392B">
              <a:alpha val="18000"/>
            </a:srgbClr>
          </a:solidFill>
          <a:ln w="12700">
            <a:solidFill>
              <a:srgbClr val="C0392B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6" name="Text 54"/>
          <p:cNvSpPr/>
          <p:nvPr/>
        </p:nvSpPr>
        <p:spPr>
          <a:xfrm>
            <a:off x="4261104" y="3163824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B1515"/>
                </a:solidFill>
              </a:rPr>
              <a:t>Not started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5669280" y="3072384"/>
            <a:ext cx="3136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494A8"/>
                </a:solidFill>
              </a:rPr>
              <a:t>Critically behind — must begin Week 6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347472" y="3566160"/>
            <a:ext cx="221284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9" name="Shape 57"/>
          <p:cNvSpPr/>
          <p:nvPr/>
        </p:nvSpPr>
        <p:spPr>
          <a:xfrm>
            <a:off x="2578608" y="3566160"/>
            <a:ext cx="157276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0" name="Shape 58"/>
          <p:cNvSpPr/>
          <p:nvPr/>
        </p:nvSpPr>
        <p:spPr>
          <a:xfrm>
            <a:off x="4169664" y="3566160"/>
            <a:ext cx="138988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1" name="Shape 59"/>
          <p:cNvSpPr/>
          <p:nvPr/>
        </p:nvSpPr>
        <p:spPr>
          <a:xfrm>
            <a:off x="5577840" y="3566160"/>
            <a:ext cx="3246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2" name="Text 60"/>
          <p:cNvSpPr/>
          <p:nvPr/>
        </p:nvSpPr>
        <p:spPr>
          <a:xfrm>
            <a:off x="438912" y="35661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3E50"/>
                </a:solidFill>
              </a:rPr>
              <a:t>Full assembly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2670048" y="35661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Week 10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261104" y="3657600"/>
            <a:ext cx="1207008" cy="256032"/>
          </a:xfrm>
          <a:prstGeom prst="roundRect">
            <a:avLst>
              <a:gd name="adj" fmla="val 14286"/>
            </a:avLst>
          </a:prstGeom>
          <a:solidFill>
            <a:srgbClr val="8494A8">
              <a:alpha val="18000"/>
            </a:srgbClr>
          </a:solidFill>
          <a:ln w="12700">
            <a:solidFill>
              <a:srgbClr val="8494A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5" name="Text 63"/>
          <p:cNvSpPr/>
          <p:nvPr/>
        </p:nvSpPr>
        <p:spPr>
          <a:xfrm>
            <a:off x="4261104" y="3657600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A4A4A"/>
                </a:solidFill>
              </a:rPr>
              <a:t>Planned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5669280" y="3566160"/>
            <a:ext cx="3136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494A8"/>
                </a:solidFill>
              </a:rPr>
              <a:t>3D printed parts ready, campus access needed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347472" y="4059936"/>
            <a:ext cx="2212848" cy="457200"/>
          </a:xfrm>
          <a:prstGeom prst="rect">
            <a:avLst/>
          </a:prstGeom>
          <a:solidFill>
            <a:srgbClr val="EDF2F7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8" name="Shape 66"/>
          <p:cNvSpPr/>
          <p:nvPr/>
        </p:nvSpPr>
        <p:spPr>
          <a:xfrm>
            <a:off x="2578608" y="4059936"/>
            <a:ext cx="1572768" cy="457200"/>
          </a:xfrm>
          <a:prstGeom prst="rect">
            <a:avLst/>
          </a:prstGeom>
          <a:solidFill>
            <a:srgbClr val="EDF2F7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9" name="Shape 67"/>
          <p:cNvSpPr/>
          <p:nvPr/>
        </p:nvSpPr>
        <p:spPr>
          <a:xfrm>
            <a:off x="4169664" y="4059936"/>
            <a:ext cx="1389888" cy="457200"/>
          </a:xfrm>
          <a:prstGeom prst="rect">
            <a:avLst/>
          </a:prstGeom>
          <a:solidFill>
            <a:srgbClr val="EDF2F7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0" name="Shape 68"/>
          <p:cNvSpPr/>
          <p:nvPr/>
        </p:nvSpPr>
        <p:spPr>
          <a:xfrm>
            <a:off x="5577840" y="4059936"/>
            <a:ext cx="3246120" cy="457200"/>
          </a:xfrm>
          <a:prstGeom prst="rect">
            <a:avLst/>
          </a:prstGeom>
          <a:solidFill>
            <a:srgbClr val="EDF2F7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1" name="Text 69"/>
          <p:cNvSpPr/>
          <p:nvPr/>
        </p:nvSpPr>
        <p:spPr>
          <a:xfrm>
            <a:off x="438912" y="4059936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3E50"/>
                </a:solidFill>
              </a:rPr>
              <a:t>Control system complete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2670048" y="405993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Week 11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4261104" y="4151376"/>
            <a:ext cx="1207008" cy="256032"/>
          </a:xfrm>
          <a:prstGeom prst="roundRect">
            <a:avLst>
              <a:gd name="adj" fmla="val 14286"/>
            </a:avLst>
          </a:prstGeom>
          <a:solidFill>
            <a:srgbClr val="8494A8">
              <a:alpha val="18000"/>
            </a:srgbClr>
          </a:solidFill>
          <a:ln w="12700">
            <a:solidFill>
              <a:srgbClr val="8494A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4" name="Text 72"/>
          <p:cNvSpPr/>
          <p:nvPr/>
        </p:nvSpPr>
        <p:spPr>
          <a:xfrm>
            <a:off x="4261104" y="4151376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A4A4A"/>
                </a:solidFill>
              </a:rPr>
              <a:t>Planned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5669280" y="4059936"/>
            <a:ext cx="3136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494A8"/>
                </a:solidFill>
              </a:rPr>
              <a:t>PC + Arduino R4 pipeline being built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274320" y="4919472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494A8"/>
                </a:solidFill>
              </a:rPr>
              <a:t>Mechatronics System Design 101  ·  Leen's Group  ·  Week 5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06530"/>
          </a:solidFill>
          <a:ln w="12700">
            <a:solidFill>
              <a:srgbClr val="E0653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6583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Issues, Risks &amp; Action Items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47472" y="786384"/>
            <a:ext cx="4041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Current issues &amp; risks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" y="1133856"/>
            <a:ext cx="4041648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7" name="Shape 5"/>
          <p:cNvSpPr/>
          <p:nvPr/>
        </p:nvSpPr>
        <p:spPr>
          <a:xfrm>
            <a:off x="347472" y="1133856"/>
            <a:ext cx="73152" cy="8412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" name="Shape 6"/>
          <p:cNvSpPr/>
          <p:nvPr/>
        </p:nvSpPr>
        <p:spPr>
          <a:xfrm>
            <a:off x="3255264" y="1207008"/>
            <a:ext cx="1024128" cy="219456"/>
          </a:xfrm>
          <a:prstGeom prst="roundRect">
            <a:avLst>
              <a:gd name="adj" fmla="val 16667"/>
            </a:avLst>
          </a:prstGeom>
          <a:solidFill>
            <a:srgbClr val="C0392B">
              <a:alpha val="18000"/>
            </a:srgbClr>
          </a:solidFill>
          <a:ln w="12700">
            <a:solidFill>
              <a:srgbClr val="C0392B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" name="Text 7"/>
          <p:cNvSpPr/>
          <p:nvPr/>
        </p:nvSpPr>
        <p:spPr>
          <a:xfrm>
            <a:off x="3255264" y="1207008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B1515"/>
                </a:solidFill>
              </a:rPr>
              <a:t>High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93776" y="118872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3E50"/>
                </a:solidFill>
              </a:rPr>
              <a:t>CAD — no progress this week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93776" y="1481328"/>
            <a:ext cx="3401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494A8"/>
                </a:solidFill>
              </a:rPr>
              <a:t>Wrist joint and end effector mount remain incomplete. Now targeting Week 7 instead of Week 6.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47472" y="2084832"/>
            <a:ext cx="4041648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3" name="Shape 11"/>
          <p:cNvSpPr/>
          <p:nvPr/>
        </p:nvSpPr>
        <p:spPr>
          <a:xfrm>
            <a:off x="347472" y="2084832"/>
            <a:ext cx="73152" cy="8412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4" name="Shape 12"/>
          <p:cNvSpPr/>
          <p:nvPr/>
        </p:nvSpPr>
        <p:spPr>
          <a:xfrm>
            <a:off x="3255264" y="2157984"/>
            <a:ext cx="1024128" cy="219456"/>
          </a:xfrm>
          <a:prstGeom prst="roundRect">
            <a:avLst>
              <a:gd name="adj" fmla="val 16667"/>
            </a:avLst>
          </a:prstGeom>
          <a:solidFill>
            <a:srgbClr val="C0392B">
              <a:alpha val="18000"/>
            </a:srgbClr>
          </a:solidFill>
          <a:ln w="12700">
            <a:solidFill>
              <a:srgbClr val="C0392B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5" name="Text 13"/>
          <p:cNvSpPr/>
          <p:nvPr/>
        </p:nvSpPr>
        <p:spPr>
          <a:xfrm>
            <a:off x="3255264" y="2157984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B1515"/>
                </a:solidFill>
              </a:rPr>
              <a:t>High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93776" y="213969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3E50"/>
                </a:solidFill>
              </a:rPr>
              <a:t>ROS2 — not started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3776" y="2432304"/>
            <a:ext cx="3401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494A8"/>
                </a:solidFill>
              </a:rPr>
              <a:t>No work begun on ROS2 or Gazebo digital twin. Critically behind — required deliverable.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47472" y="3035808"/>
            <a:ext cx="4041648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9" name="Shape 17"/>
          <p:cNvSpPr/>
          <p:nvPr/>
        </p:nvSpPr>
        <p:spPr>
          <a:xfrm>
            <a:off x="347472" y="3035808"/>
            <a:ext cx="73152" cy="841248"/>
          </a:xfrm>
          <a:prstGeom prst="rect">
            <a:avLst/>
          </a:prstGeom>
          <a:solidFill>
            <a:srgbClr val="E06530"/>
          </a:solidFill>
          <a:ln w="12700">
            <a:solidFill>
              <a:srgbClr val="E0653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0" name="Shape 18"/>
          <p:cNvSpPr/>
          <p:nvPr/>
        </p:nvSpPr>
        <p:spPr>
          <a:xfrm>
            <a:off x="3255264" y="3108960"/>
            <a:ext cx="1024128" cy="219456"/>
          </a:xfrm>
          <a:prstGeom prst="roundRect">
            <a:avLst>
              <a:gd name="adj" fmla="val 16667"/>
            </a:avLst>
          </a:prstGeom>
          <a:solidFill>
            <a:srgbClr val="E06530">
              <a:alpha val="18000"/>
            </a:srgbClr>
          </a:solidFill>
          <a:ln w="12700">
            <a:solidFill>
              <a:srgbClr val="E06530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1" name="Text 19"/>
          <p:cNvSpPr/>
          <p:nvPr/>
        </p:nvSpPr>
        <p:spPr>
          <a:xfrm>
            <a:off x="3255264" y="3108960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B3000"/>
                </a:solidFill>
              </a:rPr>
              <a:t>Medium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93776" y="309067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3E50"/>
                </a:solidFill>
              </a:rPr>
              <a:t>Campus access blocked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93776" y="3383280"/>
            <a:ext cx="3401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494A8"/>
                </a:solidFill>
              </a:rPr>
              <a:t>Finished 3D printed parts cannot be collected — team unable to get on campus this week.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47472" y="3986784"/>
            <a:ext cx="4041648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5" name="Shape 23"/>
          <p:cNvSpPr/>
          <p:nvPr/>
        </p:nvSpPr>
        <p:spPr>
          <a:xfrm>
            <a:off x="347472" y="3986784"/>
            <a:ext cx="73152" cy="84124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6" name="Shape 24"/>
          <p:cNvSpPr/>
          <p:nvPr/>
        </p:nvSpPr>
        <p:spPr>
          <a:xfrm>
            <a:off x="3255264" y="4059936"/>
            <a:ext cx="1024128" cy="219456"/>
          </a:xfrm>
          <a:prstGeom prst="roundRect">
            <a:avLst>
              <a:gd name="adj" fmla="val 16667"/>
            </a:avLst>
          </a:prstGeom>
          <a:solidFill>
            <a:srgbClr val="E8A020">
              <a:alpha val="18000"/>
            </a:srgbClr>
          </a:solidFill>
          <a:ln w="12700">
            <a:solidFill>
              <a:srgbClr val="E8A020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7" name="Text 25"/>
          <p:cNvSpPr/>
          <p:nvPr/>
        </p:nvSpPr>
        <p:spPr>
          <a:xfrm>
            <a:off x="3255264" y="4059936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A5000"/>
                </a:solidFill>
              </a:rPr>
              <a:t>Low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93776" y="404164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3E50"/>
                </a:solidFill>
              </a:rPr>
              <a:t>Team coordination difficulty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93776" y="4334256"/>
            <a:ext cx="3401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494A8"/>
                </a:solidFill>
              </a:rPr>
              <a:t>Ongoing difficulty scheduling meetings and exchanging files between members.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663440" y="786384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Action items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663440" y="1133856"/>
            <a:ext cx="41605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2" name="Shape 30"/>
          <p:cNvSpPr/>
          <p:nvPr/>
        </p:nvSpPr>
        <p:spPr>
          <a:xfrm>
            <a:off x="4663440" y="1133856"/>
            <a:ext cx="73152" cy="5303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3" name="Text 31"/>
          <p:cNvSpPr/>
          <p:nvPr/>
        </p:nvSpPr>
        <p:spPr>
          <a:xfrm>
            <a:off x="4809744" y="117043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3E50"/>
                </a:solidFill>
              </a:rPr>
              <a:t>Begin ROS2 + Gazebo setup immediately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09744" y="144475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494A8"/>
                </a:solidFill>
              </a:rPr>
              <a:t>All members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589520" y="1261872"/>
            <a:ext cx="1133856" cy="237744"/>
          </a:xfrm>
          <a:prstGeom prst="roundRect">
            <a:avLst>
              <a:gd name="adj" fmla="val 15385"/>
            </a:avLst>
          </a:prstGeom>
          <a:solidFill>
            <a:srgbClr val="C0392B">
              <a:alpha val="15000"/>
            </a:srgbClr>
          </a:solidFill>
          <a:ln w="12700">
            <a:solidFill>
              <a:srgbClr val="C0392B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6" name="Text 34"/>
          <p:cNvSpPr/>
          <p:nvPr/>
        </p:nvSpPr>
        <p:spPr>
          <a:xfrm>
            <a:off x="7589520" y="1261872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B1515"/>
                </a:solidFill>
              </a:rPr>
              <a:t>Week 6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663440" y="1755648"/>
            <a:ext cx="41605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8" name="Shape 36"/>
          <p:cNvSpPr/>
          <p:nvPr/>
        </p:nvSpPr>
        <p:spPr>
          <a:xfrm>
            <a:off x="4663440" y="1755648"/>
            <a:ext cx="73152" cy="530352"/>
          </a:xfrm>
          <a:prstGeom prst="rect">
            <a:avLst/>
          </a:prstGeom>
          <a:solidFill>
            <a:srgbClr val="E06530"/>
          </a:solidFill>
          <a:ln w="12700">
            <a:solidFill>
              <a:srgbClr val="E0653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9" name="Text 37"/>
          <p:cNvSpPr/>
          <p:nvPr/>
        </p:nvSpPr>
        <p:spPr>
          <a:xfrm>
            <a:off x="4809744" y="179222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3E50"/>
                </a:solidFill>
              </a:rPr>
              <a:t>Resume CAD — complete wrist joint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09744" y="206654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494A8"/>
                </a:solidFill>
              </a:rPr>
              <a:t>Helal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589520" y="1883664"/>
            <a:ext cx="1133856" cy="237744"/>
          </a:xfrm>
          <a:prstGeom prst="roundRect">
            <a:avLst>
              <a:gd name="adj" fmla="val 15385"/>
            </a:avLst>
          </a:prstGeom>
          <a:solidFill>
            <a:srgbClr val="E06530">
              <a:alpha val="15000"/>
            </a:srgbClr>
          </a:solidFill>
          <a:ln w="12700">
            <a:solidFill>
              <a:srgbClr val="E06530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2" name="Text 40"/>
          <p:cNvSpPr/>
          <p:nvPr/>
        </p:nvSpPr>
        <p:spPr>
          <a:xfrm>
            <a:off x="7589520" y="1883664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B3000"/>
                </a:solidFill>
              </a:rPr>
              <a:t>Week 6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663440" y="2377440"/>
            <a:ext cx="41605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4" name="Shape 42"/>
          <p:cNvSpPr/>
          <p:nvPr/>
        </p:nvSpPr>
        <p:spPr>
          <a:xfrm>
            <a:off x="4663440" y="2377440"/>
            <a:ext cx="73152" cy="530352"/>
          </a:xfrm>
          <a:prstGeom prst="rect">
            <a:avLst/>
          </a:prstGeom>
          <a:solidFill>
            <a:srgbClr val="E06530"/>
          </a:solidFill>
          <a:ln w="12700">
            <a:solidFill>
              <a:srgbClr val="E0653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5" name="Text 43"/>
          <p:cNvSpPr/>
          <p:nvPr/>
        </p:nvSpPr>
        <p:spPr>
          <a:xfrm>
            <a:off x="4809744" y="241401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3E50"/>
                </a:solidFill>
              </a:rPr>
              <a:t>Arrange campus visit to collect 3D parts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809744" y="2688336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494A8"/>
                </a:solidFill>
              </a:rPr>
              <a:t>Leen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589520" y="2505456"/>
            <a:ext cx="1133856" cy="237744"/>
          </a:xfrm>
          <a:prstGeom prst="roundRect">
            <a:avLst>
              <a:gd name="adj" fmla="val 15385"/>
            </a:avLst>
          </a:prstGeom>
          <a:solidFill>
            <a:srgbClr val="E06530">
              <a:alpha val="15000"/>
            </a:srgbClr>
          </a:solidFill>
          <a:ln w="12700">
            <a:solidFill>
              <a:srgbClr val="E06530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8" name="Text 46"/>
          <p:cNvSpPr/>
          <p:nvPr/>
        </p:nvSpPr>
        <p:spPr>
          <a:xfrm>
            <a:off x="7589520" y="2505456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B3000"/>
                </a:solidFill>
              </a:rPr>
              <a:t>Week 6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663440" y="2999232"/>
            <a:ext cx="41605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0" name="Shape 48"/>
          <p:cNvSpPr/>
          <p:nvPr/>
        </p:nvSpPr>
        <p:spPr>
          <a:xfrm>
            <a:off x="4663440" y="2999232"/>
            <a:ext cx="73152" cy="5303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1" name="Text 49"/>
          <p:cNvSpPr/>
          <p:nvPr/>
        </p:nvSpPr>
        <p:spPr>
          <a:xfrm>
            <a:off x="4809744" y="303580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3E50"/>
                </a:solidFill>
              </a:rPr>
              <a:t>Continue OpenCV data collection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809744" y="3310128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494A8"/>
                </a:solidFill>
              </a:rPr>
              <a:t>Leen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589520" y="3127248"/>
            <a:ext cx="1133856" cy="237744"/>
          </a:xfrm>
          <a:prstGeom prst="roundRect">
            <a:avLst>
              <a:gd name="adj" fmla="val 15385"/>
            </a:avLst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4" name="Text 52"/>
          <p:cNvSpPr/>
          <p:nvPr/>
        </p:nvSpPr>
        <p:spPr>
          <a:xfrm>
            <a:off x="7589520" y="3127248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15A68"/>
                </a:solidFill>
              </a:rPr>
              <a:t>Week 6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4663440" y="3621024"/>
            <a:ext cx="41605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6" name="Shape 54"/>
          <p:cNvSpPr/>
          <p:nvPr/>
        </p:nvSpPr>
        <p:spPr>
          <a:xfrm>
            <a:off x="4663440" y="3621024"/>
            <a:ext cx="73152" cy="530352"/>
          </a:xfrm>
          <a:prstGeom prst="rect">
            <a:avLst/>
          </a:prstGeom>
          <a:solidFill>
            <a:srgbClr val="2EAD7A"/>
          </a:solidFill>
          <a:ln w="12700">
            <a:solidFill>
              <a:srgbClr val="2EAD7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7" name="Text 55"/>
          <p:cNvSpPr/>
          <p:nvPr/>
        </p:nvSpPr>
        <p:spPr>
          <a:xfrm>
            <a:off x="4809744" y="365760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3E50"/>
                </a:solidFill>
              </a:rPr>
              <a:t>Finalise end effector calculations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4809744" y="393192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494A8"/>
                </a:solidFill>
              </a:rPr>
              <a:t>Mohamed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589520" y="3749040"/>
            <a:ext cx="1133856" cy="237744"/>
          </a:xfrm>
          <a:prstGeom prst="roundRect">
            <a:avLst>
              <a:gd name="adj" fmla="val 15385"/>
            </a:avLst>
          </a:prstGeom>
          <a:solidFill>
            <a:srgbClr val="2EAD7A">
              <a:alpha val="15000"/>
            </a:srgbClr>
          </a:solidFill>
          <a:ln w="12700">
            <a:solidFill>
              <a:srgbClr val="2EAD7A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0" name="Text 58"/>
          <p:cNvSpPr/>
          <p:nvPr/>
        </p:nvSpPr>
        <p:spPr>
          <a:xfrm>
            <a:off x="7589520" y="3749040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5C3E"/>
                </a:solidFill>
              </a:rPr>
              <a:t>Week 6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4663440" y="4242816"/>
            <a:ext cx="41605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2" name="Shape 60"/>
          <p:cNvSpPr/>
          <p:nvPr/>
        </p:nvSpPr>
        <p:spPr>
          <a:xfrm>
            <a:off x="4663440" y="4242816"/>
            <a:ext cx="73152" cy="5303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3" name="Text 61"/>
          <p:cNvSpPr/>
          <p:nvPr/>
        </p:nvSpPr>
        <p:spPr>
          <a:xfrm>
            <a:off x="4809744" y="427939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3E50"/>
                </a:solidFill>
              </a:rPr>
              <a:t>Set up fixed weekly team sync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4809744" y="455371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494A8"/>
                </a:solidFill>
              </a:rPr>
              <a:t>Leen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589520" y="4370832"/>
            <a:ext cx="1133856" cy="237744"/>
          </a:xfrm>
          <a:prstGeom prst="roundRect">
            <a:avLst>
              <a:gd name="adj" fmla="val 15385"/>
            </a:avLst>
          </a:prstGeom>
          <a:solidFill>
            <a:srgbClr val="E8A020">
              <a:alpha val="15000"/>
            </a:srgbClr>
          </a:solidFill>
          <a:ln w="12700">
            <a:solidFill>
              <a:srgbClr val="E8A020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6" name="Text 64"/>
          <p:cNvSpPr/>
          <p:nvPr/>
        </p:nvSpPr>
        <p:spPr>
          <a:xfrm>
            <a:off x="7589520" y="4370832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A5000"/>
                </a:solidFill>
              </a:rPr>
              <a:t>Ongoing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274320" y="4919472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494A8"/>
                </a:solidFill>
              </a:rPr>
              <a:t>Mechatronics System Design 101  ·  Leen's Group  ·  Week 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6217920" y="-1097280"/>
            <a:ext cx="4572000" cy="457200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Shape 2"/>
          <p:cNvSpPr/>
          <p:nvPr/>
        </p:nvSpPr>
        <p:spPr>
          <a:xfrm>
            <a:off x="7132320" y="3108960"/>
            <a:ext cx="2743200" cy="2743200"/>
          </a:xfrm>
          <a:prstGeom prst="ellipse">
            <a:avLst/>
          </a:prstGeom>
          <a:solidFill>
            <a:srgbClr val="028090">
              <a:alpha val="8000"/>
            </a:srgbClr>
          </a:solidFill>
          <a:ln w="12700">
            <a:solidFill>
              <a:srgbClr val="02809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" name="Text 3"/>
          <p:cNvSpPr/>
          <p:nvPr/>
        </p:nvSpPr>
        <p:spPr>
          <a:xfrm>
            <a:off x="411480" y="12801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411480" y="20116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</a:t>
            </a:r>
            <a:endParaRPr lang="en-US" sz="5600" dirty="0"/>
          </a:p>
        </p:txBody>
      </p:sp>
      <p:sp>
        <p:nvSpPr>
          <p:cNvPr id="7" name="Shape 5"/>
          <p:cNvSpPr/>
          <p:nvPr/>
        </p:nvSpPr>
        <p:spPr>
          <a:xfrm>
            <a:off x="411480" y="2999232"/>
            <a:ext cx="36576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" name="Text 6"/>
          <p:cNvSpPr/>
          <p:nvPr/>
        </p:nvSpPr>
        <p:spPr>
          <a:xfrm>
            <a:off x="411480" y="3163824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4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member did, what they will do, what they need.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3749040"/>
            <a:ext cx="2560320" cy="475488"/>
          </a:xfrm>
          <a:prstGeom prst="roundRect">
            <a:avLst>
              <a:gd name="adj" fmla="val 15385"/>
            </a:avLst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" name="Text 8"/>
          <p:cNvSpPr/>
          <p:nvPr/>
        </p:nvSpPr>
        <p:spPr>
          <a:xfrm>
            <a:off x="411480" y="3749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Leen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400507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E6F5"/>
                </a:solidFill>
              </a:rPr>
              <a:t>Group Leader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46120" y="3749040"/>
            <a:ext cx="2560320" cy="475488"/>
          </a:xfrm>
          <a:prstGeom prst="roundRect">
            <a:avLst>
              <a:gd name="adj" fmla="val 15385"/>
            </a:avLst>
          </a:prstGeom>
          <a:solidFill>
            <a:srgbClr val="2EAD7A">
              <a:alpha val="20000"/>
            </a:srgbClr>
          </a:solidFill>
          <a:ln w="12700">
            <a:solidFill>
              <a:srgbClr val="2EAD7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3" name="Text 11"/>
          <p:cNvSpPr/>
          <p:nvPr/>
        </p:nvSpPr>
        <p:spPr>
          <a:xfrm>
            <a:off x="3246120" y="3749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Mohamed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46120" y="400507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E6F5"/>
                </a:solidFill>
              </a:rPr>
              <a:t>Member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80760" y="3749040"/>
            <a:ext cx="2560320" cy="475488"/>
          </a:xfrm>
          <a:prstGeom prst="roundRect">
            <a:avLst>
              <a:gd name="adj" fmla="val 15385"/>
            </a:avLst>
          </a:prstGeom>
          <a:solidFill>
            <a:srgbClr val="6B4E9E">
              <a:alpha val="20000"/>
            </a:srgbClr>
          </a:solidFill>
          <a:ln w="12700">
            <a:solidFill>
              <a:srgbClr val="6B4E9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6" name="Text 14"/>
          <p:cNvSpPr/>
          <p:nvPr/>
        </p:nvSpPr>
        <p:spPr>
          <a:xfrm>
            <a:off x="6080760" y="3749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Helal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080760" y="400507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E6F5"/>
                </a:solidFill>
              </a:rPr>
              <a:t>Member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Leen — Group Leader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47472" y="786383"/>
            <a:ext cx="4114800" cy="1271895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  <a:p>
            <a:endParaRPr lang="en-AE" dirty="0"/>
          </a:p>
        </p:txBody>
      </p:sp>
      <p:sp>
        <p:nvSpPr>
          <p:cNvPr id="6" name="Shape 4"/>
          <p:cNvSpPr/>
          <p:nvPr/>
        </p:nvSpPr>
        <p:spPr>
          <a:xfrm>
            <a:off x="347472" y="786384"/>
            <a:ext cx="4114800" cy="256032"/>
          </a:xfrm>
          <a:prstGeom prst="rect">
            <a:avLst/>
          </a:prstGeom>
          <a:solidFill>
            <a:srgbClr val="2EAD7A"/>
          </a:solidFill>
          <a:ln w="12700">
            <a:solidFill>
              <a:srgbClr val="2EAD7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438912" y="786384"/>
            <a:ext cx="4005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Accomplished (since last report)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115568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/>
              <a:t>Installed and configured Python and VS Code</a:t>
            </a:r>
          </a:p>
          <a:p>
            <a:pPr marL="0" indent="0">
              <a:buNone/>
            </a:pPr>
            <a:r>
              <a:rPr lang="en-US" sz="1000" dirty="0"/>
              <a:t>✅ Installed </a:t>
            </a:r>
            <a:r>
              <a:rPr lang="en-US" sz="1000" dirty="0" err="1"/>
              <a:t>Ultralytics</a:t>
            </a:r>
            <a:r>
              <a:rPr lang="en-US" sz="1000" dirty="0"/>
              <a:t> and OpenCV libraries</a:t>
            </a:r>
          </a:p>
          <a:p>
            <a:pPr marL="0" indent="0">
              <a:buNone/>
            </a:pPr>
            <a:r>
              <a:rPr lang="en-US" sz="1000" dirty="0"/>
              <a:t>✅ Wrote and tested the camera capture script</a:t>
            </a:r>
          </a:p>
          <a:p>
            <a:pPr marL="0" indent="0">
              <a:buNone/>
            </a:pPr>
            <a:r>
              <a:rPr lang="en-US" sz="1000" dirty="0"/>
              <a:t>✅ Confirmed Logitech camera connection working at index 1</a:t>
            </a:r>
          </a:p>
          <a:p>
            <a:pPr marL="0" indent="0">
              <a:buNone/>
            </a:pPr>
            <a:r>
              <a:rPr lang="en-US" sz="1000" dirty="0"/>
              <a:t>✅ Coordinated with team on OpenCV data collection setup</a:t>
            </a:r>
          </a:p>
        </p:txBody>
      </p:sp>
      <p:sp>
        <p:nvSpPr>
          <p:cNvPr id="9" name="Shape 7"/>
          <p:cNvSpPr/>
          <p:nvPr/>
        </p:nvSpPr>
        <p:spPr>
          <a:xfrm>
            <a:off x="329184" y="2209860"/>
            <a:ext cx="4114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10" name="Shape 8"/>
          <p:cNvSpPr/>
          <p:nvPr/>
        </p:nvSpPr>
        <p:spPr>
          <a:xfrm>
            <a:off x="329184" y="2219353"/>
            <a:ext cx="4114800" cy="25603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sp>
        <p:nvSpPr>
          <p:cNvPr id="11" name="Text 9"/>
          <p:cNvSpPr/>
          <p:nvPr/>
        </p:nvSpPr>
        <p:spPr>
          <a:xfrm>
            <a:off x="438912" y="1865376"/>
            <a:ext cx="4005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 progress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4048" y="2480838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/>
              <a:t>Continuing OpenCV data collection for training dataset</a:t>
            </a:r>
          </a:p>
          <a:p>
            <a:pPr marL="0" indent="0">
              <a:buNone/>
            </a:pPr>
            <a:r>
              <a:rPr lang="en-US" sz="1000" dirty="0"/>
              <a:t>Preparing dataset upload and annotation on </a:t>
            </a:r>
            <a:r>
              <a:rPr lang="en-US" sz="1000" dirty="0" err="1"/>
              <a:t>Roboflow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7472" y="3474720"/>
            <a:ext cx="4114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4" name="Shape 12"/>
          <p:cNvSpPr/>
          <p:nvPr/>
        </p:nvSpPr>
        <p:spPr>
          <a:xfrm>
            <a:off x="347472" y="3474720"/>
            <a:ext cx="4114800" cy="25603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5" name="Text 13"/>
          <p:cNvSpPr/>
          <p:nvPr/>
        </p:nvSpPr>
        <p:spPr>
          <a:xfrm>
            <a:off x="438912" y="3474720"/>
            <a:ext cx="4005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Next week plan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803904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/>
              <a:t>🔹 Step 3 — Upload and annotate photos on </a:t>
            </a:r>
            <a:r>
              <a:rPr lang="en-US" sz="1000" i="1" dirty="0" err="1"/>
              <a:t>Roboflow</a:t>
            </a:r>
            <a:endParaRPr lang="en-US" sz="1000" i="1" dirty="0"/>
          </a:p>
          <a:p>
            <a:pPr marL="0" indent="0">
              <a:buNone/>
            </a:pPr>
            <a:r>
              <a:rPr lang="en-US" sz="1000" i="1" dirty="0"/>
              <a:t>🔹 Step 4 — Train YOLOv8 model on Google </a:t>
            </a:r>
            <a:r>
              <a:rPr lang="en-US" sz="1000" i="1" dirty="0" err="1"/>
              <a:t>Colab</a:t>
            </a:r>
            <a:endParaRPr lang="en-US" sz="1000" i="1" dirty="0"/>
          </a:p>
          <a:p>
            <a:pPr marL="0" indent="0">
              <a:buNone/>
            </a:pPr>
            <a:r>
              <a:rPr lang="en-US" sz="1000" i="1" dirty="0"/>
              <a:t>🔹 Step 5 — Run live object detection using the camera feed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786384"/>
            <a:ext cx="4206240" cy="20848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8" name="Shape 16"/>
          <p:cNvSpPr/>
          <p:nvPr/>
        </p:nvSpPr>
        <p:spPr>
          <a:xfrm>
            <a:off x="4663440" y="781041"/>
            <a:ext cx="420624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sp>
        <p:nvSpPr>
          <p:cNvPr id="19" name="Text 17"/>
          <p:cNvSpPr/>
          <p:nvPr/>
        </p:nvSpPr>
        <p:spPr>
          <a:xfrm>
            <a:off x="4754880" y="786384"/>
            <a:ext cx="4096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Evidence (show, don't tell)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73168" y="1115568"/>
            <a:ext cx="4023360" cy="1682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BBCCD8"/>
                </a:solidFill>
              </a:rPr>
              <a:t>Will Be Shown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2944368"/>
            <a:ext cx="4206240" cy="15361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22" name="Shape 20"/>
          <p:cNvSpPr/>
          <p:nvPr/>
        </p:nvSpPr>
        <p:spPr>
          <a:xfrm>
            <a:off x="4663440" y="2944368"/>
            <a:ext cx="4206240" cy="256032"/>
          </a:xfrm>
          <a:prstGeom prst="rect">
            <a:avLst/>
          </a:prstGeom>
          <a:solidFill>
            <a:srgbClr val="E06530"/>
          </a:solidFill>
          <a:ln w="12700">
            <a:solidFill>
              <a:srgbClr val="E0653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3" name="Text 21"/>
          <p:cNvSpPr/>
          <p:nvPr/>
        </p:nvSpPr>
        <p:spPr>
          <a:xfrm>
            <a:off x="4754880" y="2944368"/>
            <a:ext cx="4096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Help needed / questions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73168" y="3273552"/>
            <a:ext cx="402336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BBCCD8"/>
                </a:solidFill>
              </a:rPr>
              <a:t>-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74320" y="486460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494A8"/>
                </a:solidFill>
              </a:rPr>
              <a:t>Mechatronics System Design 101  ·  Leen's Group  ·  Week 5</a:t>
            </a:r>
            <a:endParaRPr lang="en-US" sz="8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1408474-E81C-3D0D-13AB-AA0E34BD6B03}"/>
              </a:ext>
            </a:extLst>
          </p:cNvPr>
          <p:cNvSpPr txBox="1"/>
          <p:nvPr/>
        </p:nvSpPr>
        <p:spPr>
          <a:xfrm>
            <a:off x="384048" y="2180951"/>
            <a:ext cx="45790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 Progress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AD7A"/>
          </a:solidFill>
          <a:ln w="12700">
            <a:solidFill>
              <a:srgbClr val="2EAD7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— Member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47472" y="786384"/>
            <a:ext cx="4114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6" name="Shape 4"/>
          <p:cNvSpPr/>
          <p:nvPr/>
        </p:nvSpPr>
        <p:spPr>
          <a:xfrm>
            <a:off x="347472" y="786384"/>
            <a:ext cx="4114800" cy="256032"/>
          </a:xfrm>
          <a:prstGeom prst="rect">
            <a:avLst/>
          </a:prstGeom>
          <a:solidFill>
            <a:srgbClr val="2EAD7A"/>
          </a:solidFill>
          <a:ln w="12700">
            <a:solidFill>
              <a:srgbClr val="2EAD7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438912" y="786384"/>
            <a:ext cx="4005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Accomplished (since last report)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115568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BBCCD8"/>
                </a:solidFill>
              </a:rPr>
              <a:t>[ To be filled in by Mohamed ]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7472" y="1865376"/>
            <a:ext cx="4114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0" name="Shape 8"/>
          <p:cNvSpPr/>
          <p:nvPr/>
        </p:nvSpPr>
        <p:spPr>
          <a:xfrm>
            <a:off x="347472" y="1865376"/>
            <a:ext cx="4114800" cy="25603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sp>
        <p:nvSpPr>
          <p:cNvPr id="11" name="Text 9"/>
          <p:cNvSpPr/>
          <p:nvPr/>
        </p:nvSpPr>
        <p:spPr>
          <a:xfrm>
            <a:off x="438912" y="1865376"/>
            <a:ext cx="4005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 progress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194560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BBCCD8"/>
                </a:solidFill>
              </a:rPr>
              <a:t>[ To be filled in by Mohamed ]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7472" y="3474720"/>
            <a:ext cx="4114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4" name="Shape 12"/>
          <p:cNvSpPr/>
          <p:nvPr/>
        </p:nvSpPr>
        <p:spPr>
          <a:xfrm>
            <a:off x="347472" y="3474720"/>
            <a:ext cx="4114800" cy="25603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5" name="Text 13"/>
          <p:cNvSpPr/>
          <p:nvPr/>
        </p:nvSpPr>
        <p:spPr>
          <a:xfrm>
            <a:off x="438912" y="3474720"/>
            <a:ext cx="4005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Next week plan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803904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BBCCD8"/>
                </a:solidFill>
              </a:rPr>
              <a:t>[ To be filled in by Mohamed ]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786384"/>
            <a:ext cx="4206240" cy="20848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8" name="Shape 16"/>
          <p:cNvSpPr/>
          <p:nvPr/>
        </p:nvSpPr>
        <p:spPr>
          <a:xfrm>
            <a:off x="4663440" y="786384"/>
            <a:ext cx="420624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9" name="Text 17"/>
          <p:cNvSpPr/>
          <p:nvPr/>
        </p:nvSpPr>
        <p:spPr>
          <a:xfrm>
            <a:off x="4754880" y="786384"/>
            <a:ext cx="4096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Evidence (show, don't tell)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73168" y="1115568"/>
            <a:ext cx="4023360" cy="1682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BBCCD8"/>
                </a:solidFill>
              </a:rPr>
              <a:t>[ To be filled in by Mohamed ]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2944368"/>
            <a:ext cx="4206240" cy="15361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2" name="Shape 20"/>
          <p:cNvSpPr/>
          <p:nvPr/>
        </p:nvSpPr>
        <p:spPr>
          <a:xfrm>
            <a:off x="4663440" y="2944368"/>
            <a:ext cx="4206240" cy="256032"/>
          </a:xfrm>
          <a:prstGeom prst="rect">
            <a:avLst/>
          </a:prstGeom>
          <a:solidFill>
            <a:srgbClr val="E06530"/>
          </a:solidFill>
          <a:ln w="12700">
            <a:solidFill>
              <a:srgbClr val="E0653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3" name="Text 21"/>
          <p:cNvSpPr/>
          <p:nvPr/>
        </p:nvSpPr>
        <p:spPr>
          <a:xfrm>
            <a:off x="4754880" y="2944368"/>
            <a:ext cx="4096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Help needed / questions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73168" y="3273552"/>
            <a:ext cx="402336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BBCCD8"/>
                </a:solidFill>
              </a:rPr>
              <a:t>[ To be filled in by Mohamed ]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74320" y="486460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494A8"/>
                </a:solidFill>
              </a:rPr>
              <a:t>Mechatronics System Design 101  ·  Leen's Group  ·  Week 5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6B4E9E"/>
          </a:solidFill>
          <a:ln w="12700">
            <a:solidFill>
              <a:srgbClr val="6B4E9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Helal — Member  ·  Motor Control &amp; Arduino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47472" y="786384"/>
            <a:ext cx="4114800" cy="19019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6" name="Shape 4"/>
          <p:cNvSpPr/>
          <p:nvPr/>
        </p:nvSpPr>
        <p:spPr>
          <a:xfrm>
            <a:off x="347472" y="786384"/>
            <a:ext cx="4114800" cy="256032"/>
          </a:xfrm>
          <a:prstGeom prst="rect">
            <a:avLst/>
          </a:prstGeom>
          <a:solidFill>
            <a:srgbClr val="2EAD7A"/>
          </a:solidFill>
          <a:ln w="12700">
            <a:solidFill>
              <a:srgbClr val="2EAD7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438912" y="78638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Accomplished (since last report)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078992"/>
            <a:ext cx="38404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</a:rPr>
              <a:t>Investigated how to control servos via Arduino + gamepad controller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1380744"/>
            <a:ext cx="38404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</a:rPr>
              <a:t>Wrote and tested initial Arduino code — confirmed working with controller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1682496"/>
            <a:ext cx="38404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</a:rPr>
              <a:t>Identified that motors supplied were continuous rotation (incorrect type)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1984248"/>
            <a:ext cx="38404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</a:rPr>
              <a:t>Returned incorrect motors and sourced correct positional servos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2286000"/>
            <a:ext cx="38404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</a:rPr>
              <a:t>Implemented full servo control using Firmata protocol in Arduino IDE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47472" y="2761488"/>
            <a:ext cx="41148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4" name="Shape 12"/>
          <p:cNvSpPr/>
          <p:nvPr/>
        </p:nvSpPr>
        <p:spPr>
          <a:xfrm>
            <a:off x="347472" y="2761488"/>
            <a:ext cx="4114800" cy="25603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5" name="Text 13"/>
          <p:cNvSpPr/>
          <p:nvPr/>
        </p:nvSpPr>
        <p:spPr>
          <a:xfrm>
            <a:off x="438912" y="276148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Next week plan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07238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</a:rPr>
              <a:t>Resume CAD — complete wrist joint model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34747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</a:rPr>
              <a:t>Begin end effector CAD design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877056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</a:rPr>
              <a:t>Refine control mapping between gamepad axes and joint angles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786384"/>
            <a:ext cx="4206240" cy="2523744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0" name="Shape 18"/>
          <p:cNvSpPr/>
          <p:nvPr/>
        </p:nvSpPr>
        <p:spPr>
          <a:xfrm>
            <a:off x="4663440" y="786384"/>
            <a:ext cx="420624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1" name="Text 19"/>
          <p:cNvSpPr/>
          <p:nvPr/>
        </p:nvSpPr>
        <p:spPr>
          <a:xfrm>
            <a:off x="4754880" y="786384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Technical implementation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1115568"/>
            <a:ext cx="3986784" cy="347472"/>
          </a:xfrm>
          <a:prstGeom prst="rect">
            <a:avLst/>
          </a:prstGeom>
          <a:solidFill>
            <a:srgbClr val="F4F6F9"/>
          </a:solidFill>
          <a:ln w="635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3" name="Text 21"/>
          <p:cNvSpPr/>
          <p:nvPr/>
        </p:nvSpPr>
        <p:spPr>
          <a:xfrm>
            <a:off x="4846320" y="111556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8090"/>
                </a:solidFill>
              </a:rPr>
              <a:t>Protocol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52160" y="111556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</a:rPr>
              <a:t>Standard Firmata (Arduino IDE)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1536192"/>
            <a:ext cx="3986784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6" name="Text 24"/>
          <p:cNvSpPr/>
          <p:nvPr/>
        </p:nvSpPr>
        <p:spPr>
          <a:xfrm>
            <a:off x="4846320" y="1536192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8090"/>
                </a:solidFill>
              </a:rPr>
              <a:t>Software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852160" y="153619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</a:rPr>
              <a:t>Processing IDE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54880" y="1956816"/>
            <a:ext cx="3986784" cy="347472"/>
          </a:xfrm>
          <a:prstGeom prst="rect">
            <a:avLst/>
          </a:prstGeom>
          <a:solidFill>
            <a:srgbClr val="F4F6F9"/>
          </a:solidFill>
          <a:ln w="635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9" name="Text 27"/>
          <p:cNvSpPr/>
          <p:nvPr/>
        </p:nvSpPr>
        <p:spPr>
          <a:xfrm>
            <a:off x="4846320" y="1956816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8090"/>
                </a:solidFill>
              </a:rPr>
              <a:t>Libraries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52160" y="195681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</a:rPr>
              <a:t>G4P + GameControlPlus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54880" y="2377440"/>
            <a:ext cx="3986784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2" name="Text 30"/>
          <p:cNvSpPr/>
          <p:nvPr/>
        </p:nvSpPr>
        <p:spPr>
          <a:xfrm>
            <a:off x="4846320" y="237744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8090"/>
                </a:solidFill>
              </a:rPr>
              <a:t>Controller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852160" y="23774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</a:rPr>
              <a:t>Bluetooth gamepad via PC USB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54880" y="2798064"/>
            <a:ext cx="3986784" cy="347472"/>
          </a:xfrm>
          <a:prstGeom prst="rect">
            <a:avLst/>
          </a:prstGeom>
          <a:solidFill>
            <a:srgbClr val="F4F6F9"/>
          </a:solidFill>
          <a:ln w="635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5" name="Text 33"/>
          <p:cNvSpPr/>
          <p:nvPr/>
        </p:nvSpPr>
        <p:spPr>
          <a:xfrm>
            <a:off x="4846320" y="2798064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8090"/>
                </a:solidFill>
              </a:rPr>
              <a:t>Result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852160" y="279806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</a:rPr>
              <a:t>Each motor controllable independently via gamepad axes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663440" y="3383280"/>
            <a:ext cx="42062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38" name="Shape 36"/>
          <p:cNvSpPr/>
          <p:nvPr/>
        </p:nvSpPr>
        <p:spPr>
          <a:xfrm>
            <a:off x="4663440" y="3383280"/>
            <a:ext cx="4206240" cy="256032"/>
          </a:xfrm>
          <a:prstGeom prst="rect">
            <a:avLst/>
          </a:prstGeom>
          <a:solidFill>
            <a:srgbClr val="E06530"/>
          </a:solidFill>
          <a:ln w="12700">
            <a:solidFill>
              <a:srgbClr val="E0653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9" name="Text 37"/>
          <p:cNvSpPr/>
          <p:nvPr/>
        </p:nvSpPr>
        <p:spPr>
          <a:xfrm>
            <a:off x="4754880" y="338328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Issue resolved — wrong motors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73168" y="3694176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</a:rPr>
              <a:t>Initial motors were continuous rotation type — no position control possible. Identified, returned, and replaced with correct positional servos on Apr 6.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663440" y="4553712"/>
            <a:ext cx="4206240" cy="310896"/>
          </a:xfrm>
          <a:prstGeom prst="rect">
            <a:avLst/>
          </a:prstGeom>
          <a:solidFill>
            <a:srgbClr val="E8A020">
              <a:alpha val="10000"/>
            </a:srgbClr>
          </a:solidFill>
          <a:ln w="12700">
            <a:solidFill>
              <a:srgbClr val="E8A02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2" name="Text 40"/>
          <p:cNvSpPr/>
          <p:nvPr/>
        </p:nvSpPr>
        <p:spPr>
          <a:xfrm>
            <a:off x="4754880" y="4553712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5000"/>
                </a:solidFill>
              </a:rPr>
              <a:t>CAD stalled this week — needs to resume Week 6 to meet Week 7 target.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74320" y="486460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494A8"/>
                </a:solidFill>
              </a:rPr>
              <a:t>Mechatronics System Design 101  ·  Leen's Group  ·  Week 5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6B4E9E"/>
          </a:solidFill>
          <a:ln w="12700">
            <a:solidFill>
              <a:srgbClr val="6B4E9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6400800" y="-914400"/>
            <a:ext cx="4389120" cy="4389120"/>
          </a:xfrm>
          <a:prstGeom prst="ellipse">
            <a:avLst/>
          </a:prstGeom>
          <a:solidFill>
            <a:srgbClr val="6B4E9E">
              <a:alpha val="10000"/>
            </a:srgbClr>
          </a:solidFill>
          <a:ln w="12700">
            <a:solidFill>
              <a:srgbClr val="6B4E9E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384048" y="347472"/>
            <a:ext cx="7315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B4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84048" y="731520"/>
            <a:ext cx="6858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Control via Gamepad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384048" y="1463040"/>
            <a:ext cx="4114800" cy="36576"/>
          </a:xfrm>
          <a:prstGeom prst="rect">
            <a:avLst/>
          </a:prstGeom>
          <a:solidFill>
            <a:srgbClr val="6B4E9E"/>
          </a:solidFill>
          <a:ln w="12700">
            <a:solidFill>
              <a:srgbClr val="6B4E9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384048" y="1572768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494A8"/>
                </a:solidFill>
              </a:rPr>
              <a:t>Helal — Week 5  ·  Firmata + Processing + GameControlPlus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84048" y="1920240"/>
            <a:ext cx="6858000" cy="2834640"/>
          </a:xfrm>
          <a:prstGeom prst="rect">
            <a:avLst/>
          </a:prstGeom>
          <a:solidFill>
            <a:srgbClr val="111827"/>
          </a:solidFill>
          <a:ln w="19050">
            <a:solidFill>
              <a:srgbClr val="6B4E9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" name="Shape 7"/>
          <p:cNvSpPr/>
          <p:nvPr/>
        </p:nvSpPr>
        <p:spPr>
          <a:xfrm>
            <a:off x="3127248" y="2651760"/>
            <a:ext cx="1371600" cy="1371600"/>
          </a:xfrm>
          <a:prstGeom prst="ellipse">
            <a:avLst/>
          </a:prstGeom>
          <a:solidFill>
            <a:srgbClr val="6B4E9E">
              <a:alpha val="70000"/>
            </a:srgbClr>
          </a:solidFill>
          <a:ln w="12700">
            <a:solidFill>
              <a:srgbClr val="6B4E9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" name="Text 8"/>
          <p:cNvSpPr/>
          <p:nvPr/>
        </p:nvSpPr>
        <p:spPr>
          <a:xfrm>
            <a:off x="3127248" y="26517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</a:rPr>
              <a:t>▶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84048" y="42062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494A8"/>
                </a:solidFill>
              </a:rPr>
              <a:t>[ Insert video here ]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06640" y="1920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8E6F5"/>
                </a:solidFill>
              </a:rPr>
              <a:t>To insert video in PowerPoint: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406640" y="2231136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494A8"/>
                </a:solidFill>
              </a:rPr>
              <a:t>Insert tab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406640" y="2523744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494A8"/>
                </a:solidFill>
              </a:rPr>
              <a:t>→ Video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406640" y="281635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494A8"/>
                </a:solidFill>
              </a:rPr>
              <a:t>→ This Device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406640" y="310896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494A8"/>
                </a:solidFill>
              </a:rPr>
              <a:t>Select your file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74320" y="4919472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494A8"/>
                </a:solidFill>
              </a:rPr>
              <a:t>Mechatronics System Design 101  ·  Leen's Group  ·  Week 5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6583680" y="-1097280"/>
            <a:ext cx="4206240" cy="420624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Shape 2"/>
          <p:cNvSpPr/>
          <p:nvPr/>
        </p:nvSpPr>
        <p:spPr>
          <a:xfrm>
            <a:off x="7315200" y="3474720"/>
            <a:ext cx="2194560" cy="2194560"/>
          </a:xfrm>
          <a:prstGeom prst="ellipse">
            <a:avLst/>
          </a:prstGeom>
          <a:solidFill>
            <a:srgbClr val="028090">
              <a:alpha val="8000"/>
            </a:srgbClr>
          </a:solidFill>
          <a:ln w="12700">
            <a:solidFill>
              <a:srgbClr val="02809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" name="Text 3"/>
          <p:cNvSpPr/>
          <p:nvPr/>
        </p:nvSpPr>
        <p:spPr>
          <a:xfrm>
            <a:off x="411480" y="38404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" y="786384"/>
            <a:ext cx="7315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4600" dirty="0"/>
          </a:p>
        </p:txBody>
      </p:sp>
      <p:sp>
        <p:nvSpPr>
          <p:cNvPr id="7" name="Shape 5"/>
          <p:cNvSpPr/>
          <p:nvPr/>
        </p:nvSpPr>
        <p:spPr>
          <a:xfrm>
            <a:off x="411480" y="1591056"/>
            <a:ext cx="45720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" name="Shape 6"/>
          <p:cNvSpPr/>
          <p:nvPr/>
        </p:nvSpPr>
        <p:spPr>
          <a:xfrm>
            <a:off x="411480" y="1737360"/>
            <a:ext cx="5577840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" name="Shape 7"/>
          <p:cNvSpPr/>
          <p:nvPr/>
        </p:nvSpPr>
        <p:spPr>
          <a:xfrm>
            <a:off x="411480" y="1737360"/>
            <a:ext cx="54864" cy="347472"/>
          </a:xfrm>
          <a:prstGeom prst="rect">
            <a:avLst/>
          </a:prstGeom>
          <a:solidFill>
            <a:srgbClr val="2EAD7A"/>
          </a:solidFill>
          <a:ln w="12700">
            <a:solidFill>
              <a:srgbClr val="2EAD7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" name="Text 8"/>
          <p:cNvSpPr/>
          <p:nvPr/>
        </p:nvSpPr>
        <p:spPr>
          <a:xfrm>
            <a:off x="530352" y="1737360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AD7A"/>
                </a:solidFill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59536" y="173736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4F0"/>
                </a:solidFill>
              </a:rPr>
              <a:t>Gamepad motor control working — correct servos sourced and tested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157984"/>
            <a:ext cx="5577840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3" name="Shape 11"/>
          <p:cNvSpPr/>
          <p:nvPr/>
        </p:nvSpPr>
        <p:spPr>
          <a:xfrm>
            <a:off x="411480" y="2157984"/>
            <a:ext cx="54864" cy="347472"/>
          </a:xfrm>
          <a:prstGeom prst="rect">
            <a:avLst/>
          </a:prstGeom>
          <a:solidFill>
            <a:srgbClr val="2EAD7A"/>
          </a:solidFill>
          <a:ln w="12700">
            <a:solidFill>
              <a:srgbClr val="2EAD7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4" name="Text 12"/>
          <p:cNvSpPr/>
          <p:nvPr/>
        </p:nvSpPr>
        <p:spPr>
          <a:xfrm>
            <a:off x="530352" y="2157984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AD7A"/>
                </a:solidFill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9536" y="2157984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4F0"/>
                </a:solidFill>
              </a:rPr>
              <a:t>OpenCV data collection started — image pipeline connected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2578608"/>
            <a:ext cx="5577840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7" name="Shape 15"/>
          <p:cNvSpPr/>
          <p:nvPr/>
        </p:nvSpPr>
        <p:spPr>
          <a:xfrm>
            <a:off x="411480" y="2578608"/>
            <a:ext cx="54864" cy="347472"/>
          </a:xfrm>
          <a:prstGeom prst="rect">
            <a:avLst/>
          </a:prstGeom>
          <a:solidFill>
            <a:srgbClr val="2EAD7A"/>
          </a:solidFill>
          <a:ln w="12700">
            <a:solidFill>
              <a:srgbClr val="2EAD7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8" name="Text 16"/>
          <p:cNvSpPr/>
          <p:nvPr/>
        </p:nvSpPr>
        <p:spPr>
          <a:xfrm>
            <a:off x="530352" y="2578608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AD7A"/>
                </a:solidFill>
              </a:rPr>
              <a:t>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59536" y="257860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4F0"/>
                </a:solidFill>
              </a:rPr>
              <a:t>End effector suction calculations done, alternatives explored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2999232"/>
            <a:ext cx="5577840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1" name="Shape 19"/>
          <p:cNvSpPr/>
          <p:nvPr/>
        </p:nvSpPr>
        <p:spPr>
          <a:xfrm>
            <a:off x="411480" y="2999232"/>
            <a:ext cx="54864" cy="347472"/>
          </a:xfrm>
          <a:prstGeom prst="rect">
            <a:avLst/>
          </a:prstGeom>
          <a:solidFill>
            <a:srgbClr val="E06530"/>
          </a:solidFill>
          <a:ln w="12700">
            <a:solidFill>
              <a:srgbClr val="E0653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2" name="Text 20"/>
          <p:cNvSpPr/>
          <p:nvPr/>
        </p:nvSpPr>
        <p:spPr>
          <a:xfrm>
            <a:off x="530352" y="2999232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6530"/>
                </a:solidFill>
              </a:rPr>
              <a:t>⚠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59536" y="2999232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4F0"/>
                </a:solidFill>
              </a:rPr>
              <a:t>CAD — no progress this week, now targeting Week 7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11480" y="3419856"/>
            <a:ext cx="5577840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5" name="Shape 23"/>
          <p:cNvSpPr/>
          <p:nvPr/>
        </p:nvSpPr>
        <p:spPr>
          <a:xfrm>
            <a:off x="411480" y="3419856"/>
            <a:ext cx="54864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6" name="Text 24"/>
          <p:cNvSpPr/>
          <p:nvPr/>
        </p:nvSpPr>
        <p:spPr>
          <a:xfrm>
            <a:off x="530352" y="3419856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0392B"/>
                </a:solidFill>
              </a:rPr>
              <a:t>✗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59536" y="3419856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4F0"/>
                </a:solidFill>
              </a:rPr>
              <a:t>ROS2 — not started, critically behind schedule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11480" y="3840480"/>
            <a:ext cx="5577840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9" name="Shape 27"/>
          <p:cNvSpPr/>
          <p:nvPr/>
        </p:nvSpPr>
        <p:spPr>
          <a:xfrm>
            <a:off x="411480" y="3840480"/>
            <a:ext cx="54864" cy="347472"/>
          </a:xfrm>
          <a:prstGeom prst="rect">
            <a:avLst/>
          </a:prstGeom>
          <a:solidFill>
            <a:srgbClr val="E06530"/>
          </a:solidFill>
          <a:ln w="12700">
            <a:solidFill>
              <a:srgbClr val="E0653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0" name="Text 28"/>
          <p:cNvSpPr/>
          <p:nvPr/>
        </p:nvSpPr>
        <p:spPr>
          <a:xfrm>
            <a:off x="530352" y="3840480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6530"/>
                </a:solidFill>
              </a:rPr>
              <a:t>⚠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59536" y="384048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4F0"/>
                </a:solidFill>
              </a:rPr>
              <a:t>3D printed parts ready but not accessible — campus visit needed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63640" y="17373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E6F5"/>
                </a:solidFill>
              </a:rPr>
              <a:t>Looking ahead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63640" y="2066544"/>
            <a:ext cx="2633472" cy="36576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4" name="Shape 32"/>
          <p:cNvSpPr/>
          <p:nvPr/>
        </p:nvSpPr>
        <p:spPr>
          <a:xfrm>
            <a:off x="6263640" y="2066544"/>
            <a:ext cx="54864" cy="3657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5" name="Shape 33"/>
          <p:cNvSpPr/>
          <p:nvPr/>
        </p:nvSpPr>
        <p:spPr>
          <a:xfrm>
            <a:off x="6364224" y="2139696"/>
            <a:ext cx="658368" cy="219456"/>
          </a:xfrm>
          <a:prstGeom prst="roundRect">
            <a:avLst>
              <a:gd name="adj" fmla="val 16667"/>
            </a:avLst>
          </a:prstGeom>
          <a:solidFill>
            <a:srgbClr val="C0392B">
              <a:alpha val="20000"/>
            </a:srgbClr>
          </a:solidFill>
          <a:ln w="12700">
            <a:solidFill>
              <a:srgbClr val="C0392B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6" name="Text 34"/>
          <p:cNvSpPr/>
          <p:nvPr/>
        </p:nvSpPr>
        <p:spPr>
          <a:xfrm>
            <a:off x="6364224" y="2139696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Week 6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7077456" y="2066544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E8"/>
                </a:solidFill>
              </a:rPr>
              <a:t>Start ROS2 + Gazebo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263640" y="2505456"/>
            <a:ext cx="2633472" cy="36576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9" name="Shape 37"/>
          <p:cNvSpPr/>
          <p:nvPr/>
        </p:nvSpPr>
        <p:spPr>
          <a:xfrm>
            <a:off x="6263640" y="2505456"/>
            <a:ext cx="54864" cy="365760"/>
          </a:xfrm>
          <a:prstGeom prst="rect">
            <a:avLst/>
          </a:prstGeom>
          <a:solidFill>
            <a:srgbClr val="E06530"/>
          </a:solidFill>
          <a:ln w="12700">
            <a:solidFill>
              <a:srgbClr val="E0653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0" name="Shape 38"/>
          <p:cNvSpPr/>
          <p:nvPr/>
        </p:nvSpPr>
        <p:spPr>
          <a:xfrm>
            <a:off x="6364224" y="2578608"/>
            <a:ext cx="658368" cy="219456"/>
          </a:xfrm>
          <a:prstGeom prst="roundRect">
            <a:avLst>
              <a:gd name="adj" fmla="val 16667"/>
            </a:avLst>
          </a:prstGeom>
          <a:solidFill>
            <a:srgbClr val="E06530">
              <a:alpha val="20000"/>
            </a:srgbClr>
          </a:solidFill>
          <a:ln w="12700">
            <a:solidFill>
              <a:srgbClr val="E06530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1" name="Text 39"/>
          <p:cNvSpPr/>
          <p:nvPr/>
        </p:nvSpPr>
        <p:spPr>
          <a:xfrm>
            <a:off x="6364224" y="257860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Week 6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7077456" y="2505456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E8"/>
                </a:solidFill>
              </a:rPr>
              <a:t>Resume CAD — wrist joint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263640" y="2944368"/>
            <a:ext cx="2633472" cy="36576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4" name="Shape 42"/>
          <p:cNvSpPr/>
          <p:nvPr/>
        </p:nvSpPr>
        <p:spPr>
          <a:xfrm>
            <a:off x="6263640" y="2944368"/>
            <a:ext cx="54864" cy="365760"/>
          </a:xfrm>
          <a:prstGeom prst="rect">
            <a:avLst/>
          </a:prstGeom>
          <a:solidFill>
            <a:srgbClr val="E06530"/>
          </a:solidFill>
          <a:ln w="12700">
            <a:solidFill>
              <a:srgbClr val="E0653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5" name="Shape 43"/>
          <p:cNvSpPr/>
          <p:nvPr/>
        </p:nvSpPr>
        <p:spPr>
          <a:xfrm>
            <a:off x="6364224" y="3017520"/>
            <a:ext cx="658368" cy="219456"/>
          </a:xfrm>
          <a:prstGeom prst="roundRect">
            <a:avLst>
              <a:gd name="adj" fmla="val 16667"/>
            </a:avLst>
          </a:prstGeom>
          <a:solidFill>
            <a:srgbClr val="E06530">
              <a:alpha val="20000"/>
            </a:srgbClr>
          </a:solidFill>
          <a:ln w="12700">
            <a:solidFill>
              <a:srgbClr val="E06530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6" name="Text 44"/>
          <p:cNvSpPr/>
          <p:nvPr/>
        </p:nvSpPr>
        <p:spPr>
          <a:xfrm>
            <a:off x="6364224" y="301752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Week 6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7077456" y="294436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E8"/>
                </a:solidFill>
              </a:rPr>
              <a:t>Collect 3D printed parts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263640" y="3383280"/>
            <a:ext cx="2633472" cy="36576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9" name="Shape 47"/>
          <p:cNvSpPr/>
          <p:nvPr/>
        </p:nvSpPr>
        <p:spPr>
          <a:xfrm>
            <a:off x="6263640" y="3383280"/>
            <a:ext cx="54864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0" name="Shape 48"/>
          <p:cNvSpPr/>
          <p:nvPr/>
        </p:nvSpPr>
        <p:spPr>
          <a:xfrm>
            <a:off x="6364224" y="3456432"/>
            <a:ext cx="658368" cy="219456"/>
          </a:xfrm>
          <a:prstGeom prst="roundRect">
            <a:avLst>
              <a:gd name="adj" fmla="val 16667"/>
            </a:avLst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1" name="Text 49"/>
          <p:cNvSpPr/>
          <p:nvPr/>
        </p:nvSpPr>
        <p:spPr>
          <a:xfrm>
            <a:off x="6364224" y="345643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Week 6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7077456" y="33832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E8"/>
                </a:solidFill>
              </a:rPr>
              <a:t>OpenCV detection coding begins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263640" y="3822192"/>
            <a:ext cx="2633472" cy="36576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4" name="Shape 52"/>
          <p:cNvSpPr/>
          <p:nvPr/>
        </p:nvSpPr>
        <p:spPr>
          <a:xfrm>
            <a:off x="6263640" y="3822192"/>
            <a:ext cx="54864" cy="3657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5" name="Shape 53"/>
          <p:cNvSpPr/>
          <p:nvPr/>
        </p:nvSpPr>
        <p:spPr>
          <a:xfrm>
            <a:off x="6364224" y="3895344"/>
            <a:ext cx="658368" cy="219456"/>
          </a:xfrm>
          <a:prstGeom prst="roundRect">
            <a:avLst>
              <a:gd name="adj" fmla="val 16667"/>
            </a:avLst>
          </a:prstGeom>
          <a:solidFill>
            <a:srgbClr val="E8A020">
              <a:alpha val="20000"/>
            </a:srgbClr>
          </a:solidFill>
          <a:ln w="12700">
            <a:solidFill>
              <a:srgbClr val="E8A020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6" name="Text 54"/>
          <p:cNvSpPr/>
          <p:nvPr/>
        </p:nvSpPr>
        <p:spPr>
          <a:xfrm>
            <a:off x="6364224" y="3895344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Week 7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7077456" y="382219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E8"/>
                </a:solidFill>
              </a:rPr>
              <a:t>CAD fully complete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263640" y="4261104"/>
            <a:ext cx="2633472" cy="36576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9" name="Shape 57"/>
          <p:cNvSpPr/>
          <p:nvPr/>
        </p:nvSpPr>
        <p:spPr>
          <a:xfrm>
            <a:off x="6263640" y="4261104"/>
            <a:ext cx="54864" cy="365760"/>
          </a:xfrm>
          <a:prstGeom prst="rect">
            <a:avLst/>
          </a:prstGeom>
          <a:solidFill>
            <a:srgbClr val="2EAD7A"/>
          </a:solidFill>
          <a:ln w="12700">
            <a:solidFill>
              <a:srgbClr val="2EAD7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0" name="Shape 58"/>
          <p:cNvSpPr/>
          <p:nvPr/>
        </p:nvSpPr>
        <p:spPr>
          <a:xfrm>
            <a:off x="6364224" y="4334256"/>
            <a:ext cx="658368" cy="219456"/>
          </a:xfrm>
          <a:prstGeom prst="roundRect">
            <a:avLst>
              <a:gd name="adj" fmla="val 16667"/>
            </a:avLst>
          </a:prstGeom>
          <a:solidFill>
            <a:srgbClr val="2EAD7A">
              <a:alpha val="20000"/>
            </a:srgbClr>
          </a:solidFill>
          <a:ln w="12700">
            <a:solidFill>
              <a:srgbClr val="2EAD7A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1" name="Text 59"/>
          <p:cNvSpPr/>
          <p:nvPr/>
        </p:nvSpPr>
        <p:spPr>
          <a:xfrm>
            <a:off x="6364224" y="4334256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Week 8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7077456" y="4261104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E8"/>
                </a:solidFill>
              </a:rPr>
              <a:t>Vision + end effector complete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274320" y="4919472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494A8"/>
                </a:solidFill>
              </a:rPr>
              <a:t>Mechatronics System Design 101  ·  Leen's Group  ·  Week 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1022</Words>
  <Application>Microsoft Office PowerPoint</Application>
  <PresentationFormat>On-screen Show (16:9)</PresentationFormat>
  <Paragraphs>218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Robotic Arm – Week 5 Progress Report</dc:title>
  <dc:subject>PptxGenJS Presentation</dc:subject>
  <dc:creator>PptxGenJS</dc:creator>
  <cp:lastModifiedBy>Leen Mahir Shahrouri</cp:lastModifiedBy>
  <cp:revision>2</cp:revision>
  <dcterms:created xsi:type="dcterms:W3CDTF">2026-04-07T11:00:46Z</dcterms:created>
  <dcterms:modified xsi:type="dcterms:W3CDTF">2026-04-07T11:18:20Z</dcterms:modified>
</cp:coreProperties>
</file>