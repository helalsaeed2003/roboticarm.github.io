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DT6Up0b0QJejl4VJGVYu2FskZ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cs.google.com/spreadsheets/d/1vQUNIplIJCaTI_P2jxYhI44QH2mPTx2C/edit?usp=drive_link&amp;ouid=106065383605085710301&amp;rtpof=true&amp;sd=true"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15" name="Shape 15"/>
        <p:cNvGrpSpPr/>
        <p:nvPr/>
      </p:nvGrpSpPr>
      <p:grpSpPr>
        <a:xfrm>
          <a:off x="0" y="0"/>
          <a:ext cx="0" cy="0"/>
          <a:chOff x="0" y="0"/>
          <a:chExt cx="0" cy="0"/>
        </a:xfrm>
      </p:grpSpPr>
      <p:sp>
        <p:nvSpPr>
          <p:cNvPr id="16" name="Google Shape;16;p1"/>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949440" y="-1280160"/>
            <a:ext cx="3840480" cy="3840480"/>
          </a:xfrm>
          <a:prstGeom prst="ellipse">
            <a:avLst/>
          </a:prstGeom>
          <a:solidFill>
            <a:srgbClr val="028090">
              <a:alpha val="14901"/>
            </a:srgbClr>
          </a:solidFill>
          <a:ln cap="flat" cmpd="sng" w="12700">
            <a:solidFill>
              <a:srgbClr val="028090">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680960" y="3291840"/>
            <a:ext cx="2011680" cy="2011680"/>
          </a:xfrm>
          <a:prstGeom prst="ellipse">
            <a:avLst/>
          </a:prstGeom>
          <a:solidFill>
            <a:srgbClr val="028090">
              <a:alpha val="10196"/>
            </a:srgbClr>
          </a:solidFill>
          <a:ln cap="flat" cmpd="sng" w="12700">
            <a:solidFill>
              <a:srgbClr val="028090">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38912" y="777240"/>
            <a:ext cx="1280160" cy="329184"/>
          </a:xfrm>
          <a:prstGeom prst="roundRect">
            <a:avLst>
              <a:gd fmla="val 1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38912" y="777240"/>
            <a:ext cx="12801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WEEK 8</a:t>
            </a:r>
            <a:endParaRPr b="0" i="0" sz="1000" u="none" cap="none" strike="noStrike">
              <a:solidFill>
                <a:schemeClr val="dk1"/>
              </a:solidFill>
              <a:latin typeface="Calibri"/>
              <a:ea typeface="Calibri"/>
              <a:cs typeface="Calibri"/>
              <a:sym typeface="Calibri"/>
            </a:endParaRPr>
          </a:p>
        </p:txBody>
      </p:sp>
      <p:sp>
        <p:nvSpPr>
          <p:cNvPr id="21" name="Google Shape;21;p1"/>
          <p:cNvSpPr/>
          <p:nvPr/>
        </p:nvSpPr>
        <p:spPr>
          <a:xfrm>
            <a:off x="384048" y="1353312"/>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Robotic Arm</a:t>
            </a:r>
            <a:endParaRPr b="0" i="0" sz="5200" u="none" cap="none" strike="noStrike">
              <a:solidFill>
                <a:schemeClr val="dk1"/>
              </a:solidFill>
              <a:latin typeface="Calibri"/>
              <a:ea typeface="Calibri"/>
              <a:cs typeface="Calibri"/>
              <a:sym typeface="Calibri"/>
            </a:endParaRPr>
          </a:p>
        </p:txBody>
      </p:sp>
      <p:sp>
        <p:nvSpPr>
          <p:cNvPr id="22" name="Google Shape;22;p1"/>
          <p:cNvSpPr/>
          <p:nvPr/>
        </p:nvSpPr>
        <p:spPr>
          <a:xfrm>
            <a:off x="384048" y="2176272"/>
            <a:ext cx="77724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3000"/>
              <a:buFont typeface="Calibri"/>
              <a:buNone/>
            </a:pPr>
            <a:r>
              <a:rPr b="0" i="0" lang="en-US" sz="3000" u="none" cap="none" strike="noStrike">
                <a:solidFill>
                  <a:srgbClr val="C8E6F5"/>
                </a:solidFill>
                <a:latin typeface="Calibri"/>
                <a:ea typeface="Calibri"/>
                <a:cs typeface="Calibri"/>
                <a:sym typeface="Calibri"/>
              </a:rPr>
              <a:t>Pick &amp; Place System</a:t>
            </a:r>
            <a:endParaRPr b="0" i="0" sz="3000" u="none" cap="none" strike="noStrike">
              <a:solidFill>
                <a:schemeClr val="dk1"/>
              </a:solidFill>
              <a:latin typeface="Calibri"/>
              <a:ea typeface="Calibri"/>
              <a:cs typeface="Calibri"/>
              <a:sym typeface="Calibri"/>
            </a:endParaRPr>
          </a:p>
        </p:txBody>
      </p:sp>
      <p:sp>
        <p:nvSpPr>
          <p:cNvPr id="23" name="Google Shape;23;p1"/>
          <p:cNvSpPr/>
          <p:nvPr/>
        </p:nvSpPr>
        <p:spPr>
          <a:xfrm>
            <a:off x="384048" y="2907792"/>
            <a:ext cx="45720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384048" y="3090672"/>
            <a:ext cx="7772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300"/>
              <a:buFont typeface="Calibri"/>
              <a:buNone/>
            </a:pPr>
            <a:r>
              <a:rPr b="0" i="0" lang="en-US" sz="1300" u="none" cap="none" strike="noStrike">
                <a:solidFill>
                  <a:srgbClr val="8494A8"/>
                </a:solidFill>
                <a:latin typeface="Calibri"/>
                <a:ea typeface="Calibri"/>
                <a:cs typeface="Calibri"/>
                <a:sym typeface="Calibri"/>
              </a:rPr>
              <a:t>Weekly Progress Report  ·  Mechatronics System Design 101</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384048" y="4462272"/>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100"/>
              <a:buFont typeface="Calibri"/>
              <a:buNone/>
            </a:pPr>
            <a:r>
              <a:rPr b="0" i="1" lang="en-US" sz="1100" u="none" cap="none" strike="noStrike">
                <a:solidFill>
                  <a:srgbClr val="8494A8"/>
                </a:solidFill>
                <a:latin typeface="Calibri"/>
                <a:ea typeface="Calibri"/>
                <a:cs typeface="Calibri"/>
                <a:sym typeface="Calibri"/>
              </a:rPr>
              <a:t>Leen's Group  ·  Leen  ·  Mohamed  ·  Helal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0" name="Shape 30"/>
        <p:cNvGrpSpPr/>
        <p:nvPr/>
      </p:nvGrpSpPr>
      <p:grpSpPr>
        <a:xfrm>
          <a:off x="0" y="0"/>
          <a:ext cx="0" cy="0"/>
          <a:chOff x="0" y="0"/>
          <a:chExt cx="0" cy="0"/>
        </a:xfrm>
      </p:grpSpPr>
      <p:sp>
        <p:nvSpPr>
          <p:cNvPr id="31" name="Google Shape;31;p2"/>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8 — Snapshot</a:t>
            </a:r>
            <a:endParaRPr b="0" i="0" sz="2000" u="none" cap="none" strike="noStrike">
              <a:solidFill>
                <a:schemeClr val="dk1"/>
              </a:solidFill>
              <a:latin typeface="Calibri"/>
              <a:ea typeface="Calibri"/>
              <a:cs typeface="Calibri"/>
              <a:sym typeface="Calibri"/>
            </a:endParaRPr>
          </a:p>
        </p:txBody>
      </p:sp>
      <p:sp>
        <p:nvSpPr>
          <p:cNvPr id="34" name="Google Shape;34;p2"/>
          <p:cNvSpPr/>
          <p:nvPr/>
        </p:nvSpPr>
        <p:spPr>
          <a:xfrm>
            <a:off x="347472" y="804672"/>
            <a:ext cx="5577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What we worked on this week</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347472" y="1133856"/>
            <a:ext cx="2688336" cy="16093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47472" y="1133856"/>
            <a:ext cx="2688336" cy="201168"/>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75488" y="1426464"/>
            <a:ext cx="292608" cy="292608"/>
          </a:xfrm>
          <a:prstGeom prst="ellipse">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75488" y="142646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01</a:t>
            </a:r>
            <a:endParaRPr b="0" i="0" sz="850" u="none" cap="none" strike="noStrike">
              <a:solidFill>
                <a:schemeClr val="dk1"/>
              </a:solidFill>
              <a:latin typeface="Calibri"/>
              <a:ea typeface="Calibri"/>
              <a:cs typeface="Calibri"/>
              <a:sym typeface="Calibri"/>
            </a:endParaRPr>
          </a:p>
        </p:txBody>
      </p:sp>
      <p:sp>
        <p:nvSpPr>
          <p:cNvPr id="39" name="Google Shape;39;p2"/>
          <p:cNvSpPr/>
          <p:nvPr/>
        </p:nvSpPr>
        <p:spPr>
          <a:xfrm>
            <a:off x="859536" y="1389888"/>
            <a:ext cx="2066544"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CAD — wrist &amp; base designed</a:t>
            </a:r>
            <a:endParaRPr b="0" i="0" sz="1050" u="none" cap="none" strike="noStrike">
              <a:solidFill>
                <a:schemeClr val="dk1"/>
              </a:solidFill>
              <a:latin typeface="Calibri"/>
              <a:ea typeface="Calibri"/>
              <a:cs typeface="Calibri"/>
              <a:sym typeface="Calibri"/>
            </a:endParaRPr>
          </a:p>
        </p:txBody>
      </p:sp>
      <p:sp>
        <p:nvSpPr>
          <p:cNvPr id="40" name="Google Shape;40;p2"/>
          <p:cNvSpPr/>
          <p:nvPr/>
        </p:nvSpPr>
        <p:spPr>
          <a:xfrm>
            <a:off x="475488" y="1792224"/>
            <a:ext cx="2450592" cy="8778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Wrist link and base modelled in Autodesk Inventor. CAD model still in progress — joints not yet animating.</a:t>
            </a:r>
            <a:endParaRPr b="0" i="0" sz="950" u="none" cap="none" strike="noStrike">
              <a:solidFill>
                <a:schemeClr val="dk1"/>
              </a:solidFill>
              <a:latin typeface="Calibri"/>
              <a:ea typeface="Calibri"/>
              <a:cs typeface="Calibri"/>
              <a:sym typeface="Calibri"/>
            </a:endParaRPr>
          </a:p>
        </p:txBody>
      </p:sp>
      <p:sp>
        <p:nvSpPr>
          <p:cNvPr id="41" name="Google Shape;41;p2"/>
          <p:cNvSpPr/>
          <p:nvPr/>
        </p:nvSpPr>
        <p:spPr>
          <a:xfrm>
            <a:off x="3163824" y="1133856"/>
            <a:ext cx="2688336" cy="16093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163824" y="1133856"/>
            <a:ext cx="2688336" cy="20116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291840" y="1426464"/>
            <a:ext cx="292608" cy="29260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291840" y="142646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02</a:t>
            </a:r>
            <a:endParaRPr b="0" i="0" sz="850" u="none" cap="none" strike="noStrike">
              <a:solidFill>
                <a:schemeClr val="dk1"/>
              </a:solidFill>
              <a:latin typeface="Calibri"/>
              <a:ea typeface="Calibri"/>
              <a:cs typeface="Calibri"/>
              <a:sym typeface="Calibri"/>
            </a:endParaRPr>
          </a:p>
        </p:txBody>
      </p:sp>
      <p:sp>
        <p:nvSpPr>
          <p:cNvPr id="45" name="Google Shape;45;p2"/>
          <p:cNvSpPr/>
          <p:nvPr/>
        </p:nvSpPr>
        <p:spPr>
          <a:xfrm>
            <a:off x="3675888" y="1389888"/>
            <a:ext cx="2066544"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RViz — joints imported</a:t>
            </a:r>
            <a:endParaRPr b="0" i="0" sz="1050" u="none" cap="none" strike="noStrike">
              <a:solidFill>
                <a:schemeClr val="dk1"/>
              </a:solidFill>
              <a:latin typeface="Calibri"/>
              <a:ea typeface="Calibri"/>
              <a:cs typeface="Calibri"/>
              <a:sym typeface="Calibri"/>
            </a:endParaRPr>
          </a:p>
        </p:txBody>
      </p:sp>
      <p:sp>
        <p:nvSpPr>
          <p:cNvPr id="46" name="Google Shape;46;p2"/>
          <p:cNvSpPr/>
          <p:nvPr/>
        </p:nvSpPr>
        <p:spPr>
          <a:xfrm>
            <a:off x="3291840" y="1792224"/>
            <a:ext cx="2450592" cy="8778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CAD model imported into RViz. Joints are visible in simulation but not yet moving — next step is URDF joint configuration.</a:t>
            </a:r>
            <a:endParaRPr b="0" i="0" sz="950" u="none" cap="none" strike="noStrike">
              <a:solidFill>
                <a:schemeClr val="dk1"/>
              </a:solidFill>
              <a:latin typeface="Calibri"/>
              <a:ea typeface="Calibri"/>
              <a:cs typeface="Calibri"/>
              <a:sym typeface="Calibri"/>
            </a:endParaRPr>
          </a:p>
        </p:txBody>
      </p:sp>
      <p:sp>
        <p:nvSpPr>
          <p:cNvPr id="47" name="Google Shape;47;p2"/>
          <p:cNvSpPr/>
          <p:nvPr/>
        </p:nvSpPr>
        <p:spPr>
          <a:xfrm>
            <a:off x="347472" y="2889504"/>
            <a:ext cx="2688336" cy="16093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47472" y="2889504"/>
            <a:ext cx="2688336" cy="201168"/>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75488" y="3182112"/>
            <a:ext cx="292608" cy="292608"/>
          </a:xfrm>
          <a:prstGeom prst="ellipse">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75488" y="318211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03</a:t>
            </a:r>
            <a:endParaRPr b="0" i="0" sz="850" u="none" cap="none" strike="noStrike">
              <a:solidFill>
                <a:schemeClr val="dk1"/>
              </a:solidFill>
              <a:latin typeface="Calibri"/>
              <a:ea typeface="Calibri"/>
              <a:cs typeface="Calibri"/>
              <a:sym typeface="Calibri"/>
            </a:endParaRPr>
          </a:p>
        </p:txBody>
      </p:sp>
      <p:sp>
        <p:nvSpPr>
          <p:cNvPr id="51" name="Google Shape;51;p2"/>
          <p:cNvSpPr/>
          <p:nvPr/>
        </p:nvSpPr>
        <p:spPr>
          <a:xfrm>
            <a:off x="859536" y="3145536"/>
            <a:ext cx="2066544"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Detection improved</a:t>
            </a:r>
            <a:endParaRPr b="0" i="0" sz="1050" u="none" cap="none" strike="noStrike">
              <a:solidFill>
                <a:schemeClr val="dk1"/>
              </a:solidFill>
              <a:latin typeface="Calibri"/>
              <a:ea typeface="Calibri"/>
              <a:cs typeface="Calibri"/>
              <a:sym typeface="Calibri"/>
            </a:endParaRPr>
          </a:p>
        </p:txBody>
      </p:sp>
      <p:sp>
        <p:nvSpPr>
          <p:cNvPr id="52" name="Google Shape;52;p2"/>
          <p:cNvSpPr/>
          <p:nvPr/>
        </p:nvSpPr>
        <p:spPr>
          <a:xfrm>
            <a:off x="475488" y="3547872"/>
            <a:ext cx="2450592" cy="8778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Switched to higher resolution images and adjusted HSV thresholds — false detection rate reduced significantly.</a:t>
            </a:r>
            <a:endParaRPr b="0" i="0" sz="950" u="none" cap="none" strike="noStrike">
              <a:solidFill>
                <a:schemeClr val="dk1"/>
              </a:solidFill>
              <a:latin typeface="Calibri"/>
              <a:ea typeface="Calibri"/>
              <a:cs typeface="Calibri"/>
              <a:sym typeface="Calibri"/>
            </a:endParaRPr>
          </a:p>
        </p:txBody>
      </p:sp>
      <p:sp>
        <p:nvSpPr>
          <p:cNvPr id="53" name="Google Shape;53;p2"/>
          <p:cNvSpPr/>
          <p:nvPr/>
        </p:nvSpPr>
        <p:spPr>
          <a:xfrm>
            <a:off x="3163824" y="2889504"/>
            <a:ext cx="2688336" cy="16093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163824" y="2889504"/>
            <a:ext cx="2688336" cy="20116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3291840" y="3182112"/>
            <a:ext cx="292608" cy="292608"/>
          </a:xfrm>
          <a:prstGeom prst="ellipse">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3291840" y="318211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04</a:t>
            </a:r>
            <a:endParaRPr b="0" i="0" sz="850" u="none" cap="none" strike="noStrike">
              <a:solidFill>
                <a:schemeClr val="dk1"/>
              </a:solidFill>
              <a:latin typeface="Calibri"/>
              <a:ea typeface="Calibri"/>
              <a:cs typeface="Calibri"/>
              <a:sym typeface="Calibri"/>
            </a:endParaRPr>
          </a:p>
        </p:txBody>
      </p:sp>
      <p:sp>
        <p:nvSpPr>
          <p:cNvPr id="57" name="Google Shape;57;p2"/>
          <p:cNvSpPr/>
          <p:nvPr/>
        </p:nvSpPr>
        <p:spPr>
          <a:xfrm>
            <a:off x="3675888" y="3145536"/>
            <a:ext cx="2066544"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Suction pump ordered</a:t>
            </a:r>
            <a:endParaRPr b="0" i="0" sz="1050" u="none" cap="none" strike="noStrike">
              <a:solidFill>
                <a:schemeClr val="dk1"/>
              </a:solidFill>
              <a:latin typeface="Calibri"/>
              <a:ea typeface="Calibri"/>
              <a:cs typeface="Calibri"/>
              <a:sym typeface="Calibri"/>
            </a:endParaRPr>
          </a:p>
        </p:txBody>
      </p:sp>
      <p:sp>
        <p:nvSpPr>
          <p:cNvPr id="58" name="Google Shape;58;p2"/>
          <p:cNvSpPr/>
          <p:nvPr/>
        </p:nvSpPr>
        <p:spPr>
          <a:xfrm>
            <a:off x="3291840" y="3547872"/>
            <a:ext cx="2450592" cy="8778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370 mini vacuum pump selected and ordered — awaiting delivery for end effector assembly.</a:t>
            </a:r>
            <a:endParaRPr b="0" i="0" sz="950" u="none" cap="none" strike="noStrike">
              <a:solidFill>
                <a:schemeClr val="dk1"/>
              </a:solidFill>
              <a:latin typeface="Calibri"/>
              <a:ea typeface="Calibri"/>
              <a:cs typeface="Calibri"/>
              <a:sym typeface="Calibri"/>
            </a:endParaRPr>
          </a:p>
        </p:txBody>
      </p:sp>
      <p:sp>
        <p:nvSpPr>
          <p:cNvPr id="59" name="Google Shape;59;p2"/>
          <p:cNvSpPr/>
          <p:nvPr/>
        </p:nvSpPr>
        <p:spPr>
          <a:xfrm>
            <a:off x="6053328" y="804672"/>
            <a:ext cx="28346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Status</a:t>
            </a:r>
            <a:endParaRPr b="0" i="0" sz="1300" u="none" cap="none" strike="noStrike">
              <a:solidFill>
                <a:schemeClr val="dk1"/>
              </a:solidFill>
              <a:latin typeface="Calibri"/>
              <a:ea typeface="Calibri"/>
              <a:cs typeface="Calibri"/>
              <a:sym typeface="Calibri"/>
            </a:endParaRPr>
          </a:p>
        </p:txBody>
      </p:sp>
      <p:sp>
        <p:nvSpPr>
          <p:cNvPr id="60" name="Google Shape;60;p2"/>
          <p:cNvSpPr/>
          <p:nvPr/>
        </p:nvSpPr>
        <p:spPr>
          <a:xfrm>
            <a:off x="6053328" y="1133856"/>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053328" y="1133856"/>
            <a:ext cx="64008" cy="53035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181344" y="1133856"/>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CAD</a:t>
            </a:r>
            <a:endParaRPr b="0" i="0" sz="950" u="none" cap="none" strike="noStrike">
              <a:solidFill>
                <a:schemeClr val="dk1"/>
              </a:solidFill>
              <a:latin typeface="Calibri"/>
              <a:ea typeface="Calibri"/>
              <a:cs typeface="Calibri"/>
              <a:sym typeface="Calibri"/>
            </a:endParaRPr>
          </a:p>
        </p:txBody>
      </p:sp>
      <p:sp>
        <p:nvSpPr>
          <p:cNvPr id="63" name="Google Shape;63;p2"/>
          <p:cNvSpPr/>
          <p:nvPr/>
        </p:nvSpPr>
        <p:spPr>
          <a:xfrm>
            <a:off x="7443216" y="1261872"/>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443216" y="1261872"/>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In progress</a:t>
            </a:r>
            <a:endParaRPr b="0" i="0" sz="800" u="none" cap="none" strike="noStrike">
              <a:solidFill>
                <a:schemeClr val="dk1"/>
              </a:solidFill>
              <a:latin typeface="Calibri"/>
              <a:ea typeface="Calibri"/>
              <a:cs typeface="Calibri"/>
              <a:sym typeface="Calibri"/>
            </a:endParaRPr>
          </a:p>
        </p:txBody>
      </p:sp>
      <p:sp>
        <p:nvSpPr>
          <p:cNvPr id="65" name="Google Shape;65;p2"/>
          <p:cNvSpPr/>
          <p:nvPr/>
        </p:nvSpPr>
        <p:spPr>
          <a:xfrm>
            <a:off x="6053328" y="1755648"/>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053328" y="1755648"/>
            <a:ext cx="64008" cy="53035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181344" y="1755648"/>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RViz / ROS2</a:t>
            </a:r>
            <a:endParaRPr b="0" i="0" sz="950" u="none" cap="none" strike="noStrike">
              <a:solidFill>
                <a:schemeClr val="dk1"/>
              </a:solidFill>
              <a:latin typeface="Calibri"/>
              <a:ea typeface="Calibri"/>
              <a:cs typeface="Calibri"/>
              <a:sym typeface="Calibri"/>
            </a:endParaRPr>
          </a:p>
        </p:txBody>
      </p:sp>
      <p:sp>
        <p:nvSpPr>
          <p:cNvPr id="68" name="Google Shape;68;p2"/>
          <p:cNvSpPr/>
          <p:nvPr/>
        </p:nvSpPr>
        <p:spPr>
          <a:xfrm>
            <a:off x="7443216" y="1883664"/>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7443216" y="188366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Imported</a:t>
            </a:r>
            <a:endParaRPr b="0" i="0" sz="800" u="none" cap="none" strike="noStrike">
              <a:solidFill>
                <a:schemeClr val="dk1"/>
              </a:solidFill>
              <a:latin typeface="Calibri"/>
              <a:ea typeface="Calibri"/>
              <a:cs typeface="Calibri"/>
              <a:sym typeface="Calibri"/>
            </a:endParaRPr>
          </a:p>
        </p:txBody>
      </p:sp>
      <p:sp>
        <p:nvSpPr>
          <p:cNvPr id="70" name="Google Shape;70;p2"/>
          <p:cNvSpPr/>
          <p:nvPr/>
        </p:nvSpPr>
        <p:spPr>
          <a:xfrm>
            <a:off x="6053328" y="2377440"/>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053328" y="2377440"/>
            <a:ext cx="64008" cy="53035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181344" y="2377440"/>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Detection</a:t>
            </a:r>
            <a:endParaRPr b="0" i="0" sz="950" u="none" cap="none" strike="noStrike">
              <a:solidFill>
                <a:schemeClr val="dk1"/>
              </a:solidFill>
              <a:latin typeface="Calibri"/>
              <a:ea typeface="Calibri"/>
              <a:cs typeface="Calibri"/>
              <a:sym typeface="Calibri"/>
            </a:endParaRPr>
          </a:p>
        </p:txBody>
      </p:sp>
      <p:sp>
        <p:nvSpPr>
          <p:cNvPr id="73" name="Google Shape;73;p2"/>
          <p:cNvSpPr/>
          <p:nvPr/>
        </p:nvSpPr>
        <p:spPr>
          <a:xfrm>
            <a:off x="7443216" y="2505456"/>
            <a:ext cx="1335024" cy="256032"/>
          </a:xfrm>
          <a:prstGeom prst="roundRect">
            <a:avLst>
              <a:gd fmla="val 14286" name="adj"/>
            </a:avLst>
          </a:prstGeom>
          <a:solidFill>
            <a:srgbClr val="2EAD7A">
              <a:alpha val="18039"/>
            </a:srgbClr>
          </a:solidFill>
          <a:ln cap="flat" cmpd="sng" w="12700">
            <a:solidFill>
              <a:srgbClr val="2EAD7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7443216" y="2505456"/>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Improved ✓</a:t>
            </a:r>
            <a:endParaRPr b="0" i="0" sz="800" u="none" cap="none" strike="noStrike">
              <a:solidFill>
                <a:schemeClr val="dk1"/>
              </a:solidFill>
              <a:latin typeface="Calibri"/>
              <a:ea typeface="Calibri"/>
              <a:cs typeface="Calibri"/>
              <a:sym typeface="Calibri"/>
            </a:endParaRPr>
          </a:p>
        </p:txBody>
      </p:sp>
      <p:sp>
        <p:nvSpPr>
          <p:cNvPr id="75" name="Google Shape;75;p2"/>
          <p:cNvSpPr/>
          <p:nvPr/>
        </p:nvSpPr>
        <p:spPr>
          <a:xfrm>
            <a:off x="6053328" y="2999232"/>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053328" y="2999232"/>
            <a:ext cx="64008" cy="53035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181344" y="2999232"/>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Pump</a:t>
            </a:r>
            <a:endParaRPr b="0" i="0" sz="950" u="none" cap="none" strike="noStrike">
              <a:solidFill>
                <a:schemeClr val="dk1"/>
              </a:solidFill>
              <a:latin typeface="Calibri"/>
              <a:ea typeface="Calibri"/>
              <a:cs typeface="Calibri"/>
              <a:sym typeface="Calibri"/>
            </a:endParaRPr>
          </a:p>
        </p:txBody>
      </p:sp>
      <p:sp>
        <p:nvSpPr>
          <p:cNvPr id="78" name="Google Shape;78;p2"/>
          <p:cNvSpPr/>
          <p:nvPr/>
        </p:nvSpPr>
        <p:spPr>
          <a:xfrm>
            <a:off x="7443216" y="3127248"/>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7443216" y="3127248"/>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Ordered</a:t>
            </a:r>
            <a:endParaRPr b="0" i="0" sz="800" u="none" cap="none" strike="noStrike">
              <a:solidFill>
                <a:schemeClr val="dk1"/>
              </a:solidFill>
              <a:latin typeface="Calibri"/>
              <a:ea typeface="Calibri"/>
              <a:cs typeface="Calibri"/>
              <a:sym typeface="Calibri"/>
            </a:endParaRPr>
          </a:p>
        </p:txBody>
      </p:sp>
      <p:sp>
        <p:nvSpPr>
          <p:cNvPr id="80" name="Google Shape;80;p2"/>
          <p:cNvSpPr/>
          <p:nvPr/>
        </p:nvSpPr>
        <p:spPr>
          <a:xfrm>
            <a:off x="6053328" y="3621024"/>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6053328" y="3621024"/>
            <a:ext cx="64008" cy="53035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181344" y="3621024"/>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End effector</a:t>
            </a:r>
            <a:endParaRPr b="0" i="0" sz="950" u="none" cap="none" strike="noStrike">
              <a:solidFill>
                <a:schemeClr val="dk1"/>
              </a:solidFill>
              <a:latin typeface="Calibri"/>
              <a:ea typeface="Calibri"/>
              <a:cs typeface="Calibri"/>
              <a:sym typeface="Calibri"/>
            </a:endParaRPr>
          </a:p>
        </p:txBody>
      </p:sp>
      <p:sp>
        <p:nvSpPr>
          <p:cNvPr id="83" name="Google Shape;83;p2"/>
          <p:cNvSpPr/>
          <p:nvPr/>
        </p:nvSpPr>
        <p:spPr>
          <a:xfrm>
            <a:off x="7443216" y="3749040"/>
            <a:ext cx="1335024" cy="256032"/>
          </a:xfrm>
          <a:prstGeom prst="roundRect">
            <a:avLst>
              <a:gd fmla="val 14286" name="adj"/>
            </a:avLst>
          </a:prstGeom>
          <a:solidFill>
            <a:srgbClr val="E06530">
              <a:alpha val="18039"/>
            </a:srgbClr>
          </a:solidFill>
          <a:ln cap="flat" cmpd="sng" w="12700">
            <a:solidFill>
              <a:srgbClr val="E0653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7443216" y="3749040"/>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Behind</a:t>
            </a:r>
            <a:endParaRPr b="0" i="0" sz="800" u="none" cap="none" strike="noStrike">
              <a:solidFill>
                <a:schemeClr val="dk1"/>
              </a:solidFill>
              <a:latin typeface="Calibri"/>
              <a:ea typeface="Calibri"/>
              <a:cs typeface="Calibri"/>
              <a:sym typeface="Calibri"/>
            </a:endParaRPr>
          </a:p>
        </p:txBody>
      </p:sp>
      <p:sp>
        <p:nvSpPr>
          <p:cNvPr id="85" name="Google Shape;85;p2"/>
          <p:cNvSpPr/>
          <p:nvPr/>
        </p:nvSpPr>
        <p:spPr>
          <a:xfrm>
            <a:off x="6053328" y="4242816"/>
            <a:ext cx="2834640" cy="53035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6053328" y="4242816"/>
            <a:ext cx="64008" cy="53035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181344" y="4242816"/>
            <a:ext cx="1188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Assembly</a:t>
            </a:r>
            <a:endParaRPr b="0" i="0" sz="950" u="none" cap="none" strike="noStrike">
              <a:solidFill>
                <a:schemeClr val="dk1"/>
              </a:solidFill>
              <a:latin typeface="Calibri"/>
              <a:ea typeface="Calibri"/>
              <a:cs typeface="Calibri"/>
              <a:sym typeface="Calibri"/>
            </a:endParaRPr>
          </a:p>
        </p:txBody>
      </p:sp>
      <p:sp>
        <p:nvSpPr>
          <p:cNvPr id="88" name="Google Shape;88;p2"/>
          <p:cNvSpPr/>
          <p:nvPr/>
        </p:nvSpPr>
        <p:spPr>
          <a:xfrm>
            <a:off x="7443216" y="4370832"/>
            <a:ext cx="1335024" cy="256032"/>
          </a:xfrm>
          <a:prstGeom prst="roundRect">
            <a:avLst>
              <a:gd fmla="val 14286" name="adj"/>
            </a:avLst>
          </a:prstGeom>
          <a:solidFill>
            <a:srgbClr val="C0392B">
              <a:alpha val="18039"/>
            </a:srgbClr>
          </a:solidFill>
          <a:ln cap="flat" cmpd="sng" w="12700">
            <a:solidFill>
              <a:srgbClr val="C0392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7443216" y="4370832"/>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1515"/>
              </a:buClr>
              <a:buSzPts val="800"/>
              <a:buFont typeface="Calibri"/>
              <a:buNone/>
            </a:pPr>
            <a:r>
              <a:rPr b="1" i="0" lang="en-US" sz="800" u="none" cap="none" strike="noStrike">
                <a:solidFill>
                  <a:srgbClr val="6B1515"/>
                </a:solidFill>
                <a:latin typeface="Calibri"/>
                <a:ea typeface="Calibri"/>
                <a:cs typeface="Calibri"/>
                <a:sym typeface="Calibri"/>
              </a:rPr>
              <a:t>Blocked</a:t>
            </a:r>
            <a:endParaRPr b="0" i="0" sz="800" u="none" cap="none" strike="noStrike">
              <a:solidFill>
                <a:schemeClr val="dk1"/>
              </a:solidFill>
              <a:latin typeface="Calibri"/>
              <a:ea typeface="Calibri"/>
              <a:cs typeface="Calibri"/>
              <a:sym typeface="Calibri"/>
            </a:endParaRPr>
          </a:p>
        </p:txBody>
      </p:sp>
      <p:sp>
        <p:nvSpPr>
          <p:cNvPr id="90" name="Google Shape;90;p2"/>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95" name="Shape 95"/>
        <p:cNvGrpSpPr/>
        <p:nvPr/>
      </p:nvGrpSpPr>
      <p:grpSpPr>
        <a:xfrm>
          <a:off x="0" y="0"/>
          <a:ext cx="0" cy="0"/>
          <a:chOff x="0" y="0"/>
          <a:chExt cx="0" cy="0"/>
        </a:xfrm>
      </p:grpSpPr>
      <p:sp>
        <p:nvSpPr>
          <p:cNvPr id="96" name="Google Shape;96;p3"/>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0" y="0"/>
            <a:ext cx="164592" cy="51435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Project Schedule — Gantt Chart</a:t>
            </a:r>
            <a:endParaRPr b="0" i="0" sz="2000" u="none" cap="none" strike="noStrike">
              <a:solidFill>
                <a:schemeClr val="dk1"/>
              </a:solidFill>
              <a:latin typeface="Calibri"/>
              <a:ea typeface="Calibri"/>
              <a:cs typeface="Calibri"/>
              <a:sym typeface="Calibri"/>
            </a:endParaRPr>
          </a:p>
        </p:txBody>
      </p:sp>
      <p:sp>
        <p:nvSpPr>
          <p:cNvPr id="99" name="Google Shape;99;p3"/>
          <p:cNvSpPr/>
          <p:nvPr/>
        </p:nvSpPr>
        <p:spPr>
          <a:xfrm>
            <a:off x="347472" y="804672"/>
            <a:ext cx="8476488" cy="4114800"/>
          </a:xfrm>
          <a:prstGeom prst="rect">
            <a:avLst/>
          </a:prstGeom>
          <a:solidFill>
            <a:srgbClr val="E8EDF5"/>
          </a:solidFill>
          <a:ln cap="flat" cmpd="sng" w="12700">
            <a:solidFill>
              <a:srgbClr val="C8D4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347472" y="804672"/>
            <a:ext cx="8476488" cy="411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BAEC8"/>
              </a:buClr>
              <a:buSzPts val="1600"/>
              <a:buFont typeface="Calibri"/>
              <a:buNone/>
            </a:pPr>
            <a:r>
              <a:rPr b="0" i="1" lang="en-US" sz="1600" u="none" cap="none" strike="noStrike">
                <a:solidFill>
                  <a:srgbClr val="9BAEC8"/>
                </a:solidFill>
                <a:latin typeface="Calibri"/>
                <a:ea typeface="Calibri"/>
                <a:cs typeface="Calibri"/>
                <a:sym typeface="Calibri"/>
              </a:rPr>
              <a:t>[ Paste Gantt Chart Image Here ]</a:t>
            </a:r>
            <a:endParaRPr b="0" i="0" sz="1600" u="none" cap="none" strike="noStrike">
              <a:solidFill>
                <a:schemeClr val="dk1"/>
              </a:solidFill>
              <a:latin typeface="Calibri"/>
              <a:ea typeface="Calibri"/>
              <a:cs typeface="Calibri"/>
              <a:sym typeface="Calibri"/>
            </a:endParaRPr>
          </a:p>
        </p:txBody>
      </p:sp>
      <p:sp>
        <p:nvSpPr>
          <p:cNvPr id="101" name="Google Shape;101;p3"/>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pic>
        <p:nvPicPr>
          <p:cNvPr id="102" name="Google Shape;102;p3" title="5716665.png">
            <a:hlinkClick r:id="rId3"/>
          </p:cNvPr>
          <p:cNvPicPr preferRelativeResize="0"/>
          <p:nvPr/>
        </p:nvPicPr>
        <p:blipFill>
          <a:blip r:embed="rId4">
            <a:alphaModFix/>
          </a:blip>
          <a:stretch>
            <a:fillRect/>
          </a:stretch>
        </p:blipFill>
        <p:spPr>
          <a:xfrm>
            <a:off x="2902550" y="961450"/>
            <a:ext cx="3452675" cy="3452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07" name="Shape 107"/>
        <p:cNvGrpSpPr/>
        <p:nvPr/>
      </p:nvGrpSpPr>
      <p:grpSpPr>
        <a:xfrm>
          <a:off x="0" y="0"/>
          <a:ext cx="0" cy="0"/>
          <a:chOff x="0" y="0"/>
          <a:chExt cx="0" cy="0"/>
        </a:xfrm>
      </p:grpSpPr>
      <p:sp>
        <p:nvSpPr>
          <p:cNvPr id="108" name="Google Shape;108;p4"/>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Milestones &amp; Deliverables</a:t>
            </a:r>
            <a:endParaRPr b="0" i="0" sz="2000" u="none" cap="none" strike="noStrike">
              <a:solidFill>
                <a:schemeClr val="dk1"/>
              </a:solidFill>
              <a:latin typeface="Calibri"/>
              <a:ea typeface="Calibri"/>
              <a:cs typeface="Calibri"/>
              <a:sym typeface="Calibri"/>
            </a:endParaRPr>
          </a:p>
        </p:txBody>
      </p:sp>
      <p:sp>
        <p:nvSpPr>
          <p:cNvPr id="111" name="Google Shape;111;p4"/>
          <p:cNvSpPr/>
          <p:nvPr/>
        </p:nvSpPr>
        <p:spPr>
          <a:xfrm>
            <a:off x="347472" y="804672"/>
            <a:ext cx="221284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38912" y="804672"/>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Deliverable</a:t>
            </a:r>
            <a:endParaRPr b="0" i="0" sz="1000" u="none" cap="none" strike="noStrike">
              <a:solidFill>
                <a:schemeClr val="dk1"/>
              </a:solidFill>
              <a:latin typeface="Calibri"/>
              <a:ea typeface="Calibri"/>
              <a:cs typeface="Calibri"/>
              <a:sym typeface="Calibri"/>
            </a:endParaRPr>
          </a:p>
        </p:txBody>
      </p:sp>
      <p:sp>
        <p:nvSpPr>
          <p:cNvPr id="113" name="Google Shape;113;p4"/>
          <p:cNvSpPr/>
          <p:nvPr/>
        </p:nvSpPr>
        <p:spPr>
          <a:xfrm>
            <a:off x="2578608" y="804672"/>
            <a:ext cx="157276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2670048" y="804672"/>
            <a:ext cx="14630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Target</a:t>
            </a:r>
            <a:endParaRPr b="0" i="0" sz="1000" u="none" cap="none" strike="noStrike">
              <a:solidFill>
                <a:schemeClr val="dk1"/>
              </a:solidFill>
              <a:latin typeface="Calibri"/>
              <a:ea typeface="Calibri"/>
              <a:cs typeface="Calibri"/>
              <a:sym typeface="Calibri"/>
            </a:endParaRPr>
          </a:p>
        </p:txBody>
      </p:sp>
      <p:sp>
        <p:nvSpPr>
          <p:cNvPr id="115" name="Google Shape;115;p4"/>
          <p:cNvSpPr/>
          <p:nvPr/>
        </p:nvSpPr>
        <p:spPr>
          <a:xfrm>
            <a:off x="4169664" y="804672"/>
            <a:ext cx="138988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4261104" y="804672"/>
            <a:ext cx="1280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Status</a:t>
            </a:r>
            <a:endParaRPr b="0" i="0" sz="1000" u="none" cap="none" strike="noStrike">
              <a:solidFill>
                <a:schemeClr val="dk1"/>
              </a:solidFill>
              <a:latin typeface="Calibri"/>
              <a:ea typeface="Calibri"/>
              <a:cs typeface="Calibri"/>
              <a:sym typeface="Calibri"/>
            </a:endParaRPr>
          </a:p>
        </p:txBody>
      </p:sp>
      <p:sp>
        <p:nvSpPr>
          <p:cNvPr id="117" name="Google Shape;117;p4"/>
          <p:cNvSpPr/>
          <p:nvPr/>
        </p:nvSpPr>
        <p:spPr>
          <a:xfrm>
            <a:off x="5577840" y="804672"/>
            <a:ext cx="3246120"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5669280" y="804672"/>
            <a:ext cx="3136392"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This week</a:t>
            </a:r>
            <a:endParaRPr b="0" i="0" sz="1000" u="none" cap="none" strike="noStrike">
              <a:solidFill>
                <a:schemeClr val="dk1"/>
              </a:solidFill>
              <a:latin typeface="Calibri"/>
              <a:ea typeface="Calibri"/>
              <a:cs typeface="Calibri"/>
              <a:sym typeface="Calibri"/>
            </a:endParaRPr>
          </a:p>
        </p:txBody>
      </p:sp>
      <p:sp>
        <p:nvSpPr>
          <p:cNvPr id="119" name="Google Shape;119;p4"/>
          <p:cNvSpPr/>
          <p:nvPr/>
        </p:nvSpPr>
        <p:spPr>
          <a:xfrm>
            <a:off x="347472" y="10972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2578608" y="10972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169664" y="10972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5577840" y="10972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438912" y="10972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CAD model complete</a:t>
            </a:r>
            <a:endParaRPr b="0" i="0" sz="950" u="none" cap="none" strike="noStrike">
              <a:solidFill>
                <a:schemeClr val="dk1"/>
              </a:solidFill>
              <a:latin typeface="Calibri"/>
              <a:ea typeface="Calibri"/>
              <a:cs typeface="Calibri"/>
              <a:sym typeface="Calibri"/>
            </a:endParaRPr>
          </a:p>
        </p:txBody>
      </p:sp>
      <p:sp>
        <p:nvSpPr>
          <p:cNvPr id="124" name="Google Shape;124;p4"/>
          <p:cNvSpPr/>
          <p:nvPr/>
        </p:nvSpPr>
        <p:spPr>
          <a:xfrm>
            <a:off x="2670048" y="10972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25" name="Google Shape;125;p4"/>
          <p:cNvSpPr/>
          <p:nvPr/>
        </p:nvSpPr>
        <p:spPr>
          <a:xfrm>
            <a:off x="4261104" y="1179576"/>
            <a:ext cx="1207008" cy="237744"/>
          </a:xfrm>
          <a:prstGeom prst="roundRect">
            <a:avLst>
              <a:gd fmla="val 15385" name="adj"/>
            </a:avLst>
          </a:prstGeom>
          <a:solidFill>
            <a:srgbClr val="E06530">
              <a:alpha val="18039"/>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261104" y="11795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In progress</a:t>
            </a:r>
            <a:endParaRPr b="0" i="0" sz="800" u="none" cap="none" strike="noStrike">
              <a:solidFill>
                <a:schemeClr val="dk1"/>
              </a:solidFill>
              <a:latin typeface="Calibri"/>
              <a:ea typeface="Calibri"/>
              <a:cs typeface="Calibri"/>
              <a:sym typeface="Calibri"/>
            </a:endParaRPr>
          </a:p>
        </p:txBody>
      </p:sp>
      <p:sp>
        <p:nvSpPr>
          <p:cNvPr id="127" name="Google Shape;127;p4"/>
          <p:cNvSpPr/>
          <p:nvPr/>
        </p:nvSpPr>
        <p:spPr>
          <a:xfrm>
            <a:off x="5669280" y="10972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Wrist &amp; base modelled — CAD still not finalised</a:t>
            </a:r>
            <a:endParaRPr b="0" i="0" sz="900" u="none" cap="none" strike="noStrike">
              <a:solidFill>
                <a:schemeClr val="dk1"/>
              </a:solidFill>
              <a:latin typeface="Calibri"/>
              <a:ea typeface="Calibri"/>
              <a:cs typeface="Calibri"/>
              <a:sym typeface="Calibri"/>
            </a:endParaRPr>
          </a:p>
        </p:txBody>
      </p:sp>
      <p:sp>
        <p:nvSpPr>
          <p:cNvPr id="128" name="Google Shape;128;p4"/>
          <p:cNvSpPr/>
          <p:nvPr/>
        </p:nvSpPr>
        <p:spPr>
          <a:xfrm>
            <a:off x="347472" y="15544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2578608" y="15544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4169664" y="15544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5577840" y="15544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438912" y="15544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Camera vision (OpenCV)</a:t>
            </a:r>
            <a:endParaRPr b="0" i="0" sz="950" u="none" cap="none" strike="noStrike">
              <a:solidFill>
                <a:schemeClr val="dk1"/>
              </a:solidFill>
              <a:latin typeface="Calibri"/>
              <a:ea typeface="Calibri"/>
              <a:cs typeface="Calibri"/>
              <a:sym typeface="Calibri"/>
            </a:endParaRPr>
          </a:p>
        </p:txBody>
      </p:sp>
      <p:sp>
        <p:nvSpPr>
          <p:cNvPr id="133" name="Google Shape;133;p4"/>
          <p:cNvSpPr/>
          <p:nvPr/>
        </p:nvSpPr>
        <p:spPr>
          <a:xfrm>
            <a:off x="2670048" y="15544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34" name="Google Shape;134;p4"/>
          <p:cNvSpPr/>
          <p:nvPr/>
        </p:nvSpPr>
        <p:spPr>
          <a:xfrm>
            <a:off x="4261104" y="16367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4261104" y="16367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Improved ✓</a:t>
            </a:r>
            <a:endParaRPr b="0" i="0" sz="800" u="none" cap="none" strike="noStrike">
              <a:solidFill>
                <a:schemeClr val="dk1"/>
              </a:solidFill>
              <a:latin typeface="Calibri"/>
              <a:ea typeface="Calibri"/>
              <a:cs typeface="Calibri"/>
              <a:sym typeface="Calibri"/>
            </a:endParaRPr>
          </a:p>
        </p:txBody>
      </p:sp>
      <p:sp>
        <p:nvSpPr>
          <p:cNvPr id="136" name="Google Shape;136;p4"/>
          <p:cNvSpPr/>
          <p:nvPr/>
        </p:nvSpPr>
        <p:spPr>
          <a:xfrm>
            <a:off x="5669280" y="15544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Higher res + threshold tuning — detection better</a:t>
            </a:r>
            <a:endParaRPr b="0" i="0" sz="900" u="none" cap="none" strike="noStrike">
              <a:solidFill>
                <a:schemeClr val="dk1"/>
              </a:solidFill>
              <a:latin typeface="Calibri"/>
              <a:ea typeface="Calibri"/>
              <a:cs typeface="Calibri"/>
              <a:sym typeface="Calibri"/>
            </a:endParaRPr>
          </a:p>
        </p:txBody>
      </p:sp>
      <p:sp>
        <p:nvSpPr>
          <p:cNvPr id="137" name="Google Shape;137;p4"/>
          <p:cNvSpPr/>
          <p:nvPr/>
        </p:nvSpPr>
        <p:spPr>
          <a:xfrm>
            <a:off x="347472" y="20116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2578608" y="20116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4169664" y="20116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5577840" y="20116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438912" y="20116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End effector + pump</a:t>
            </a:r>
            <a:endParaRPr b="0" i="0" sz="950" u="none" cap="none" strike="noStrike">
              <a:solidFill>
                <a:schemeClr val="dk1"/>
              </a:solidFill>
              <a:latin typeface="Calibri"/>
              <a:ea typeface="Calibri"/>
              <a:cs typeface="Calibri"/>
              <a:sym typeface="Calibri"/>
            </a:endParaRPr>
          </a:p>
        </p:txBody>
      </p:sp>
      <p:sp>
        <p:nvSpPr>
          <p:cNvPr id="142" name="Google Shape;142;p4"/>
          <p:cNvSpPr/>
          <p:nvPr/>
        </p:nvSpPr>
        <p:spPr>
          <a:xfrm>
            <a:off x="2670048" y="20116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43" name="Google Shape;143;p4"/>
          <p:cNvSpPr/>
          <p:nvPr/>
        </p:nvSpPr>
        <p:spPr>
          <a:xfrm>
            <a:off x="4261104" y="2093976"/>
            <a:ext cx="1207008" cy="237744"/>
          </a:xfrm>
          <a:prstGeom prst="roundRect">
            <a:avLst>
              <a:gd fmla="val 15385" name="adj"/>
            </a:avLst>
          </a:prstGeom>
          <a:solidFill>
            <a:srgbClr val="E06530">
              <a:alpha val="18039"/>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4261104" y="20939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Behind</a:t>
            </a:r>
            <a:endParaRPr b="0" i="0" sz="800" u="none" cap="none" strike="noStrike">
              <a:solidFill>
                <a:schemeClr val="dk1"/>
              </a:solidFill>
              <a:latin typeface="Calibri"/>
              <a:ea typeface="Calibri"/>
              <a:cs typeface="Calibri"/>
              <a:sym typeface="Calibri"/>
            </a:endParaRPr>
          </a:p>
        </p:txBody>
      </p:sp>
      <p:sp>
        <p:nvSpPr>
          <p:cNvPr id="145" name="Google Shape;145;p4"/>
          <p:cNvSpPr/>
          <p:nvPr/>
        </p:nvSpPr>
        <p:spPr>
          <a:xfrm>
            <a:off x="5669280" y="20116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Pump ordered — end effector build pending delivery</a:t>
            </a:r>
            <a:endParaRPr b="0" i="0" sz="900" u="none" cap="none" strike="noStrike">
              <a:solidFill>
                <a:schemeClr val="dk1"/>
              </a:solidFill>
              <a:latin typeface="Calibri"/>
              <a:ea typeface="Calibri"/>
              <a:cs typeface="Calibri"/>
              <a:sym typeface="Calibri"/>
            </a:endParaRPr>
          </a:p>
        </p:txBody>
      </p:sp>
      <p:sp>
        <p:nvSpPr>
          <p:cNvPr id="146" name="Google Shape;146;p4"/>
          <p:cNvSpPr/>
          <p:nvPr/>
        </p:nvSpPr>
        <p:spPr>
          <a:xfrm>
            <a:off x="347472" y="24688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2578608" y="24688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4169664" y="24688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5577840" y="24688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438912" y="24688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Control system</a:t>
            </a:r>
            <a:endParaRPr b="0" i="0" sz="950" u="none" cap="none" strike="noStrike">
              <a:solidFill>
                <a:schemeClr val="dk1"/>
              </a:solidFill>
              <a:latin typeface="Calibri"/>
              <a:ea typeface="Calibri"/>
              <a:cs typeface="Calibri"/>
              <a:sym typeface="Calibri"/>
            </a:endParaRPr>
          </a:p>
        </p:txBody>
      </p:sp>
      <p:sp>
        <p:nvSpPr>
          <p:cNvPr id="151" name="Google Shape;151;p4"/>
          <p:cNvSpPr/>
          <p:nvPr/>
        </p:nvSpPr>
        <p:spPr>
          <a:xfrm>
            <a:off x="2670048" y="24688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52" name="Google Shape;152;p4"/>
          <p:cNvSpPr/>
          <p:nvPr/>
        </p:nvSpPr>
        <p:spPr>
          <a:xfrm>
            <a:off x="4261104" y="25511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4261104" y="25511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On track</a:t>
            </a:r>
            <a:endParaRPr b="0" i="0" sz="800" u="none" cap="none" strike="noStrike">
              <a:solidFill>
                <a:schemeClr val="dk1"/>
              </a:solidFill>
              <a:latin typeface="Calibri"/>
              <a:ea typeface="Calibri"/>
              <a:cs typeface="Calibri"/>
              <a:sym typeface="Calibri"/>
            </a:endParaRPr>
          </a:p>
        </p:txBody>
      </p:sp>
      <p:sp>
        <p:nvSpPr>
          <p:cNvPr id="154" name="Google Shape;154;p4"/>
          <p:cNvSpPr/>
          <p:nvPr/>
        </p:nvSpPr>
        <p:spPr>
          <a:xfrm>
            <a:off x="5669280" y="24688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Gamepad + Python + CV commands all functional</a:t>
            </a:r>
            <a:endParaRPr b="0" i="0" sz="900" u="none" cap="none" strike="noStrike">
              <a:solidFill>
                <a:schemeClr val="dk1"/>
              </a:solidFill>
              <a:latin typeface="Calibri"/>
              <a:ea typeface="Calibri"/>
              <a:cs typeface="Calibri"/>
              <a:sym typeface="Calibri"/>
            </a:endParaRPr>
          </a:p>
        </p:txBody>
      </p:sp>
      <p:sp>
        <p:nvSpPr>
          <p:cNvPr id="155" name="Google Shape;155;p4"/>
          <p:cNvSpPr/>
          <p:nvPr/>
        </p:nvSpPr>
        <p:spPr>
          <a:xfrm>
            <a:off x="347472" y="29260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2578608" y="29260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4169664" y="29260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5577840" y="29260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438912" y="29260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ROS2 / Digital twin</a:t>
            </a:r>
            <a:endParaRPr b="0" i="0" sz="950" u="none" cap="none" strike="noStrike">
              <a:solidFill>
                <a:schemeClr val="dk1"/>
              </a:solidFill>
              <a:latin typeface="Calibri"/>
              <a:ea typeface="Calibri"/>
              <a:cs typeface="Calibri"/>
              <a:sym typeface="Calibri"/>
            </a:endParaRPr>
          </a:p>
        </p:txBody>
      </p:sp>
      <p:sp>
        <p:nvSpPr>
          <p:cNvPr id="160" name="Google Shape;160;p4"/>
          <p:cNvSpPr/>
          <p:nvPr/>
        </p:nvSpPr>
        <p:spPr>
          <a:xfrm>
            <a:off x="2670048" y="29260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10</a:t>
            </a:r>
            <a:endParaRPr b="0" i="0" sz="950" u="none" cap="none" strike="noStrike">
              <a:solidFill>
                <a:schemeClr val="dk1"/>
              </a:solidFill>
              <a:latin typeface="Calibri"/>
              <a:ea typeface="Calibri"/>
              <a:cs typeface="Calibri"/>
              <a:sym typeface="Calibri"/>
            </a:endParaRPr>
          </a:p>
        </p:txBody>
      </p:sp>
      <p:sp>
        <p:nvSpPr>
          <p:cNvPr id="161" name="Google Shape;161;p4"/>
          <p:cNvSpPr/>
          <p:nvPr/>
        </p:nvSpPr>
        <p:spPr>
          <a:xfrm>
            <a:off x="4261104" y="3008376"/>
            <a:ext cx="1207008" cy="237744"/>
          </a:xfrm>
          <a:prstGeom prst="roundRect">
            <a:avLst>
              <a:gd fmla="val 15385"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4261104" y="30083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In progress</a:t>
            </a:r>
            <a:endParaRPr b="0" i="0" sz="800" u="none" cap="none" strike="noStrike">
              <a:solidFill>
                <a:schemeClr val="dk1"/>
              </a:solidFill>
              <a:latin typeface="Calibri"/>
              <a:ea typeface="Calibri"/>
              <a:cs typeface="Calibri"/>
              <a:sym typeface="Calibri"/>
            </a:endParaRPr>
          </a:p>
        </p:txBody>
      </p:sp>
      <p:sp>
        <p:nvSpPr>
          <p:cNvPr id="163" name="Google Shape;163;p4"/>
          <p:cNvSpPr/>
          <p:nvPr/>
        </p:nvSpPr>
        <p:spPr>
          <a:xfrm>
            <a:off x="5669280" y="29260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Joints imported to RViz — motion not yet configured</a:t>
            </a:r>
            <a:endParaRPr b="0" i="0" sz="900" u="none" cap="none" strike="noStrike">
              <a:solidFill>
                <a:schemeClr val="dk1"/>
              </a:solidFill>
              <a:latin typeface="Calibri"/>
              <a:ea typeface="Calibri"/>
              <a:cs typeface="Calibri"/>
              <a:sym typeface="Calibri"/>
            </a:endParaRPr>
          </a:p>
        </p:txBody>
      </p:sp>
      <p:sp>
        <p:nvSpPr>
          <p:cNvPr id="164" name="Google Shape;164;p4"/>
          <p:cNvSpPr/>
          <p:nvPr/>
        </p:nvSpPr>
        <p:spPr>
          <a:xfrm>
            <a:off x="347472" y="33832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2578608" y="33832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4169664" y="33832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577840" y="33832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438912" y="33832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Full assembly</a:t>
            </a:r>
            <a:endParaRPr b="0" i="0" sz="950" u="none" cap="none" strike="noStrike">
              <a:solidFill>
                <a:schemeClr val="dk1"/>
              </a:solidFill>
              <a:latin typeface="Calibri"/>
              <a:ea typeface="Calibri"/>
              <a:cs typeface="Calibri"/>
              <a:sym typeface="Calibri"/>
            </a:endParaRPr>
          </a:p>
        </p:txBody>
      </p:sp>
      <p:sp>
        <p:nvSpPr>
          <p:cNvPr id="169" name="Google Shape;169;p4"/>
          <p:cNvSpPr/>
          <p:nvPr/>
        </p:nvSpPr>
        <p:spPr>
          <a:xfrm>
            <a:off x="2670048" y="33832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10</a:t>
            </a:r>
            <a:endParaRPr b="0" i="0" sz="950" u="none" cap="none" strike="noStrike">
              <a:solidFill>
                <a:schemeClr val="dk1"/>
              </a:solidFill>
              <a:latin typeface="Calibri"/>
              <a:ea typeface="Calibri"/>
              <a:cs typeface="Calibri"/>
              <a:sym typeface="Calibri"/>
            </a:endParaRPr>
          </a:p>
        </p:txBody>
      </p:sp>
      <p:sp>
        <p:nvSpPr>
          <p:cNvPr id="170" name="Google Shape;170;p4"/>
          <p:cNvSpPr/>
          <p:nvPr/>
        </p:nvSpPr>
        <p:spPr>
          <a:xfrm>
            <a:off x="4261104" y="3465576"/>
            <a:ext cx="1207008" cy="237744"/>
          </a:xfrm>
          <a:prstGeom prst="roundRect">
            <a:avLst>
              <a:gd fmla="val 15385" name="adj"/>
            </a:avLst>
          </a:prstGeom>
          <a:solidFill>
            <a:srgbClr val="C0392B">
              <a:alpha val="18039"/>
            </a:srgbClr>
          </a:solidFill>
          <a:ln cap="flat" cmpd="sng" w="12700">
            <a:solidFill>
              <a:srgbClr val="C0392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4261104" y="34655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1515"/>
              </a:buClr>
              <a:buSzPts val="800"/>
              <a:buFont typeface="Calibri"/>
              <a:buNone/>
            </a:pPr>
            <a:r>
              <a:rPr b="1" i="0" lang="en-US" sz="800" u="none" cap="none" strike="noStrike">
                <a:solidFill>
                  <a:srgbClr val="6B1515"/>
                </a:solidFill>
                <a:latin typeface="Calibri"/>
                <a:ea typeface="Calibri"/>
                <a:cs typeface="Calibri"/>
                <a:sym typeface="Calibri"/>
              </a:rPr>
              <a:t>Blocked</a:t>
            </a:r>
            <a:endParaRPr b="0" i="0" sz="800" u="none" cap="none" strike="noStrike">
              <a:solidFill>
                <a:schemeClr val="dk1"/>
              </a:solidFill>
              <a:latin typeface="Calibri"/>
              <a:ea typeface="Calibri"/>
              <a:cs typeface="Calibri"/>
              <a:sym typeface="Calibri"/>
            </a:endParaRPr>
          </a:p>
        </p:txBody>
      </p:sp>
      <p:sp>
        <p:nvSpPr>
          <p:cNvPr id="172" name="Google Shape;172;p4"/>
          <p:cNvSpPr/>
          <p:nvPr/>
        </p:nvSpPr>
        <p:spPr>
          <a:xfrm>
            <a:off x="5669280" y="33832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Waiting on final 3D prints and pump delivery</a:t>
            </a:r>
            <a:endParaRPr b="0" i="0" sz="900" u="none" cap="none" strike="noStrike">
              <a:solidFill>
                <a:schemeClr val="dk1"/>
              </a:solidFill>
              <a:latin typeface="Calibri"/>
              <a:ea typeface="Calibri"/>
              <a:cs typeface="Calibri"/>
              <a:sym typeface="Calibri"/>
            </a:endParaRPr>
          </a:p>
        </p:txBody>
      </p:sp>
      <p:sp>
        <p:nvSpPr>
          <p:cNvPr id="173" name="Google Shape;173;p4"/>
          <p:cNvSpPr/>
          <p:nvPr/>
        </p:nvSpPr>
        <p:spPr>
          <a:xfrm>
            <a:off x="347472" y="38404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2578608" y="38404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p:nvPr/>
        </p:nvSpPr>
        <p:spPr>
          <a:xfrm>
            <a:off x="4169664" y="38404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5577840" y="38404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
          <p:cNvSpPr/>
          <p:nvPr/>
        </p:nvSpPr>
        <p:spPr>
          <a:xfrm>
            <a:off x="438912" y="38404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Control complete</a:t>
            </a:r>
            <a:endParaRPr b="0" i="0" sz="950" u="none" cap="none" strike="noStrike">
              <a:solidFill>
                <a:schemeClr val="dk1"/>
              </a:solidFill>
              <a:latin typeface="Calibri"/>
              <a:ea typeface="Calibri"/>
              <a:cs typeface="Calibri"/>
              <a:sym typeface="Calibri"/>
            </a:endParaRPr>
          </a:p>
        </p:txBody>
      </p:sp>
      <p:sp>
        <p:nvSpPr>
          <p:cNvPr id="178" name="Google Shape;178;p4"/>
          <p:cNvSpPr/>
          <p:nvPr/>
        </p:nvSpPr>
        <p:spPr>
          <a:xfrm>
            <a:off x="2670048" y="38404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11</a:t>
            </a:r>
            <a:endParaRPr b="0" i="0" sz="950" u="none" cap="none" strike="noStrike">
              <a:solidFill>
                <a:schemeClr val="dk1"/>
              </a:solidFill>
              <a:latin typeface="Calibri"/>
              <a:ea typeface="Calibri"/>
              <a:cs typeface="Calibri"/>
              <a:sym typeface="Calibri"/>
            </a:endParaRPr>
          </a:p>
        </p:txBody>
      </p:sp>
      <p:sp>
        <p:nvSpPr>
          <p:cNvPr id="179" name="Google Shape;179;p4"/>
          <p:cNvSpPr/>
          <p:nvPr/>
        </p:nvSpPr>
        <p:spPr>
          <a:xfrm>
            <a:off x="4261104" y="39227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4261104" y="39227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On track</a:t>
            </a:r>
            <a:endParaRPr b="0" i="0" sz="800" u="none" cap="none" strike="noStrike">
              <a:solidFill>
                <a:schemeClr val="dk1"/>
              </a:solidFill>
              <a:latin typeface="Calibri"/>
              <a:ea typeface="Calibri"/>
              <a:cs typeface="Calibri"/>
              <a:sym typeface="Calibri"/>
            </a:endParaRPr>
          </a:p>
        </p:txBody>
      </p:sp>
      <p:sp>
        <p:nvSpPr>
          <p:cNvPr id="181" name="Google Shape;181;p4"/>
          <p:cNvSpPr/>
          <p:nvPr/>
        </p:nvSpPr>
        <p:spPr>
          <a:xfrm>
            <a:off x="5669280" y="38404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Pipeline nearly complete pending CV mapping</a:t>
            </a:r>
            <a:endParaRPr b="0" i="0" sz="900" u="none" cap="none" strike="noStrike">
              <a:solidFill>
                <a:schemeClr val="dk1"/>
              </a:solidFill>
              <a:latin typeface="Calibri"/>
              <a:ea typeface="Calibri"/>
              <a:cs typeface="Calibri"/>
              <a:sym typeface="Calibri"/>
            </a:endParaRPr>
          </a:p>
        </p:txBody>
      </p:sp>
      <p:sp>
        <p:nvSpPr>
          <p:cNvPr id="182" name="Google Shape;182;p4"/>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87" name="Shape 187"/>
        <p:cNvGrpSpPr/>
        <p:nvPr/>
      </p:nvGrpSpPr>
      <p:grpSpPr>
        <a:xfrm>
          <a:off x="0" y="0"/>
          <a:ext cx="0" cy="0"/>
          <a:chOff x="0" y="0"/>
          <a:chExt cx="0" cy="0"/>
        </a:xfrm>
      </p:grpSpPr>
      <p:sp>
        <p:nvSpPr>
          <p:cNvPr id="188" name="Google Shape;188;p5"/>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0" y="0"/>
            <a:ext cx="164592" cy="5143500"/>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Issues, Risks &amp; Action Items</a:t>
            </a:r>
            <a:endParaRPr b="0" i="0" sz="2000" u="none" cap="none" strike="noStrike">
              <a:solidFill>
                <a:schemeClr val="dk1"/>
              </a:solidFill>
              <a:latin typeface="Calibri"/>
              <a:ea typeface="Calibri"/>
              <a:cs typeface="Calibri"/>
              <a:sym typeface="Calibri"/>
            </a:endParaRPr>
          </a:p>
        </p:txBody>
      </p:sp>
      <p:sp>
        <p:nvSpPr>
          <p:cNvPr id="191" name="Google Shape;191;p5"/>
          <p:cNvSpPr/>
          <p:nvPr/>
        </p:nvSpPr>
        <p:spPr>
          <a:xfrm>
            <a:off x="347472" y="786384"/>
            <a:ext cx="404164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Current issues &amp; risks</a:t>
            </a:r>
            <a:endParaRPr b="0" i="0" sz="1300" u="none" cap="none" strike="noStrike">
              <a:solidFill>
                <a:schemeClr val="dk1"/>
              </a:solidFill>
              <a:latin typeface="Calibri"/>
              <a:ea typeface="Calibri"/>
              <a:cs typeface="Calibri"/>
              <a:sym typeface="Calibri"/>
            </a:endParaRPr>
          </a:p>
        </p:txBody>
      </p:sp>
      <p:sp>
        <p:nvSpPr>
          <p:cNvPr id="192" name="Google Shape;192;p5"/>
          <p:cNvSpPr/>
          <p:nvPr/>
        </p:nvSpPr>
        <p:spPr>
          <a:xfrm>
            <a:off x="347472" y="1133856"/>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347472" y="1133856"/>
            <a:ext cx="73152" cy="84124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3108960" y="1207008"/>
            <a:ext cx="1170432" cy="219456"/>
          </a:xfrm>
          <a:prstGeom prst="roundRect">
            <a:avLst>
              <a:gd fmla="val 16667" name="adj"/>
            </a:avLst>
          </a:prstGeom>
          <a:solidFill>
            <a:srgbClr val="C0392B">
              <a:alpha val="18039"/>
            </a:srgbClr>
          </a:solidFill>
          <a:ln cap="flat" cmpd="sng" w="12700">
            <a:solidFill>
              <a:srgbClr val="C0392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3108960" y="1207008"/>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1515"/>
              </a:buClr>
              <a:buSzPts val="800"/>
              <a:buFont typeface="Calibri"/>
              <a:buNone/>
            </a:pPr>
            <a:r>
              <a:rPr b="1" i="0" lang="en-US" sz="800" u="none" cap="none" strike="noStrike">
                <a:solidFill>
                  <a:srgbClr val="6B1515"/>
                </a:solidFill>
                <a:latin typeface="Calibri"/>
                <a:ea typeface="Calibri"/>
                <a:cs typeface="Calibri"/>
                <a:sym typeface="Calibri"/>
              </a:rPr>
              <a:t>High</a:t>
            </a:r>
            <a:endParaRPr b="0" i="0" sz="800" u="none" cap="none" strike="noStrike">
              <a:solidFill>
                <a:schemeClr val="dk1"/>
              </a:solidFill>
              <a:latin typeface="Calibri"/>
              <a:ea typeface="Calibri"/>
              <a:cs typeface="Calibri"/>
              <a:sym typeface="Calibri"/>
            </a:endParaRPr>
          </a:p>
        </p:txBody>
      </p:sp>
      <p:sp>
        <p:nvSpPr>
          <p:cNvPr id="196" name="Google Shape;196;p5"/>
          <p:cNvSpPr/>
          <p:nvPr/>
        </p:nvSpPr>
        <p:spPr>
          <a:xfrm>
            <a:off x="493776" y="1188720"/>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Box dimensions unknown</a:t>
            </a:r>
            <a:endParaRPr b="0" i="0" sz="1050" u="none" cap="none" strike="noStrike">
              <a:solidFill>
                <a:schemeClr val="dk1"/>
              </a:solidFill>
              <a:latin typeface="Calibri"/>
              <a:ea typeface="Calibri"/>
              <a:cs typeface="Calibri"/>
              <a:sym typeface="Calibri"/>
            </a:endParaRPr>
          </a:p>
        </p:txBody>
      </p:sp>
      <p:sp>
        <p:nvSpPr>
          <p:cNvPr id="197" name="Google Shape;197;p5"/>
          <p:cNvSpPr/>
          <p:nvPr/>
        </p:nvSpPr>
        <p:spPr>
          <a:xfrm>
            <a:off x="493776" y="1463040"/>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Team needs box dimensions from professor before finalising wrist length and arm positioning for pick-and-place.</a:t>
            </a:r>
            <a:endParaRPr b="0" i="0" sz="950" u="none" cap="none" strike="noStrike">
              <a:solidFill>
                <a:schemeClr val="dk1"/>
              </a:solidFill>
              <a:latin typeface="Calibri"/>
              <a:ea typeface="Calibri"/>
              <a:cs typeface="Calibri"/>
              <a:sym typeface="Calibri"/>
            </a:endParaRPr>
          </a:p>
        </p:txBody>
      </p:sp>
      <p:sp>
        <p:nvSpPr>
          <p:cNvPr id="198" name="Google Shape;198;p5"/>
          <p:cNvSpPr/>
          <p:nvPr/>
        </p:nvSpPr>
        <p:spPr>
          <a:xfrm>
            <a:off x="347472" y="2084832"/>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47472" y="2084832"/>
            <a:ext cx="73152" cy="841248"/>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3108960" y="2157984"/>
            <a:ext cx="1170432" cy="219456"/>
          </a:xfrm>
          <a:prstGeom prst="roundRect">
            <a:avLst>
              <a:gd fmla="val 16667" name="adj"/>
            </a:avLst>
          </a:prstGeom>
          <a:solidFill>
            <a:srgbClr val="C0392B">
              <a:alpha val="18039"/>
            </a:srgbClr>
          </a:solidFill>
          <a:ln cap="flat" cmpd="sng" w="12700">
            <a:solidFill>
              <a:srgbClr val="C0392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3108960" y="2157984"/>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1515"/>
              </a:buClr>
              <a:buSzPts val="800"/>
              <a:buFont typeface="Calibri"/>
              <a:buNone/>
            </a:pPr>
            <a:r>
              <a:rPr b="1" i="0" lang="en-US" sz="800" u="none" cap="none" strike="noStrike">
                <a:solidFill>
                  <a:srgbClr val="6B1515"/>
                </a:solidFill>
                <a:latin typeface="Calibri"/>
                <a:ea typeface="Calibri"/>
                <a:cs typeface="Calibri"/>
                <a:sym typeface="Calibri"/>
              </a:rPr>
              <a:t>High</a:t>
            </a:r>
            <a:endParaRPr b="0" i="0" sz="800" u="none" cap="none" strike="noStrike">
              <a:solidFill>
                <a:schemeClr val="dk1"/>
              </a:solidFill>
              <a:latin typeface="Calibri"/>
              <a:ea typeface="Calibri"/>
              <a:cs typeface="Calibri"/>
              <a:sym typeface="Calibri"/>
            </a:endParaRPr>
          </a:p>
        </p:txBody>
      </p:sp>
      <p:sp>
        <p:nvSpPr>
          <p:cNvPr id="202" name="Google Shape;202;p5"/>
          <p:cNvSpPr/>
          <p:nvPr/>
        </p:nvSpPr>
        <p:spPr>
          <a:xfrm>
            <a:off x="493776" y="2139696"/>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CAD &amp; end effector behind</a:t>
            </a:r>
            <a:endParaRPr b="0" i="0" sz="1050" u="none" cap="none" strike="noStrike">
              <a:solidFill>
                <a:schemeClr val="dk1"/>
              </a:solidFill>
              <a:latin typeface="Calibri"/>
              <a:ea typeface="Calibri"/>
              <a:cs typeface="Calibri"/>
              <a:sym typeface="Calibri"/>
            </a:endParaRPr>
          </a:p>
        </p:txBody>
      </p:sp>
      <p:sp>
        <p:nvSpPr>
          <p:cNvPr id="203" name="Google Shape;203;p5"/>
          <p:cNvSpPr/>
          <p:nvPr/>
        </p:nvSpPr>
        <p:spPr>
          <a:xfrm>
            <a:off x="493776" y="2414016"/>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CAD model not yet complete and end effector cannot be built until pump arrives. Both now targeting Week 9.</a:t>
            </a:r>
            <a:endParaRPr b="0" i="0" sz="950" u="none" cap="none" strike="noStrike">
              <a:solidFill>
                <a:schemeClr val="dk1"/>
              </a:solidFill>
              <a:latin typeface="Calibri"/>
              <a:ea typeface="Calibri"/>
              <a:cs typeface="Calibri"/>
              <a:sym typeface="Calibri"/>
            </a:endParaRPr>
          </a:p>
        </p:txBody>
      </p:sp>
      <p:sp>
        <p:nvSpPr>
          <p:cNvPr id="204" name="Google Shape;204;p5"/>
          <p:cNvSpPr/>
          <p:nvPr/>
        </p:nvSpPr>
        <p:spPr>
          <a:xfrm>
            <a:off x="347472" y="3035808"/>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347472" y="3035808"/>
            <a:ext cx="73152" cy="841248"/>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3108960" y="3108960"/>
            <a:ext cx="1170432" cy="219456"/>
          </a:xfrm>
          <a:prstGeom prst="roundRect">
            <a:avLst>
              <a:gd fmla="val 16667" name="adj"/>
            </a:avLst>
          </a:prstGeom>
          <a:solidFill>
            <a:srgbClr val="E06530">
              <a:alpha val="18039"/>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3108960" y="3108960"/>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Medium</a:t>
            </a:r>
            <a:endParaRPr b="0" i="0" sz="800" u="none" cap="none" strike="noStrike">
              <a:solidFill>
                <a:schemeClr val="dk1"/>
              </a:solidFill>
              <a:latin typeface="Calibri"/>
              <a:ea typeface="Calibri"/>
              <a:cs typeface="Calibri"/>
              <a:sym typeface="Calibri"/>
            </a:endParaRPr>
          </a:p>
        </p:txBody>
      </p:sp>
      <p:sp>
        <p:nvSpPr>
          <p:cNvPr id="208" name="Google Shape;208;p5"/>
          <p:cNvSpPr/>
          <p:nvPr/>
        </p:nvSpPr>
        <p:spPr>
          <a:xfrm>
            <a:off x="493776" y="3090672"/>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RViz joints not moving</a:t>
            </a:r>
            <a:endParaRPr b="0" i="0" sz="1050" u="none" cap="none" strike="noStrike">
              <a:solidFill>
                <a:schemeClr val="dk1"/>
              </a:solidFill>
              <a:latin typeface="Calibri"/>
              <a:ea typeface="Calibri"/>
              <a:cs typeface="Calibri"/>
              <a:sym typeface="Calibri"/>
            </a:endParaRPr>
          </a:p>
        </p:txBody>
      </p:sp>
      <p:sp>
        <p:nvSpPr>
          <p:cNvPr id="209" name="Google Shape;209;p5"/>
          <p:cNvSpPr/>
          <p:nvPr/>
        </p:nvSpPr>
        <p:spPr>
          <a:xfrm>
            <a:off x="493776" y="3364992"/>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CAD imported successfully but URDF joint configuration not yet done — arm not yet animating in simulation.</a:t>
            </a:r>
            <a:endParaRPr b="0" i="0" sz="950" u="none" cap="none" strike="noStrike">
              <a:solidFill>
                <a:schemeClr val="dk1"/>
              </a:solidFill>
              <a:latin typeface="Calibri"/>
              <a:ea typeface="Calibri"/>
              <a:cs typeface="Calibri"/>
              <a:sym typeface="Calibri"/>
            </a:endParaRPr>
          </a:p>
        </p:txBody>
      </p:sp>
      <p:sp>
        <p:nvSpPr>
          <p:cNvPr id="210" name="Google Shape;210;p5"/>
          <p:cNvSpPr/>
          <p:nvPr/>
        </p:nvSpPr>
        <p:spPr>
          <a:xfrm>
            <a:off x="347472" y="3986784"/>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347472" y="3986784"/>
            <a:ext cx="73152" cy="841248"/>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3108960" y="4059936"/>
            <a:ext cx="1170432" cy="219456"/>
          </a:xfrm>
          <a:prstGeom prst="roundRect">
            <a:avLst>
              <a:gd fmla="val 16667" name="adj"/>
            </a:avLst>
          </a:prstGeom>
          <a:solidFill>
            <a:srgbClr val="E06530">
              <a:alpha val="18039"/>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3108960" y="4059936"/>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Medium</a:t>
            </a:r>
            <a:endParaRPr b="0" i="0" sz="800" u="none" cap="none" strike="noStrike">
              <a:solidFill>
                <a:schemeClr val="dk1"/>
              </a:solidFill>
              <a:latin typeface="Calibri"/>
              <a:ea typeface="Calibri"/>
              <a:cs typeface="Calibri"/>
              <a:sym typeface="Calibri"/>
            </a:endParaRPr>
          </a:p>
        </p:txBody>
      </p:sp>
      <p:sp>
        <p:nvSpPr>
          <p:cNvPr id="214" name="Google Shape;214;p5"/>
          <p:cNvSpPr/>
          <p:nvPr/>
        </p:nvSpPr>
        <p:spPr>
          <a:xfrm>
            <a:off x="493776" y="4041648"/>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Last parts not yet printed</a:t>
            </a:r>
            <a:endParaRPr b="0" i="0" sz="1050" u="none" cap="none" strike="noStrike">
              <a:solidFill>
                <a:schemeClr val="dk1"/>
              </a:solidFill>
              <a:latin typeface="Calibri"/>
              <a:ea typeface="Calibri"/>
              <a:cs typeface="Calibri"/>
              <a:sym typeface="Calibri"/>
            </a:endParaRPr>
          </a:p>
        </p:txBody>
      </p:sp>
      <p:sp>
        <p:nvSpPr>
          <p:cNvPr id="215" name="Google Shape;215;p5"/>
          <p:cNvSpPr/>
          <p:nvPr/>
        </p:nvSpPr>
        <p:spPr>
          <a:xfrm>
            <a:off x="493776" y="4315968"/>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Remaining 3D printed parts still outstanding — assembly cannot proceed until all parts are in hand.</a:t>
            </a:r>
            <a:endParaRPr b="0" i="0" sz="950" u="none" cap="none" strike="noStrike">
              <a:solidFill>
                <a:schemeClr val="dk1"/>
              </a:solidFill>
              <a:latin typeface="Calibri"/>
              <a:ea typeface="Calibri"/>
              <a:cs typeface="Calibri"/>
              <a:sym typeface="Calibri"/>
            </a:endParaRPr>
          </a:p>
        </p:txBody>
      </p:sp>
      <p:sp>
        <p:nvSpPr>
          <p:cNvPr id="216" name="Google Shape;216;p5"/>
          <p:cNvSpPr/>
          <p:nvPr/>
        </p:nvSpPr>
        <p:spPr>
          <a:xfrm>
            <a:off x="4663440" y="786384"/>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Action items</a:t>
            </a:r>
            <a:endParaRPr b="0" i="0" sz="1300" u="none" cap="none" strike="noStrike">
              <a:solidFill>
                <a:schemeClr val="dk1"/>
              </a:solidFill>
              <a:latin typeface="Calibri"/>
              <a:ea typeface="Calibri"/>
              <a:cs typeface="Calibri"/>
              <a:sym typeface="Calibri"/>
            </a:endParaRPr>
          </a:p>
        </p:txBody>
      </p:sp>
      <p:sp>
        <p:nvSpPr>
          <p:cNvPr id="217" name="Google Shape;217;p5"/>
          <p:cNvSpPr/>
          <p:nvPr/>
        </p:nvSpPr>
        <p:spPr>
          <a:xfrm>
            <a:off x="4663440" y="1133856"/>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4663440" y="1133856"/>
            <a:ext cx="73152" cy="530352"/>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4809744" y="1170432"/>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Request box dimensions from professor</a:t>
            </a:r>
            <a:endParaRPr b="0" i="0" sz="1000" u="none" cap="none" strike="noStrike">
              <a:solidFill>
                <a:schemeClr val="dk1"/>
              </a:solidFill>
              <a:latin typeface="Calibri"/>
              <a:ea typeface="Calibri"/>
              <a:cs typeface="Calibri"/>
              <a:sym typeface="Calibri"/>
            </a:endParaRPr>
          </a:p>
        </p:txBody>
      </p:sp>
      <p:sp>
        <p:nvSpPr>
          <p:cNvPr id="220" name="Google Shape;220;p5"/>
          <p:cNvSpPr/>
          <p:nvPr/>
        </p:nvSpPr>
        <p:spPr>
          <a:xfrm>
            <a:off x="4809744" y="1444752"/>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Leen</a:t>
            </a:r>
            <a:endParaRPr b="0" i="0" sz="900" u="none" cap="none" strike="noStrike">
              <a:solidFill>
                <a:schemeClr val="dk1"/>
              </a:solidFill>
              <a:latin typeface="Calibri"/>
              <a:ea typeface="Calibri"/>
              <a:cs typeface="Calibri"/>
              <a:sym typeface="Calibri"/>
            </a:endParaRPr>
          </a:p>
        </p:txBody>
      </p:sp>
      <p:sp>
        <p:nvSpPr>
          <p:cNvPr id="221" name="Google Shape;221;p5"/>
          <p:cNvSpPr/>
          <p:nvPr/>
        </p:nvSpPr>
        <p:spPr>
          <a:xfrm>
            <a:off x="7589520" y="1261872"/>
            <a:ext cx="1133856" cy="237744"/>
          </a:xfrm>
          <a:prstGeom prst="roundRect">
            <a:avLst>
              <a:gd fmla="val 15385" name="adj"/>
            </a:avLst>
          </a:prstGeom>
          <a:solidFill>
            <a:srgbClr val="C0392B">
              <a:alpha val="14901"/>
            </a:srgbClr>
          </a:solidFill>
          <a:ln cap="flat" cmpd="sng" w="12700">
            <a:solidFill>
              <a:srgbClr val="C0392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7589520" y="1261872"/>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1515"/>
              </a:buClr>
              <a:buSzPts val="850"/>
              <a:buFont typeface="Calibri"/>
              <a:buNone/>
            </a:pPr>
            <a:r>
              <a:rPr b="1" i="0" lang="en-US" sz="850" u="none" cap="none" strike="noStrike">
                <a:solidFill>
                  <a:srgbClr val="6B1515"/>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23" name="Google Shape;223;p5"/>
          <p:cNvSpPr/>
          <p:nvPr/>
        </p:nvSpPr>
        <p:spPr>
          <a:xfrm>
            <a:off x="4663440" y="1755648"/>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4663440" y="1755648"/>
            <a:ext cx="73152" cy="53035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4809744" y="1792224"/>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Print remaining arm parts</a:t>
            </a:r>
            <a:endParaRPr b="0" i="0" sz="1000" u="none" cap="none" strike="noStrike">
              <a:solidFill>
                <a:schemeClr val="dk1"/>
              </a:solidFill>
              <a:latin typeface="Calibri"/>
              <a:ea typeface="Calibri"/>
              <a:cs typeface="Calibri"/>
              <a:sym typeface="Calibri"/>
            </a:endParaRPr>
          </a:p>
        </p:txBody>
      </p:sp>
      <p:sp>
        <p:nvSpPr>
          <p:cNvPr id="226" name="Google Shape;226;p5"/>
          <p:cNvSpPr/>
          <p:nvPr/>
        </p:nvSpPr>
        <p:spPr>
          <a:xfrm>
            <a:off x="4809744" y="2066544"/>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Helal</a:t>
            </a:r>
            <a:endParaRPr b="0" i="0" sz="900" u="none" cap="none" strike="noStrike">
              <a:solidFill>
                <a:schemeClr val="dk1"/>
              </a:solidFill>
              <a:latin typeface="Calibri"/>
              <a:ea typeface="Calibri"/>
              <a:cs typeface="Calibri"/>
              <a:sym typeface="Calibri"/>
            </a:endParaRPr>
          </a:p>
        </p:txBody>
      </p:sp>
      <p:sp>
        <p:nvSpPr>
          <p:cNvPr id="227" name="Google Shape;227;p5"/>
          <p:cNvSpPr/>
          <p:nvPr/>
        </p:nvSpPr>
        <p:spPr>
          <a:xfrm>
            <a:off x="7589520" y="1883664"/>
            <a:ext cx="1133856" cy="237744"/>
          </a:xfrm>
          <a:prstGeom prst="roundRect">
            <a:avLst>
              <a:gd fmla="val 15385" name="adj"/>
            </a:avLst>
          </a:prstGeom>
          <a:solidFill>
            <a:srgbClr val="E06530">
              <a:alpha val="14901"/>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7589520" y="1883664"/>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50"/>
              <a:buFont typeface="Calibri"/>
              <a:buNone/>
            </a:pPr>
            <a:r>
              <a:rPr b="1" i="0" lang="en-US" sz="850" u="none" cap="none" strike="noStrike">
                <a:solidFill>
                  <a:srgbClr val="8B3000"/>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29" name="Google Shape;229;p5"/>
          <p:cNvSpPr/>
          <p:nvPr/>
        </p:nvSpPr>
        <p:spPr>
          <a:xfrm>
            <a:off x="4663440" y="2377440"/>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4663440" y="2377440"/>
            <a:ext cx="73152" cy="53035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4809744" y="2414016"/>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Finalise CAD model</a:t>
            </a:r>
            <a:endParaRPr b="0" i="0" sz="1000" u="none" cap="none" strike="noStrike">
              <a:solidFill>
                <a:schemeClr val="dk1"/>
              </a:solidFill>
              <a:latin typeface="Calibri"/>
              <a:ea typeface="Calibri"/>
              <a:cs typeface="Calibri"/>
              <a:sym typeface="Calibri"/>
            </a:endParaRPr>
          </a:p>
        </p:txBody>
      </p:sp>
      <p:sp>
        <p:nvSpPr>
          <p:cNvPr id="232" name="Google Shape;232;p5"/>
          <p:cNvSpPr/>
          <p:nvPr/>
        </p:nvSpPr>
        <p:spPr>
          <a:xfrm>
            <a:off x="4809744" y="2688336"/>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Helal</a:t>
            </a:r>
            <a:endParaRPr b="0" i="0" sz="900" u="none" cap="none" strike="noStrike">
              <a:solidFill>
                <a:schemeClr val="dk1"/>
              </a:solidFill>
              <a:latin typeface="Calibri"/>
              <a:ea typeface="Calibri"/>
              <a:cs typeface="Calibri"/>
              <a:sym typeface="Calibri"/>
            </a:endParaRPr>
          </a:p>
        </p:txBody>
      </p:sp>
      <p:sp>
        <p:nvSpPr>
          <p:cNvPr id="233" name="Google Shape;233;p5"/>
          <p:cNvSpPr/>
          <p:nvPr/>
        </p:nvSpPr>
        <p:spPr>
          <a:xfrm>
            <a:off x="7589520" y="2505456"/>
            <a:ext cx="1133856" cy="237744"/>
          </a:xfrm>
          <a:prstGeom prst="roundRect">
            <a:avLst>
              <a:gd fmla="val 15385" name="adj"/>
            </a:avLst>
          </a:prstGeom>
          <a:solidFill>
            <a:srgbClr val="E06530">
              <a:alpha val="14901"/>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7589520" y="2505456"/>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50"/>
              <a:buFont typeface="Calibri"/>
              <a:buNone/>
            </a:pPr>
            <a:r>
              <a:rPr b="1" i="0" lang="en-US" sz="850" u="none" cap="none" strike="noStrike">
                <a:solidFill>
                  <a:srgbClr val="8B3000"/>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35" name="Google Shape;235;p5"/>
          <p:cNvSpPr/>
          <p:nvPr/>
        </p:nvSpPr>
        <p:spPr>
          <a:xfrm>
            <a:off x="4663440" y="2999232"/>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4663440" y="2999232"/>
            <a:ext cx="73152" cy="530352"/>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4809744" y="3035808"/>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Configure URDF joints in RViz</a:t>
            </a:r>
            <a:endParaRPr b="0" i="0" sz="1000" u="none" cap="none" strike="noStrike">
              <a:solidFill>
                <a:schemeClr val="dk1"/>
              </a:solidFill>
              <a:latin typeface="Calibri"/>
              <a:ea typeface="Calibri"/>
              <a:cs typeface="Calibri"/>
              <a:sym typeface="Calibri"/>
            </a:endParaRPr>
          </a:p>
        </p:txBody>
      </p:sp>
      <p:sp>
        <p:nvSpPr>
          <p:cNvPr id="238" name="Google Shape;238;p5"/>
          <p:cNvSpPr/>
          <p:nvPr/>
        </p:nvSpPr>
        <p:spPr>
          <a:xfrm>
            <a:off x="4809744" y="3310128"/>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Helal</a:t>
            </a:r>
            <a:endParaRPr b="0" i="0" sz="900" u="none" cap="none" strike="noStrike">
              <a:solidFill>
                <a:schemeClr val="dk1"/>
              </a:solidFill>
              <a:latin typeface="Calibri"/>
              <a:ea typeface="Calibri"/>
              <a:cs typeface="Calibri"/>
              <a:sym typeface="Calibri"/>
            </a:endParaRPr>
          </a:p>
        </p:txBody>
      </p:sp>
      <p:sp>
        <p:nvSpPr>
          <p:cNvPr id="239" name="Google Shape;239;p5"/>
          <p:cNvSpPr/>
          <p:nvPr/>
        </p:nvSpPr>
        <p:spPr>
          <a:xfrm>
            <a:off x="7589520" y="3127248"/>
            <a:ext cx="1133856" cy="237744"/>
          </a:xfrm>
          <a:prstGeom prst="roundRect">
            <a:avLst>
              <a:gd fmla="val 15385" name="adj"/>
            </a:avLst>
          </a:prstGeom>
          <a:solidFill>
            <a:srgbClr val="6B4E9E">
              <a:alpha val="14901"/>
            </a:srgbClr>
          </a:solidFill>
          <a:ln cap="flat" cmpd="sng" w="12700">
            <a:solidFill>
              <a:srgbClr val="6B4E9E">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7589520" y="3127248"/>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1F6E"/>
              </a:buClr>
              <a:buSzPts val="850"/>
              <a:buFont typeface="Calibri"/>
              <a:buNone/>
            </a:pPr>
            <a:r>
              <a:rPr b="1" i="0" lang="en-US" sz="850" u="none" cap="none" strike="noStrike">
                <a:solidFill>
                  <a:srgbClr val="3D1F6E"/>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41" name="Google Shape;241;p5"/>
          <p:cNvSpPr/>
          <p:nvPr/>
        </p:nvSpPr>
        <p:spPr>
          <a:xfrm>
            <a:off x="4663440" y="3621024"/>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4663440" y="3621024"/>
            <a:ext cx="73152" cy="53035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4809744" y="3657600"/>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Assemble end effector once pump arrives</a:t>
            </a:r>
            <a:endParaRPr b="0" i="0" sz="1000" u="none" cap="none" strike="noStrike">
              <a:solidFill>
                <a:schemeClr val="dk1"/>
              </a:solidFill>
              <a:latin typeface="Calibri"/>
              <a:ea typeface="Calibri"/>
              <a:cs typeface="Calibri"/>
              <a:sym typeface="Calibri"/>
            </a:endParaRPr>
          </a:p>
        </p:txBody>
      </p:sp>
      <p:sp>
        <p:nvSpPr>
          <p:cNvPr id="244" name="Google Shape;244;p5"/>
          <p:cNvSpPr/>
          <p:nvPr/>
        </p:nvSpPr>
        <p:spPr>
          <a:xfrm>
            <a:off x="4809744" y="3931920"/>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Mohamed</a:t>
            </a:r>
            <a:endParaRPr b="0" i="0" sz="900" u="none" cap="none" strike="noStrike">
              <a:solidFill>
                <a:schemeClr val="dk1"/>
              </a:solidFill>
              <a:latin typeface="Calibri"/>
              <a:ea typeface="Calibri"/>
              <a:cs typeface="Calibri"/>
              <a:sym typeface="Calibri"/>
            </a:endParaRPr>
          </a:p>
        </p:txBody>
      </p:sp>
      <p:sp>
        <p:nvSpPr>
          <p:cNvPr id="245" name="Google Shape;245;p5"/>
          <p:cNvSpPr/>
          <p:nvPr/>
        </p:nvSpPr>
        <p:spPr>
          <a:xfrm>
            <a:off x="7589520" y="3749040"/>
            <a:ext cx="1133856" cy="237744"/>
          </a:xfrm>
          <a:prstGeom prst="roundRect">
            <a:avLst>
              <a:gd fmla="val 15385" name="adj"/>
            </a:avLst>
          </a:prstGeom>
          <a:solidFill>
            <a:srgbClr val="2EAD7A">
              <a:alpha val="14901"/>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7589520" y="3749040"/>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50"/>
              <a:buFont typeface="Calibri"/>
              <a:buNone/>
            </a:pPr>
            <a:r>
              <a:rPr b="1" i="0" lang="en-US" sz="850" u="none" cap="none" strike="noStrike">
                <a:solidFill>
                  <a:srgbClr val="165C3E"/>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47" name="Google Shape;247;p5"/>
          <p:cNvSpPr/>
          <p:nvPr/>
        </p:nvSpPr>
        <p:spPr>
          <a:xfrm>
            <a:off x="4663440" y="4242816"/>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4663440" y="4242816"/>
            <a:ext cx="73152" cy="53035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4809744" y="4279392"/>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Complete OpenCV coordinate mapping</a:t>
            </a:r>
            <a:endParaRPr b="0" i="0" sz="1000" u="none" cap="none" strike="noStrike">
              <a:solidFill>
                <a:schemeClr val="dk1"/>
              </a:solidFill>
              <a:latin typeface="Calibri"/>
              <a:ea typeface="Calibri"/>
              <a:cs typeface="Calibri"/>
              <a:sym typeface="Calibri"/>
            </a:endParaRPr>
          </a:p>
        </p:txBody>
      </p:sp>
      <p:sp>
        <p:nvSpPr>
          <p:cNvPr id="250" name="Google Shape;250;p5"/>
          <p:cNvSpPr/>
          <p:nvPr/>
        </p:nvSpPr>
        <p:spPr>
          <a:xfrm>
            <a:off x="4809744" y="4553712"/>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Leen</a:t>
            </a:r>
            <a:endParaRPr b="0" i="0" sz="900" u="none" cap="none" strike="noStrike">
              <a:solidFill>
                <a:schemeClr val="dk1"/>
              </a:solidFill>
              <a:latin typeface="Calibri"/>
              <a:ea typeface="Calibri"/>
              <a:cs typeface="Calibri"/>
              <a:sym typeface="Calibri"/>
            </a:endParaRPr>
          </a:p>
        </p:txBody>
      </p:sp>
      <p:sp>
        <p:nvSpPr>
          <p:cNvPr id="251" name="Google Shape;251;p5"/>
          <p:cNvSpPr/>
          <p:nvPr/>
        </p:nvSpPr>
        <p:spPr>
          <a:xfrm>
            <a:off x="7589520" y="4370832"/>
            <a:ext cx="1133856" cy="237744"/>
          </a:xfrm>
          <a:prstGeom prst="roundRect">
            <a:avLst>
              <a:gd fmla="val 15385" name="adj"/>
            </a:avLst>
          </a:prstGeom>
          <a:solidFill>
            <a:srgbClr val="028090">
              <a:alpha val="14901"/>
            </a:srgbClr>
          </a:solidFill>
          <a:ln cap="flat" cmpd="sng" w="12700">
            <a:solidFill>
              <a:srgbClr val="02809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7589520" y="4370832"/>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15A68"/>
              </a:buClr>
              <a:buSzPts val="850"/>
              <a:buFont typeface="Calibri"/>
              <a:buNone/>
            </a:pPr>
            <a:r>
              <a:rPr b="1" i="0" lang="en-US" sz="850" u="none" cap="none" strike="noStrike">
                <a:solidFill>
                  <a:srgbClr val="015A68"/>
                </a:solidFill>
                <a:latin typeface="Calibri"/>
                <a:ea typeface="Calibri"/>
                <a:cs typeface="Calibri"/>
                <a:sym typeface="Calibri"/>
              </a:rPr>
              <a:t>Week 9</a:t>
            </a:r>
            <a:endParaRPr b="0" i="0" sz="850" u="none" cap="none" strike="noStrike">
              <a:solidFill>
                <a:schemeClr val="dk1"/>
              </a:solidFill>
              <a:latin typeface="Calibri"/>
              <a:ea typeface="Calibri"/>
              <a:cs typeface="Calibri"/>
              <a:sym typeface="Calibri"/>
            </a:endParaRPr>
          </a:p>
        </p:txBody>
      </p:sp>
      <p:sp>
        <p:nvSpPr>
          <p:cNvPr id="253" name="Google Shape;253;p5"/>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258" name="Shape 258"/>
        <p:cNvGrpSpPr/>
        <p:nvPr/>
      </p:nvGrpSpPr>
      <p:grpSpPr>
        <a:xfrm>
          <a:off x="0" y="0"/>
          <a:ext cx="0" cy="0"/>
          <a:chOff x="0" y="0"/>
          <a:chExt cx="0" cy="0"/>
        </a:xfrm>
      </p:grpSpPr>
      <p:sp>
        <p:nvSpPr>
          <p:cNvPr id="259" name="Google Shape;259;p6"/>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6217920" y="-1097280"/>
            <a:ext cx="4572000" cy="4572000"/>
          </a:xfrm>
          <a:prstGeom prst="ellipse">
            <a:avLst/>
          </a:prstGeom>
          <a:solidFill>
            <a:srgbClr val="028090">
              <a:alpha val="12156"/>
            </a:srgbClr>
          </a:solidFill>
          <a:ln cap="flat" cmpd="sng" w="12700">
            <a:solidFill>
              <a:srgbClr val="028090">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7132320" y="3108960"/>
            <a:ext cx="2743200" cy="2743200"/>
          </a:xfrm>
          <a:prstGeom prst="ellipse">
            <a:avLst/>
          </a:prstGeom>
          <a:solidFill>
            <a:srgbClr val="028090">
              <a:alpha val="7843"/>
            </a:srgbClr>
          </a:solidFill>
          <a:ln cap="flat" cmpd="sng" w="12700">
            <a:solidFill>
              <a:srgbClr val="02809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411480" y="128016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Individual</a:t>
            </a:r>
            <a:endParaRPr b="0" i="0" sz="5600" u="none" cap="none" strike="noStrike">
              <a:solidFill>
                <a:schemeClr val="dk1"/>
              </a:solidFill>
              <a:latin typeface="Calibri"/>
              <a:ea typeface="Calibri"/>
              <a:cs typeface="Calibri"/>
              <a:sym typeface="Calibri"/>
            </a:endParaRPr>
          </a:p>
        </p:txBody>
      </p:sp>
      <p:sp>
        <p:nvSpPr>
          <p:cNvPr id="263" name="Google Shape;263;p6"/>
          <p:cNvSpPr/>
          <p:nvPr/>
        </p:nvSpPr>
        <p:spPr>
          <a:xfrm>
            <a:off x="411480" y="201168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5600"/>
              <a:buFont typeface="Calibri"/>
              <a:buNone/>
            </a:pPr>
            <a:r>
              <a:rPr b="1" i="0" lang="en-US" sz="5600" u="none" cap="none" strike="noStrike">
                <a:solidFill>
                  <a:srgbClr val="C8E6F5"/>
                </a:solidFill>
                <a:latin typeface="Calibri"/>
                <a:ea typeface="Calibri"/>
                <a:cs typeface="Calibri"/>
                <a:sym typeface="Calibri"/>
              </a:rPr>
              <a:t>Updates</a:t>
            </a:r>
            <a:endParaRPr b="0" i="0" sz="5600" u="none" cap="none" strike="noStrike">
              <a:solidFill>
                <a:schemeClr val="dk1"/>
              </a:solidFill>
              <a:latin typeface="Calibri"/>
              <a:ea typeface="Calibri"/>
              <a:cs typeface="Calibri"/>
              <a:sym typeface="Calibri"/>
            </a:endParaRPr>
          </a:p>
        </p:txBody>
      </p:sp>
      <p:sp>
        <p:nvSpPr>
          <p:cNvPr id="264" name="Google Shape;264;p6"/>
          <p:cNvSpPr/>
          <p:nvPr/>
        </p:nvSpPr>
        <p:spPr>
          <a:xfrm>
            <a:off x="411480" y="2999232"/>
            <a:ext cx="36576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411480" y="3163824"/>
            <a:ext cx="6400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300"/>
              <a:buFont typeface="Calibri"/>
              <a:buNone/>
            </a:pPr>
            <a:r>
              <a:rPr b="0" i="0" lang="en-US" sz="1300" u="none" cap="none" strike="noStrike">
                <a:solidFill>
                  <a:srgbClr val="8494A8"/>
                </a:solidFill>
                <a:latin typeface="Calibri"/>
                <a:ea typeface="Calibri"/>
                <a:cs typeface="Calibri"/>
                <a:sym typeface="Calibri"/>
              </a:rPr>
              <a:t>What each member did, what they will do, what they need.</a:t>
            </a:r>
            <a:endParaRPr b="0" i="0" sz="1300" u="none" cap="none" strike="noStrike">
              <a:solidFill>
                <a:schemeClr val="dk1"/>
              </a:solidFill>
              <a:latin typeface="Calibri"/>
              <a:ea typeface="Calibri"/>
              <a:cs typeface="Calibri"/>
              <a:sym typeface="Calibri"/>
            </a:endParaRPr>
          </a:p>
        </p:txBody>
      </p:sp>
      <p:sp>
        <p:nvSpPr>
          <p:cNvPr id="266" name="Google Shape;266;p6"/>
          <p:cNvSpPr/>
          <p:nvPr/>
        </p:nvSpPr>
        <p:spPr>
          <a:xfrm>
            <a:off x="411480" y="3749040"/>
            <a:ext cx="2560320" cy="475488"/>
          </a:xfrm>
          <a:prstGeom prst="roundRect">
            <a:avLst>
              <a:gd fmla="val 15385" name="adj"/>
            </a:avLst>
          </a:prstGeom>
          <a:solidFill>
            <a:srgbClr val="028090">
              <a:alpha val="20000"/>
            </a:srgbClr>
          </a:solidFill>
          <a:ln cap="flat" cmpd="sng" w="12700">
            <a:solidFill>
              <a:srgbClr val="028090">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41148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Leen</a:t>
            </a:r>
            <a:endParaRPr b="0" i="0" sz="1300" u="none" cap="none" strike="noStrike">
              <a:solidFill>
                <a:schemeClr val="dk1"/>
              </a:solidFill>
              <a:latin typeface="Calibri"/>
              <a:ea typeface="Calibri"/>
              <a:cs typeface="Calibri"/>
              <a:sym typeface="Calibri"/>
            </a:endParaRPr>
          </a:p>
        </p:txBody>
      </p:sp>
      <p:sp>
        <p:nvSpPr>
          <p:cNvPr id="268" name="Google Shape;268;p6"/>
          <p:cNvSpPr/>
          <p:nvPr/>
        </p:nvSpPr>
        <p:spPr>
          <a:xfrm>
            <a:off x="41148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Group Leader</a:t>
            </a:r>
            <a:endParaRPr b="0" i="0" sz="900" u="none" cap="none" strike="noStrike">
              <a:solidFill>
                <a:schemeClr val="dk1"/>
              </a:solidFill>
              <a:latin typeface="Calibri"/>
              <a:ea typeface="Calibri"/>
              <a:cs typeface="Calibri"/>
              <a:sym typeface="Calibri"/>
            </a:endParaRPr>
          </a:p>
        </p:txBody>
      </p:sp>
      <p:sp>
        <p:nvSpPr>
          <p:cNvPr id="269" name="Google Shape;269;p6"/>
          <p:cNvSpPr/>
          <p:nvPr/>
        </p:nvSpPr>
        <p:spPr>
          <a:xfrm>
            <a:off x="3246120" y="3749040"/>
            <a:ext cx="2560320" cy="475488"/>
          </a:xfrm>
          <a:prstGeom prst="roundRect">
            <a:avLst>
              <a:gd fmla="val 15385" name="adj"/>
            </a:avLst>
          </a:prstGeom>
          <a:solidFill>
            <a:srgbClr val="2EAD7A">
              <a:alpha val="20000"/>
            </a:srgbClr>
          </a:solidFill>
          <a:ln cap="flat" cmpd="sng" w="12700">
            <a:solidFill>
              <a:srgbClr val="2EAD7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324612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Mohamed</a:t>
            </a:r>
            <a:endParaRPr b="0" i="0" sz="1300" u="none" cap="none" strike="noStrike">
              <a:solidFill>
                <a:schemeClr val="dk1"/>
              </a:solidFill>
              <a:latin typeface="Calibri"/>
              <a:ea typeface="Calibri"/>
              <a:cs typeface="Calibri"/>
              <a:sym typeface="Calibri"/>
            </a:endParaRPr>
          </a:p>
        </p:txBody>
      </p:sp>
      <p:sp>
        <p:nvSpPr>
          <p:cNvPr id="271" name="Google Shape;271;p6"/>
          <p:cNvSpPr/>
          <p:nvPr/>
        </p:nvSpPr>
        <p:spPr>
          <a:xfrm>
            <a:off x="324612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Member</a:t>
            </a:r>
            <a:endParaRPr b="0" i="0" sz="900" u="none" cap="none" strike="noStrike">
              <a:solidFill>
                <a:schemeClr val="dk1"/>
              </a:solidFill>
              <a:latin typeface="Calibri"/>
              <a:ea typeface="Calibri"/>
              <a:cs typeface="Calibri"/>
              <a:sym typeface="Calibri"/>
            </a:endParaRPr>
          </a:p>
        </p:txBody>
      </p:sp>
      <p:sp>
        <p:nvSpPr>
          <p:cNvPr id="272" name="Google Shape;272;p6"/>
          <p:cNvSpPr/>
          <p:nvPr/>
        </p:nvSpPr>
        <p:spPr>
          <a:xfrm>
            <a:off x="6080760" y="3749040"/>
            <a:ext cx="2560320" cy="475488"/>
          </a:xfrm>
          <a:prstGeom prst="roundRect">
            <a:avLst>
              <a:gd fmla="val 15385" name="adj"/>
            </a:avLst>
          </a:prstGeom>
          <a:solidFill>
            <a:srgbClr val="6B4E9E">
              <a:alpha val="20000"/>
            </a:srgbClr>
          </a:solidFill>
          <a:ln cap="flat" cmpd="sng" w="12700">
            <a:solidFill>
              <a:srgbClr val="6B4E9E">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608076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Helal</a:t>
            </a:r>
            <a:endParaRPr b="0" i="0" sz="1300" u="none" cap="none" strike="noStrike">
              <a:solidFill>
                <a:schemeClr val="dk1"/>
              </a:solidFill>
              <a:latin typeface="Calibri"/>
              <a:ea typeface="Calibri"/>
              <a:cs typeface="Calibri"/>
              <a:sym typeface="Calibri"/>
            </a:endParaRPr>
          </a:p>
        </p:txBody>
      </p:sp>
      <p:sp>
        <p:nvSpPr>
          <p:cNvPr id="274" name="Google Shape;274;p6"/>
          <p:cNvSpPr/>
          <p:nvPr/>
        </p:nvSpPr>
        <p:spPr>
          <a:xfrm>
            <a:off x="608076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Member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79" name="Shape 279"/>
        <p:cNvGrpSpPr/>
        <p:nvPr/>
      </p:nvGrpSpPr>
      <p:grpSpPr>
        <a:xfrm>
          <a:off x="0" y="0"/>
          <a:ext cx="0" cy="0"/>
          <a:chOff x="0" y="0"/>
          <a:chExt cx="0" cy="0"/>
        </a:xfrm>
      </p:grpSpPr>
      <p:sp>
        <p:nvSpPr>
          <p:cNvPr id="280" name="Google Shape;280;p7"/>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Leen — Group Leader  ·  Detection Improvement</a:t>
            </a:r>
            <a:endParaRPr b="0" i="0" sz="2000" u="none" cap="none" strike="noStrike">
              <a:solidFill>
                <a:schemeClr val="dk1"/>
              </a:solidFill>
              <a:latin typeface="Calibri"/>
              <a:ea typeface="Calibri"/>
              <a:cs typeface="Calibri"/>
              <a:sym typeface="Calibri"/>
            </a:endParaRPr>
          </a:p>
        </p:txBody>
      </p:sp>
      <p:sp>
        <p:nvSpPr>
          <p:cNvPr id="283" name="Google Shape;283;p7"/>
          <p:cNvSpPr/>
          <p:nvPr/>
        </p:nvSpPr>
        <p:spPr>
          <a:xfrm>
            <a:off x="347472" y="786384"/>
            <a:ext cx="4114800" cy="138988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347472" y="786384"/>
            <a:ext cx="4114800" cy="25603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438912" y="78638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Accomplished (since last report)</a:t>
            </a:r>
            <a:endParaRPr b="0" i="0" sz="1000" u="none" cap="none" strike="noStrike">
              <a:solidFill>
                <a:schemeClr val="dk1"/>
              </a:solidFill>
              <a:latin typeface="Calibri"/>
              <a:ea typeface="Calibri"/>
              <a:cs typeface="Calibri"/>
              <a:sym typeface="Calibri"/>
            </a:endParaRPr>
          </a:p>
        </p:txBody>
      </p:sp>
      <p:sp>
        <p:nvSpPr>
          <p:cNvPr id="286" name="Google Shape;286;p7"/>
          <p:cNvSpPr/>
          <p:nvPr/>
        </p:nvSpPr>
        <p:spPr>
          <a:xfrm>
            <a:off x="457200" y="1078992"/>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Switched to higher resolution images for better detection quality</a:t>
            </a:r>
            <a:endParaRPr b="0" i="0" sz="1000" u="none" cap="none" strike="noStrike">
              <a:solidFill>
                <a:schemeClr val="dk1"/>
              </a:solidFill>
              <a:latin typeface="Calibri"/>
              <a:ea typeface="Calibri"/>
              <a:cs typeface="Calibri"/>
              <a:sym typeface="Calibri"/>
            </a:endParaRPr>
          </a:p>
        </p:txBody>
      </p:sp>
      <p:sp>
        <p:nvSpPr>
          <p:cNvPr id="287" name="Google Shape;287;p7"/>
          <p:cNvSpPr/>
          <p:nvPr/>
        </p:nvSpPr>
        <p:spPr>
          <a:xfrm>
            <a:off x="457200" y="1408176"/>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Tuned HSV colour thresholds to reduce false positives</a:t>
            </a:r>
            <a:endParaRPr b="0" i="0" sz="1000" u="none" cap="none" strike="noStrike">
              <a:solidFill>
                <a:schemeClr val="dk1"/>
              </a:solidFill>
              <a:latin typeface="Calibri"/>
              <a:ea typeface="Calibri"/>
              <a:cs typeface="Calibri"/>
              <a:sym typeface="Calibri"/>
            </a:endParaRPr>
          </a:p>
        </p:txBody>
      </p:sp>
      <p:sp>
        <p:nvSpPr>
          <p:cNvPr id="288" name="Google Shape;288;p7"/>
          <p:cNvSpPr/>
          <p:nvPr/>
        </p:nvSpPr>
        <p:spPr>
          <a:xfrm>
            <a:off x="457200" y="1737360"/>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Detection accuracy noticeably improved — fewer incorrect detections</a:t>
            </a:r>
            <a:endParaRPr b="0" i="0" sz="1000" u="none" cap="none" strike="noStrike">
              <a:solidFill>
                <a:schemeClr val="dk1"/>
              </a:solidFill>
              <a:latin typeface="Calibri"/>
              <a:ea typeface="Calibri"/>
              <a:cs typeface="Calibri"/>
              <a:sym typeface="Calibri"/>
            </a:endParaRPr>
          </a:p>
        </p:txBody>
      </p:sp>
      <p:sp>
        <p:nvSpPr>
          <p:cNvPr id="289" name="Google Shape;289;p7"/>
          <p:cNvSpPr/>
          <p:nvPr/>
        </p:nvSpPr>
        <p:spPr>
          <a:xfrm>
            <a:off x="347472" y="2249424"/>
            <a:ext cx="4114800" cy="80467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347472" y="2249424"/>
            <a:ext cx="4114800" cy="25603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438912" y="224942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 progress</a:t>
            </a:r>
            <a:endParaRPr b="0" i="0" sz="1000" u="none" cap="none" strike="noStrike">
              <a:solidFill>
                <a:schemeClr val="dk1"/>
              </a:solidFill>
              <a:latin typeface="Calibri"/>
              <a:ea typeface="Calibri"/>
              <a:cs typeface="Calibri"/>
              <a:sym typeface="Calibri"/>
            </a:endParaRPr>
          </a:p>
        </p:txBody>
      </p:sp>
      <p:sp>
        <p:nvSpPr>
          <p:cNvPr id="292" name="Google Shape;292;p7"/>
          <p:cNvSpPr/>
          <p:nvPr/>
        </p:nvSpPr>
        <p:spPr>
          <a:xfrm>
            <a:off x="457200" y="2542032"/>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Full x/y coordinate mapping to arm workspace</a:t>
            </a:r>
            <a:endParaRPr b="0" i="0" sz="1000" u="none" cap="none" strike="noStrike">
              <a:solidFill>
                <a:schemeClr val="dk1"/>
              </a:solidFill>
              <a:latin typeface="Calibri"/>
              <a:ea typeface="Calibri"/>
              <a:cs typeface="Calibri"/>
              <a:sym typeface="Calibri"/>
            </a:endParaRPr>
          </a:p>
        </p:txBody>
      </p:sp>
      <p:sp>
        <p:nvSpPr>
          <p:cNvPr id="293" name="Google Shape;293;p7"/>
          <p:cNvSpPr/>
          <p:nvPr/>
        </p:nvSpPr>
        <p:spPr>
          <a:xfrm>
            <a:off x="457200" y="2816352"/>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Further detection refinement for all 3 object types</a:t>
            </a:r>
            <a:endParaRPr b="0" i="0" sz="1000" u="none" cap="none" strike="noStrike">
              <a:solidFill>
                <a:schemeClr val="dk1"/>
              </a:solidFill>
              <a:latin typeface="Calibri"/>
              <a:ea typeface="Calibri"/>
              <a:cs typeface="Calibri"/>
              <a:sym typeface="Calibri"/>
            </a:endParaRPr>
          </a:p>
        </p:txBody>
      </p:sp>
      <p:sp>
        <p:nvSpPr>
          <p:cNvPr id="294" name="Google Shape;294;p7"/>
          <p:cNvSpPr/>
          <p:nvPr/>
        </p:nvSpPr>
        <p:spPr>
          <a:xfrm>
            <a:off x="347472" y="3127248"/>
            <a:ext cx="4114800" cy="13716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347472" y="3127248"/>
            <a:ext cx="4114800" cy="256032"/>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a:off x="438912" y="3127248"/>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 week plan</a:t>
            </a:r>
            <a:endParaRPr b="0" i="0" sz="1000" u="none" cap="none" strike="noStrike">
              <a:solidFill>
                <a:schemeClr val="dk1"/>
              </a:solidFill>
              <a:latin typeface="Calibri"/>
              <a:ea typeface="Calibri"/>
              <a:cs typeface="Calibri"/>
              <a:sym typeface="Calibri"/>
            </a:endParaRPr>
          </a:p>
        </p:txBody>
      </p:sp>
      <p:sp>
        <p:nvSpPr>
          <p:cNvPr id="297" name="Google Shape;297;p7"/>
          <p:cNvSpPr/>
          <p:nvPr/>
        </p:nvSpPr>
        <p:spPr>
          <a:xfrm>
            <a:off x="457200" y="3419856"/>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Complete coordinate mapping for full auto control</a:t>
            </a:r>
            <a:endParaRPr b="0" i="0" sz="1000" u="none" cap="none" strike="noStrike">
              <a:solidFill>
                <a:schemeClr val="dk1"/>
              </a:solidFill>
              <a:latin typeface="Calibri"/>
              <a:ea typeface="Calibri"/>
              <a:cs typeface="Calibri"/>
              <a:sym typeface="Calibri"/>
            </a:endParaRPr>
          </a:p>
        </p:txBody>
      </p:sp>
      <p:sp>
        <p:nvSpPr>
          <p:cNvPr id="298" name="Google Shape;298;p7"/>
          <p:cNvSpPr/>
          <p:nvPr/>
        </p:nvSpPr>
        <p:spPr>
          <a:xfrm>
            <a:off x="457200" y="3749040"/>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Request box dimensions from professor</a:t>
            </a:r>
            <a:endParaRPr b="0" i="0" sz="1000" u="none" cap="none" strike="noStrike">
              <a:solidFill>
                <a:schemeClr val="dk1"/>
              </a:solidFill>
              <a:latin typeface="Calibri"/>
              <a:ea typeface="Calibri"/>
              <a:cs typeface="Calibri"/>
              <a:sym typeface="Calibri"/>
            </a:endParaRPr>
          </a:p>
        </p:txBody>
      </p:sp>
      <p:sp>
        <p:nvSpPr>
          <p:cNvPr id="299" name="Google Shape;299;p7"/>
          <p:cNvSpPr/>
          <p:nvPr/>
        </p:nvSpPr>
        <p:spPr>
          <a:xfrm>
            <a:off x="457200" y="4078224"/>
            <a:ext cx="3840480" cy="310896"/>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Continue refining detection for all object types</a:t>
            </a:r>
            <a:endParaRPr b="0" i="0" sz="1000" u="none" cap="none" strike="noStrike">
              <a:solidFill>
                <a:schemeClr val="dk1"/>
              </a:solidFill>
              <a:latin typeface="Calibri"/>
              <a:ea typeface="Calibri"/>
              <a:cs typeface="Calibri"/>
              <a:sym typeface="Calibri"/>
            </a:endParaRPr>
          </a:p>
        </p:txBody>
      </p:sp>
      <p:sp>
        <p:nvSpPr>
          <p:cNvPr id="300" name="Google Shape;300;p7"/>
          <p:cNvSpPr/>
          <p:nvPr/>
        </p:nvSpPr>
        <p:spPr>
          <a:xfrm>
            <a:off x="4663440" y="786384"/>
            <a:ext cx="4206240" cy="197510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a:off x="4663440" y="786384"/>
            <a:ext cx="4206240" cy="2560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a:off x="4754880" y="786384"/>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What changed — detection improvements</a:t>
            </a:r>
            <a:endParaRPr b="0" i="0" sz="1000" u="none" cap="none" strike="noStrike">
              <a:solidFill>
                <a:schemeClr val="dk1"/>
              </a:solidFill>
              <a:latin typeface="Calibri"/>
              <a:ea typeface="Calibri"/>
              <a:cs typeface="Calibri"/>
              <a:sym typeface="Calibri"/>
            </a:endParaRPr>
          </a:p>
        </p:txBody>
      </p:sp>
      <p:sp>
        <p:nvSpPr>
          <p:cNvPr id="303" name="Google Shape;303;p7"/>
          <p:cNvSpPr/>
          <p:nvPr/>
        </p:nvSpPr>
        <p:spPr>
          <a:xfrm>
            <a:off x="4754880" y="1115568"/>
            <a:ext cx="3986784" cy="457200"/>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a:off x="4846320" y="1115568"/>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950"/>
              <a:buFont typeface="Calibri"/>
              <a:buNone/>
            </a:pPr>
            <a:r>
              <a:rPr b="1" i="0" lang="en-US" sz="950" u="none" cap="none" strike="noStrike">
                <a:solidFill>
                  <a:srgbClr val="028090"/>
                </a:solidFill>
                <a:latin typeface="Calibri"/>
                <a:ea typeface="Calibri"/>
                <a:cs typeface="Calibri"/>
                <a:sym typeface="Calibri"/>
              </a:rPr>
              <a:t>Image resolution</a:t>
            </a:r>
            <a:endParaRPr b="0" i="0" sz="950" u="none" cap="none" strike="noStrike">
              <a:solidFill>
                <a:schemeClr val="dk1"/>
              </a:solidFill>
              <a:latin typeface="Calibri"/>
              <a:ea typeface="Calibri"/>
              <a:cs typeface="Calibri"/>
              <a:sym typeface="Calibri"/>
            </a:endParaRPr>
          </a:p>
        </p:txBody>
      </p:sp>
      <p:sp>
        <p:nvSpPr>
          <p:cNvPr id="305" name="Google Shape;305;p7"/>
          <p:cNvSpPr/>
          <p:nvPr/>
        </p:nvSpPr>
        <p:spPr>
          <a:xfrm>
            <a:off x="6035040" y="1115568"/>
            <a:ext cx="2615184"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Increased → more detail per frame → better contour detection</a:t>
            </a:r>
            <a:endParaRPr b="0" i="0" sz="950" u="none" cap="none" strike="noStrike">
              <a:solidFill>
                <a:schemeClr val="dk1"/>
              </a:solidFill>
              <a:latin typeface="Calibri"/>
              <a:ea typeface="Calibri"/>
              <a:cs typeface="Calibri"/>
              <a:sym typeface="Calibri"/>
            </a:endParaRPr>
          </a:p>
        </p:txBody>
      </p:sp>
      <p:sp>
        <p:nvSpPr>
          <p:cNvPr id="306" name="Google Shape;306;p7"/>
          <p:cNvSpPr/>
          <p:nvPr/>
        </p:nvSpPr>
        <p:spPr>
          <a:xfrm>
            <a:off x="4754880" y="1645920"/>
            <a:ext cx="3986784" cy="457200"/>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a:off x="4846320" y="1645920"/>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950"/>
              <a:buFont typeface="Calibri"/>
              <a:buNone/>
            </a:pPr>
            <a:r>
              <a:rPr b="1" i="0" lang="en-US" sz="950" u="none" cap="none" strike="noStrike">
                <a:solidFill>
                  <a:srgbClr val="028090"/>
                </a:solidFill>
                <a:latin typeface="Calibri"/>
                <a:ea typeface="Calibri"/>
                <a:cs typeface="Calibri"/>
                <a:sym typeface="Calibri"/>
              </a:rPr>
              <a:t>HSV thresholds</a:t>
            </a:r>
            <a:endParaRPr b="0" i="0" sz="950" u="none" cap="none" strike="noStrike">
              <a:solidFill>
                <a:schemeClr val="dk1"/>
              </a:solidFill>
              <a:latin typeface="Calibri"/>
              <a:ea typeface="Calibri"/>
              <a:cs typeface="Calibri"/>
              <a:sym typeface="Calibri"/>
            </a:endParaRPr>
          </a:p>
        </p:txBody>
      </p:sp>
      <p:sp>
        <p:nvSpPr>
          <p:cNvPr id="308" name="Google Shape;308;p7"/>
          <p:cNvSpPr/>
          <p:nvPr/>
        </p:nvSpPr>
        <p:spPr>
          <a:xfrm>
            <a:off x="6035040" y="1645920"/>
            <a:ext cx="2615184"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Manually tuned lower/upper bounds → fewer false colour matches</a:t>
            </a:r>
            <a:endParaRPr b="0" i="0" sz="950" u="none" cap="none" strike="noStrike">
              <a:solidFill>
                <a:schemeClr val="dk1"/>
              </a:solidFill>
              <a:latin typeface="Calibri"/>
              <a:ea typeface="Calibri"/>
              <a:cs typeface="Calibri"/>
              <a:sym typeface="Calibri"/>
            </a:endParaRPr>
          </a:p>
        </p:txBody>
      </p:sp>
      <p:sp>
        <p:nvSpPr>
          <p:cNvPr id="309" name="Google Shape;309;p7"/>
          <p:cNvSpPr/>
          <p:nvPr/>
        </p:nvSpPr>
        <p:spPr>
          <a:xfrm>
            <a:off x="4754880" y="2176272"/>
            <a:ext cx="3986784" cy="457200"/>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7"/>
          <p:cNvSpPr/>
          <p:nvPr/>
        </p:nvSpPr>
        <p:spPr>
          <a:xfrm>
            <a:off x="4846320" y="2176272"/>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950"/>
              <a:buFont typeface="Calibri"/>
              <a:buNone/>
            </a:pPr>
            <a:r>
              <a:rPr b="1" i="0" lang="en-US" sz="950" u="none" cap="none" strike="noStrike">
                <a:solidFill>
                  <a:srgbClr val="028090"/>
                </a:solidFill>
                <a:latin typeface="Calibri"/>
                <a:ea typeface="Calibri"/>
                <a:cs typeface="Calibri"/>
                <a:sym typeface="Calibri"/>
              </a:rPr>
              <a:t>Result</a:t>
            </a:r>
            <a:endParaRPr b="0" i="0" sz="950" u="none" cap="none" strike="noStrike">
              <a:solidFill>
                <a:schemeClr val="dk1"/>
              </a:solidFill>
              <a:latin typeface="Calibri"/>
              <a:ea typeface="Calibri"/>
              <a:cs typeface="Calibri"/>
              <a:sym typeface="Calibri"/>
            </a:endParaRPr>
          </a:p>
        </p:txBody>
      </p:sp>
      <p:sp>
        <p:nvSpPr>
          <p:cNvPr id="311" name="Google Shape;311;p7"/>
          <p:cNvSpPr/>
          <p:nvPr/>
        </p:nvSpPr>
        <p:spPr>
          <a:xfrm>
            <a:off x="6035040" y="2176272"/>
            <a:ext cx="2615184"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False detection rate reduced — system more reliable in lab conditions</a:t>
            </a:r>
            <a:endParaRPr b="0" i="0" sz="950" u="none" cap="none" strike="noStrike">
              <a:solidFill>
                <a:schemeClr val="dk1"/>
              </a:solidFill>
              <a:latin typeface="Calibri"/>
              <a:ea typeface="Calibri"/>
              <a:cs typeface="Calibri"/>
              <a:sym typeface="Calibri"/>
            </a:endParaRPr>
          </a:p>
        </p:txBody>
      </p:sp>
      <p:sp>
        <p:nvSpPr>
          <p:cNvPr id="312" name="Google Shape;312;p7"/>
          <p:cNvSpPr/>
          <p:nvPr/>
        </p:nvSpPr>
        <p:spPr>
          <a:xfrm>
            <a:off x="4663440" y="2834640"/>
            <a:ext cx="4206240" cy="166420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a:off x="4663440" y="2834640"/>
            <a:ext cx="4206240" cy="25603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4754880" y="2834640"/>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Help needed / questions</a:t>
            </a:r>
            <a:endParaRPr b="0" i="0" sz="1000" u="none" cap="none" strike="noStrike">
              <a:solidFill>
                <a:schemeClr val="dk1"/>
              </a:solidFill>
              <a:latin typeface="Calibri"/>
              <a:ea typeface="Calibri"/>
              <a:cs typeface="Calibri"/>
              <a:sym typeface="Calibri"/>
            </a:endParaRPr>
          </a:p>
        </p:txBody>
      </p:sp>
      <p:sp>
        <p:nvSpPr>
          <p:cNvPr id="315" name="Google Shape;315;p7"/>
          <p:cNvSpPr/>
          <p:nvPr/>
        </p:nvSpPr>
        <p:spPr>
          <a:xfrm>
            <a:off x="4773168" y="3127248"/>
            <a:ext cx="3931920" cy="13167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0" i="0" lang="en-US" sz="1000" u="none" cap="none" strike="noStrike">
                <a:solidFill>
                  <a:srgbClr val="2C3E50"/>
                </a:solidFill>
                <a:latin typeface="Calibri"/>
                <a:ea typeface="Calibri"/>
                <a:cs typeface="Calibri"/>
                <a:sym typeface="Calibri"/>
              </a:rPr>
              <a:t>Box dimensions are needed from the professor to finalise the coordinate mapping and arm positioning. Without knowing the box size and placement, the pick-and-place logic cannot be fully programmed.</a:t>
            </a:r>
            <a:endParaRPr b="0" i="0" sz="1000" u="none" cap="none" strike="noStrike">
              <a:solidFill>
                <a:schemeClr val="dk1"/>
              </a:solidFill>
              <a:latin typeface="Calibri"/>
              <a:ea typeface="Calibri"/>
              <a:cs typeface="Calibri"/>
              <a:sym typeface="Calibri"/>
            </a:endParaRPr>
          </a:p>
        </p:txBody>
      </p:sp>
      <p:sp>
        <p:nvSpPr>
          <p:cNvPr id="316" name="Google Shape;316;p7"/>
          <p:cNvSpPr/>
          <p:nvPr/>
        </p:nvSpPr>
        <p:spPr>
          <a:xfrm>
            <a:off x="274320" y="4864608"/>
            <a:ext cx="859536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21" name="Shape 321"/>
        <p:cNvGrpSpPr/>
        <p:nvPr/>
      </p:nvGrpSpPr>
      <p:grpSpPr>
        <a:xfrm>
          <a:off x="0" y="0"/>
          <a:ext cx="0" cy="0"/>
          <a:chOff x="0" y="0"/>
          <a:chExt cx="0" cy="0"/>
        </a:xfrm>
      </p:grpSpPr>
      <p:sp>
        <p:nvSpPr>
          <p:cNvPr id="322" name="Google Shape;322;p8"/>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0" y="0"/>
            <a:ext cx="164592" cy="514350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Mohamed — Member  ·  End Effector &amp; Pump</a:t>
            </a:r>
            <a:endParaRPr b="0" i="0" sz="2000" u="none" cap="none" strike="noStrike">
              <a:solidFill>
                <a:schemeClr val="dk1"/>
              </a:solidFill>
              <a:latin typeface="Calibri"/>
              <a:ea typeface="Calibri"/>
              <a:cs typeface="Calibri"/>
              <a:sym typeface="Calibri"/>
            </a:endParaRPr>
          </a:p>
        </p:txBody>
      </p:sp>
      <p:sp>
        <p:nvSpPr>
          <p:cNvPr id="325" name="Google Shape;325;p8"/>
          <p:cNvSpPr/>
          <p:nvPr/>
        </p:nvSpPr>
        <p:spPr>
          <a:xfrm>
            <a:off x="347472" y="786384"/>
            <a:ext cx="4114800" cy="100584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347472" y="786384"/>
            <a:ext cx="4114800" cy="25603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438912" y="78638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Accomplished (since last report)</a:t>
            </a:r>
            <a:endParaRPr b="0" i="0" sz="1000" u="none" cap="none" strike="noStrike">
              <a:solidFill>
                <a:schemeClr val="dk1"/>
              </a:solidFill>
              <a:latin typeface="Calibri"/>
              <a:ea typeface="Calibri"/>
              <a:cs typeface="Calibri"/>
              <a:sym typeface="Calibri"/>
            </a:endParaRPr>
          </a:p>
        </p:txBody>
      </p:sp>
      <p:sp>
        <p:nvSpPr>
          <p:cNvPr id="328" name="Google Shape;328;p8"/>
          <p:cNvSpPr/>
          <p:nvPr/>
        </p:nvSpPr>
        <p:spPr>
          <a:xfrm>
            <a:off x="457200" y="1078992"/>
            <a:ext cx="3840480" cy="65836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Selected and ordered the 370 mini vacuum pump for the end effector</a:t>
            </a:r>
            <a:endParaRPr b="0" i="0" sz="1000" u="none" cap="none" strike="noStrike">
              <a:solidFill>
                <a:schemeClr val="dk1"/>
              </a:solidFill>
              <a:latin typeface="Calibri"/>
              <a:ea typeface="Calibri"/>
              <a:cs typeface="Calibri"/>
              <a:sym typeface="Calibri"/>
            </a:endParaRPr>
          </a:p>
        </p:txBody>
      </p:sp>
      <p:sp>
        <p:nvSpPr>
          <p:cNvPr id="329" name="Google Shape;329;p8"/>
          <p:cNvSpPr/>
          <p:nvPr/>
        </p:nvSpPr>
        <p:spPr>
          <a:xfrm>
            <a:off x="347472" y="1865376"/>
            <a:ext cx="4114800" cy="80467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347472" y="1865376"/>
            <a:ext cx="4114800" cy="25603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438912" y="1865376"/>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 progress</a:t>
            </a:r>
            <a:endParaRPr b="0" i="0" sz="1000" u="none" cap="none" strike="noStrike">
              <a:solidFill>
                <a:schemeClr val="dk1"/>
              </a:solidFill>
              <a:latin typeface="Calibri"/>
              <a:ea typeface="Calibri"/>
              <a:cs typeface="Calibri"/>
              <a:sym typeface="Calibri"/>
            </a:endParaRPr>
          </a:p>
        </p:txBody>
      </p:sp>
      <p:sp>
        <p:nvSpPr>
          <p:cNvPr id="332" name="Google Shape;332;p8"/>
          <p:cNvSpPr/>
          <p:nvPr/>
        </p:nvSpPr>
        <p:spPr>
          <a:xfrm>
            <a:off x="457200" y="2157984"/>
            <a:ext cx="3840480" cy="457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Awaiting pump delivery — end effector assembly ready to begin once it arrives</a:t>
            </a:r>
            <a:endParaRPr b="0" i="0" sz="1000" u="none" cap="none" strike="noStrike">
              <a:solidFill>
                <a:schemeClr val="dk1"/>
              </a:solidFill>
              <a:latin typeface="Calibri"/>
              <a:ea typeface="Calibri"/>
              <a:cs typeface="Calibri"/>
              <a:sym typeface="Calibri"/>
            </a:endParaRPr>
          </a:p>
        </p:txBody>
      </p:sp>
      <p:sp>
        <p:nvSpPr>
          <p:cNvPr id="333" name="Google Shape;333;p8"/>
          <p:cNvSpPr/>
          <p:nvPr/>
        </p:nvSpPr>
        <p:spPr>
          <a:xfrm>
            <a:off x="347472" y="2743200"/>
            <a:ext cx="4114800" cy="117043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347472" y="2743200"/>
            <a:ext cx="4114800" cy="256032"/>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438912" y="2743200"/>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 week plan</a:t>
            </a:r>
            <a:endParaRPr b="0" i="0" sz="1000" u="none" cap="none" strike="noStrike">
              <a:solidFill>
                <a:schemeClr val="dk1"/>
              </a:solidFill>
              <a:latin typeface="Calibri"/>
              <a:ea typeface="Calibri"/>
              <a:cs typeface="Calibri"/>
              <a:sym typeface="Calibri"/>
            </a:endParaRPr>
          </a:p>
        </p:txBody>
      </p:sp>
      <p:sp>
        <p:nvSpPr>
          <p:cNvPr id="336" name="Google Shape;336;p8"/>
          <p:cNvSpPr/>
          <p:nvPr/>
        </p:nvSpPr>
        <p:spPr>
          <a:xfrm>
            <a:off x="457200" y="3035808"/>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Receive pump and begin end effector assembly</a:t>
            </a:r>
            <a:endParaRPr b="0" i="0" sz="1000" u="none" cap="none" strike="noStrike">
              <a:solidFill>
                <a:schemeClr val="dk1"/>
              </a:solidFill>
              <a:latin typeface="Calibri"/>
              <a:ea typeface="Calibri"/>
              <a:cs typeface="Calibri"/>
              <a:sym typeface="Calibri"/>
            </a:endParaRPr>
          </a:p>
        </p:txBody>
      </p:sp>
      <p:sp>
        <p:nvSpPr>
          <p:cNvPr id="337" name="Google Shape;337;p8"/>
          <p:cNvSpPr/>
          <p:nvPr/>
        </p:nvSpPr>
        <p:spPr>
          <a:xfrm>
            <a:off x="457200" y="3310128"/>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Test suction force on representative objects</a:t>
            </a:r>
            <a:endParaRPr b="0" i="0" sz="1000" u="none" cap="none" strike="noStrike">
              <a:solidFill>
                <a:schemeClr val="dk1"/>
              </a:solidFill>
              <a:latin typeface="Calibri"/>
              <a:ea typeface="Calibri"/>
              <a:cs typeface="Calibri"/>
              <a:sym typeface="Calibri"/>
            </a:endParaRPr>
          </a:p>
        </p:txBody>
      </p:sp>
      <p:sp>
        <p:nvSpPr>
          <p:cNvPr id="338" name="Google Shape;338;p8"/>
          <p:cNvSpPr/>
          <p:nvPr/>
        </p:nvSpPr>
        <p:spPr>
          <a:xfrm>
            <a:off x="457200" y="3584448"/>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Integrate pump control into Arduino firmware</a:t>
            </a:r>
            <a:endParaRPr b="0" i="0" sz="1000" u="none" cap="none" strike="noStrike">
              <a:solidFill>
                <a:schemeClr val="dk1"/>
              </a:solidFill>
              <a:latin typeface="Calibri"/>
              <a:ea typeface="Calibri"/>
              <a:cs typeface="Calibri"/>
              <a:sym typeface="Calibri"/>
            </a:endParaRPr>
          </a:p>
        </p:txBody>
      </p:sp>
      <p:sp>
        <p:nvSpPr>
          <p:cNvPr id="339" name="Google Shape;339;p8"/>
          <p:cNvSpPr/>
          <p:nvPr/>
        </p:nvSpPr>
        <p:spPr>
          <a:xfrm>
            <a:off x="4663440" y="786384"/>
            <a:ext cx="4206240" cy="208483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4663440" y="786384"/>
            <a:ext cx="4206240" cy="25603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4754880" y="786384"/>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370 Mini Vacuum Pump — specs</a:t>
            </a:r>
            <a:endParaRPr b="0" i="0" sz="1000" u="none" cap="none" strike="noStrike">
              <a:solidFill>
                <a:schemeClr val="dk1"/>
              </a:solidFill>
              <a:latin typeface="Calibri"/>
              <a:ea typeface="Calibri"/>
              <a:cs typeface="Calibri"/>
              <a:sym typeface="Calibri"/>
            </a:endParaRPr>
          </a:p>
        </p:txBody>
      </p:sp>
      <p:sp>
        <p:nvSpPr>
          <p:cNvPr id="342" name="Google Shape;342;p8"/>
          <p:cNvSpPr/>
          <p:nvPr/>
        </p:nvSpPr>
        <p:spPr>
          <a:xfrm>
            <a:off x="4754880" y="1115568"/>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4846320" y="111556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AD7A"/>
              </a:buClr>
              <a:buSzPts val="950"/>
              <a:buFont typeface="Calibri"/>
              <a:buNone/>
            </a:pPr>
            <a:r>
              <a:rPr b="1" i="0" lang="en-US" sz="950" u="none" cap="none" strike="noStrike">
                <a:solidFill>
                  <a:srgbClr val="2EAD7A"/>
                </a:solidFill>
                <a:latin typeface="Calibri"/>
                <a:ea typeface="Calibri"/>
                <a:cs typeface="Calibri"/>
                <a:sym typeface="Calibri"/>
              </a:rPr>
              <a:t>Model</a:t>
            </a:r>
            <a:endParaRPr b="0" i="0" sz="950" u="none" cap="none" strike="noStrike">
              <a:solidFill>
                <a:schemeClr val="dk1"/>
              </a:solidFill>
              <a:latin typeface="Calibri"/>
              <a:ea typeface="Calibri"/>
              <a:cs typeface="Calibri"/>
              <a:sym typeface="Calibri"/>
            </a:endParaRPr>
          </a:p>
        </p:txBody>
      </p:sp>
      <p:sp>
        <p:nvSpPr>
          <p:cNvPr id="344" name="Google Shape;344;p8"/>
          <p:cNvSpPr/>
          <p:nvPr/>
        </p:nvSpPr>
        <p:spPr>
          <a:xfrm>
            <a:off x="5852160" y="111556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370 DC mini vacuum pump</a:t>
            </a:r>
            <a:endParaRPr b="0" i="0" sz="950" u="none" cap="none" strike="noStrike">
              <a:solidFill>
                <a:schemeClr val="dk1"/>
              </a:solidFill>
              <a:latin typeface="Calibri"/>
              <a:ea typeface="Calibri"/>
              <a:cs typeface="Calibri"/>
              <a:sym typeface="Calibri"/>
            </a:endParaRPr>
          </a:p>
        </p:txBody>
      </p:sp>
      <p:sp>
        <p:nvSpPr>
          <p:cNvPr id="345" name="Google Shape;345;p8"/>
          <p:cNvSpPr/>
          <p:nvPr/>
        </p:nvSpPr>
        <p:spPr>
          <a:xfrm>
            <a:off x="4754880" y="1481328"/>
            <a:ext cx="3986784" cy="329184"/>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4846320" y="148132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AD7A"/>
              </a:buClr>
              <a:buSzPts val="950"/>
              <a:buFont typeface="Calibri"/>
              <a:buNone/>
            </a:pPr>
            <a:r>
              <a:rPr b="1" i="0" lang="en-US" sz="950" u="none" cap="none" strike="noStrike">
                <a:solidFill>
                  <a:srgbClr val="2EAD7A"/>
                </a:solidFill>
                <a:latin typeface="Calibri"/>
                <a:ea typeface="Calibri"/>
                <a:cs typeface="Calibri"/>
                <a:sym typeface="Calibri"/>
              </a:rPr>
              <a:t>Voltage</a:t>
            </a:r>
            <a:endParaRPr b="0" i="0" sz="950" u="none" cap="none" strike="noStrike">
              <a:solidFill>
                <a:schemeClr val="dk1"/>
              </a:solidFill>
              <a:latin typeface="Calibri"/>
              <a:ea typeface="Calibri"/>
              <a:cs typeface="Calibri"/>
              <a:sym typeface="Calibri"/>
            </a:endParaRPr>
          </a:p>
        </p:txBody>
      </p:sp>
      <p:sp>
        <p:nvSpPr>
          <p:cNvPr id="347" name="Google Shape;347;p8"/>
          <p:cNvSpPr/>
          <p:nvPr/>
        </p:nvSpPr>
        <p:spPr>
          <a:xfrm>
            <a:off x="5852160" y="148132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DC 6V – 12V</a:t>
            </a:r>
            <a:endParaRPr b="0" i="0" sz="950" u="none" cap="none" strike="noStrike">
              <a:solidFill>
                <a:schemeClr val="dk1"/>
              </a:solidFill>
              <a:latin typeface="Calibri"/>
              <a:ea typeface="Calibri"/>
              <a:cs typeface="Calibri"/>
              <a:sym typeface="Calibri"/>
            </a:endParaRPr>
          </a:p>
        </p:txBody>
      </p:sp>
      <p:sp>
        <p:nvSpPr>
          <p:cNvPr id="348" name="Google Shape;348;p8"/>
          <p:cNvSpPr/>
          <p:nvPr/>
        </p:nvSpPr>
        <p:spPr>
          <a:xfrm>
            <a:off x="4754880" y="1847088"/>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4846320" y="184708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AD7A"/>
              </a:buClr>
              <a:buSzPts val="950"/>
              <a:buFont typeface="Calibri"/>
              <a:buNone/>
            </a:pPr>
            <a:r>
              <a:rPr b="1" i="0" lang="en-US" sz="950" u="none" cap="none" strike="noStrike">
                <a:solidFill>
                  <a:srgbClr val="2EAD7A"/>
                </a:solidFill>
                <a:latin typeface="Calibri"/>
                <a:ea typeface="Calibri"/>
                <a:cs typeface="Calibri"/>
                <a:sym typeface="Calibri"/>
              </a:rPr>
              <a:t>Application</a:t>
            </a:r>
            <a:endParaRPr b="0" i="0" sz="950" u="none" cap="none" strike="noStrike">
              <a:solidFill>
                <a:schemeClr val="dk1"/>
              </a:solidFill>
              <a:latin typeface="Calibri"/>
              <a:ea typeface="Calibri"/>
              <a:cs typeface="Calibri"/>
              <a:sym typeface="Calibri"/>
            </a:endParaRPr>
          </a:p>
        </p:txBody>
      </p:sp>
      <p:sp>
        <p:nvSpPr>
          <p:cNvPr id="350" name="Google Shape;350;p8"/>
          <p:cNvSpPr/>
          <p:nvPr/>
        </p:nvSpPr>
        <p:spPr>
          <a:xfrm>
            <a:off x="5852160" y="184708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Suction cup end effector</a:t>
            </a:r>
            <a:endParaRPr b="0" i="0" sz="950" u="none" cap="none" strike="noStrike">
              <a:solidFill>
                <a:schemeClr val="dk1"/>
              </a:solidFill>
              <a:latin typeface="Calibri"/>
              <a:ea typeface="Calibri"/>
              <a:cs typeface="Calibri"/>
              <a:sym typeface="Calibri"/>
            </a:endParaRPr>
          </a:p>
        </p:txBody>
      </p:sp>
      <p:sp>
        <p:nvSpPr>
          <p:cNvPr id="351" name="Google Shape;351;p8"/>
          <p:cNvSpPr/>
          <p:nvPr/>
        </p:nvSpPr>
        <p:spPr>
          <a:xfrm>
            <a:off x="4754880" y="2212848"/>
            <a:ext cx="3986784" cy="329184"/>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4846320" y="221284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AD7A"/>
              </a:buClr>
              <a:buSzPts val="950"/>
              <a:buFont typeface="Calibri"/>
              <a:buNone/>
            </a:pPr>
            <a:r>
              <a:rPr b="1" i="0" lang="en-US" sz="950" u="none" cap="none" strike="noStrike">
                <a:solidFill>
                  <a:srgbClr val="2EAD7A"/>
                </a:solidFill>
                <a:latin typeface="Calibri"/>
                <a:ea typeface="Calibri"/>
                <a:cs typeface="Calibri"/>
                <a:sym typeface="Calibri"/>
              </a:rPr>
              <a:t>Control</a:t>
            </a:r>
            <a:endParaRPr b="0" i="0" sz="950" u="none" cap="none" strike="noStrike">
              <a:solidFill>
                <a:schemeClr val="dk1"/>
              </a:solidFill>
              <a:latin typeface="Calibri"/>
              <a:ea typeface="Calibri"/>
              <a:cs typeface="Calibri"/>
              <a:sym typeface="Calibri"/>
            </a:endParaRPr>
          </a:p>
        </p:txBody>
      </p:sp>
      <p:sp>
        <p:nvSpPr>
          <p:cNvPr id="353" name="Google Shape;353;p8"/>
          <p:cNvSpPr/>
          <p:nvPr/>
        </p:nvSpPr>
        <p:spPr>
          <a:xfrm>
            <a:off x="5852160" y="221284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On/off via Arduino digital pin + relay</a:t>
            </a:r>
            <a:endParaRPr b="0" i="0" sz="950" u="none" cap="none" strike="noStrike">
              <a:solidFill>
                <a:schemeClr val="dk1"/>
              </a:solidFill>
              <a:latin typeface="Calibri"/>
              <a:ea typeface="Calibri"/>
              <a:cs typeface="Calibri"/>
              <a:sym typeface="Calibri"/>
            </a:endParaRPr>
          </a:p>
        </p:txBody>
      </p:sp>
      <p:sp>
        <p:nvSpPr>
          <p:cNvPr id="354" name="Google Shape;354;p8"/>
          <p:cNvSpPr/>
          <p:nvPr/>
        </p:nvSpPr>
        <p:spPr>
          <a:xfrm>
            <a:off x="4754880" y="2578608"/>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4846320" y="257860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AD7A"/>
              </a:buClr>
              <a:buSzPts val="950"/>
              <a:buFont typeface="Calibri"/>
              <a:buNone/>
            </a:pPr>
            <a:r>
              <a:rPr b="1" i="0" lang="en-US" sz="950" u="none" cap="none" strike="noStrike">
                <a:solidFill>
                  <a:srgbClr val="2EAD7A"/>
                </a:solidFill>
                <a:latin typeface="Calibri"/>
                <a:ea typeface="Calibri"/>
                <a:cs typeface="Calibri"/>
                <a:sym typeface="Calibri"/>
              </a:rPr>
              <a:t>Status</a:t>
            </a:r>
            <a:endParaRPr b="0" i="0" sz="950" u="none" cap="none" strike="noStrike">
              <a:solidFill>
                <a:schemeClr val="dk1"/>
              </a:solidFill>
              <a:latin typeface="Calibri"/>
              <a:ea typeface="Calibri"/>
              <a:cs typeface="Calibri"/>
              <a:sym typeface="Calibri"/>
            </a:endParaRPr>
          </a:p>
        </p:txBody>
      </p:sp>
      <p:sp>
        <p:nvSpPr>
          <p:cNvPr id="356" name="Google Shape;356;p8"/>
          <p:cNvSpPr/>
          <p:nvPr/>
        </p:nvSpPr>
        <p:spPr>
          <a:xfrm>
            <a:off x="5852160" y="257860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A020"/>
              </a:buClr>
              <a:buSzPts val="950"/>
              <a:buFont typeface="Calibri"/>
              <a:buNone/>
            </a:pPr>
            <a:r>
              <a:rPr b="0" i="0" lang="en-US" sz="950" u="none" cap="none" strike="noStrike">
                <a:solidFill>
                  <a:srgbClr val="E8A020"/>
                </a:solidFill>
                <a:latin typeface="Calibri"/>
                <a:ea typeface="Calibri"/>
                <a:cs typeface="Calibri"/>
                <a:sym typeface="Calibri"/>
              </a:rPr>
              <a:t>Ordered — awaiting delivery</a:t>
            </a:r>
            <a:endParaRPr b="0" i="0" sz="950" u="none" cap="none" strike="noStrike">
              <a:solidFill>
                <a:schemeClr val="dk1"/>
              </a:solidFill>
              <a:latin typeface="Calibri"/>
              <a:ea typeface="Calibri"/>
              <a:cs typeface="Calibri"/>
              <a:sym typeface="Calibri"/>
            </a:endParaRPr>
          </a:p>
        </p:txBody>
      </p:sp>
      <p:sp>
        <p:nvSpPr>
          <p:cNvPr id="357" name="Google Shape;357;p8"/>
          <p:cNvSpPr/>
          <p:nvPr/>
        </p:nvSpPr>
        <p:spPr>
          <a:xfrm>
            <a:off x="4663440" y="2944368"/>
            <a:ext cx="4206240" cy="155448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4663440" y="2944368"/>
            <a:ext cx="4206240" cy="25603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4754880" y="2944368"/>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Help needed / questions</a:t>
            </a:r>
            <a:endParaRPr b="0" i="0" sz="1000" u="none" cap="none" strike="noStrike">
              <a:solidFill>
                <a:schemeClr val="dk1"/>
              </a:solidFill>
              <a:latin typeface="Calibri"/>
              <a:ea typeface="Calibri"/>
              <a:cs typeface="Calibri"/>
              <a:sym typeface="Calibri"/>
            </a:endParaRPr>
          </a:p>
        </p:txBody>
      </p:sp>
      <p:sp>
        <p:nvSpPr>
          <p:cNvPr id="360" name="Google Shape;360;p8"/>
          <p:cNvSpPr/>
          <p:nvPr/>
        </p:nvSpPr>
        <p:spPr>
          <a:xfrm>
            <a:off x="4773168" y="3236976"/>
            <a:ext cx="3931920" cy="12070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0" i="0" lang="en-US" sz="1000" u="none" cap="none" strike="noStrike">
                <a:solidFill>
                  <a:srgbClr val="2C3E50"/>
                </a:solidFill>
                <a:latin typeface="Calibri"/>
                <a:ea typeface="Calibri"/>
                <a:cs typeface="Calibri"/>
                <a:sym typeface="Calibri"/>
              </a:rPr>
              <a:t>End effector assembly and testing is fully dependent on pump arrival. Once received, suction force will be tested against all three object types (bolt, compass, ball) to confirm it can pick each one reliably.</a:t>
            </a:r>
            <a:endParaRPr b="0" i="0" sz="1000" u="none" cap="none" strike="noStrike">
              <a:solidFill>
                <a:schemeClr val="dk1"/>
              </a:solidFill>
              <a:latin typeface="Calibri"/>
              <a:ea typeface="Calibri"/>
              <a:cs typeface="Calibri"/>
              <a:sym typeface="Calibri"/>
            </a:endParaRPr>
          </a:p>
        </p:txBody>
      </p:sp>
      <p:sp>
        <p:nvSpPr>
          <p:cNvPr id="361" name="Google Shape;361;p8"/>
          <p:cNvSpPr/>
          <p:nvPr/>
        </p:nvSpPr>
        <p:spPr>
          <a:xfrm>
            <a:off x="274320" y="4864608"/>
            <a:ext cx="859536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66" name="Shape 366"/>
        <p:cNvGrpSpPr/>
        <p:nvPr/>
      </p:nvGrpSpPr>
      <p:grpSpPr>
        <a:xfrm>
          <a:off x="0" y="0"/>
          <a:ext cx="0" cy="0"/>
          <a:chOff x="0" y="0"/>
          <a:chExt cx="0" cy="0"/>
        </a:xfrm>
      </p:grpSpPr>
      <p:sp>
        <p:nvSpPr>
          <p:cNvPr id="367" name="Google Shape;367;p9"/>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0" y="0"/>
            <a:ext cx="164592" cy="5143500"/>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Helal — Member  ·  CAD &amp; RViz</a:t>
            </a:r>
            <a:endParaRPr b="0" i="0" sz="2000" u="none" cap="none" strike="noStrike">
              <a:solidFill>
                <a:schemeClr val="dk1"/>
              </a:solidFill>
              <a:latin typeface="Calibri"/>
              <a:ea typeface="Calibri"/>
              <a:cs typeface="Calibri"/>
              <a:sym typeface="Calibri"/>
            </a:endParaRPr>
          </a:p>
        </p:txBody>
      </p:sp>
      <p:sp>
        <p:nvSpPr>
          <p:cNvPr id="370" name="Google Shape;370;p9"/>
          <p:cNvSpPr/>
          <p:nvPr/>
        </p:nvSpPr>
        <p:spPr>
          <a:xfrm>
            <a:off x="347472" y="786384"/>
            <a:ext cx="4114800" cy="126187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347472" y="786384"/>
            <a:ext cx="4114800" cy="25603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438912" y="78638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Accomplished (since last report)</a:t>
            </a:r>
            <a:endParaRPr b="0" i="0" sz="1000" u="none" cap="none" strike="noStrike">
              <a:solidFill>
                <a:schemeClr val="dk1"/>
              </a:solidFill>
              <a:latin typeface="Calibri"/>
              <a:ea typeface="Calibri"/>
              <a:cs typeface="Calibri"/>
              <a:sym typeface="Calibri"/>
            </a:endParaRPr>
          </a:p>
        </p:txBody>
      </p:sp>
      <p:sp>
        <p:nvSpPr>
          <p:cNvPr id="373" name="Google Shape;373;p9"/>
          <p:cNvSpPr/>
          <p:nvPr/>
        </p:nvSpPr>
        <p:spPr>
          <a:xfrm>
            <a:off x="457200" y="1078992"/>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Designed wrist link CAD model in Autodesk Inventor</a:t>
            </a:r>
            <a:endParaRPr b="0" i="0" sz="1000" u="none" cap="none" strike="noStrike">
              <a:solidFill>
                <a:schemeClr val="dk1"/>
              </a:solidFill>
              <a:latin typeface="Calibri"/>
              <a:ea typeface="Calibri"/>
              <a:cs typeface="Calibri"/>
              <a:sym typeface="Calibri"/>
            </a:endParaRPr>
          </a:p>
        </p:txBody>
      </p:sp>
      <p:sp>
        <p:nvSpPr>
          <p:cNvPr id="374" name="Google Shape;374;p9"/>
          <p:cNvSpPr/>
          <p:nvPr/>
        </p:nvSpPr>
        <p:spPr>
          <a:xfrm>
            <a:off x="457200" y="1389888"/>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Updated base CAD design</a:t>
            </a:r>
            <a:endParaRPr b="0" i="0" sz="1000" u="none" cap="none" strike="noStrike">
              <a:solidFill>
                <a:schemeClr val="dk1"/>
              </a:solidFill>
              <a:latin typeface="Calibri"/>
              <a:ea typeface="Calibri"/>
              <a:cs typeface="Calibri"/>
              <a:sym typeface="Calibri"/>
            </a:endParaRPr>
          </a:p>
        </p:txBody>
      </p:sp>
      <p:sp>
        <p:nvSpPr>
          <p:cNvPr id="375" name="Google Shape;375;p9"/>
          <p:cNvSpPr/>
          <p:nvPr/>
        </p:nvSpPr>
        <p:spPr>
          <a:xfrm>
            <a:off x="457200" y="1700784"/>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Imported full CAD model into RViz — arm visible in simulation</a:t>
            </a:r>
            <a:endParaRPr b="0" i="0" sz="1000" u="none" cap="none" strike="noStrike">
              <a:solidFill>
                <a:schemeClr val="dk1"/>
              </a:solidFill>
              <a:latin typeface="Calibri"/>
              <a:ea typeface="Calibri"/>
              <a:cs typeface="Calibri"/>
              <a:sym typeface="Calibri"/>
            </a:endParaRPr>
          </a:p>
        </p:txBody>
      </p:sp>
      <p:sp>
        <p:nvSpPr>
          <p:cNvPr id="376" name="Google Shape;376;p9"/>
          <p:cNvSpPr/>
          <p:nvPr/>
        </p:nvSpPr>
        <p:spPr>
          <a:xfrm>
            <a:off x="347472" y="2121408"/>
            <a:ext cx="4114800" cy="80467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347472" y="2121408"/>
            <a:ext cx="4114800" cy="25603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438912" y="2121408"/>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 progress</a:t>
            </a:r>
            <a:endParaRPr b="0" i="0" sz="1000" u="none" cap="none" strike="noStrike">
              <a:solidFill>
                <a:schemeClr val="dk1"/>
              </a:solidFill>
              <a:latin typeface="Calibri"/>
              <a:ea typeface="Calibri"/>
              <a:cs typeface="Calibri"/>
              <a:sym typeface="Calibri"/>
            </a:endParaRPr>
          </a:p>
        </p:txBody>
      </p:sp>
      <p:sp>
        <p:nvSpPr>
          <p:cNvPr id="379" name="Google Shape;379;p9"/>
          <p:cNvSpPr/>
          <p:nvPr/>
        </p:nvSpPr>
        <p:spPr>
          <a:xfrm>
            <a:off x="457200" y="2414016"/>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CAD model not yet fully complete</a:t>
            </a:r>
            <a:endParaRPr b="0" i="0" sz="1000" u="none" cap="none" strike="noStrike">
              <a:solidFill>
                <a:schemeClr val="dk1"/>
              </a:solidFill>
              <a:latin typeface="Calibri"/>
              <a:ea typeface="Calibri"/>
              <a:cs typeface="Calibri"/>
              <a:sym typeface="Calibri"/>
            </a:endParaRPr>
          </a:p>
        </p:txBody>
      </p:sp>
      <p:sp>
        <p:nvSpPr>
          <p:cNvPr id="380" name="Google Shape;380;p9"/>
          <p:cNvSpPr/>
          <p:nvPr/>
        </p:nvSpPr>
        <p:spPr>
          <a:xfrm>
            <a:off x="457200" y="2688336"/>
            <a:ext cx="3840480" cy="2560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URDF joint configuration — joints imported but not yet moving in RViz</a:t>
            </a:r>
            <a:endParaRPr b="0" i="0" sz="1000" u="none" cap="none" strike="noStrike">
              <a:solidFill>
                <a:schemeClr val="dk1"/>
              </a:solidFill>
              <a:latin typeface="Calibri"/>
              <a:ea typeface="Calibri"/>
              <a:cs typeface="Calibri"/>
              <a:sym typeface="Calibri"/>
            </a:endParaRPr>
          </a:p>
        </p:txBody>
      </p:sp>
      <p:sp>
        <p:nvSpPr>
          <p:cNvPr id="381" name="Google Shape;381;p9"/>
          <p:cNvSpPr/>
          <p:nvPr/>
        </p:nvSpPr>
        <p:spPr>
          <a:xfrm>
            <a:off x="347472" y="2999232"/>
            <a:ext cx="4114800" cy="1499616"/>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347472" y="2999232"/>
            <a:ext cx="4114800" cy="256032"/>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438912" y="299923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 week plan</a:t>
            </a:r>
            <a:endParaRPr b="0" i="0" sz="1000" u="none" cap="none" strike="noStrike">
              <a:solidFill>
                <a:schemeClr val="dk1"/>
              </a:solidFill>
              <a:latin typeface="Calibri"/>
              <a:ea typeface="Calibri"/>
              <a:cs typeface="Calibri"/>
              <a:sym typeface="Calibri"/>
            </a:endParaRPr>
          </a:p>
        </p:txBody>
      </p:sp>
      <p:sp>
        <p:nvSpPr>
          <p:cNvPr id="384" name="Google Shape;384;p9"/>
          <p:cNvSpPr/>
          <p:nvPr/>
        </p:nvSpPr>
        <p:spPr>
          <a:xfrm>
            <a:off x="457200" y="3291840"/>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Complete and finalise full CAD model</a:t>
            </a:r>
            <a:endParaRPr b="0" i="0" sz="1000" u="none" cap="none" strike="noStrike">
              <a:solidFill>
                <a:schemeClr val="dk1"/>
              </a:solidFill>
              <a:latin typeface="Calibri"/>
              <a:ea typeface="Calibri"/>
              <a:cs typeface="Calibri"/>
              <a:sym typeface="Calibri"/>
            </a:endParaRPr>
          </a:p>
        </p:txBody>
      </p:sp>
      <p:sp>
        <p:nvSpPr>
          <p:cNvPr id="385" name="Google Shape;385;p9"/>
          <p:cNvSpPr/>
          <p:nvPr/>
        </p:nvSpPr>
        <p:spPr>
          <a:xfrm>
            <a:off x="457200" y="3584448"/>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Configure URDF joint limits and axes in RViz</a:t>
            </a:r>
            <a:endParaRPr b="0" i="0" sz="1000" u="none" cap="none" strike="noStrike">
              <a:solidFill>
                <a:schemeClr val="dk1"/>
              </a:solidFill>
              <a:latin typeface="Calibri"/>
              <a:ea typeface="Calibri"/>
              <a:cs typeface="Calibri"/>
              <a:sym typeface="Calibri"/>
            </a:endParaRPr>
          </a:p>
        </p:txBody>
      </p:sp>
      <p:sp>
        <p:nvSpPr>
          <p:cNvPr id="386" name="Google Shape;386;p9"/>
          <p:cNvSpPr/>
          <p:nvPr/>
        </p:nvSpPr>
        <p:spPr>
          <a:xfrm>
            <a:off x="457200" y="3877056"/>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Begin joint motion testing in simulation</a:t>
            </a:r>
            <a:endParaRPr b="0" i="0" sz="1000" u="none" cap="none" strike="noStrike">
              <a:solidFill>
                <a:schemeClr val="dk1"/>
              </a:solidFill>
              <a:latin typeface="Calibri"/>
              <a:ea typeface="Calibri"/>
              <a:cs typeface="Calibri"/>
              <a:sym typeface="Calibri"/>
            </a:endParaRPr>
          </a:p>
        </p:txBody>
      </p:sp>
      <p:sp>
        <p:nvSpPr>
          <p:cNvPr id="387" name="Google Shape;387;p9"/>
          <p:cNvSpPr/>
          <p:nvPr/>
        </p:nvSpPr>
        <p:spPr>
          <a:xfrm>
            <a:off x="457200" y="4169664"/>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Print remaining arm parts</a:t>
            </a:r>
            <a:endParaRPr b="0" i="0" sz="1000" u="none" cap="none" strike="noStrike">
              <a:solidFill>
                <a:schemeClr val="dk1"/>
              </a:solidFill>
              <a:latin typeface="Calibri"/>
              <a:ea typeface="Calibri"/>
              <a:cs typeface="Calibri"/>
              <a:sym typeface="Calibri"/>
            </a:endParaRPr>
          </a:p>
        </p:txBody>
      </p:sp>
      <p:sp>
        <p:nvSpPr>
          <p:cNvPr id="388" name="Google Shape;388;p9"/>
          <p:cNvSpPr/>
          <p:nvPr/>
        </p:nvSpPr>
        <p:spPr>
          <a:xfrm>
            <a:off x="4663440" y="786384"/>
            <a:ext cx="4206240" cy="234086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4663440" y="786384"/>
            <a:ext cx="4206240" cy="256032"/>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4754880" y="786384"/>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RViz / ROS2 — where we are</a:t>
            </a:r>
            <a:endParaRPr b="0" i="0" sz="1000" u="none" cap="none" strike="noStrike">
              <a:solidFill>
                <a:schemeClr val="dk1"/>
              </a:solidFill>
              <a:latin typeface="Calibri"/>
              <a:ea typeface="Calibri"/>
              <a:cs typeface="Calibri"/>
              <a:sym typeface="Calibri"/>
            </a:endParaRPr>
          </a:p>
        </p:txBody>
      </p:sp>
      <p:sp>
        <p:nvSpPr>
          <p:cNvPr id="391" name="Google Shape;391;p9"/>
          <p:cNvSpPr/>
          <p:nvPr/>
        </p:nvSpPr>
        <p:spPr>
          <a:xfrm>
            <a:off x="4754880" y="1115568"/>
            <a:ext cx="3986784" cy="310896"/>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4846320" y="1115568"/>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Ubuntu VM</a:t>
            </a:r>
            <a:endParaRPr b="0" i="0" sz="900" u="none" cap="none" strike="noStrike">
              <a:solidFill>
                <a:schemeClr val="dk1"/>
              </a:solidFill>
              <a:latin typeface="Calibri"/>
              <a:ea typeface="Calibri"/>
              <a:cs typeface="Calibri"/>
              <a:sym typeface="Calibri"/>
            </a:endParaRPr>
          </a:p>
        </p:txBody>
      </p:sp>
      <p:sp>
        <p:nvSpPr>
          <p:cNvPr id="393" name="Google Shape;393;p9"/>
          <p:cNvSpPr/>
          <p:nvPr/>
        </p:nvSpPr>
        <p:spPr>
          <a:xfrm>
            <a:off x="5852160" y="1115568"/>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900"/>
              <a:buFont typeface="Calibri"/>
              <a:buNone/>
            </a:pPr>
            <a:r>
              <a:rPr b="0" i="0" lang="en-US" sz="900" u="none" cap="none" strike="noStrike">
                <a:solidFill>
                  <a:srgbClr val="165C3E"/>
                </a:solidFill>
                <a:latin typeface="Calibri"/>
                <a:ea typeface="Calibri"/>
                <a:cs typeface="Calibri"/>
                <a:sym typeface="Calibri"/>
              </a:rPr>
              <a:t>Installed &amp; configured ✓</a:t>
            </a:r>
            <a:endParaRPr b="0" i="0" sz="900" u="none" cap="none" strike="noStrike">
              <a:solidFill>
                <a:schemeClr val="dk1"/>
              </a:solidFill>
              <a:latin typeface="Calibri"/>
              <a:ea typeface="Calibri"/>
              <a:cs typeface="Calibri"/>
              <a:sym typeface="Calibri"/>
            </a:endParaRPr>
          </a:p>
        </p:txBody>
      </p:sp>
      <p:sp>
        <p:nvSpPr>
          <p:cNvPr id="394" name="Google Shape;394;p9"/>
          <p:cNvSpPr/>
          <p:nvPr/>
        </p:nvSpPr>
        <p:spPr>
          <a:xfrm>
            <a:off x="4754880" y="1463040"/>
            <a:ext cx="3986784" cy="310896"/>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4846320" y="1463040"/>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ROS2</a:t>
            </a:r>
            <a:endParaRPr b="0" i="0" sz="900" u="none" cap="none" strike="noStrike">
              <a:solidFill>
                <a:schemeClr val="dk1"/>
              </a:solidFill>
              <a:latin typeface="Calibri"/>
              <a:ea typeface="Calibri"/>
              <a:cs typeface="Calibri"/>
              <a:sym typeface="Calibri"/>
            </a:endParaRPr>
          </a:p>
        </p:txBody>
      </p:sp>
      <p:sp>
        <p:nvSpPr>
          <p:cNvPr id="396" name="Google Shape;396;p9"/>
          <p:cNvSpPr/>
          <p:nvPr/>
        </p:nvSpPr>
        <p:spPr>
          <a:xfrm>
            <a:off x="5852160" y="1463040"/>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900"/>
              <a:buFont typeface="Calibri"/>
              <a:buNone/>
            </a:pPr>
            <a:r>
              <a:rPr b="0" i="0" lang="en-US" sz="900" u="none" cap="none" strike="noStrike">
                <a:solidFill>
                  <a:srgbClr val="165C3E"/>
                </a:solidFill>
                <a:latin typeface="Calibri"/>
                <a:ea typeface="Calibri"/>
                <a:cs typeface="Calibri"/>
                <a:sym typeface="Calibri"/>
              </a:rPr>
              <a:t>Installed and running ✓</a:t>
            </a:r>
            <a:endParaRPr b="0" i="0" sz="900" u="none" cap="none" strike="noStrike">
              <a:solidFill>
                <a:schemeClr val="dk1"/>
              </a:solidFill>
              <a:latin typeface="Calibri"/>
              <a:ea typeface="Calibri"/>
              <a:cs typeface="Calibri"/>
              <a:sym typeface="Calibri"/>
            </a:endParaRPr>
          </a:p>
        </p:txBody>
      </p:sp>
      <p:sp>
        <p:nvSpPr>
          <p:cNvPr id="397" name="Google Shape;397;p9"/>
          <p:cNvSpPr/>
          <p:nvPr/>
        </p:nvSpPr>
        <p:spPr>
          <a:xfrm>
            <a:off x="4754880" y="1810512"/>
            <a:ext cx="3986784" cy="310896"/>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4846320" y="1810512"/>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CAD import</a:t>
            </a:r>
            <a:endParaRPr b="0" i="0" sz="900" u="none" cap="none" strike="noStrike">
              <a:solidFill>
                <a:schemeClr val="dk1"/>
              </a:solidFill>
              <a:latin typeface="Calibri"/>
              <a:ea typeface="Calibri"/>
              <a:cs typeface="Calibri"/>
              <a:sym typeface="Calibri"/>
            </a:endParaRPr>
          </a:p>
        </p:txBody>
      </p:sp>
      <p:sp>
        <p:nvSpPr>
          <p:cNvPr id="399" name="Google Shape;399;p9"/>
          <p:cNvSpPr/>
          <p:nvPr/>
        </p:nvSpPr>
        <p:spPr>
          <a:xfrm>
            <a:off x="5852160" y="1810512"/>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900"/>
              <a:buFont typeface="Calibri"/>
              <a:buNone/>
            </a:pPr>
            <a:r>
              <a:rPr b="0" i="0" lang="en-US" sz="900" u="none" cap="none" strike="noStrike">
                <a:solidFill>
                  <a:srgbClr val="165C3E"/>
                </a:solidFill>
                <a:latin typeface="Calibri"/>
                <a:ea typeface="Calibri"/>
                <a:cs typeface="Calibri"/>
                <a:sym typeface="Calibri"/>
              </a:rPr>
              <a:t>Model visible in RViz ✓</a:t>
            </a:r>
            <a:endParaRPr b="0" i="0" sz="900" u="none" cap="none" strike="noStrike">
              <a:solidFill>
                <a:schemeClr val="dk1"/>
              </a:solidFill>
              <a:latin typeface="Calibri"/>
              <a:ea typeface="Calibri"/>
              <a:cs typeface="Calibri"/>
              <a:sym typeface="Calibri"/>
            </a:endParaRPr>
          </a:p>
        </p:txBody>
      </p:sp>
      <p:sp>
        <p:nvSpPr>
          <p:cNvPr id="400" name="Google Shape;400;p9"/>
          <p:cNvSpPr/>
          <p:nvPr/>
        </p:nvSpPr>
        <p:spPr>
          <a:xfrm>
            <a:off x="4754880" y="2157984"/>
            <a:ext cx="3986784" cy="310896"/>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4846320" y="2157984"/>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URDF joints</a:t>
            </a:r>
            <a:endParaRPr b="0" i="0" sz="900" u="none" cap="none" strike="noStrike">
              <a:solidFill>
                <a:schemeClr val="dk1"/>
              </a:solidFill>
              <a:latin typeface="Calibri"/>
              <a:ea typeface="Calibri"/>
              <a:cs typeface="Calibri"/>
              <a:sym typeface="Calibri"/>
            </a:endParaRPr>
          </a:p>
        </p:txBody>
      </p:sp>
      <p:sp>
        <p:nvSpPr>
          <p:cNvPr id="402" name="Google Shape;402;p9"/>
          <p:cNvSpPr/>
          <p:nvPr/>
        </p:nvSpPr>
        <p:spPr>
          <a:xfrm>
            <a:off x="5852160" y="2157984"/>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Imported — not yet moving</a:t>
            </a:r>
            <a:endParaRPr b="0" i="0" sz="900" u="none" cap="none" strike="noStrike">
              <a:solidFill>
                <a:schemeClr val="dk1"/>
              </a:solidFill>
              <a:latin typeface="Calibri"/>
              <a:ea typeface="Calibri"/>
              <a:cs typeface="Calibri"/>
              <a:sym typeface="Calibri"/>
            </a:endParaRPr>
          </a:p>
        </p:txBody>
      </p:sp>
      <p:sp>
        <p:nvSpPr>
          <p:cNvPr id="403" name="Google Shape;403;p9"/>
          <p:cNvSpPr/>
          <p:nvPr/>
        </p:nvSpPr>
        <p:spPr>
          <a:xfrm>
            <a:off x="4754880" y="2505456"/>
            <a:ext cx="3986784" cy="310896"/>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4846320" y="2505456"/>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Joint motion</a:t>
            </a:r>
            <a:endParaRPr b="0" i="0" sz="900" u="none" cap="none" strike="noStrike">
              <a:solidFill>
                <a:schemeClr val="dk1"/>
              </a:solidFill>
              <a:latin typeface="Calibri"/>
              <a:ea typeface="Calibri"/>
              <a:cs typeface="Calibri"/>
              <a:sym typeface="Calibri"/>
            </a:endParaRPr>
          </a:p>
        </p:txBody>
      </p:sp>
      <p:sp>
        <p:nvSpPr>
          <p:cNvPr id="405" name="Google Shape;405;p9"/>
          <p:cNvSpPr/>
          <p:nvPr/>
        </p:nvSpPr>
        <p:spPr>
          <a:xfrm>
            <a:off x="5852160" y="2505456"/>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Not yet configured</a:t>
            </a:r>
            <a:endParaRPr b="0" i="0" sz="900" u="none" cap="none" strike="noStrike">
              <a:solidFill>
                <a:schemeClr val="dk1"/>
              </a:solidFill>
              <a:latin typeface="Calibri"/>
              <a:ea typeface="Calibri"/>
              <a:cs typeface="Calibri"/>
              <a:sym typeface="Calibri"/>
            </a:endParaRPr>
          </a:p>
        </p:txBody>
      </p:sp>
      <p:sp>
        <p:nvSpPr>
          <p:cNvPr id="406" name="Google Shape;406;p9"/>
          <p:cNvSpPr/>
          <p:nvPr/>
        </p:nvSpPr>
        <p:spPr>
          <a:xfrm>
            <a:off x="4754880" y="2852928"/>
            <a:ext cx="3986784" cy="310896"/>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4846320" y="2852928"/>
            <a:ext cx="100584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00"/>
              <a:buFont typeface="Calibri"/>
              <a:buNone/>
            </a:pPr>
            <a:r>
              <a:rPr b="1" i="0" lang="en-US" sz="900" u="none" cap="none" strike="noStrike">
                <a:solidFill>
                  <a:srgbClr val="6B4E9E"/>
                </a:solidFill>
                <a:latin typeface="Calibri"/>
                <a:ea typeface="Calibri"/>
                <a:cs typeface="Calibri"/>
                <a:sym typeface="Calibri"/>
              </a:rPr>
              <a:t>Arduino link</a:t>
            </a:r>
            <a:endParaRPr b="0" i="0" sz="900" u="none" cap="none" strike="noStrike">
              <a:solidFill>
                <a:schemeClr val="dk1"/>
              </a:solidFill>
              <a:latin typeface="Calibri"/>
              <a:ea typeface="Calibri"/>
              <a:cs typeface="Calibri"/>
              <a:sym typeface="Calibri"/>
            </a:endParaRPr>
          </a:p>
        </p:txBody>
      </p:sp>
      <p:sp>
        <p:nvSpPr>
          <p:cNvPr id="408" name="Google Shape;408;p9"/>
          <p:cNvSpPr/>
          <p:nvPr/>
        </p:nvSpPr>
        <p:spPr>
          <a:xfrm>
            <a:off x="5852160" y="2852928"/>
            <a:ext cx="2743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ROS2 ↔ Arduino — not yet started</a:t>
            </a:r>
            <a:endParaRPr b="0" i="0" sz="900" u="none" cap="none" strike="noStrike">
              <a:solidFill>
                <a:schemeClr val="dk1"/>
              </a:solidFill>
              <a:latin typeface="Calibri"/>
              <a:ea typeface="Calibri"/>
              <a:cs typeface="Calibri"/>
              <a:sym typeface="Calibri"/>
            </a:endParaRPr>
          </a:p>
        </p:txBody>
      </p:sp>
      <p:sp>
        <p:nvSpPr>
          <p:cNvPr id="409" name="Google Shape;409;p9"/>
          <p:cNvSpPr/>
          <p:nvPr/>
        </p:nvSpPr>
        <p:spPr>
          <a:xfrm>
            <a:off x="4663440" y="3200400"/>
            <a:ext cx="4206240" cy="12984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4663440" y="3200400"/>
            <a:ext cx="4206240" cy="25603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4754880" y="3200400"/>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Help needed / questions</a:t>
            </a:r>
            <a:endParaRPr b="0" i="0" sz="1000" u="none" cap="none" strike="noStrike">
              <a:solidFill>
                <a:schemeClr val="dk1"/>
              </a:solidFill>
              <a:latin typeface="Calibri"/>
              <a:ea typeface="Calibri"/>
              <a:cs typeface="Calibri"/>
              <a:sym typeface="Calibri"/>
            </a:endParaRPr>
          </a:p>
        </p:txBody>
      </p:sp>
      <p:sp>
        <p:nvSpPr>
          <p:cNvPr id="412" name="Google Shape;412;p9"/>
          <p:cNvSpPr/>
          <p:nvPr/>
        </p:nvSpPr>
        <p:spPr>
          <a:xfrm>
            <a:off x="4773168" y="3493008"/>
            <a:ext cx="3931920" cy="9509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0" i="0" lang="en-US" sz="1000" u="none" cap="none" strike="noStrike">
                <a:solidFill>
                  <a:srgbClr val="2C3E50"/>
                </a:solidFill>
                <a:latin typeface="Calibri"/>
                <a:ea typeface="Calibri"/>
                <a:cs typeface="Calibri"/>
                <a:sym typeface="Calibri"/>
              </a:rPr>
              <a:t>Box dimensions from professor needed to finalise wrist length in CAD. URDF joint configuration is a new area — may need additional learning time before joints animate correctly.</a:t>
            </a:r>
            <a:endParaRPr b="0" i="0" sz="1000" u="none" cap="none" strike="noStrike">
              <a:solidFill>
                <a:schemeClr val="dk1"/>
              </a:solidFill>
              <a:latin typeface="Calibri"/>
              <a:ea typeface="Calibri"/>
              <a:cs typeface="Calibri"/>
              <a:sym typeface="Calibri"/>
            </a:endParaRPr>
          </a:p>
        </p:txBody>
      </p:sp>
      <p:sp>
        <p:nvSpPr>
          <p:cNvPr id="413" name="Google Shape;413;p9"/>
          <p:cNvSpPr/>
          <p:nvPr/>
        </p:nvSpPr>
        <p:spPr>
          <a:xfrm>
            <a:off x="274320" y="4864608"/>
            <a:ext cx="859536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418" name="Shape 418"/>
        <p:cNvGrpSpPr/>
        <p:nvPr/>
      </p:nvGrpSpPr>
      <p:grpSpPr>
        <a:xfrm>
          <a:off x="0" y="0"/>
          <a:ext cx="0" cy="0"/>
          <a:chOff x="0" y="0"/>
          <a:chExt cx="0" cy="0"/>
        </a:xfrm>
      </p:grpSpPr>
      <p:sp>
        <p:nvSpPr>
          <p:cNvPr id="419" name="Google Shape;419;p10"/>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0"/>
          <p:cNvSpPr/>
          <p:nvPr/>
        </p:nvSpPr>
        <p:spPr>
          <a:xfrm>
            <a:off x="6583680" y="-1097280"/>
            <a:ext cx="4206240" cy="4206240"/>
          </a:xfrm>
          <a:prstGeom prst="ellipse">
            <a:avLst/>
          </a:prstGeom>
          <a:solidFill>
            <a:srgbClr val="028090">
              <a:alpha val="12156"/>
            </a:srgbClr>
          </a:solidFill>
          <a:ln cap="flat" cmpd="sng" w="12700">
            <a:solidFill>
              <a:srgbClr val="028090">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0"/>
          <p:cNvSpPr/>
          <p:nvPr/>
        </p:nvSpPr>
        <p:spPr>
          <a:xfrm>
            <a:off x="7315200" y="3474720"/>
            <a:ext cx="2194560" cy="2194560"/>
          </a:xfrm>
          <a:prstGeom prst="ellipse">
            <a:avLst/>
          </a:prstGeom>
          <a:solidFill>
            <a:srgbClr val="028090">
              <a:alpha val="7843"/>
            </a:srgbClr>
          </a:solidFill>
          <a:ln cap="flat" cmpd="sng" w="12700">
            <a:solidFill>
              <a:srgbClr val="02809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0"/>
          <p:cNvSpPr/>
          <p:nvPr/>
        </p:nvSpPr>
        <p:spPr>
          <a:xfrm>
            <a:off x="411480" y="384048"/>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0" i="0" lang="en-US" sz="1800" u="none" cap="none" strike="noStrike">
                <a:solidFill>
                  <a:srgbClr val="028090"/>
                </a:solidFill>
                <a:latin typeface="Calibri"/>
                <a:ea typeface="Calibri"/>
                <a:cs typeface="Calibri"/>
                <a:sym typeface="Calibri"/>
              </a:rPr>
              <a:t>Week 8</a:t>
            </a:r>
            <a:endParaRPr b="0" i="0" sz="1800" u="none" cap="none" strike="noStrike">
              <a:solidFill>
                <a:schemeClr val="dk1"/>
              </a:solidFill>
              <a:latin typeface="Calibri"/>
              <a:ea typeface="Calibri"/>
              <a:cs typeface="Calibri"/>
              <a:sym typeface="Calibri"/>
            </a:endParaRPr>
          </a:p>
        </p:txBody>
      </p:sp>
      <p:sp>
        <p:nvSpPr>
          <p:cNvPr id="423" name="Google Shape;423;p10"/>
          <p:cNvSpPr/>
          <p:nvPr/>
        </p:nvSpPr>
        <p:spPr>
          <a:xfrm>
            <a:off x="411480" y="786384"/>
            <a:ext cx="731520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Wrap-up</a:t>
            </a:r>
            <a:endParaRPr b="0" i="0" sz="4600" u="none" cap="none" strike="noStrike">
              <a:solidFill>
                <a:schemeClr val="dk1"/>
              </a:solidFill>
              <a:latin typeface="Calibri"/>
              <a:ea typeface="Calibri"/>
              <a:cs typeface="Calibri"/>
              <a:sym typeface="Calibri"/>
            </a:endParaRPr>
          </a:p>
        </p:txBody>
      </p:sp>
      <p:sp>
        <p:nvSpPr>
          <p:cNvPr id="424" name="Google Shape;424;p10"/>
          <p:cNvSpPr/>
          <p:nvPr/>
        </p:nvSpPr>
        <p:spPr>
          <a:xfrm>
            <a:off x="411480" y="1591056"/>
            <a:ext cx="45720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411480" y="1737360"/>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p:nvPr/>
        </p:nvSpPr>
        <p:spPr>
          <a:xfrm>
            <a:off x="411480" y="1737360"/>
            <a:ext cx="54864" cy="310896"/>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0"/>
          <p:cNvSpPr/>
          <p:nvPr/>
        </p:nvSpPr>
        <p:spPr>
          <a:xfrm>
            <a:off x="530352" y="1737360"/>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000"/>
              <a:buFont typeface="Calibri"/>
              <a:buNone/>
            </a:pPr>
            <a:r>
              <a:rPr b="0" i="0" lang="en-US" sz="1000" u="none" cap="none" strike="noStrike">
                <a:solidFill>
                  <a:srgbClr val="2EAD7A"/>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28" name="Google Shape;428;p10"/>
          <p:cNvSpPr/>
          <p:nvPr/>
        </p:nvSpPr>
        <p:spPr>
          <a:xfrm>
            <a:off x="859536" y="1737360"/>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Detection improved — higher res + threshold tuning</a:t>
            </a:r>
            <a:endParaRPr b="0" i="0" sz="1000" u="none" cap="none" strike="noStrike">
              <a:solidFill>
                <a:schemeClr val="dk1"/>
              </a:solidFill>
              <a:latin typeface="Calibri"/>
              <a:ea typeface="Calibri"/>
              <a:cs typeface="Calibri"/>
              <a:sym typeface="Calibri"/>
            </a:endParaRPr>
          </a:p>
        </p:txBody>
      </p:sp>
      <p:sp>
        <p:nvSpPr>
          <p:cNvPr id="429" name="Google Shape;429;p10"/>
          <p:cNvSpPr/>
          <p:nvPr/>
        </p:nvSpPr>
        <p:spPr>
          <a:xfrm>
            <a:off x="411480" y="2121408"/>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0"/>
          <p:cNvSpPr/>
          <p:nvPr/>
        </p:nvSpPr>
        <p:spPr>
          <a:xfrm>
            <a:off x="411480" y="2121408"/>
            <a:ext cx="54864" cy="310896"/>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0"/>
          <p:cNvSpPr/>
          <p:nvPr/>
        </p:nvSpPr>
        <p:spPr>
          <a:xfrm>
            <a:off x="530352" y="2121408"/>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000"/>
              <a:buFont typeface="Calibri"/>
              <a:buNone/>
            </a:pPr>
            <a:r>
              <a:rPr b="0" i="0" lang="en-US" sz="1000" u="none" cap="none" strike="noStrike">
                <a:solidFill>
                  <a:srgbClr val="2EAD7A"/>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32" name="Google Shape;432;p10"/>
          <p:cNvSpPr/>
          <p:nvPr/>
        </p:nvSpPr>
        <p:spPr>
          <a:xfrm>
            <a:off x="859536" y="2121408"/>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CAD model imported and visible in RViz</a:t>
            </a:r>
            <a:endParaRPr b="0" i="0" sz="1000" u="none" cap="none" strike="noStrike">
              <a:solidFill>
                <a:schemeClr val="dk1"/>
              </a:solidFill>
              <a:latin typeface="Calibri"/>
              <a:ea typeface="Calibri"/>
              <a:cs typeface="Calibri"/>
              <a:sym typeface="Calibri"/>
            </a:endParaRPr>
          </a:p>
        </p:txBody>
      </p:sp>
      <p:sp>
        <p:nvSpPr>
          <p:cNvPr id="433" name="Google Shape;433;p10"/>
          <p:cNvSpPr/>
          <p:nvPr/>
        </p:nvSpPr>
        <p:spPr>
          <a:xfrm>
            <a:off x="411480" y="2505456"/>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a:off x="411480" y="2505456"/>
            <a:ext cx="54864" cy="310896"/>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a:off x="530352" y="2505456"/>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000"/>
              <a:buFont typeface="Calibri"/>
              <a:buNone/>
            </a:pPr>
            <a:r>
              <a:rPr b="0" i="0" lang="en-US" sz="1000" u="none" cap="none" strike="noStrike">
                <a:solidFill>
                  <a:srgbClr val="2EAD7A"/>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36" name="Google Shape;436;p10"/>
          <p:cNvSpPr/>
          <p:nvPr/>
        </p:nvSpPr>
        <p:spPr>
          <a:xfrm>
            <a:off x="859536" y="2505456"/>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Wrist and base CAD designed</a:t>
            </a:r>
            <a:endParaRPr b="0" i="0" sz="1000" u="none" cap="none" strike="noStrike">
              <a:solidFill>
                <a:schemeClr val="dk1"/>
              </a:solidFill>
              <a:latin typeface="Calibri"/>
              <a:ea typeface="Calibri"/>
              <a:cs typeface="Calibri"/>
              <a:sym typeface="Calibri"/>
            </a:endParaRPr>
          </a:p>
        </p:txBody>
      </p:sp>
      <p:sp>
        <p:nvSpPr>
          <p:cNvPr id="437" name="Google Shape;437;p10"/>
          <p:cNvSpPr/>
          <p:nvPr/>
        </p:nvSpPr>
        <p:spPr>
          <a:xfrm>
            <a:off x="411480" y="2889504"/>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a:off x="411480" y="2889504"/>
            <a:ext cx="54864" cy="310896"/>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a:off x="530352" y="2889504"/>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000"/>
              <a:buFont typeface="Calibri"/>
              <a:buNone/>
            </a:pPr>
            <a:r>
              <a:rPr b="0" i="0" lang="en-US" sz="1000" u="none" cap="none" strike="noStrike">
                <a:solidFill>
                  <a:srgbClr val="2EAD7A"/>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40" name="Google Shape;440;p10"/>
          <p:cNvSpPr/>
          <p:nvPr/>
        </p:nvSpPr>
        <p:spPr>
          <a:xfrm>
            <a:off x="859536" y="2889504"/>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370 mini vacuum pump ordered</a:t>
            </a:r>
            <a:endParaRPr b="0" i="0" sz="1000" u="none" cap="none" strike="noStrike">
              <a:solidFill>
                <a:schemeClr val="dk1"/>
              </a:solidFill>
              <a:latin typeface="Calibri"/>
              <a:ea typeface="Calibri"/>
              <a:cs typeface="Calibri"/>
              <a:sym typeface="Calibri"/>
            </a:endParaRPr>
          </a:p>
        </p:txBody>
      </p:sp>
      <p:sp>
        <p:nvSpPr>
          <p:cNvPr id="441" name="Google Shape;441;p10"/>
          <p:cNvSpPr/>
          <p:nvPr/>
        </p:nvSpPr>
        <p:spPr>
          <a:xfrm>
            <a:off x="411480" y="3273552"/>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a:off x="411480" y="3273552"/>
            <a:ext cx="54864" cy="310896"/>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a:off x="530352" y="3273552"/>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6530"/>
              </a:buClr>
              <a:buSzPts val="1000"/>
              <a:buFont typeface="Calibri"/>
              <a:buNone/>
            </a:pPr>
            <a:r>
              <a:rPr b="0" i="0" lang="en-US" sz="1000" u="none" cap="none" strike="noStrike">
                <a:solidFill>
                  <a:srgbClr val="E0653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44" name="Google Shape;444;p10"/>
          <p:cNvSpPr/>
          <p:nvPr/>
        </p:nvSpPr>
        <p:spPr>
          <a:xfrm>
            <a:off x="859536" y="3273552"/>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CAD and end effector both behind — now targeting Week 9</a:t>
            </a:r>
            <a:endParaRPr b="0" i="0" sz="1000" u="none" cap="none" strike="noStrike">
              <a:solidFill>
                <a:schemeClr val="dk1"/>
              </a:solidFill>
              <a:latin typeface="Calibri"/>
              <a:ea typeface="Calibri"/>
              <a:cs typeface="Calibri"/>
              <a:sym typeface="Calibri"/>
            </a:endParaRPr>
          </a:p>
        </p:txBody>
      </p:sp>
      <p:sp>
        <p:nvSpPr>
          <p:cNvPr id="445" name="Google Shape;445;p10"/>
          <p:cNvSpPr/>
          <p:nvPr/>
        </p:nvSpPr>
        <p:spPr>
          <a:xfrm>
            <a:off x="411480" y="3657600"/>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411480" y="3657600"/>
            <a:ext cx="54864" cy="310896"/>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530352" y="3657600"/>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6530"/>
              </a:buClr>
              <a:buSzPts val="1000"/>
              <a:buFont typeface="Calibri"/>
              <a:buNone/>
            </a:pPr>
            <a:r>
              <a:rPr b="0" i="0" lang="en-US" sz="1000" u="none" cap="none" strike="noStrike">
                <a:solidFill>
                  <a:srgbClr val="E0653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48" name="Google Shape;448;p10"/>
          <p:cNvSpPr/>
          <p:nvPr/>
        </p:nvSpPr>
        <p:spPr>
          <a:xfrm>
            <a:off x="859536" y="3657600"/>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RViz joints not yet moving — URDF config needed</a:t>
            </a:r>
            <a:endParaRPr b="0" i="0" sz="1000" u="none" cap="none" strike="noStrike">
              <a:solidFill>
                <a:schemeClr val="dk1"/>
              </a:solidFill>
              <a:latin typeface="Calibri"/>
              <a:ea typeface="Calibri"/>
              <a:cs typeface="Calibri"/>
              <a:sym typeface="Calibri"/>
            </a:endParaRPr>
          </a:p>
        </p:txBody>
      </p:sp>
      <p:sp>
        <p:nvSpPr>
          <p:cNvPr id="449" name="Google Shape;449;p10"/>
          <p:cNvSpPr/>
          <p:nvPr/>
        </p:nvSpPr>
        <p:spPr>
          <a:xfrm>
            <a:off x="411480" y="4041648"/>
            <a:ext cx="5577840" cy="310896"/>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411480" y="4041648"/>
            <a:ext cx="54864" cy="310896"/>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530352" y="4041648"/>
            <a:ext cx="2743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392B"/>
              </a:buClr>
              <a:buSzPts val="1000"/>
              <a:buFont typeface="Calibri"/>
              <a:buNone/>
            </a:pPr>
            <a:r>
              <a:rPr b="0" i="0" lang="en-US" sz="1000" u="none" cap="none" strike="noStrike">
                <a:solidFill>
                  <a:srgbClr val="C0392B"/>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52" name="Google Shape;452;p10"/>
          <p:cNvSpPr/>
          <p:nvPr/>
        </p:nvSpPr>
        <p:spPr>
          <a:xfrm>
            <a:off x="859536" y="4041648"/>
            <a:ext cx="50292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Box dimensions still needed from professor</a:t>
            </a:r>
            <a:endParaRPr b="0" i="0" sz="1000" u="none" cap="none" strike="noStrike">
              <a:solidFill>
                <a:schemeClr val="dk1"/>
              </a:solidFill>
              <a:latin typeface="Calibri"/>
              <a:ea typeface="Calibri"/>
              <a:cs typeface="Calibri"/>
              <a:sym typeface="Calibri"/>
            </a:endParaRPr>
          </a:p>
        </p:txBody>
      </p:sp>
      <p:sp>
        <p:nvSpPr>
          <p:cNvPr id="453" name="Google Shape;453;p10"/>
          <p:cNvSpPr/>
          <p:nvPr/>
        </p:nvSpPr>
        <p:spPr>
          <a:xfrm>
            <a:off x="6263640" y="1737360"/>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1200"/>
              <a:buFont typeface="Calibri"/>
              <a:buNone/>
            </a:pPr>
            <a:r>
              <a:rPr b="1" i="0" lang="en-US" sz="1200" u="none" cap="none" strike="noStrike">
                <a:solidFill>
                  <a:srgbClr val="C8E6F5"/>
                </a:solidFill>
                <a:latin typeface="Calibri"/>
                <a:ea typeface="Calibri"/>
                <a:cs typeface="Calibri"/>
                <a:sym typeface="Calibri"/>
              </a:rPr>
              <a:t>Looking ahead</a:t>
            </a:r>
            <a:endParaRPr b="0" i="0" sz="1200" u="none" cap="none" strike="noStrike">
              <a:solidFill>
                <a:schemeClr val="dk1"/>
              </a:solidFill>
              <a:latin typeface="Calibri"/>
              <a:ea typeface="Calibri"/>
              <a:cs typeface="Calibri"/>
              <a:sym typeface="Calibri"/>
            </a:endParaRPr>
          </a:p>
        </p:txBody>
      </p:sp>
      <p:sp>
        <p:nvSpPr>
          <p:cNvPr id="454" name="Google Shape;454;p10"/>
          <p:cNvSpPr/>
          <p:nvPr/>
        </p:nvSpPr>
        <p:spPr>
          <a:xfrm>
            <a:off x="6263640" y="2066544"/>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0"/>
          <p:cNvSpPr/>
          <p:nvPr/>
        </p:nvSpPr>
        <p:spPr>
          <a:xfrm>
            <a:off x="6263640" y="2066544"/>
            <a:ext cx="54864" cy="36576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0"/>
          <p:cNvSpPr/>
          <p:nvPr/>
        </p:nvSpPr>
        <p:spPr>
          <a:xfrm>
            <a:off x="6364224" y="2139696"/>
            <a:ext cx="658368" cy="219456"/>
          </a:xfrm>
          <a:prstGeom prst="roundRect">
            <a:avLst>
              <a:gd fmla="val 16667" name="adj"/>
            </a:avLst>
          </a:prstGeom>
          <a:solidFill>
            <a:srgbClr val="E8A020">
              <a:alpha val="20000"/>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0"/>
          <p:cNvSpPr/>
          <p:nvPr/>
        </p:nvSpPr>
        <p:spPr>
          <a:xfrm>
            <a:off x="6364224" y="2139696"/>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9</a:t>
            </a:r>
            <a:endParaRPr b="0" i="0" sz="750" u="none" cap="none" strike="noStrike">
              <a:solidFill>
                <a:schemeClr val="dk1"/>
              </a:solidFill>
              <a:latin typeface="Calibri"/>
              <a:ea typeface="Calibri"/>
              <a:cs typeface="Calibri"/>
              <a:sym typeface="Calibri"/>
            </a:endParaRPr>
          </a:p>
        </p:txBody>
      </p:sp>
      <p:sp>
        <p:nvSpPr>
          <p:cNvPr id="458" name="Google Shape;458;p10"/>
          <p:cNvSpPr/>
          <p:nvPr/>
        </p:nvSpPr>
        <p:spPr>
          <a:xfrm>
            <a:off x="7077456" y="2066544"/>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Finalise CAD + print last parts</a:t>
            </a:r>
            <a:endParaRPr b="0" i="0" sz="900" u="none" cap="none" strike="noStrike">
              <a:solidFill>
                <a:schemeClr val="dk1"/>
              </a:solidFill>
              <a:latin typeface="Calibri"/>
              <a:ea typeface="Calibri"/>
              <a:cs typeface="Calibri"/>
              <a:sym typeface="Calibri"/>
            </a:endParaRPr>
          </a:p>
        </p:txBody>
      </p:sp>
      <p:sp>
        <p:nvSpPr>
          <p:cNvPr id="459" name="Google Shape;459;p10"/>
          <p:cNvSpPr/>
          <p:nvPr/>
        </p:nvSpPr>
        <p:spPr>
          <a:xfrm>
            <a:off x="6263640" y="2505456"/>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0"/>
          <p:cNvSpPr/>
          <p:nvPr/>
        </p:nvSpPr>
        <p:spPr>
          <a:xfrm>
            <a:off x="6263640" y="2505456"/>
            <a:ext cx="54864" cy="36576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0"/>
          <p:cNvSpPr/>
          <p:nvPr/>
        </p:nvSpPr>
        <p:spPr>
          <a:xfrm>
            <a:off x="6364224" y="2578608"/>
            <a:ext cx="658368" cy="219456"/>
          </a:xfrm>
          <a:prstGeom prst="roundRect">
            <a:avLst>
              <a:gd fmla="val 16667" name="adj"/>
            </a:avLst>
          </a:prstGeom>
          <a:solidFill>
            <a:srgbClr val="2EAD7A">
              <a:alpha val="20000"/>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0"/>
          <p:cNvSpPr/>
          <p:nvPr/>
        </p:nvSpPr>
        <p:spPr>
          <a:xfrm>
            <a:off x="6364224" y="2578608"/>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9</a:t>
            </a:r>
            <a:endParaRPr b="0" i="0" sz="750" u="none" cap="none" strike="noStrike">
              <a:solidFill>
                <a:schemeClr val="dk1"/>
              </a:solidFill>
              <a:latin typeface="Calibri"/>
              <a:ea typeface="Calibri"/>
              <a:cs typeface="Calibri"/>
              <a:sym typeface="Calibri"/>
            </a:endParaRPr>
          </a:p>
        </p:txBody>
      </p:sp>
      <p:sp>
        <p:nvSpPr>
          <p:cNvPr id="463" name="Google Shape;463;p10"/>
          <p:cNvSpPr/>
          <p:nvPr/>
        </p:nvSpPr>
        <p:spPr>
          <a:xfrm>
            <a:off x="7077456" y="2505456"/>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Receive pump + build end effector</a:t>
            </a:r>
            <a:endParaRPr b="0" i="0" sz="900" u="none" cap="none" strike="noStrike">
              <a:solidFill>
                <a:schemeClr val="dk1"/>
              </a:solidFill>
              <a:latin typeface="Calibri"/>
              <a:ea typeface="Calibri"/>
              <a:cs typeface="Calibri"/>
              <a:sym typeface="Calibri"/>
            </a:endParaRPr>
          </a:p>
        </p:txBody>
      </p:sp>
      <p:sp>
        <p:nvSpPr>
          <p:cNvPr id="464" name="Google Shape;464;p10"/>
          <p:cNvSpPr/>
          <p:nvPr/>
        </p:nvSpPr>
        <p:spPr>
          <a:xfrm>
            <a:off x="6263640" y="2944368"/>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6263640" y="2944368"/>
            <a:ext cx="54864" cy="365760"/>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0"/>
          <p:cNvSpPr/>
          <p:nvPr/>
        </p:nvSpPr>
        <p:spPr>
          <a:xfrm>
            <a:off x="6364224" y="3017520"/>
            <a:ext cx="658368" cy="219456"/>
          </a:xfrm>
          <a:prstGeom prst="roundRect">
            <a:avLst>
              <a:gd fmla="val 16667" name="adj"/>
            </a:avLst>
          </a:prstGeom>
          <a:solidFill>
            <a:srgbClr val="6B4E9E">
              <a:alpha val="20000"/>
            </a:srgbClr>
          </a:solidFill>
          <a:ln cap="flat" cmpd="sng" w="12700">
            <a:solidFill>
              <a:srgbClr val="6B4E9E">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0"/>
          <p:cNvSpPr/>
          <p:nvPr/>
        </p:nvSpPr>
        <p:spPr>
          <a:xfrm>
            <a:off x="6364224" y="3017520"/>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9</a:t>
            </a:r>
            <a:endParaRPr b="0" i="0" sz="750" u="none" cap="none" strike="noStrike">
              <a:solidFill>
                <a:schemeClr val="dk1"/>
              </a:solidFill>
              <a:latin typeface="Calibri"/>
              <a:ea typeface="Calibri"/>
              <a:cs typeface="Calibri"/>
              <a:sym typeface="Calibri"/>
            </a:endParaRPr>
          </a:p>
        </p:txBody>
      </p:sp>
      <p:sp>
        <p:nvSpPr>
          <p:cNvPr id="468" name="Google Shape;468;p10"/>
          <p:cNvSpPr/>
          <p:nvPr/>
        </p:nvSpPr>
        <p:spPr>
          <a:xfrm>
            <a:off x="7077456" y="2944368"/>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Configure RViz joint motion</a:t>
            </a:r>
            <a:endParaRPr b="0" i="0" sz="900" u="none" cap="none" strike="noStrike">
              <a:solidFill>
                <a:schemeClr val="dk1"/>
              </a:solidFill>
              <a:latin typeface="Calibri"/>
              <a:ea typeface="Calibri"/>
              <a:cs typeface="Calibri"/>
              <a:sym typeface="Calibri"/>
            </a:endParaRPr>
          </a:p>
        </p:txBody>
      </p:sp>
      <p:sp>
        <p:nvSpPr>
          <p:cNvPr id="469" name="Google Shape;469;p10"/>
          <p:cNvSpPr/>
          <p:nvPr/>
        </p:nvSpPr>
        <p:spPr>
          <a:xfrm>
            <a:off x="6263640" y="3383280"/>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0"/>
          <p:cNvSpPr/>
          <p:nvPr/>
        </p:nvSpPr>
        <p:spPr>
          <a:xfrm>
            <a:off x="6263640" y="3383280"/>
            <a:ext cx="54864" cy="36576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0"/>
          <p:cNvSpPr/>
          <p:nvPr/>
        </p:nvSpPr>
        <p:spPr>
          <a:xfrm>
            <a:off x="6364224" y="3456432"/>
            <a:ext cx="658368" cy="219456"/>
          </a:xfrm>
          <a:prstGeom prst="roundRect">
            <a:avLst>
              <a:gd fmla="val 16667" name="adj"/>
            </a:avLst>
          </a:prstGeom>
          <a:solidFill>
            <a:srgbClr val="028090">
              <a:alpha val="20000"/>
            </a:srgbClr>
          </a:solidFill>
          <a:ln cap="flat" cmpd="sng" w="12700">
            <a:solidFill>
              <a:srgbClr val="02809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a:off x="6364224" y="3456432"/>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9</a:t>
            </a:r>
            <a:endParaRPr b="0" i="0" sz="750" u="none" cap="none" strike="noStrike">
              <a:solidFill>
                <a:schemeClr val="dk1"/>
              </a:solidFill>
              <a:latin typeface="Calibri"/>
              <a:ea typeface="Calibri"/>
              <a:cs typeface="Calibri"/>
              <a:sym typeface="Calibri"/>
            </a:endParaRPr>
          </a:p>
        </p:txBody>
      </p:sp>
      <p:sp>
        <p:nvSpPr>
          <p:cNvPr id="473" name="Google Shape;473;p10"/>
          <p:cNvSpPr/>
          <p:nvPr/>
        </p:nvSpPr>
        <p:spPr>
          <a:xfrm>
            <a:off x="7077456" y="3383280"/>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Complete CV coordinate mapping</a:t>
            </a:r>
            <a:endParaRPr b="0" i="0" sz="900" u="none" cap="none" strike="noStrike">
              <a:solidFill>
                <a:schemeClr val="dk1"/>
              </a:solidFill>
              <a:latin typeface="Calibri"/>
              <a:ea typeface="Calibri"/>
              <a:cs typeface="Calibri"/>
              <a:sym typeface="Calibri"/>
            </a:endParaRPr>
          </a:p>
        </p:txBody>
      </p:sp>
      <p:sp>
        <p:nvSpPr>
          <p:cNvPr id="474" name="Google Shape;474;p10"/>
          <p:cNvSpPr/>
          <p:nvPr/>
        </p:nvSpPr>
        <p:spPr>
          <a:xfrm>
            <a:off x="6263640" y="3822192"/>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
          <p:cNvSpPr/>
          <p:nvPr/>
        </p:nvSpPr>
        <p:spPr>
          <a:xfrm>
            <a:off x="6263640" y="3822192"/>
            <a:ext cx="54864" cy="36576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
          <p:cNvSpPr/>
          <p:nvPr/>
        </p:nvSpPr>
        <p:spPr>
          <a:xfrm>
            <a:off x="6364224" y="3895344"/>
            <a:ext cx="658368" cy="219456"/>
          </a:xfrm>
          <a:prstGeom prst="roundRect">
            <a:avLst>
              <a:gd fmla="val 16667" name="adj"/>
            </a:avLst>
          </a:prstGeom>
          <a:solidFill>
            <a:srgbClr val="C0392B">
              <a:alpha val="20000"/>
            </a:srgbClr>
          </a:solidFill>
          <a:ln cap="flat" cmpd="sng" w="12700">
            <a:solidFill>
              <a:srgbClr val="C0392B">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a:off x="6364224" y="3895344"/>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9</a:t>
            </a:r>
            <a:endParaRPr b="0" i="0" sz="750" u="none" cap="none" strike="noStrike">
              <a:solidFill>
                <a:schemeClr val="dk1"/>
              </a:solidFill>
              <a:latin typeface="Calibri"/>
              <a:ea typeface="Calibri"/>
              <a:cs typeface="Calibri"/>
              <a:sym typeface="Calibri"/>
            </a:endParaRPr>
          </a:p>
        </p:txBody>
      </p:sp>
      <p:sp>
        <p:nvSpPr>
          <p:cNvPr id="478" name="Google Shape;478;p10"/>
          <p:cNvSpPr/>
          <p:nvPr/>
        </p:nvSpPr>
        <p:spPr>
          <a:xfrm>
            <a:off x="7077456" y="3822192"/>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Get box dimensions from professor</a:t>
            </a:r>
            <a:endParaRPr b="0" i="0" sz="900" u="none" cap="none" strike="noStrike">
              <a:solidFill>
                <a:schemeClr val="dk1"/>
              </a:solidFill>
              <a:latin typeface="Calibri"/>
              <a:ea typeface="Calibri"/>
              <a:cs typeface="Calibri"/>
              <a:sym typeface="Calibri"/>
            </a:endParaRPr>
          </a:p>
        </p:txBody>
      </p:sp>
      <p:sp>
        <p:nvSpPr>
          <p:cNvPr id="479" name="Google Shape;479;p10"/>
          <p:cNvSpPr/>
          <p:nvPr/>
        </p:nvSpPr>
        <p:spPr>
          <a:xfrm>
            <a:off x="6263640" y="4261104"/>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0"/>
          <p:cNvSpPr/>
          <p:nvPr/>
        </p:nvSpPr>
        <p:spPr>
          <a:xfrm>
            <a:off x="6263640" y="4261104"/>
            <a:ext cx="54864" cy="36576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0"/>
          <p:cNvSpPr/>
          <p:nvPr/>
        </p:nvSpPr>
        <p:spPr>
          <a:xfrm>
            <a:off x="6364224" y="4334256"/>
            <a:ext cx="658368" cy="219456"/>
          </a:xfrm>
          <a:prstGeom prst="roundRect">
            <a:avLst>
              <a:gd fmla="val 16667" name="adj"/>
            </a:avLst>
          </a:prstGeom>
          <a:solidFill>
            <a:srgbClr val="E8A020">
              <a:alpha val="20000"/>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a:off x="6364224" y="4334256"/>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10</a:t>
            </a:r>
            <a:endParaRPr b="0" i="0" sz="750" u="none" cap="none" strike="noStrike">
              <a:solidFill>
                <a:schemeClr val="dk1"/>
              </a:solidFill>
              <a:latin typeface="Calibri"/>
              <a:ea typeface="Calibri"/>
              <a:cs typeface="Calibri"/>
              <a:sym typeface="Calibri"/>
            </a:endParaRPr>
          </a:p>
        </p:txBody>
      </p:sp>
      <p:sp>
        <p:nvSpPr>
          <p:cNvPr id="483" name="Google Shape;483;p10"/>
          <p:cNvSpPr/>
          <p:nvPr/>
        </p:nvSpPr>
        <p:spPr>
          <a:xfrm>
            <a:off x="7077456" y="4261104"/>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Full assembly + Gazebo digital twin</a:t>
            </a:r>
            <a:endParaRPr b="0" i="0" sz="900" u="none" cap="none" strike="noStrike">
              <a:solidFill>
                <a:schemeClr val="dk1"/>
              </a:solidFill>
              <a:latin typeface="Calibri"/>
              <a:ea typeface="Calibri"/>
              <a:cs typeface="Calibri"/>
              <a:sym typeface="Calibri"/>
            </a:endParaRPr>
          </a:p>
        </p:txBody>
      </p:sp>
      <p:sp>
        <p:nvSpPr>
          <p:cNvPr id="484" name="Google Shape;484;p10"/>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2026-04-28T11:14:12Z</dcterms:created>
  <dc:creator>PptxGenJS</dc:creator>
</cp:coreProperties>
</file>