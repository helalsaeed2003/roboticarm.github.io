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hVzWfcGi08GQo3sQHA/JTCirXX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082331C-DDBC-493B-A47D-497380DBD0F0}">
  <a:tblStyle styleId="{6082331C-DDBC-493B-A47D-497380DBD0F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d60c626eaf_0_1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g3d60c626eaf_0_1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g3d60c626eaf_0_1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d60c626eaf_0_1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g3d60c626eaf_0_1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g3d60c626eaf_0_1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d60c626eaf_0_1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g3d60c626eaf_0_1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g3d60c626eaf_0_19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d60c626eaf_0_2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5" name="Google Shape;485;g3d60c626eaf_0_2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g3d60c626eaf_0_2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4" name="Google Shape;51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8" name="Google Shape;55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8" name="Google Shape;57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ocs.google.com/spreadsheets/d/1vQUNIplIJCaTI_P2jxYhI44QH2mPTx2C/edit?usp=drive_link&amp;ouid=106065383605085710301&amp;rtpof=true&amp;sd=true" TargetMode="External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Relationship Id="rId4" Type="http://schemas.openxmlformats.org/officeDocument/2006/relationships/image" Target="../media/image1.jpg"/><Relationship Id="rId5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drive.google.com/file/d/1oUBvsq3HgfkmovbexPYbwGuVcIuNKHao/view?usp=drive_link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949440" y="-1280160"/>
            <a:ext cx="3840480" cy="3840480"/>
          </a:xfrm>
          <a:prstGeom prst="ellipse">
            <a:avLst/>
          </a:prstGeom>
          <a:solidFill>
            <a:srgbClr val="028090">
              <a:alpha val="14901"/>
            </a:srgbClr>
          </a:solidFill>
          <a:ln cap="flat" cmpd="sng" w="12700">
            <a:solidFill>
              <a:srgbClr val="028090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7680960" y="3291840"/>
            <a:ext cx="2011680" cy="2011680"/>
          </a:xfrm>
          <a:prstGeom prst="ellipse">
            <a:avLst/>
          </a:prstGeom>
          <a:solidFill>
            <a:srgbClr val="028090">
              <a:alpha val="10196"/>
            </a:srgbClr>
          </a:solidFill>
          <a:ln cap="flat" cmpd="sng" w="12700">
            <a:solidFill>
              <a:srgbClr val="028090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438912" y="777240"/>
            <a:ext cx="1280160" cy="329184"/>
          </a:xfrm>
          <a:prstGeom prst="roundRect">
            <a:avLst>
              <a:gd fmla="val 16667" name="adj"/>
            </a:avLst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438912" y="777240"/>
            <a:ext cx="12801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 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84048" y="1353312"/>
            <a:ext cx="7772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Robotic Arm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84048" y="2176272"/>
            <a:ext cx="7772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E6F5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C8E6F5"/>
                </a:solidFill>
                <a:latin typeface="Calibri"/>
                <a:ea typeface="Calibri"/>
                <a:cs typeface="Calibri"/>
                <a:sym typeface="Calibri"/>
              </a:rPr>
              <a:t>Pick &amp; Place System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384048" y="2907792"/>
            <a:ext cx="4572000" cy="3657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384048" y="3090672"/>
            <a:ext cx="7772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Weekly Progress Report  ·  Mechatronics System Design 101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384048" y="4462272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Leen's Group  ·  Leen  ·  Mohamed  ·  Helal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347472" y="0"/>
            <a:ext cx="6583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 6 — Snapshot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347472" y="804672"/>
            <a:ext cx="5577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What we worked on this week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347472" y="1152144"/>
            <a:ext cx="5577840" cy="8595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347472" y="1152144"/>
            <a:ext cx="73152" cy="85953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493776" y="1353312"/>
            <a:ext cx="329184" cy="329184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493776" y="135331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932688" y="1243584"/>
            <a:ext cx="4846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OpenCV — object detection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932688" y="1536192"/>
            <a:ext cx="48463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Major progress: system can now detect and classify objects. Coordinate mapping to arm workspace not yet complete — commands cannot be sent until this is done.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47472" y="2121408"/>
            <a:ext cx="5577840" cy="8595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347472" y="2121408"/>
            <a:ext cx="73152" cy="859536"/>
          </a:xfrm>
          <a:prstGeom prst="rect">
            <a:avLst/>
          </a:prstGeom>
          <a:solidFill>
            <a:srgbClr val="2EAD7A"/>
          </a:solidFill>
          <a:ln cap="flat" cmpd="sng" w="12700">
            <a:solidFill>
              <a:srgbClr val="2EA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493776" y="2322576"/>
            <a:ext cx="329184" cy="329184"/>
          </a:xfrm>
          <a:prstGeom prst="ellipse">
            <a:avLst/>
          </a:prstGeom>
          <a:solidFill>
            <a:srgbClr val="2EAD7A"/>
          </a:solidFill>
          <a:ln cap="flat" cmpd="sng" w="12700">
            <a:solidFill>
              <a:srgbClr val="2EA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493776" y="2322576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932688" y="2212848"/>
            <a:ext cx="4846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Control system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932688" y="2505456"/>
            <a:ext cx="48463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Major progress: Arduino now controllable via gamepad (manual) and Python input commands (auto). Once CV coordinate mapping is done, the pipeline will be fully connected.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347472" y="3090672"/>
            <a:ext cx="5577840" cy="85953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347472" y="3090672"/>
            <a:ext cx="73152" cy="859536"/>
          </a:xfrm>
          <a:prstGeom prst="rect">
            <a:avLst/>
          </a:prstGeom>
          <a:solidFill>
            <a:srgbClr val="6B4E9E"/>
          </a:solidFill>
          <a:ln cap="flat" cmpd="sng" w="12700">
            <a:solidFill>
              <a:srgbClr val="6B4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493776" y="3291840"/>
            <a:ext cx="329184" cy="329184"/>
          </a:xfrm>
          <a:prstGeom prst="ellipse">
            <a:avLst/>
          </a:prstGeom>
          <a:solidFill>
            <a:srgbClr val="6B4E9E"/>
          </a:solidFill>
          <a:ln cap="flat" cmpd="sng" w="12700">
            <a:solidFill>
              <a:srgbClr val="6B4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493776" y="329184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932688" y="3182112"/>
            <a:ext cx="4846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IMU — end effector levelling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932688" y="3474720"/>
            <a:ext cx="48463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IMU sensor integrated and working. The wrist joint now actively corrects to keep the end effector pointing downward at all times during arm movement.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6144768" y="8046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Status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6144768" y="1152144"/>
            <a:ext cx="2743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6144768" y="1152144"/>
            <a:ext cx="64008" cy="457200"/>
          </a:xfrm>
          <a:prstGeom prst="rect">
            <a:avLst/>
          </a:prstGeom>
          <a:solidFill>
            <a:srgbClr val="E06530"/>
          </a:solidFill>
          <a:ln cap="flat" cmpd="sng" w="12700">
            <a:solidFill>
              <a:srgbClr val="E0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6272784" y="1188720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Schedule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7443216" y="1243584"/>
            <a:ext cx="1335024" cy="256032"/>
          </a:xfrm>
          <a:prstGeom prst="roundRect">
            <a:avLst>
              <a:gd fmla="val 14286" name="adj"/>
            </a:avLst>
          </a:prstGeom>
          <a:solidFill>
            <a:srgbClr val="E06530">
              <a:alpha val="18039"/>
            </a:srgbClr>
          </a:solidFill>
          <a:ln cap="flat" cmpd="sng" w="12700">
            <a:solidFill>
              <a:srgbClr val="E0653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7443216" y="1243584"/>
            <a:ext cx="13350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300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B3000"/>
                </a:solidFill>
                <a:latin typeface="Calibri"/>
                <a:ea typeface="Calibri"/>
                <a:cs typeface="Calibri"/>
                <a:sym typeface="Calibri"/>
              </a:rPr>
              <a:t>Behind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6144768" y="1700784"/>
            <a:ext cx="2743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6144768" y="1700784"/>
            <a:ext cx="64008" cy="457200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6272784" y="1737360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OpenCV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7443216" y="1792224"/>
            <a:ext cx="1335024" cy="256032"/>
          </a:xfrm>
          <a:prstGeom prst="roundRect">
            <a:avLst>
              <a:gd fmla="val 14286" name="adj"/>
            </a:avLst>
          </a:prstGeom>
          <a:solidFill>
            <a:srgbClr val="E8A020">
              <a:alpha val="18039"/>
            </a:srgbClr>
          </a:solidFill>
          <a:ln cap="flat" cmpd="sng" w="12700">
            <a:solidFill>
              <a:srgbClr val="E8A02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7443216" y="1792224"/>
            <a:ext cx="13350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500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7A5000"/>
                </a:solidFill>
                <a:latin typeface="Calibri"/>
                <a:ea typeface="Calibri"/>
                <a:cs typeface="Calibri"/>
                <a:sym typeface="Calibri"/>
              </a:rPr>
              <a:t>Near done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6144768" y="2249424"/>
            <a:ext cx="2743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6144768" y="2249424"/>
            <a:ext cx="64008" cy="457200"/>
          </a:xfrm>
          <a:prstGeom prst="rect">
            <a:avLst/>
          </a:prstGeom>
          <a:solidFill>
            <a:srgbClr val="2EAD7A"/>
          </a:solidFill>
          <a:ln cap="flat" cmpd="sng" w="12700">
            <a:solidFill>
              <a:srgbClr val="2EA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6272784" y="2286000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Control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7443216" y="2340864"/>
            <a:ext cx="1335024" cy="256032"/>
          </a:xfrm>
          <a:prstGeom prst="roundRect">
            <a:avLst>
              <a:gd fmla="val 14286" name="adj"/>
            </a:avLst>
          </a:prstGeom>
          <a:solidFill>
            <a:srgbClr val="2EAD7A">
              <a:alpha val="18039"/>
            </a:srgbClr>
          </a:solidFill>
          <a:ln cap="flat" cmpd="sng" w="12700">
            <a:solidFill>
              <a:srgbClr val="2EAD7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7443216" y="2340864"/>
            <a:ext cx="13350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5C3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65C3E"/>
                </a:solidFill>
                <a:latin typeface="Calibri"/>
                <a:ea typeface="Calibri"/>
                <a:cs typeface="Calibri"/>
                <a:sym typeface="Calibri"/>
              </a:rPr>
              <a:t>Major prog.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6144768" y="2798064"/>
            <a:ext cx="2743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6144768" y="2798064"/>
            <a:ext cx="64008" cy="457200"/>
          </a:xfrm>
          <a:prstGeom prst="rect">
            <a:avLst/>
          </a:prstGeom>
          <a:solidFill>
            <a:srgbClr val="2EAD7A"/>
          </a:solidFill>
          <a:ln cap="flat" cmpd="sng" w="12700">
            <a:solidFill>
              <a:srgbClr val="2EA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6272784" y="2834640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IMU / EE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7443216" y="2889504"/>
            <a:ext cx="1335024" cy="256032"/>
          </a:xfrm>
          <a:prstGeom prst="roundRect">
            <a:avLst>
              <a:gd fmla="val 14286" name="adj"/>
            </a:avLst>
          </a:prstGeom>
          <a:solidFill>
            <a:srgbClr val="2EAD7A">
              <a:alpha val="18039"/>
            </a:srgbClr>
          </a:solidFill>
          <a:ln cap="flat" cmpd="sng" w="12700">
            <a:solidFill>
              <a:srgbClr val="2EAD7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7443216" y="2889504"/>
            <a:ext cx="13350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5C3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65C3E"/>
                </a:solidFill>
                <a:latin typeface="Calibri"/>
                <a:ea typeface="Calibri"/>
                <a:cs typeface="Calibri"/>
                <a:sym typeface="Calibri"/>
              </a:rPr>
              <a:t>Working 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6144768" y="3346704"/>
            <a:ext cx="2743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"/>
          <p:cNvSpPr/>
          <p:nvPr/>
        </p:nvSpPr>
        <p:spPr>
          <a:xfrm>
            <a:off x="6144768" y="3346704"/>
            <a:ext cx="64008" cy="457200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"/>
          <p:cNvSpPr/>
          <p:nvPr/>
        </p:nvSpPr>
        <p:spPr>
          <a:xfrm>
            <a:off x="6272784" y="3383280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ROS2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7443216" y="3438144"/>
            <a:ext cx="1335024" cy="256032"/>
          </a:xfrm>
          <a:prstGeom prst="roundRect">
            <a:avLst>
              <a:gd fmla="val 14286" name="adj"/>
            </a:avLst>
          </a:prstGeom>
          <a:solidFill>
            <a:srgbClr val="E8A020">
              <a:alpha val="18039"/>
            </a:srgbClr>
          </a:solidFill>
          <a:ln cap="flat" cmpd="sng" w="12700">
            <a:solidFill>
              <a:srgbClr val="E8A02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7443216" y="3438144"/>
            <a:ext cx="13350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500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7A5000"/>
                </a:solidFill>
                <a:latin typeface="Calibri"/>
                <a:ea typeface="Calibri"/>
                <a:cs typeface="Calibri"/>
                <a:sym typeface="Calibri"/>
              </a:rPr>
              <a:t>Just started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6144768" y="3895344"/>
            <a:ext cx="2743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2"/>
          <p:cNvSpPr/>
          <p:nvPr/>
        </p:nvSpPr>
        <p:spPr>
          <a:xfrm>
            <a:off x="6144768" y="3895344"/>
            <a:ext cx="64008" cy="457200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"/>
          <p:cNvSpPr/>
          <p:nvPr/>
        </p:nvSpPr>
        <p:spPr>
          <a:xfrm>
            <a:off x="6272784" y="3931920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3D prints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7443216" y="3986784"/>
            <a:ext cx="1335024" cy="256032"/>
          </a:xfrm>
          <a:prstGeom prst="roundRect">
            <a:avLst>
              <a:gd fmla="val 14286" name="adj"/>
            </a:avLst>
          </a:prstGeom>
          <a:solidFill>
            <a:srgbClr val="C0392B">
              <a:alpha val="18039"/>
            </a:srgbClr>
          </a:solidFill>
          <a:ln cap="flat" cmpd="sng" w="12700">
            <a:solidFill>
              <a:srgbClr val="C0392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"/>
          <p:cNvSpPr/>
          <p:nvPr/>
        </p:nvSpPr>
        <p:spPr>
          <a:xfrm>
            <a:off x="7443216" y="3986784"/>
            <a:ext cx="133502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1515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B1515"/>
                </a:solidFill>
                <a:latin typeface="Calibri"/>
                <a:ea typeface="Calibri"/>
                <a:cs typeface="Calibri"/>
                <a:sym typeface="Calibri"/>
              </a:rPr>
              <a:t>Delayed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347472" y="4433598"/>
            <a:ext cx="8476500" cy="384000"/>
          </a:xfrm>
          <a:prstGeom prst="rect">
            <a:avLst/>
          </a:prstGeom>
          <a:solidFill>
            <a:srgbClr val="E06530">
              <a:alpha val="12156"/>
            </a:srgbClr>
          </a:solidFill>
          <a:ln cap="flat" cmpd="sng" w="12700">
            <a:solidFill>
              <a:srgbClr val="E06530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"/>
          <p:cNvSpPr/>
          <p:nvPr/>
        </p:nvSpPr>
        <p:spPr>
          <a:xfrm>
            <a:off x="475488" y="4433598"/>
            <a:ext cx="8321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3000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B3000"/>
                </a:solidFill>
                <a:latin typeface="Calibri"/>
                <a:ea typeface="Calibri"/>
                <a:cs typeface="Calibri"/>
                <a:sym typeface="Calibri"/>
              </a:rPr>
              <a:t>⚠  3D prints delayed again — reprinting required. CV coordinate mapping remaining before full auto pipeline is active.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Mechatronics System Design 101  ·  Leen's Group  ·  Week 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347472" y="0"/>
            <a:ext cx="6583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Schedule — Gantt Chart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347472" y="804672"/>
            <a:ext cx="8476488" cy="4114800"/>
          </a:xfrm>
          <a:prstGeom prst="rect">
            <a:avLst/>
          </a:prstGeom>
          <a:solidFill>
            <a:srgbClr val="E8EDF5"/>
          </a:solidFill>
          <a:ln cap="flat" cmpd="sng" w="12700">
            <a:solidFill>
              <a:srgbClr val="C8D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347472" y="804672"/>
            <a:ext cx="8476488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AEC8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9BAEC8"/>
                </a:solidFill>
                <a:latin typeface="Calibri"/>
                <a:ea typeface="Calibri"/>
                <a:cs typeface="Calibri"/>
                <a:sym typeface="Calibri"/>
              </a:rPr>
              <a:t>[ Paste Gantt Chart Image Here ]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Mechatronics System Design 101  ·  Leen's Group  ·  Week 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3" title="5716665.png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02550" y="961450"/>
            <a:ext cx="3452675" cy="345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347472" y="0"/>
            <a:ext cx="6583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Milestones &amp; Deliverables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347472" y="804672"/>
            <a:ext cx="2212848" cy="292608"/>
          </a:xfrm>
          <a:prstGeom prst="rect">
            <a:avLst/>
          </a:prstGeom>
          <a:solidFill>
            <a:srgbClr val="0D1B3E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438912" y="804672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Deliverable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2578608" y="804672"/>
            <a:ext cx="1572768" cy="292608"/>
          </a:xfrm>
          <a:prstGeom prst="rect">
            <a:avLst/>
          </a:prstGeom>
          <a:solidFill>
            <a:srgbClr val="0D1B3E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2670048" y="804672"/>
            <a:ext cx="1463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Target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4169664" y="804672"/>
            <a:ext cx="1389888" cy="292608"/>
          </a:xfrm>
          <a:prstGeom prst="rect">
            <a:avLst/>
          </a:prstGeom>
          <a:solidFill>
            <a:srgbClr val="0D1B3E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4261104" y="804672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Status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5577840" y="804672"/>
            <a:ext cx="3246120" cy="292608"/>
          </a:xfrm>
          <a:prstGeom prst="rect">
            <a:avLst/>
          </a:prstGeom>
          <a:solidFill>
            <a:srgbClr val="0D1B3E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5669280" y="804672"/>
            <a:ext cx="313639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This week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347472" y="1097280"/>
            <a:ext cx="2212848" cy="420624"/>
          </a:xfrm>
          <a:prstGeom prst="rect">
            <a:avLst/>
          </a:prstGeom>
          <a:solidFill>
            <a:srgbClr val="EDF2F7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2578608" y="1097280"/>
            <a:ext cx="1572768" cy="420624"/>
          </a:xfrm>
          <a:prstGeom prst="rect">
            <a:avLst/>
          </a:prstGeom>
          <a:solidFill>
            <a:srgbClr val="EDF2F7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4169664" y="1097280"/>
            <a:ext cx="1389888" cy="420624"/>
          </a:xfrm>
          <a:prstGeom prst="rect">
            <a:avLst/>
          </a:prstGeom>
          <a:solidFill>
            <a:srgbClr val="EDF2F7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5577840" y="1097280"/>
            <a:ext cx="3246120" cy="420624"/>
          </a:xfrm>
          <a:prstGeom prst="rect">
            <a:avLst/>
          </a:prstGeom>
          <a:solidFill>
            <a:srgbClr val="EDF2F7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438912" y="1097280"/>
            <a:ext cx="2103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CAD model complete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2670048" y="1097280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Week 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4261104" y="1179576"/>
            <a:ext cx="1207008" cy="237744"/>
          </a:xfrm>
          <a:prstGeom prst="roundRect">
            <a:avLst>
              <a:gd fmla="val 15385" name="adj"/>
            </a:avLst>
          </a:prstGeom>
          <a:solidFill>
            <a:srgbClr val="E06530">
              <a:alpha val="18039"/>
            </a:srgbClr>
          </a:solidFill>
          <a:ln cap="flat" cmpd="sng" w="12700">
            <a:solidFill>
              <a:srgbClr val="E06530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4261104" y="1179576"/>
            <a:ext cx="12070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300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B3000"/>
                </a:solidFill>
                <a:latin typeface="Calibri"/>
                <a:ea typeface="Calibri"/>
                <a:cs typeface="Calibri"/>
                <a:sym typeface="Calibri"/>
              </a:rPr>
              <a:t>Behind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5669280" y="1097280"/>
            <a:ext cx="313639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3D prints reprinting — parts delayed 2+ weeks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347472" y="1554480"/>
            <a:ext cx="2212848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2578608" y="1554480"/>
            <a:ext cx="1572768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4169664" y="1554480"/>
            <a:ext cx="1389888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5577840" y="1554480"/>
            <a:ext cx="3246120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438912" y="1554480"/>
            <a:ext cx="2103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Camera vision (OpenCV)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2670048" y="1554480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Week 8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4261104" y="1636776"/>
            <a:ext cx="1207008" cy="237744"/>
          </a:xfrm>
          <a:prstGeom prst="roundRect">
            <a:avLst>
              <a:gd fmla="val 15385" name="adj"/>
            </a:avLst>
          </a:prstGeom>
          <a:solidFill>
            <a:srgbClr val="E8A020">
              <a:alpha val="18039"/>
            </a:srgbClr>
          </a:solidFill>
          <a:ln cap="flat" cmpd="sng" w="12700">
            <a:solidFill>
              <a:srgbClr val="E8A020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4261104" y="1636776"/>
            <a:ext cx="12070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500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7A5000"/>
                </a:solidFill>
                <a:latin typeface="Calibri"/>
                <a:ea typeface="Calibri"/>
                <a:cs typeface="Calibri"/>
                <a:sym typeface="Calibri"/>
              </a:rPr>
              <a:t>Near done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5669280" y="1554480"/>
            <a:ext cx="313639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Detection &amp; classification working. Coord. mapping remaining.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347472" y="2011680"/>
            <a:ext cx="2212848" cy="420624"/>
          </a:xfrm>
          <a:prstGeom prst="rect">
            <a:avLst/>
          </a:prstGeom>
          <a:solidFill>
            <a:srgbClr val="EDF2F7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2578608" y="2011680"/>
            <a:ext cx="1572768" cy="420624"/>
          </a:xfrm>
          <a:prstGeom prst="rect">
            <a:avLst/>
          </a:prstGeom>
          <a:solidFill>
            <a:srgbClr val="EDF2F7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4169664" y="2011680"/>
            <a:ext cx="1389888" cy="420624"/>
          </a:xfrm>
          <a:prstGeom prst="rect">
            <a:avLst/>
          </a:prstGeom>
          <a:solidFill>
            <a:srgbClr val="EDF2F7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5577840" y="2011680"/>
            <a:ext cx="3246120" cy="420624"/>
          </a:xfrm>
          <a:prstGeom prst="rect">
            <a:avLst/>
          </a:prstGeom>
          <a:solidFill>
            <a:srgbClr val="EDF2F7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438912" y="2011680"/>
            <a:ext cx="2103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Control system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2670048" y="2011680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Week 8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4261104" y="2093976"/>
            <a:ext cx="1207008" cy="237744"/>
          </a:xfrm>
          <a:prstGeom prst="roundRect">
            <a:avLst>
              <a:gd fmla="val 15385" name="adj"/>
            </a:avLst>
          </a:prstGeom>
          <a:solidFill>
            <a:srgbClr val="2EAD7A">
              <a:alpha val="18039"/>
            </a:srgbClr>
          </a:solidFill>
          <a:ln cap="flat" cmpd="sng" w="12700">
            <a:solidFill>
              <a:srgbClr val="2EAD7A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4261104" y="2093976"/>
            <a:ext cx="12070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5C3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65C3E"/>
                </a:solidFill>
                <a:latin typeface="Calibri"/>
                <a:ea typeface="Calibri"/>
                <a:cs typeface="Calibri"/>
                <a:sym typeface="Calibri"/>
              </a:rPr>
              <a:t>Major prog.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5669280" y="2011680"/>
            <a:ext cx="313639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Gamepad + Python commands both working on Arduino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347472" y="2468880"/>
            <a:ext cx="2212848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2578608" y="2468880"/>
            <a:ext cx="1572768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4169664" y="2468880"/>
            <a:ext cx="1389888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"/>
          <p:cNvSpPr/>
          <p:nvPr/>
        </p:nvSpPr>
        <p:spPr>
          <a:xfrm>
            <a:off x="5577840" y="2468880"/>
            <a:ext cx="3246120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"/>
          <p:cNvSpPr/>
          <p:nvPr/>
        </p:nvSpPr>
        <p:spPr>
          <a:xfrm>
            <a:off x="438912" y="2468880"/>
            <a:ext cx="2103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IMU / end effector level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2670048" y="2468880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Week 8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4261104" y="2551176"/>
            <a:ext cx="1207008" cy="237744"/>
          </a:xfrm>
          <a:prstGeom prst="roundRect">
            <a:avLst>
              <a:gd fmla="val 15385" name="adj"/>
            </a:avLst>
          </a:prstGeom>
          <a:solidFill>
            <a:srgbClr val="2EAD7A">
              <a:alpha val="18039"/>
            </a:srgbClr>
          </a:solidFill>
          <a:ln cap="flat" cmpd="sng" w="12700">
            <a:solidFill>
              <a:srgbClr val="2EAD7A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"/>
          <p:cNvSpPr/>
          <p:nvPr/>
        </p:nvSpPr>
        <p:spPr>
          <a:xfrm>
            <a:off x="4261104" y="2551176"/>
            <a:ext cx="12070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5C3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65C3E"/>
                </a:solidFill>
                <a:latin typeface="Calibri"/>
                <a:ea typeface="Calibri"/>
                <a:cs typeface="Calibri"/>
                <a:sym typeface="Calibri"/>
              </a:rPr>
              <a:t>Done 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5669280" y="2468880"/>
            <a:ext cx="313639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Wrist joint auto-levels to keep cup pointing down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347472" y="2926080"/>
            <a:ext cx="2212848" cy="420624"/>
          </a:xfrm>
          <a:prstGeom prst="rect">
            <a:avLst/>
          </a:prstGeom>
          <a:solidFill>
            <a:srgbClr val="EDF2F7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4"/>
          <p:cNvSpPr/>
          <p:nvPr/>
        </p:nvSpPr>
        <p:spPr>
          <a:xfrm>
            <a:off x="2578608" y="2926080"/>
            <a:ext cx="1572768" cy="420624"/>
          </a:xfrm>
          <a:prstGeom prst="rect">
            <a:avLst/>
          </a:prstGeom>
          <a:solidFill>
            <a:srgbClr val="EDF2F7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"/>
          <p:cNvSpPr/>
          <p:nvPr/>
        </p:nvSpPr>
        <p:spPr>
          <a:xfrm>
            <a:off x="4169664" y="2926080"/>
            <a:ext cx="1389888" cy="420624"/>
          </a:xfrm>
          <a:prstGeom prst="rect">
            <a:avLst/>
          </a:prstGeom>
          <a:solidFill>
            <a:srgbClr val="EDF2F7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"/>
          <p:cNvSpPr/>
          <p:nvPr/>
        </p:nvSpPr>
        <p:spPr>
          <a:xfrm>
            <a:off x="5577840" y="2926080"/>
            <a:ext cx="3246120" cy="420624"/>
          </a:xfrm>
          <a:prstGeom prst="rect">
            <a:avLst/>
          </a:prstGeom>
          <a:solidFill>
            <a:srgbClr val="EDF2F7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4"/>
          <p:cNvSpPr/>
          <p:nvPr/>
        </p:nvSpPr>
        <p:spPr>
          <a:xfrm>
            <a:off x="438912" y="2926080"/>
            <a:ext cx="2103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End effector design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2670048" y="2926080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Week 8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4261104" y="3008376"/>
            <a:ext cx="1207008" cy="237744"/>
          </a:xfrm>
          <a:prstGeom prst="roundRect">
            <a:avLst>
              <a:gd fmla="val 15385" name="adj"/>
            </a:avLst>
          </a:prstGeom>
          <a:solidFill>
            <a:srgbClr val="E8A020">
              <a:alpha val="18039"/>
            </a:srgbClr>
          </a:solidFill>
          <a:ln cap="flat" cmpd="sng" w="12700">
            <a:solidFill>
              <a:srgbClr val="E8A020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4"/>
          <p:cNvSpPr/>
          <p:nvPr/>
        </p:nvSpPr>
        <p:spPr>
          <a:xfrm>
            <a:off x="4261104" y="3008376"/>
            <a:ext cx="12070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500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7A5000"/>
                </a:solidFill>
                <a:latin typeface="Calibri"/>
                <a:ea typeface="Calibri"/>
                <a:cs typeface="Calibri"/>
                <a:sym typeface="Calibri"/>
              </a:rPr>
              <a:t>In progress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5669280" y="2926080"/>
            <a:ext cx="313639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Pending CAD completion and pump selection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347472" y="3383280"/>
            <a:ext cx="2212848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4"/>
          <p:cNvSpPr/>
          <p:nvPr/>
        </p:nvSpPr>
        <p:spPr>
          <a:xfrm>
            <a:off x="2578608" y="3383280"/>
            <a:ext cx="1572768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4"/>
          <p:cNvSpPr/>
          <p:nvPr/>
        </p:nvSpPr>
        <p:spPr>
          <a:xfrm>
            <a:off x="4169664" y="3383280"/>
            <a:ext cx="1389888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4"/>
          <p:cNvSpPr/>
          <p:nvPr/>
        </p:nvSpPr>
        <p:spPr>
          <a:xfrm>
            <a:off x="5577840" y="3383280"/>
            <a:ext cx="3246120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4"/>
          <p:cNvSpPr/>
          <p:nvPr/>
        </p:nvSpPr>
        <p:spPr>
          <a:xfrm>
            <a:off x="438912" y="3383280"/>
            <a:ext cx="2103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ROS2 / Digital twin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2670048" y="3383280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Week 10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4261104" y="3465576"/>
            <a:ext cx="1207008" cy="237744"/>
          </a:xfrm>
          <a:prstGeom prst="roundRect">
            <a:avLst>
              <a:gd fmla="val 15385" name="adj"/>
            </a:avLst>
          </a:prstGeom>
          <a:solidFill>
            <a:srgbClr val="E8A020">
              <a:alpha val="18039"/>
            </a:srgbClr>
          </a:solidFill>
          <a:ln cap="flat" cmpd="sng" w="12700">
            <a:solidFill>
              <a:srgbClr val="E8A020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4"/>
          <p:cNvSpPr/>
          <p:nvPr/>
        </p:nvSpPr>
        <p:spPr>
          <a:xfrm>
            <a:off x="4261104" y="3465576"/>
            <a:ext cx="12070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500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7A5000"/>
                </a:solidFill>
                <a:latin typeface="Calibri"/>
                <a:ea typeface="Calibri"/>
                <a:cs typeface="Calibri"/>
                <a:sym typeface="Calibri"/>
              </a:rPr>
              <a:t>Started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5669280" y="3383280"/>
            <a:ext cx="313639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Ubuntu VM installed — beginning setup this week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347472" y="3840480"/>
            <a:ext cx="2212848" cy="420624"/>
          </a:xfrm>
          <a:prstGeom prst="rect">
            <a:avLst/>
          </a:prstGeom>
          <a:solidFill>
            <a:srgbClr val="EDF2F7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2578608" y="3840480"/>
            <a:ext cx="1572768" cy="420624"/>
          </a:xfrm>
          <a:prstGeom prst="rect">
            <a:avLst/>
          </a:prstGeom>
          <a:solidFill>
            <a:srgbClr val="EDF2F7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"/>
          <p:cNvSpPr/>
          <p:nvPr/>
        </p:nvSpPr>
        <p:spPr>
          <a:xfrm>
            <a:off x="4169664" y="3840480"/>
            <a:ext cx="1389888" cy="420624"/>
          </a:xfrm>
          <a:prstGeom prst="rect">
            <a:avLst/>
          </a:prstGeom>
          <a:solidFill>
            <a:srgbClr val="EDF2F7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"/>
          <p:cNvSpPr/>
          <p:nvPr/>
        </p:nvSpPr>
        <p:spPr>
          <a:xfrm>
            <a:off x="5577840" y="3840480"/>
            <a:ext cx="3246120" cy="420624"/>
          </a:xfrm>
          <a:prstGeom prst="rect">
            <a:avLst/>
          </a:prstGeom>
          <a:solidFill>
            <a:srgbClr val="EDF2F7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4"/>
          <p:cNvSpPr/>
          <p:nvPr/>
        </p:nvSpPr>
        <p:spPr>
          <a:xfrm>
            <a:off x="438912" y="3840480"/>
            <a:ext cx="2103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Full assembly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2670048" y="3840480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Week 10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4261104" y="3922776"/>
            <a:ext cx="1207008" cy="237744"/>
          </a:xfrm>
          <a:prstGeom prst="roundRect">
            <a:avLst>
              <a:gd fmla="val 15385" name="adj"/>
            </a:avLst>
          </a:prstGeom>
          <a:solidFill>
            <a:srgbClr val="C0392B">
              <a:alpha val="18039"/>
            </a:srgbClr>
          </a:solidFill>
          <a:ln cap="flat" cmpd="sng" w="12700">
            <a:solidFill>
              <a:srgbClr val="C0392B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4"/>
          <p:cNvSpPr/>
          <p:nvPr/>
        </p:nvSpPr>
        <p:spPr>
          <a:xfrm>
            <a:off x="4261104" y="3922776"/>
            <a:ext cx="12070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1515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B1515"/>
                </a:solidFill>
                <a:latin typeface="Calibri"/>
                <a:ea typeface="Calibri"/>
                <a:cs typeface="Calibri"/>
                <a:sym typeface="Calibri"/>
              </a:rPr>
              <a:t>Blocked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4"/>
          <p:cNvSpPr/>
          <p:nvPr/>
        </p:nvSpPr>
        <p:spPr>
          <a:xfrm>
            <a:off x="5669280" y="3840480"/>
            <a:ext cx="313639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Cannot assemble without 3D printed parts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347472" y="4297680"/>
            <a:ext cx="2212848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4"/>
          <p:cNvSpPr/>
          <p:nvPr/>
        </p:nvSpPr>
        <p:spPr>
          <a:xfrm>
            <a:off x="2578608" y="4297680"/>
            <a:ext cx="1572768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4"/>
          <p:cNvSpPr/>
          <p:nvPr/>
        </p:nvSpPr>
        <p:spPr>
          <a:xfrm>
            <a:off x="4169664" y="4297680"/>
            <a:ext cx="1389888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4"/>
          <p:cNvSpPr/>
          <p:nvPr/>
        </p:nvSpPr>
        <p:spPr>
          <a:xfrm>
            <a:off x="5577840" y="4297680"/>
            <a:ext cx="3246120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C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4"/>
          <p:cNvSpPr/>
          <p:nvPr/>
        </p:nvSpPr>
        <p:spPr>
          <a:xfrm>
            <a:off x="438912" y="4297680"/>
            <a:ext cx="2103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Control system complete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"/>
          <p:cNvSpPr/>
          <p:nvPr/>
        </p:nvSpPr>
        <p:spPr>
          <a:xfrm>
            <a:off x="2670048" y="4297680"/>
            <a:ext cx="1463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Week 11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"/>
          <p:cNvSpPr/>
          <p:nvPr/>
        </p:nvSpPr>
        <p:spPr>
          <a:xfrm>
            <a:off x="4261104" y="4379976"/>
            <a:ext cx="1207008" cy="237744"/>
          </a:xfrm>
          <a:prstGeom prst="roundRect">
            <a:avLst>
              <a:gd fmla="val 15385" name="adj"/>
            </a:avLst>
          </a:prstGeom>
          <a:solidFill>
            <a:srgbClr val="2EAD7A">
              <a:alpha val="18039"/>
            </a:srgbClr>
          </a:solidFill>
          <a:ln cap="flat" cmpd="sng" w="12700">
            <a:solidFill>
              <a:srgbClr val="2EAD7A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4"/>
          <p:cNvSpPr/>
          <p:nvPr/>
        </p:nvSpPr>
        <p:spPr>
          <a:xfrm>
            <a:off x="4261104" y="4379976"/>
            <a:ext cx="12070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5C3E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65C3E"/>
                </a:solidFill>
                <a:latin typeface="Calibri"/>
                <a:ea typeface="Calibri"/>
                <a:cs typeface="Calibri"/>
                <a:sym typeface="Calibri"/>
              </a:rPr>
              <a:t>On track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4"/>
          <p:cNvSpPr/>
          <p:nvPr/>
        </p:nvSpPr>
        <p:spPr>
          <a:xfrm>
            <a:off x="5669280" y="4297680"/>
            <a:ext cx="313639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Pipeline nearly ready pending CV mapping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Mechatronics System Design 101  ·  Leen's Group  ·  Week 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5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6530"/>
          </a:solidFill>
          <a:ln cap="flat" cmpd="sng" w="12700">
            <a:solidFill>
              <a:srgbClr val="E0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5"/>
          <p:cNvSpPr/>
          <p:nvPr/>
        </p:nvSpPr>
        <p:spPr>
          <a:xfrm>
            <a:off x="347472" y="0"/>
            <a:ext cx="65836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Issues, Risks &amp; Action Items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347472" y="786384"/>
            <a:ext cx="40416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Current issues &amp; risks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347472" y="1133856"/>
            <a:ext cx="4041648" cy="8412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5"/>
          <p:cNvSpPr/>
          <p:nvPr/>
        </p:nvSpPr>
        <p:spPr>
          <a:xfrm>
            <a:off x="347472" y="1133856"/>
            <a:ext cx="73152" cy="841248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5"/>
          <p:cNvSpPr/>
          <p:nvPr/>
        </p:nvSpPr>
        <p:spPr>
          <a:xfrm>
            <a:off x="3255264" y="1207008"/>
            <a:ext cx="1024128" cy="219456"/>
          </a:xfrm>
          <a:prstGeom prst="roundRect">
            <a:avLst>
              <a:gd fmla="val 16667" name="adj"/>
            </a:avLst>
          </a:prstGeom>
          <a:solidFill>
            <a:srgbClr val="C0392B">
              <a:alpha val="18039"/>
            </a:srgbClr>
          </a:solidFill>
          <a:ln cap="flat" cmpd="sng" w="12700">
            <a:solidFill>
              <a:srgbClr val="C0392B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5"/>
          <p:cNvSpPr/>
          <p:nvPr/>
        </p:nvSpPr>
        <p:spPr>
          <a:xfrm>
            <a:off x="3255264" y="1207008"/>
            <a:ext cx="10241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1515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6B1515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493776" y="1188720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3D prints delayed — again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493776" y="1463040"/>
            <a:ext cx="340156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Parts sent 2 weeks ago were printed incorrectly. Reprinting now in progress — blocking full physical assembly.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347472" y="2084832"/>
            <a:ext cx="4041648" cy="8412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5"/>
          <p:cNvSpPr/>
          <p:nvPr/>
        </p:nvSpPr>
        <p:spPr>
          <a:xfrm>
            <a:off x="347472" y="2084832"/>
            <a:ext cx="73152" cy="841248"/>
          </a:xfrm>
          <a:prstGeom prst="rect">
            <a:avLst/>
          </a:prstGeom>
          <a:solidFill>
            <a:srgbClr val="E06530"/>
          </a:solidFill>
          <a:ln cap="flat" cmpd="sng" w="12700">
            <a:solidFill>
              <a:srgbClr val="E0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5"/>
          <p:cNvSpPr/>
          <p:nvPr/>
        </p:nvSpPr>
        <p:spPr>
          <a:xfrm>
            <a:off x="3255264" y="2157984"/>
            <a:ext cx="1024128" cy="219456"/>
          </a:xfrm>
          <a:prstGeom prst="roundRect">
            <a:avLst>
              <a:gd fmla="val 16667" name="adj"/>
            </a:avLst>
          </a:prstGeom>
          <a:solidFill>
            <a:srgbClr val="E06530">
              <a:alpha val="18039"/>
            </a:srgbClr>
          </a:solidFill>
          <a:ln cap="flat" cmpd="sng" w="12700">
            <a:solidFill>
              <a:srgbClr val="E06530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5"/>
          <p:cNvSpPr/>
          <p:nvPr/>
        </p:nvSpPr>
        <p:spPr>
          <a:xfrm>
            <a:off x="3255264" y="2157984"/>
            <a:ext cx="10241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300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B3000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493776" y="2139696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OpenCV coordinate mapping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493776" y="2414016"/>
            <a:ext cx="340156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Object detection works but workspace coordinate mapping is incomplete — auto pipeline cannot send commands yet.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347472" y="3035808"/>
            <a:ext cx="4041648" cy="8412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5"/>
          <p:cNvSpPr/>
          <p:nvPr/>
        </p:nvSpPr>
        <p:spPr>
          <a:xfrm>
            <a:off x="347472" y="3035808"/>
            <a:ext cx="73152" cy="841248"/>
          </a:xfrm>
          <a:prstGeom prst="rect">
            <a:avLst/>
          </a:prstGeom>
          <a:solidFill>
            <a:srgbClr val="E06530"/>
          </a:solidFill>
          <a:ln cap="flat" cmpd="sng" w="12700">
            <a:solidFill>
              <a:srgbClr val="E0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5"/>
          <p:cNvSpPr/>
          <p:nvPr/>
        </p:nvSpPr>
        <p:spPr>
          <a:xfrm>
            <a:off x="3255264" y="3108960"/>
            <a:ext cx="1024128" cy="219456"/>
          </a:xfrm>
          <a:prstGeom prst="roundRect">
            <a:avLst>
              <a:gd fmla="val 16667" name="adj"/>
            </a:avLst>
          </a:prstGeom>
          <a:solidFill>
            <a:srgbClr val="E06530">
              <a:alpha val="18039"/>
            </a:srgbClr>
          </a:solidFill>
          <a:ln cap="flat" cmpd="sng" w="12700">
            <a:solidFill>
              <a:srgbClr val="E06530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5"/>
          <p:cNvSpPr/>
          <p:nvPr/>
        </p:nvSpPr>
        <p:spPr>
          <a:xfrm>
            <a:off x="3255264" y="3108960"/>
            <a:ext cx="10241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300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8B3000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493776" y="3090672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CAD still incomplete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493776" y="3364992"/>
            <a:ext cx="340156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Wrist joint and end effector mount not yet finalised — dependent on receiving 3D printed parts to verify fit.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"/>
          <p:cNvSpPr/>
          <p:nvPr/>
        </p:nvSpPr>
        <p:spPr>
          <a:xfrm>
            <a:off x="347472" y="3986784"/>
            <a:ext cx="4041648" cy="8412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5"/>
          <p:cNvSpPr/>
          <p:nvPr/>
        </p:nvSpPr>
        <p:spPr>
          <a:xfrm>
            <a:off x="347472" y="3986784"/>
            <a:ext cx="73152" cy="841248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5"/>
          <p:cNvSpPr/>
          <p:nvPr/>
        </p:nvSpPr>
        <p:spPr>
          <a:xfrm>
            <a:off x="3255264" y="4059936"/>
            <a:ext cx="1024128" cy="219456"/>
          </a:xfrm>
          <a:prstGeom prst="roundRect">
            <a:avLst>
              <a:gd fmla="val 16667" name="adj"/>
            </a:avLst>
          </a:prstGeom>
          <a:solidFill>
            <a:srgbClr val="E8A020">
              <a:alpha val="18039"/>
            </a:srgbClr>
          </a:solidFill>
          <a:ln cap="flat" cmpd="sng" w="12700">
            <a:solidFill>
              <a:srgbClr val="E8A020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5"/>
          <p:cNvSpPr/>
          <p:nvPr/>
        </p:nvSpPr>
        <p:spPr>
          <a:xfrm>
            <a:off x="3255264" y="4059936"/>
            <a:ext cx="10241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5000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7A5000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5"/>
          <p:cNvSpPr/>
          <p:nvPr/>
        </p:nvSpPr>
        <p:spPr>
          <a:xfrm>
            <a:off x="493776" y="4041648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ROS2 — early stage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5"/>
          <p:cNvSpPr/>
          <p:nvPr/>
        </p:nvSpPr>
        <p:spPr>
          <a:xfrm>
            <a:off x="493776" y="4315968"/>
            <a:ext cx="340156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Ubuntu VM installed this week — ROS2 setup just beginning. Must accelerate to meet Week 10 target.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5"/>
          <p:cNvSpPr/>
          <p:nvPr/>
        </p:nvSpPr>
        <p:spPr>
          <a:xfrm>
            <a:off x="4663440" y="786384"/>
            <a:ext cx="4160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Action items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5"/>
          <p:cNvSpPr/>
          <p:nvPr/>
        </p:nvSpPr>
        <p:spPr>
          <a:xfrm>
            <a:off x="4663440" y="1133856"/>
            <a:ext cx="416052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5"/>
          <p:cNvSpPr/>
          <p:nvPr/>
        </p:nvSpPr>
        <p:spPr>
          <a:xfrm>
            <a:off x="4663440" y="1133856"/>
            <a:ext cx="73152" cy="53035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5"/>
          <p:cNvSpPr/>
          <p:nvPr/>
        </p:nvSpPr>
        <p:spPr>
          <a:xfrm>
            <a:off x="4809744" y="1170432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Complete CV coordinate mapping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5"/>
          <p:cNvSpPr/>
          <p:nvPr/>
        </p:nvSpPr>
        <p:spPr>
          <a:xfrm>
            <a:off x="4809744" y="1444752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Leen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5"/>
          <p:cNvSpPr/>
          <p:nvPr/>
        </p:nvSpPr>
        <p:spPr>
          <a:xfrm>
            <a:off x="7589520" y="1261872"/>
            <a:ext cx="1133856" cy="237744"/>
          </a:xfrm>
          <a:prstGeom prst="roundRect">
            <a:avLst>
              <a:gd fmla="val 15385" name="adj"/>
            </a:avLst>
          </a:prstGeom>
          <a:solidFill>
            <a:srgbClr val="028090">
              <a:alpha val="14901"/>
            </a:srgbClr>
          </a:solidFill>
          <a:ln cap="flat" cmpd="sng" w="12700">
            <a:solidFill>
              <a:srgbClr val="028090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5"/>
          <p:cNvSpPr/>
          <p:nvPr/>
        </p:nvSpPr>
        <p:spPr>
          <a:xfrm>
            <a:off x="7589520" y="1261872"/>
            <a:ext cx="113385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15A68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15A68"/>
                </a:solidFill>
                <a:latin typeface="Calibri"/>
                <a:ea typeface="Calibri"/>
                <a:cs typeface="Calibri"/>
                <a:sym typeface="Calibri"/>
              </a:rPr>
              <a:t>Week 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5"/>
          <p:cNvSpPr/>
          <p:nvPr/>
        </p:nvSpPr>
        <p:spPr>
          <a:xfrm>
            <a:off x="4663440" y="1755648"/>
            <a:ext cx="416052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5"/>
          <p:cNvSpPr/>
          <p:nvPr/>
        </p:nvSpPr>
        <p:spPr>
          <a:xfrm>
            <a:off x="4663440" y="1755648"/>
            <a:ext cx="73152" cy="53035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5"/>
          <p:cNvSpPr/>
          <p:nvPr/>
        </p:nvSpPr>
        <p:spPr>
          <a:xfrm>
            <a:off x="4809744" y="1792224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Follow up on 3D print status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5"/>
          <p:cNvSpPr/>
          <p:nvPr/>
        </p:nvSpPr>
        <p:spPr>
          <a:xfrm>
            <a:off x="4809744" y="2066544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Helal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5"/>
          <p:cNvSpPr/>
          <p:nvPr/>
        </p:nvSpPr>
        <p:spPr>
          <a:xfrm>
            <a:off x="7589520" y="1883664"/>
            <a:ext cx="1133856" cy="237744"/>
          </a:xfrm>
          <a:prstGeom prst="roundRect">
            <a:avLst>
              <a:gd fmla="val 15385" name="adj"/>
            </a:avLst>
          </a:prstGeom>
          <a:solidFill>
            <a:srgbClr val="C0392B">
              <a:alpha val="14901"/>
            </a:srgbClr>
          </a:solidFill>
          <a:ln cap="flat" cmpd="sng" w="12700">
            <a:solidFill>
              <a:srgbClr val="C0392B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5"/>
          <p:cNvSpPr/>
          <p:nvPr/>
        </p:nvSpPr>
        <p:spPr>
          <a:xfrm>
            <a:off x="7589520" y="1883664"/>
            <a:ext cx="113385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1515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6B1515"/>
                </a:solidFill>
                <a:latin typeface="Calibri"/>
                <a:ea typeface="Calibri"/>
                <a:cs typeface="Calibri"/>
                <a:sym typeface="Calibri"/>
              </a:rPr>
              <a:t>Week 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5"/>
          <p:cNvSpPr/>
          <p:nvPr/>
        </p:nvSpPr>
        <p:spPr>
          <a:xfrm>
            <a:off x="4663440" y="2377440"/>
            <a:ext cx="416052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5"/>
          <p:cNvSpPr/>
          <p:nvPr/>
        </p:nvSpPr>
        <p:spPr>
          <a:xfrm>
            <a:off x="4663440" y="2377440"/>
            <a:ext cx="73152" cy="530352"/>
          </a:xfrm>
          <a:prstGeom prst="rect">
            <a:avLst/>
          </a:prstGeom>
          <a:solidFill>
            <a:srgbClr val="E06530"/>
          </a:solidFill>
          <a:ln cap="flat" cmpd="sng" w="12700">
            <a:solidFill>
              <a:srgbClr val="E0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5"/>
          <p:cNvSpPr/>
          <p:nvPr/>
        </p:nvSpPr>
        <p:spPr>
          <a:xfrm>
            <a:off x="4809744" y="2414016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Resume &amp; finalise CAD model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5"/>
          <p:cNvSpPr/>
          <p:nvPr/>
        </p:nvSpPr>
        <p:spPr>
          <a:xfrm>
            <a:off x="4809744" y="2688336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Helal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5"/>
          <p:cNvSpPr/>
          <p:nvPr/>
        </p:nvSpPr>
        <p:spPr>
          <a:xfrm>
            <a:off x="7589520" y="2505456"/>
            <a:ext cx="1133856" cy="237744"/>
          </a:xfrm>
          <a:prstGeom prst="roundRect">
            <a:avLst>
              <a:gd fmla="val 15385" name="adj"/>
            </a:avLst>
          </a:prstGeom>
          <a:solidFill>
            <a:srgbClr val="E06530">
              <a:alpha val="14901"/>
            </a:srgbClr>
          </a:solidFill>
          <a:ln cap="flat" cmpd="sng" w="12700">
            <a:solidFill>
              <a:srgbClr val="E06530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5"/>
          <p:cNvSpPr/>
          <p:nvPr/>
        </p:nvSpPr>
        <p:spPr>
          <a:xfrm>
            <a:off x="7589520" y="2505456"/>
            <a:ext cx="113385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300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8B3000"/>
                </a:solidFill>
                <a:latin typeface="Calibri"/>
                <a:ea typeface="Calibri"/>
                <a:cs typeface="Calibri"/>
                <a:sym typeface="Calibri"/>
              </a:rPr>
              <a:t>Week 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5"/>
          <p:cNvSpPr/>
          <p:nvPr/>
        </p:nvSpPr>
        <p:spPr>
          <a:xfrm>
            <a:off x="4663440" y="2999232"/>
            <a:ext cx="416052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5"/>
          <p:cNvSpPr/>
          <p:nvPr/>
        </p:nvSpPr>
        <p:spPr>
          <a:xfrm>
            <a:off x="4663440" y="2999232"/>
            <a:ext cx="73152" cy="530352"/>
          </a:xfrm>
          <a:prstGeom prst="rect">
            <a:avLst/>
          </a:prstGeom>
          <a:solidFill>
            <a:srgbClr val="6B4E9E"/>
          </a:solidFill>
          <a:ln cap="flat" cmpd="sng" w="12700">
            <a:solidFill>
              <a:srgbClr val="6B4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5"/>
          <p:cNvSpPr/>
          <p:nvPr/>
        </p:nvSpPr>
        <p:spPr>
          <a:xfrm>
            <a:off x="4809744" y="3035808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Continue ROS2 environment setup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5"/>
          <p:cNvSpPr/>
          <p:nvPr/>
        </p:nvSpPr>
        <p:spPr>
          <a:xfrm>
            <a:off x="4809744" y="3310128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All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5"/>
          <p:cNvSpPr/>
          <p:nvPr/>
        </p:nvSpPr>
        <p:spPr>
          <a:xfrm>
            <a:off x="7589520" y="3127248"/>
            <a:ext cx="1133856" cy="237744"/>
          </a:xfrm>
          <a:prstGeom prst="roundRect">
            <a:avLst>
              <a:gd fmla="val 15385" name="adj"/>
            </a:avLst>
          </a:prstGeom>
          <a:solidFill>
            <a:srgbClr val="6B4E9E">
              <a:alpha val="14901"/>
            </a:srgbClr>
          </a:solidFill>
          <a:ln cap="flat" cmpd="sng" w="12700">
            <a:solidFill>
              <a:srgbClr val="6B4E9E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5"/>
          <p:cNvSpPr/>
          <p:nvPr/>
        </p:nvSpPr>
        <p:spPr>
          <a:xfrm>
            <a:off x="7589520" y="3127248"/>
            <a:ext cx="113385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1F6E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3D1F6E"/>
                </a:solidFill>
                <a:latin typeface="Calibri"/>
                <a:ea typeface="Calibri"/>
                <a:cs typeface="Calibri"/>
                <a:sym typeface="Calibri"/>
              </a:rPr>
              <a:t>Week 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5"/>
          <p:cNvSpPr/>
          <p:nvPr/>
        </p:nvSpPr>
        <p:spPr>
          <a:xfrm>
            <a:off x="4663440" y="3621024"/>
            <a:ext cx="416052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5"/>
          <p:cNvSpPr/>
          <p:nvPr/>
        </p:nvSpPr>
        <p:spPr>
          <a:xfrm>
            <a:off x="4663440" y="3621024"/>
            <a:ext cx="73152" cy="530352"/>
          </a:xfrm>
          <a:prstGeom prst="rect">
            <a:avLst/>
          </a:prstGeom>
          <a:solidFill>
            <a:srgbClr val="2EAD7A"/>
          </a:solidFill>
          <a:ln cap="flat" cmpd="sng" w="12700">
            <a:solidFill>
              <a:srgbClr val="2EA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5"/>
          <p:cNvSpPr/>
          <p:nvPr/>
        </p:nvSpPr>
        <p:spPr>
          <a:xfrm>
            <a:off x="4809744" y="3657600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Finalise end effector calculations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5"/>
          <p:cNvSpPr/>
          <p:nvPr/>
        </p:nvSpPr>
        <p:spPr>
          <a:xfrm>
            <a:off x="4809744" y="3931920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Mohamed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5"/>
          <p:cNvSpPr/>
          <p:nvPr/>
        </p:nvSpPr>
        <p:spPr>
          <a:xfrm>
            <a:off x="7589520" y="3749040"/>
            <a:ext cx="1133856" cy="237744"/>
          </a:xfrm>
          <a:prstGeom prst="roundRect">
            <a:avLst>
              <a:gd fmla="val 15385" name="adj"/>
            </a:avLst>
          </a:prstGeom>
          <a:solidFill>
            <a:srgbClr val="2EAD7A">
              <a:alpha val="14901"/>
            </a:srgbClr>
          </a:solidFill>
          <a:ln cap="flat" cmpd="sng" w="12700">
            <a:solidFill>
              <a:srgbClr val="2EAD7A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5"/>
          <p:cNvSpPr/>
          <p:nvPr/>
        </p:nvSpPr>
        <p:spPr>
          <a:xfrm>
            <a:off x="7589520" y="3749040"/>
            <a:ext cx="113385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5C3E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165C3E"/>
                </a:solidFill>
                <a:latin typeface="Calibri"/>
                <a:ea typeface="Calibri"/>
                <a:cs typeface="Calibri"/>
                <a:sym typeface="Calibri"/>
              </a:rPr>
              <a:t>Week 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5"/>
          <p:cNvSpPr/>
          <p:nvPr/>
        </p:nvSpPr>
        <p:spPr>
          <a:xfrm>
            <a:off x="4663440" y="4242816"/>
            <a:ext cx="4160520" cy="53035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5"/>
          <p:cNvSpPr/>
          <p:nvPr/>
        </p:nvSpPr>
        <p:spPr>
          <a:xfrm>
            <a:off x="4663440" y="4242816"/>
            <a:ext cx="73152" cy="530352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5"/>
          <p:cNvSpPr/>
          <p:nvPr/>
        </p:nvSpPr>
        <p:spPr>
          <a:xfrm>
            <a:off x="4809744" y="4279392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Finalise suction pump selection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5"/>
          <p:cNvSpPr/>
          <p:nvPr/>
        </p:nvSpPr>
        <p:spPr>
          <a:xfrm>
            <a:off x="4809744" y="4553712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Mohamed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5"/>
          <p:cNvSpPr/>
          <p:nvPr/>
        </p:nvSpPr>
        <p:spPr>
          <a:xfrm>
            <a:off x="7589520" y="4370832"/>
            <a:ext cx="1133856" cy="237744"/>
          </a:xfrm>
          <a:prstGeom prst="roundRect">
            <a:avLst>
              <a:gd fmla="val 15385" name="adj"/>
            </a:avLst>
          </a:prstGeom>
          <a:solidFill>
            <a:srgbClr val="E8A020">
              <a:alpha val="14901"/>
            </a:srgbClr>
          </a:solidFill>
          <a:ln cap="flat" cmpd="sng" w="12700">
            <a:solidFill>
              <a:srgbClr val="E8A020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5"/>
          <p:cNvSpPr/>
          <p:nvPr/>
        </p:nvSpPr>
        <p:spPr>
          <a:xfrm>
            <a:off x="7589520" y="4370832"/>
            <a:ext cx="113385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500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7A5000"/>
                </a:solidFill>
                <a:latin typeface="Calibri"/>
                <a:ea typeface="Calibri"/>
                <a:cs typeface="Calibri"/>
                <a:sym typeface="Calibri"/>
              </a:rPr>
              <a:t>Week 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5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Mechatronics System Design 101  ·  Leen's Group  ·  Week 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6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6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028090">
              <a:alpha val="12156"/>
            </a:srgbClr>
          </a:solidFill>
          <a:ln cap="flat" cmpd="sng" w="12700">
            <a:solidFill>
              <a:srgbClr val="028090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6"/>
          <p:cNvSpPr/>
          <p:nvPr/>
        </p:nvSpPr>
        <p:spPr>
          <a:xfrm>
            <a:off x="7132320" y="3108960"/>
            <a:ext cx="2743200" cy="2743200"/>
          </a:xfrm>
          <a:prstGeom prst="ellipse">
            <a:avLst/>
          </a:prstGeom>
          <a:solidFill>
            <a:srgbClr val="028090">
              <a:alpha val="7843"/>
            </a:srgbClr>
          </a:solidFill>
          <a:ln cap="flat" cmpd="sng" w="12700">
            <a:solidFill>
              <a:srgbClr val="02809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6"/>
          <p:cNvSpPr/>
          <p:nvPr/>
        </p:nvSpPr>
        <p:spPr>
          <a:xfrm>
            <a:off x="411480" y="128016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Individual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6"/>
          <p:cNvSpPr/>
          <p:nvPr/>
        </p:nvSpPr>
        <p:spPr>
          <a:xfrm>
            <a:off x="411480" y="201168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E6F5"/>
              </a:buClr>
              <a:buSzPts val="5600"/>
              <a:buFont typeface="Calibri"/>
              <a:buNone/>
            </a:pPr>
            <a:r>
              <a:rPr b="1" i="0" lang="en-US" sz="5600" u="none" cap="none" strike="noStrike">
                <a:solidFill>
                  <a:srgbClr val="C8E6F5"/>
                </a:solidFill>
                <a:latin typeface="Calibri"/>
                <a:ea typeface="Calibri"/>
                <a:cs typeface="Calibri"/>
                <a:sym typeface="Calibri"/>
              </a:rPr>
              <a:t>Updates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6"/>
          <p:cNvSpPr/>
          <p:nvPr/>
        </p:nvSpPr>
        <p:spPr>
          <a:xfrm>
            <a:off x="411480" y="2999232"/>
            <a:ext cx="3657600" cy="3657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6"/>
          <p:cNvSpPr/>
          <p:nvPr/>
        </p:nvSpPr>
        <p:spPr>
          <a:xfrm>
            <a:off x="411480" y="3163824"/>
            <a:ext cx="6400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What each member did, what they will do, what they need.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6"/>
          <p:cNvSpPr/>
          <p:nvPr/>
        </p:nvSpPr>
        <p:spPr>
          <a:xfrm>
            <a:off x="411480" y="3749040"/>
            <a:ext cx="2560320" cy="475488"/>
          </a:xfrm>
          <a:prstGeom prst="roundRect">
            <a:avLst>
              <a:gd fmla="val 15385" name="adj"/>
            </a:avLst>
          </a:prstGeom>
          <a:solidFill>
            <a:srgbClr val="028090">
              <a:alpha val="20000"/>
            </a:srgbClr>
          </a:solidFill>
          <a:ln cap="flat" cmpd="sng" w="12700">
            <a:solidFill>
              <a:srgbClr val="028090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6"/>
          <p:cNvSpPr/>
          <p:nvPr/>
        </p:nvSpPr>
        <p:spPr>
          <a:xfrm>
            <a:off x="411480" y="374904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6"/>
          <p:cNvSpPr/>
          <p:nvPr/>
        </p:nvSpPr>
        <p:spPr>
          <a:xfrm>
            <a:off x="411480" y="4005072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E6F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8E6F5"/>
                </a:solidFill>
                <a:latin typeface="Calibri"/>
                <a:ea typeface="Calibri"/>
                <a:cs typeface="Calibri"/>
                <a:sym typeface="Calibri"/>
              </a:rPr>
              <a:t>Group Leader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6"/>
          <p:cNvSpPr/>
          <p:nvPr/>
        </p:nvSpPr>
        <p:spPr>
          <a:xfrm>
            <a:off x="3246120" y="3749040"/>
            <a:ext cx="2560320" cy="475488"/>
          </a:xfrm>
          <a:prstGeom prst="roundRect">
            <a:avLst>
              <a:gd fmla="val 15385" name="adj"/>
            </a:avLst>
          </a:prstGeom>
          <a:solidFill>
            <a:srgbClr val="2EAD7A">
              <a:alpha val="20000"/>
            </a:srgbClr>
          </a:solidFill>
          <a:ln cap="flat" cmpd="sng" w="12700">
            <a:solidFill>
              <a:srgbClr val="2EAD7A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6"/>
          <p:cNvSpPr/>
          <p:nvPr/>
        </p:nvSpPr>
        <p:spPr>
          <a:xfrm>
            <a:off x="3246120" y="374904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Mohamed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6"/>
          <p:cNvSpPr/>
          <p:nvPr/>
        </p:nvSpPr>
        <p:spPr>
          <a:xfrm>
            <a:off x="3246120" y="4005072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E6F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8E6F5"/>
                </a:solidFill>
                <a:latin typeface="Calibri"/>
                <a:ea typeface="Calibri"/>
                <a:cs typeface="Calibri"/>
                <a:sym typeface="Calibri"/>
              </a:rPr>
              <a:t>Member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6"/>
          <p:cNvSpPr/>
          <p:nvPr/>
        </p:nvSpPr>
        <p:spPr>
          <a:xfrm>
            <a:off x="6080760" y="3749040"/>
            <a:ext cx="2560320" cy="475488"/>
          </a:xfrm>
          <a:prstGeom prst="roundRect">
            <a:avLst>
              <a:gd fmla="val 15385" name="adj"/>
            </a:avLst>
          </a:prstGeom>
          <a:solidFill>
            <a:srgbClr val="6B4E9E">
              <a:alpha val="20000"/>
            </a:srgbClr>
          </a:solidFill>
          <a:ln cap="flat" cmpd="sng" w="12700">
            <a:solidFill>
              <a:srgbClr val="6B4E9E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6"/>
          <p:cNvSpPr/>
          <p:nvPr/>
        </p:nvSpPr>
        <p:spPr>
          <a:xfrm>
            <a:off x="6080760" y="374904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Helal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6"/>
          <p:cNvSpPr/>
          <p:nvPr/>
        </p:nvSpPr>
        <p:spPr>
          <a:xfrm>
            <a:off x="6080760" y="4005072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E6F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8E6F5"/>
                </a:solidFill>
                <a:latin typeface="Calibri"/>
                <a:ea typeface="Calibri"/>
                <a:cs typeface="Calibri"/>
                <a:sym typeface="Calibri"/>
              </a:rPr>
              <a:t>Member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7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7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7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Leen — Group Leader  ·  Computer Vision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347472" y="786384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Object detection pipeline — Week 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7"/>
          <p:cNvSpPr/>
          <p:nvPr/>
        </p:nvSpPr>
        <p:spPr>
          <a:xfrm>
            <a:off x="347472" y="1152144"/>
            <a:ext cx="8476488" cy="11338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7"/>
          <p:cNvSpPr/>
          <p:nvPr/>
        </p:nvSpPr>
        <p:spPr>
          <a:xfrm>
            <a:off x="347472" y="1152144"/>
            <a:ext cx="73152" cy="1133856"/>
          </a:xfrm>
          <a:prstGeom prst="rect">
            <a:avLst/>
          </a:prstGeom>
          <a:solidFill>
            <a:srgbClr val="6B4E9E"/>
          </a:solidFill>
          <a:ln cap="flat" cmpd="sng" w="12700">
            <a:solidFill>
              <a:srgbClr val="6B4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7"/>
          <p:cNvSpPr/>
          <p:nvPr/>
        </p:nvSpPr>
        <p:spPr>
          <a:xfrm>
            <a:off x="493776" y="1243584"/>
            <a:ext cx="329184" cy="329184"/>
          </a:xfrm>
          <a:prstGeom prst="ellipse">
            <a:avLst/>
          </a:prstGeom>
          <a:solidFill>
            <a:srgbClr val="6B4E9E"/>
          </a:solidFill>
          <a:ln cap="flat" cmpd="sng" w="12700">
            <a:solidFill>
              <a:srgbClr val="6B4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7"/>
          <p:cNvSpPr/>
          <p:nvPr/>
        </p:nvSpPr>
        <p:spPr>
          <a:xfrm>
            <a:off x="493776" y="1243584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950976" y="1243584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Roboflow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7"/>
          <p:cNvSpPr/>
          <p:nvPr/>
        </p:nvSpPr>
        <p:spPr>
          <a:xfrm>
            <a:off x="950976" y="1499616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4E9E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6B4E9E"/>
                </a:solidFill>
                <a:latin typeface="Calibri"/>
                <a:ea typeface="Calibri"/>
                <a:cs typeface="Calibri"/>
                <a:sym typeface="Calibri"/>
              </a:rPr>
              <a:t>Dataset labelling &amp; export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7"/>
          <p:cNvSpPr/>
          <p:nvPr/>
        </p:nvSpPr>
        <p:spPr>
          <a:xfrm>
            <a:off x="3108960" y="1243584"/>
            <a:ext cx="5577840" cy="950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247 images of 5 objects collected with Logitech camera. Manually annotated with bounding boxes on Roboflow. Dataset split into train / val / test sets and augmented.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7"/>
          <p:cNvSpPr/>
          <p:nvPr/>
        </p:nvSpPr>
        <p:spPr>
          <a:xfrm>
            <a:off x="3017520" y="1280160"/>
            <a:ext cx="36576" cy="877824"/>
          </a:xfrm>
          <a:prstGeom prst="rect">
            <a:avLst/>
          </a:prstGeom>
          <a:solidFill>
            <a:srgbClr val="E0E8F0"/>
          </a:solidFill>
          <a:ln cap="flat" cmpd="sng" w="12700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7"/>
          <p:cNvSpPr/>
          <p:nvPr/>
        </p:nvSpPr>
        <p:spPr>
          <a:xfrm>
            <a:off x="347472" y="2395728"/>
            <a:ext cx="8476488" cy="11338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7"/>
          <p:cNvSpPr/>
          <p:nvPr/>
        </p:nvSpPr>
        <p:spPr>
          <a:xfrm>
            <a:off x="347472" y="2395728"/>
            <a:ext cx="73152" cy="1133856"/>
          </a:xfrm>
          <a:prstGeom prst="rect">
            <a:avLst/>
          </a:prstGeom>
          <a:solidFill>
            <a:srgbClr val="2EAD7A"/>
          </a:solidFill>
          <a:ln cap="flat" cmpd="sng" w="12700">
            <a:solidFill>
              <a:srgbClr val="2EA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7"/>
          <p:cNvSpPr/>
          <p:nvPr/>
        </p:nvSpPr>
        <p:spPr>
          <a:xfrm>
            <a:off x="493776" y="2487168"/>
            <a:ext cx="329184" cy="329184"/>
          </a:xfrm>
          <a:prstGeom prst="ellipse">
            <a:avLst/>
          </a:prstGeom>
          <a:solidFill>
            <a:srgbClr val="2EAD7A"/>
          </a:solidFill>
          <a:ln cap="flat" cmpd="sng" w="12700">
            <a:solidFill>
              <a:srgbClr val="2EA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7"/>
          <p:cNvSpPr/>
          <p:nvPr/>
        </p:nvSpPr>
        <p:spPr>
          <a:xfrm>
            <a:off x="493776" y="248716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7"/>
          <p:cNvSpPr/>
          <p:nvPr/>
        </p:nvSpPr>
        <p:spPr>
          <a:xfrm>
            <a:off x="950976" y="2487168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Google Colab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7"/>
          <p:cNvSpPr/>
          <p:nvPr/>
        </p:nvSpPr>
        <p:spPr>
          <a:xfrm>
            <a:off x="950976" y="2743200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AD7A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2EAD7A"/>
                </a:solidFill>
                <a:latin typeface="Calibri"/>
                <a:ea typeface="Calibri"/>
                <a:cs typeface="Calibri"/>
                <a:sym typeface="Calibri"/>
              </a:rPr>
              <a:t>YOLOv11 model training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7"/>
          <p:cNvSpPr/>
          <p:nvPr/>
        </p:nvSpPr>
        <p:spPr>
          <a:xfrm>
            <a:off x="3108960" y="2487168"/>
            <a:ext cx="5577840" cy="950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Downloaded dataset from Roboflow into Colab. Trained YOLOv11 for 50 epochs on free T4 GPU. Downloaded best.pt weights to local machine.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7"/>
          <p:cNvSpPr/>
          <p:nvPr/>
        </p:nvSpPr>
        <p:spPr>
          <a:xfrm>
            <a:off x="3017520" y="2523744"/>
            <a:ext cx="36576" cy="877824"/>
          </a:xfrm>
          <a:prstGeom prst="rect">
            <a:avLst/>
          </a:prstGeom>
          <a:solidFill>
            <a:srgbClr val="E0E8F0"/>
          </a:solidFill>
          <a:ln cap="flat" cmpd="sng" w="12700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7"/>
          <p:cNvSpPr/>
          <p:nvPr/>
        </p:nvSpPr>
        <p:spPr>
          <a:xfrm>
            <a:off x="347472" y="3639312"/>
            <a:ext cx="8476488" cy="1133856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7"/>
          <p:cNvSpPr/>
          <p:nvPr/>
        </p:nvSpPr>
        <p:spPr>
          <a:xfrm>
            <a:off x="347472" y="3639312"/>
            <a:ext cx="73152" cy="113385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7"/>
          <p:cNvSpPr/>
          <p:nvPr/>
        </p:nvSpPr>
        <p:spPr>
          <a:xfrm>
            <a:off x="493776" y="3730752"/>
            <a:ext cx="329184" cy="329184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7"/>
          <p:cNvSpPr/>
          <p:nvPr/>
        </p:nvSpPr>
        <p:spPr>
          <a:xfrm>
            <a:off x="493776" y="373075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7"/>
          <p:cNvSpPr/>
          <p:nvPr/>
        </p:nvSpPr>
        <p:spPr>
          <a:xfrm>
            <a:off x="950976" y="373075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VS Code — live testing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7"/>
          <p:cNvSpPr/>
          <p:nvPr/>
        </p:nvSpPr>
        <p:spPr>
          <a:xfrm>
            <a:off x="950976" y="3986784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detect.py on camera feed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7"/>
          <p:cNvSpPr/>
          <p:nvPr/>
        </p:nvSpPr>
        <p:spPr>
          <a:xfrm>
            <a:off x="3108960" y="3730752"/>
            <a:ext cx="5577840" cy="950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Loaded best.pt in VS Code. Ran detection script against live Logitech camera feed. Confirmed Ball, Bolt, Compass, Egg, Screw detected with high confidence.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7"/>
          <p:cNvSpPr/>
          <p:nvPr/>
        </p:nvSpPr>
        <p:spPr>
          <a:xfrm>
            <a:off x="3017520" y="3767328"/>
            <a:ext cx="36576" cy="877824"/>
          </a:xfrm>
          <a:prstGeom prst="rect">
            <a:avLst/>
          </a:prstGeom>
          <a:solidFill>
            <a:srgbClr val="E0E8F0"/>
          </a:solidFill>
          <a:ln cap="flat" cmpd="sng" w="12700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7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Mechatronics System Design 101  ·  Leen's Group  ·  Week 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8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8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B4E9E"/>
          </a:solidFill>
          <a:ln cap="flat" cmpd="sng" w="12700">
            <a:solidFill>
              <a:srgbClr val="6B4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8"/>
          <p:cNvSpPr/>
          <p:nvPr/>
        </p:nvSpPr>
        <p:spPr>
          <a:xfrm>
            <a:off x="347472" y="0"/>
            <a:ext cx="6858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1 — Roboflow: Dataset Labelling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8"/>
          <p:cNvSpPr/>
          <p:nvPr/>
        </p:nvSpPr>
        <p:spPr>
          <a:xfrm>
            <a:off x="7040880" y="155448"/>
            <a:ext cx="1828800" cy="347472"/>
          </a:xfrm>
          <a:prstGeom prst="roundRect">
            <a:avLst>
              <a:gd fmla="val 15789" name="adj"/>
            </a:avLst>
          </a:prstGeom>
          <a:solidFill>
            <a:srgbClr val="6B4E9E"/>
          </a:solidFill>
          <a:ln cap="flat" cmpd="sng" w="12700">
            <a:solidFill>
              <a:srgbClr val="6B4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8"/>
          <p:cNvSpPr/>
          <p:nvPr/>
        </p:nvSpPr>
        <p:spPr>
          <a:xfrm>
            <a:off x="7040880" y="155448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Evidence 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roboflow_annotate.png" id="324" name="Google Shape;32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" y="804672"/>
            <a:ext cx="5120640" cy="3236976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8"/>
          <p:cNvSpPr/>
          <p:nvPr/>
        </p:nvSpPr>
        <p:spPr>
          <a:xfrm>
            <a:off x="5650992" y="804672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What we did in Roboflow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8"/>
          <p:cNvSpPr/>
          <p:nvPr/>
        </p:nvSpPr>
        <p:spPr>
          <a:xfrm>
            <a:off x="5650992" y="1152144"/>
            <a:ext cx="3291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247 images collected of 5 target objects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8"/>
          <p:cNvSpPr/>
          <p:nvPr/>
        </p:nvSpPr>
        <p:spPr>
          <a:xfrm>
            <a:off x="5650992" y="1481328"/>
            <a:ext cx="3291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Objects: Ball, Bolt, Compass, Egg, Screw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8"/>
          <p:cNvSpPr/>
          <p:nvPr/>
        </p:nvSpPr>
        <p:spPr>
          <a:xfrm>
            <a:off x="5650992" y="1810512"/>
            <a:ext cx="3291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Bounding boxes drawn manually per image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8"/>
          <p:cNvSpPr/>
          <p:nvPr/>
        </p:nvSpPr>
        <p:spPr>
          <a:xfrm>
            <a:off x="5650992" y="2139696"/>
            <a:ext cx="3291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Class names assigned to each annotation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8"/>
          <p:cNvSpPr/>
          <p:nvPr/>
        </p:nvSpPr>
        <p:spPr>
          <a:xfrm>
            <a:off x="5650992" y="2468880"/>
            <a:ext cx="3291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Dataset split: train / validation / test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8"/>
          <p:cNvSpPr/>
          <p:nvPr/>
        </p:nvSpPr>
        <p:spPr>
          <a:xfrm>
            <a:off x="5650992" y="2798064"/>
            <a:ext cx="3291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Preprocessing: Auto-Orient, Resize, Auto-Contrast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8"/>
          <p:cNvSpPr/>
          <p:nvPr/>
        </p:nvSpPr>
        <p:spPr>
          <a:xfrm>
            <a:off x="5650992" y="3127248"/>
            <a:ext cx="3291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Augmentation: Flip, Rotation, Brightness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8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Mechatronics System Design 101  ·  Leen's Group  ·  Week 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9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9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AD7A"/>
          </a:solidFill>
          <a:ln cap="flat" cmpd="sng" w="12700">
            <a:solidFill>
              <a:srgbClr val="2EA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9"/>
          <p:cNvSpPr/>
          <p:nvPr/>
        </p:nvSpPr>
        <p:spPr>
          <a:xfrm>
            <a:off x="347472" y="0"/>
            <a:ext cx="6858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2 — Google Colab: YOLOv11 Training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7040880" y="155448"/>
            <a:ext cx="1828800" cy="347472"/>
          </a:xfrm>
          <a:prstGeom prst="roundRect">
            <a:avLst>
              <a:gd fmla="val 15789" name="adj"/>
            </a:avLst>
          </a:prstGeom>
          <a:solidFill>
            <a:srgbClr val="2EAD7A"/>
          </a:solidFill>
          <a:ln cap="flat" cmpd="sng" w="12700">
            <a:solidFill>
              <a:srgbClr val="2EA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9"/>
          <p:cNvSpPr/>
          <p:nvPr/>
        </p:nvSpPr>
        <p:spPr>
          <a:xfrm>
            <a:off x="7040880" y="155448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Evidence 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olab_training.png" id="344" name="Google Shape;34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" y="804672"/>
            <a:ext cx="5120640" cy="3236976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9"/>
          <p:cNvSpPr/>
          <p:nvPr/>
        </p:nvSpPr>
        <p:spPr>
          <a:xfrm>
            <a:off x="5650992" y="804672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What we did in Colab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9"/>
          <p:cNvSpPr/>
          <p:nvPr/>
        </p:nvSpPr>
        <p:spPr>
          <a:xfrm>
            <a:off x="5650992" y="1152144"/>
            <a:ext cx="329184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9"/>
          <p:cNvSpPr/>
          <p:nvPr/>
        </p:nvSpPr>
        <p:spPr>
          <a:xfrm>
            <a:off x="5742432" y="1152144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AD7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EAD7A"/>
                </a:solidFill>
                <a:latin typeface="Calibri"/>
                <a:ea typeface="Calibri"/>
                <a:cs typeface="Calibri"/>
                <a:sym typeface="Calibri"/>
              </a:rPr>
              <a:t>Why Colab?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9"/>
          <p:cNvSpPr/>
          <p:nvPr/>
        </p:nvSpPr>
        <p:spPr>
          <a:xfrm>
            <a:off x="6748272" y="1152144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Roboflow free plan doesn't allow model weight download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9"/>
          <p:cNvSpPr/>
          <p:nvPr/>
        </p:nvSpPr>
        <p:spPr>
          <a:xfrm>
            <a:off x="5650992" y="1554480"/>
            <a:ext cx="3291840" cy="347472"/>
          </a:xfrm>
          <a:prstGeom prst="rect">
            <a:avLst/>
          </a:prstGeom>
          <a:solidFill>
            <a:srgbClr val="F4F6F9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9"/>
          <p:cNvSpPr/>
          <p:nvPr/>
        </p:nvSpPr>
        <p:spPr>
          <a:xfrm>
            <a:off x="5742432" y="1554480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AD7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EAD7A"/>
                </a:solidFill>
                <a:latin typeface="Calibri"/>
                <a:ea typeface="Calibri"/>
                <a:cs typeface="Calibri"/>
                <a:sym typeface="Calibri"/>
              </a:rPr>
              <a:t>GPU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9"/>
          <p:cNvSpPr/>
          <p:nvPr/>
        </p:nvSpPr>
        <p:spPr>
          <a:xfrm>
            <a:off x="6748272" y="1554480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Free T4 cloud GPU — much faster than local CPU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9"/>
          <p:cNvSpPr/>
          <p:nvPr/>
        </p:nvSpPr>
        <p:spPr>
          <a:xfrm>
            <a:off x="5650992" y="1956816"/>
            <a:ext cx="329184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9"/>
          <p:cNvSpPr/>
          <p:nvPr/>
        </p:nvSpPr>
        <p:spPr>
          <a:xfrm>
            <a:off x="5742432" y="1956816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AD7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EAD7A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9"/>
          <p:cNvSpPr/>
          <p:nvPr/>
        </p:nvSpPr>
        <p:spPr>
          <a:xfrm>
            <a:off x="6748272" y="1956816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YOLOv11 (ultralytics)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9"/>
          <p:cNvSpPr/>
          <p:nvPr/>
        </p:nvSpPr>
        <p:spPr>
          <a:xfrm>
            <a:off x="5650992" y="2359152"/>
            <a:ext cx="3291840" cy="347472"/>
          </a:xfrm>
          <a:prstGeom prst="rect">
            <a:avLst/>
          </a:prstGeom>
          <a:solidFill>
            <a:srgbClr val="F4F6F9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9"/>
          <p:cNvSpPr/>
          <p:nvPr/>
        </p:nvSpPr>
        <p:spPr>
          <a:xfrm>
            <a:off x="5742432" y="2359152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AD7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EAD7A"/>
                </a:solidFill>
                <a:latin typeface="Calibri"/>
                <a:ea typeface="Calibri"/>
                <a:cs typeface="Calibri"/>
                <a:sym typeface="Calibri"/>
              </a:rPr>
              <a:t>Epochs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9"/>
          <p:cNvSpPr/>
          <p:nvPr/>
        </p:nvSpPr>
        <p:spPr>
          <a:xfrm>
            <a:off x="6748272" y="2359152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9"/>
          <p:cNvSpPr/>
          <p:nvPr/>
        </p:nvSpPr>
        <p:spPr>
          <a:xfrm>
            <a:off x="5650992" y="2761488"/>
            <a:ext cx="329184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9"/>
          <p:cNvSpPr/>
          <p:nvPr/>
        </p:nvSpPr>
        <p:spPr>
          <a:xfrm>
            <a:off x="5742432" y="2761488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AD7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EAD7A"/>
                </a:solidFill>
                <a:latin typeface="Calibri"/>
                <a:ea typeface="Calibri"/>
                <a:cs typeface="Calibri"/>
                <a:sym typeface="Calibri"/>
              </a:rPr>
              <a:t>Image size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9"/>
          <p:cNvSpPr/>
          <p:nvPr/>
        </p:nvSpPr>
        <p:spPr>
          <a:xfrm>
            <a:off x="6748272" y="2761488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640 × 640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9"/>
          <p:cNvSpPr/>
          <p:nvPr/>
        </p:nvSpPr>
        <p:spPr>
          <a:xfrm>
            <a:off x="5650992" y="3163824"/>
            <a:ext cx="3291840" cy="347472"/>
          </a:xfrm>
          <a:prstGeom prst="rect">
            <a:avLst/>
          </a:prstGeom>
          <a:solidFill>
            <a:srgbClr val="F4F6F9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9"/>
          <p:cNvSpPr/>
          <p:nvPr/>
        </p:nvSpPr>
        <p:spPr>
          <a:xfrm>
            <a:off x="5742432" y="3163824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AD7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EAD7A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9"/>
          <p:cNvSpPr/>
          <p:nvPr/>
        </p:nvSpPr>
        <p:spPr>
          <a:xfrm>
            <a:off x="6748272" y="3163824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Downloaded directly from Roboflow API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9"/>
          <p:cNvSpPr/>
          <p:nvPr/>
        </p:nvSpPr>
        <p:spPr>
          <a:xfrm>
            <a:off x="5650992" y="3566160"/>
            <a:ext cx="3291840" cy="3474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9"/>
          <p:cNvSpPr/>
          <p:nvPr/>
        </p:nvSpPr>
        <p:spPr>
          <a:xfrm>
            <a:off x="5742432" y="3566160"/>
            <a:ext cx="1005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AD7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2EAD7A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9"/>
          <p:cNvSpPr/>
          <p:nvPr/>
        </p:nvSpPr>
        <p:spPr>
          <a:xfrm>
            <a:off x="6748272" y="3566160"/>
            <a:ext cx="2103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best.pt weights downloaded to local machine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9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Mechatronics System Design 101  ·  Leen's Group  ·  Week 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0"/>
          <p:cNvSpPr/>
          <p:nvPr/>
        </p:nvSpPr>
        <p:spPr>
          <a:xfrm>
            <a:off x="347472" y="0"/>
            <a:ext cx="6858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3 — VS Code: Live Detection Testing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7040880" y="155448"/>
            <a:ext cx="1828800" cy="347472"/>
          </a:xfrm>
          <a:prstGeom prst="roundRect">
            <a:avLst>
              <a:gd fmla="val 15789" name="adj"/>
            </a:avLst>
          </a:prstGeom>
          <a:solidFill>
            <a:srgbClr val="2EAD7A"/>
          </a:solidFill>
          <a:ln cap="flat" cmpd="sng" w="12700">
            <a:solidFill>
              <a:srgbClr val="2EA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0"/>
          <p:cNvSpPr/>
          <p:nvPr/>
        </p:nvSpPr>
        <p:spPr>
          <a:xfrm>
            <a:off x="7040880" y="155448"/>
            <a:ext cx="1828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Working 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0"/>
          <p:cNvSpPr/>
          <p:nvPr/>
        </p:nvSpPr>
        <p:spPr>
          <a:xfrm>
            <a:off x="347472" y="786384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detect.py — the script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vscode_detect.png" id="379" name="Google Shape;37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" y="1060704"/>
            <a:ext cx="4114800" cy="265176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10"/>
          <p:cNvSpPr/>
          <p:nvPr/>
        </p:nvSpPr>
        <p:spPr>
          <a:xfrm>
            <a:off x="4645152" y="786384"/>
            <a:ext cx="4206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Live camera detection output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live_detection.jpg" id="381" name="Google Shape;38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5152" y="1060704"/>
            <a:ext cx="420624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roboflow_preview.jpg" id="382" name="Google Shape;382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45152" y="2944368"/>
            <a:ext cx="4206240" cy="1682496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10"/>
          <p:cNvSpPr/>
          <p:nvPr/>
        </p:nvSpPr>
        <p:spPr>
          <a:xfrm>
            <a:off x="347472" y="3785616"/>
            <a:ext cx="4114800" cy="512064"/>
          </a:xfrm>
          <a:prstGeom prst="rect">
            <a:avLst/>
          </a:prstGeom>
          <a:solidFill>
            <a:srgbClr val="2EAD7A">
              <a:alpha val="12156"/>
            </a:srgbClr>
          </a:solidFill>
          <a:ln cap="flat" cmpd="sng" w="12700">
            <a:solidFill>
              <a:srgbClr val="2EAD7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0"/>
          <p:cNvSpPr/>
          <p:nvPr/>
        </p:nvSpPr>
        <p:spPr>
          <a:xfrm>
            <a:off x="457200" y="3785616"/>
            <a:ext cx="389534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5C3E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65C3E"/>
                </a:solidFill>
                <a:latin typeface="Calibri"/>
                <a:ea typeface="Calibri"/>
                <a:cs typeface="Calibri"/>
                <a:sym typeface="Calibri"/>
              </a:rPr>
              <a:t>Detected: Ball 0.97  ·  Egg 0.97  ·  Screw 0.95  ·  Compass 0.85  ·  Bolt 0.62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0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Mechatronics System Design 101  ·  Leen's Group  ·  Week 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d60c626eaf_0_140"/>
          <p:cNvSpPr/>
          <p:nvPr/>
        </p:nvSpPr>
        <p:spPr>
          <a:xfrm>
            <a:off x="0" y="0"/>
            <a:ext cx="9144000" cy="9600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g3d60c626eaf_0_140"/>
          <p:cNvSpPr/>
          <p:nvPr/>
        </p:nvSpPr>
        <p:spPr>
          <a:xfrm>
            <a:off x="457200" y="109728"/>
            <a:ext cx="8229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Mohamed — Member · </a:t>
            </a: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Compressor Candidates Compared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93" name="Google Shape;393;g3d60c626eaf_0_140"/>
          <p:cNvGraphicFramePr/>
          <p:nvPr/>
        </p:nvGraphicFramePr>
        <p:xfrm>
          <a:off x="274320" y="1097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{6082331C-DDBC-493B-A47D-497380DBD0F0}</a:tableStyleId>
              </a:tblPr>
              <a:tblGrid>
                <a:gridCol w="1828800"/>
                <a:gridCol w="1371600"/>
                <a:gridCol w="1234450"/>
                <a:gridCol w="1097275"/>
                <a:gridCol w="1371600"/>
                <a:gridCol w="914400"/>
                <a:gridCol w="960125"/>
              </a:tblGrid>
              <a:tr h="640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Candidate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Vacuum Level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Flow Rate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Weight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Voltage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Noise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Selected?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Mini Piston</a:t>
                      </a:r>
                      <a:endParaRPr sz="1000" u="none" cap="none" strike="noStrike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Compressor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~−60 kPa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Moderate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Heavy (&gt;200 g)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12–24V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High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3333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CC3333"/>
                          </a:solidFill>
                        </a:rPr>
                        <a:t>✗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B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Venturi</a:t>
                      </a:r>
                      <a:endParaRPr sz="1000" u="none" cap="none" strike="noStrike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Generator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~−80 kPa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Needs air line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Very light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N/A (pneumatic)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Silent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3333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CC3333"/>
                          </a:solidFill>
                        </a:rPr>
                        <a:t>✗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12V DC Diaphragm</a:t>
                      </a:r>
                      <a:endParaRPr sz="1000" u="none" cap="none" strike="noStrike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00000"/>
                          </a:solidFill>
                        </a:rPr>
                        <a:t>Compressor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−70 to −85 kPa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3–6 L/min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~65 g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12V shared rail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Low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9966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09966"/>
                          </a:solidFill>
                        </a:rPr>
                        <a:t>✓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1E8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F4F4"/>
                    </a:solidFill>
                  </a:tcPr>
                </a:tc>
              </a:tr>
            </a:tbl>
          </a:graphicData>
        </a:graphic>
      </p:graphicFrame>
      <p:sp>
        <p:nvSpPr>
          <p:cNvPr id="394" name="Google Shape;394;g3d60c626eaf_0_140"/>
          <p:cNvSpPr/>
          <p:nvPr/>
        </p:nvSpPr>
        <p:spPr>
          <a:xfrm>
            <a:off x="274320" y="4434840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★  Highlighted row = selected compressor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4F6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d60c626eaf_0_148"/>
          <p:cNvSpPr/>
          <p:nvPr/>
        </p:nvSpPr>
        <p:spPr>
          <a:xfrm>
            <a:off x="0" y="0"/>
            <a:ext cx="9144000" cy="9600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g3d60c626eaf_0_148"/>
          <p:cNvSpPr/>
          <p:nvPr/>
        </p:nvSpPr>
        <p:spPr>
          <a:xfrm>
            <a:off x="365760" y="109728"/>
            <a:ext cx="8412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Mohamed — Member · </a:t>
            </a: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Selected: 12V DC Diaphragm Compressor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g3d60c626eaf_0_148"/>
          <p:cNvSpPr/>
          <p:nvPr/>
        </p:nvSpPr>
        <p:spPr>
          <a:xfrm>
            <a:off x="365760" y="1097280"/>
            <a:ext cx="3749100" cy="3200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D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g3d60c626eaf_0_148"/>
          <p:cNvSpPr/>
          <p:nvPr/>
        </p:nvSpPr>
        <p:spPr>
          <a:xfrm>
            <a:off x="914400" y="1554480"/>
            <a:ext cx="2651700" cy="1554600"/>
          </a:xfrm>
          <a:prstGeom prst="rect">
            <a:avLst/>
          </a:prstGeom>
          <a:solidFill>
            <a:srgbClr val="1A3A5C"/>
          </a:solidFill>
          <a:ln cap="flat" cmpd="sng" w="25400">
            <a:solidFill>
              <a:srgbClr val="0D2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g3d60c626eaf_0_148"/>
          <p:cNvSpPr/>
          <p:nvPr/>
        </p:nvSpPr>
        <p:spPr>
          <a:xfrm>
            <a:off x="1051560" y="1417320"/>
            <a:ext cx="2377500" cy="201300"/>
          </a:xfrm>
          <a:prstGeom prst="rect">
            <a:avLst/>
          </a:prstGeom>
          <a:solidFill>
            <a:srgbClr val="2A5A8C"/>
          </a:solidFill>
          <a:ln cap="flat" cmpd="sng" w="12700">
            <a:solidFill>
              <a:srgbClr val="0D2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g3d60c626eaf_0_148"/>
          <p:cNvSpPr/>
          <p:nvPr/>
        </p:nvSpPr>
        <p:spPr>
          <a:xfrm>
            <a:off x="914400" y="3108960"/>
            <a:ext cx="548700" cy="183000"/>
          </a:xfrm>
          <a:prstGeom prst="rect">
            <a:avLst/>
          </a:prstGeom>
          <a:solidFill>
            <a:srgbClr val="2A5A8C"/>
          </a:solidFill>
          <a:ln cap="flat" cmpd="sng" w="12700">
            <a:solidFill>
              <a:srgbClr val="0D2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g3d60c626eaf_0_148"/>
          <p:cNvSpPr/>
          <p:nvPr/>
        </p:nvSpPr>
        <p:spPr>
          <a:xfrm>
            <a:off x="3017520" y="3108960"/>
            <a:ext cx="548700" cy="183000"/>
          </a:xfrm>
          <a:prstGeom prst="rect">
            <a:avLst/>
          </a:prstGeom>
          <a:solidFill>
            <a:srgbClr val="2A5A8C"/>
          </a:solidFill>
          <a:ln cap="flat" cmpd="sng" w="12700">
            <a:solidFill>
              <a:srgbClr val="0D20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g3d60c626eaf_0_148"/>
          <p:cNvSpPr/>
          <p:nvPr/>
        </p:nvSpPr>
        <p:spPr>
          <a:xfrm>
            <a:off x="914400" y="1627632"/>
            <a:ext cx="2651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DC 12V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g3d60c626eaf_0_148"/>
          <p:cNvSpPr/>
          <p:nvPr/>
        </p:nvSpPr>
        <p:spPr>
          <a:xfrm>
            <a:off x="914400" y="1965960"/>
            <a:ext cx="26517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DIAPHRAGM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COMPRESSOR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g3d60c626eaf_0_148"/>
          <p:cNvSpPr/>
          <p:nvPr/>
        </p:nvSpPr>
        <p:spPr>
          <a:xfrm>
            <a:off x="1051560" y="2807208"/>
            <a:ext cx="347400" cy="347400"/>
          </a:xfrm>
          <a:prstGeom prst="ellipse">
            <a:avLst/>
          </a:prstGeom>
          <a:solidFill>
            <a:srgbClr val="028090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g3d60c626eaf_0_148"/>
          <p:cNvSpPr/>
          <p:nvPr/>
        </p:nvSpPr>
        <p:spPr>
          <a:xfrm>
            <a:off x="3063240" y="2807208"/>
            <a:ext cx="347400" cy="347400"/>
          </a:xfrm>
          <a:prstGeom prst="ellipse">
            <a:avLst/>
          </a:prstGeom>
          <a:solidFill>
            <a:srgbClr val="02C39A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g3d60c626eaf_0_148"/>
          <p:cNvSpPr/>
          <p:nvPr/>
        </p:nvSpPr>
        <p:spPr>
          <a:xfrm>
            <a:off x="960120" y="3172968"/>
            <a:ext cx="530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g3d60c626eaf_0_148"/>
          <p:cNvSpPr/>
          <p:nvPr/>
        </p:nvSpPr>
        <p:spPr>
          <a:xfrm>
            <a:off x="2971800" y="3172968"/>
            <a:ext cx="530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OUT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3" name="Google Shape;413;g3d60c626eaf_0_148"/>
          <p:cNvCxnSpPr/>
          <p:nvPr/>
        </p:nvCxnSpPr>
        <p:spPr>
          <a:xfrm>
            <a:off x="1399032" y="2980944"/>
            <a:ext cx="1673400" cy="0"/>
          </a:xfrm>
          <a:prstGeom prst="straightConnector1">
            <a:avLst/>
          </a:prstGeom>
          <a:noFill/>
          <a:ln cap="flat" cmpd="sng" w="12700">
            <a:solidFill>
              <a:srgbClr val="AAAAA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14" name="Google Shape;414;g3d60c626eaf_0_148"/>
          <p:cNvSpPr/>
          <p:nvPr/>
        </p:nvSpPr>
        <p:spPr>
          <a:xfrm>
            <a:off x="365760" y="4224528"/>
            <a:ext cx="3749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1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↑  Illustrative diagram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g3d60c626eaf_0_148"/>
          <p:cNvSpPr/>
          <p:nvPr/>
        </p:nvSpPr>
        <p:spPr>
          <a:xfrm>
            <a:off x="4480560" y="1143000"/>
            <a:ext cx="4297800" cy="429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E8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g3d60c626eaf_0_148"/>
          <p:cNvSpPr/>
          <p:nvPr/>
        </p:nvSpPr>
        <p:spPr>
          <a:xfrm>
            <a:off x="4480560" y="1143000"/>
            <a:ext cx="91500" cy="4299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g3d60c626eaf_0_148"/>
          <p:cNvSpPr/>
          <p:nvPr/>
        </p:nvSpPr>
        <p:spPr>
          <a:xfrm>
            <a:off x="4645152" y="1197864"/>
            <a:ext cx="2103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Operating Voltage: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g3d60c626eaf_0_148"/>
          <p:cNvSpPr/>
          <p:nvPr/>
        </p:nvSpPr>
        <p:spPr>
          <a:xfrm>
            <a:off x="6766560" y="1197864"/>
            <a:ext cx="1920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12V DC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g3d60c626eaf_0_148"/>
          <p:cNvSpPr/>
          <p:nvPr/>
        </p:nvSpPr>
        <p:spPr>
          <a:xfrm>
            <a:off x="4480560" y="1636776"/>
            <a:ext cx="4297800" cy="429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E8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g3d60c626eaf_0_148"/>
          <p:cNvSpPr/>
          <p:nvPr/>
        </p:nvSpPr>
        <p:spPr>
          <a:xfrm>
            <a:off x="4480560" y="1636776"/>
            <a:ext cx="91500" cy="42990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g3d60c626eaf_0_148"/>
          <p:cNvSpPr/>
          <p:nvPr/>
        </p:nvSpPr>
        <p:spPr>
          <a:xfrm>
            <a:off x="4645152" y="1691640"/>
            <a:ext cx="2103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Vacuum Level: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g3d60c626eaf_0_148"/>
          <p:cNvSpPr/>
          <p:nvPr/>
        </p:nvSpPr>
        <p:spPr>
          <a:xfrm>
            <a:off x="6766560" y="1691640"/>
            <a:ext cx="1920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−70 to −85 kPa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g3d60c626eaf_0_148"/>
          <p:cNvSpPr/>
          <p:nvPr/>
        </p:nvSpPr>
        <p:spPr>
          <a:xfrm>
            <a:off x="4480560" y="2130552"/>
            <a:ext cx="4297800" cy="429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E8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g3d60c626eaf_0_148"/>
          <p:cNvSpPr/>
          <p:nvPr/>
        </p:nvSpPr>
        <p:spPr>
          <a:xfrm>
            <a:off x="4480560" y="2130552"/>
            <a:ext cx="91500" cy="4299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g3d60c626eaf_0_148"/>
          <p:cNvSpPr/>
          <p:nvPr/>
        </p:nvSpPr>
        <p:spPr>
          <a:xfrm>
            <a:off x="4645152" y="2185416"/>
            <a:ext cx="2103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Flow Rate: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g3d60c626eaf_0_148"/>
          <p:cNvSpPr/>
          <p:nvPr/>
        </p:nvSpPr>
        <p:spPr>
          <a:xfrm>
            <a:off x="6766560" y="2185416"/>
            <a:ext cx="1920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3–6 L/min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g3d60c626eaf_0_148"/>
          <p:cNvSpPr/>
          <p:nvPr/>
        </p:nvSpPr>
        <p:spPr>
          <a:xfrm>
            <a:off x="4480560" y="2624328"/>
            <a:ext cx="4297800" cy="429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E8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g3d60c626eaf_0_148"/>
          <p:cNvSpPr/>
          <p:nvPr/>
        </p:nvSpPr>
        <p:spPr>
          <a:xfrm>
            <a:off x="4480560" y="2624328"/>
            <a:ext cx="91500" cy="42990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g3d60c626eaf_0_148"/>
          <p:cNvSpPr/>
          <p:nvPr/>
        </p:nvSpPr>
        <p:spPr>
          <a:xfrm>
            <a:off x="4645152" y="2679192"/>
            <a:ext cx="2103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Weight: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g3d60c626eaf_0_148"/>
          <p:cNvSpPr/>
          <p:nvPr/>
        </p:nvSpPr>
        <p:spPr>
          <a:xfrm>
            <a:off x="6766560" y="2679192"/>
            <a:ext cx="1920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~65 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g3d60c626eaf_0_148"/>
          <p:cNvSpPr/>
          <p:nvPr/>
        </p:nvSpPr>
        <p:spPr>
          <a:xfrm>
            <a:off x="4480560" y="3118104"/>
            <a:ext cx="4297800" cy="429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E8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g3d60c626eaf_0_148"/>
          <p:cNvSpPr/>
          <p:nvPr/>
        </p:nvSpPr>
        <p:spPr>
          <a:xfrm>
            <a:off x="4480560" y="3118104"/>
            <a:ext cx="91500" cy="4299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g3d60c626eaf_0_148"/>
          <p:cNvSpPr/>
          <p:nvPr/>
        </p:nvSpPr>
        <p:spPr>
          <a:xfrm>
            <a:off x="4645152" y="3172968"/>
            <a:ext cx="2103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Current Draw: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g3d60c626eaf_0_148"/>
          <p:cNvSpPr/>
          <p:nvPr/>
        </p:nvSpPr>
        <p:spPr>
          <a:xfrm>
            <a:off x="6766560" y="3172968"/>
            <a:ext cx="1920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~0.3–0.5 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g3d60c626eaf_0_148"/>
          <p:cNvSpPr/>
          <p:nvPr/>
        </p:nvSpPr>
        <p:spPr>
          <a:xfrm>
            <a:off x="4480560" y="3611880"/>
            <a:ext cx="4297800" cy="429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E8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g3d60c626eaf_0_148"/>
          <p:cNvSpPr/>
          <p:nvPr/>
        </p:nvSpPr>
        <p:spPr>
          <a:xfrm>
            <a:off x="4480560" y="3611880"/>
            <a:ext cx="91500" cy="42990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g3d60c626eaf_0_148"/>
          <p:cNvSpPr/>
          <p:nvPr/>
        </p:nvSpPr>
        <p:spPr>
          <a:xfrm>
            <a:off x="4645152" y="3666744"/>
            <a:ext cx="2103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Noise Level: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g3d60c626eaf_0_148"/>
          <p:cNvSpPr/>
          <p:nvPr/>
        </p:nvSpPr>
        <p:spPr>
          <a:xfrm>
            <a:off x="6766560" y="3666744"/>
            <a:ext cx="1920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Low (oil-free)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d60c626eaf_0_191"/>
          <p:cNvSpPr/>
          <p:nvPr/>
        </p:nvSpPr>
        <p:spPr>
          <a:xfrm>
            <a:off x="0" y="0"/>
            <a:ext cx="9144000" cy="9600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g3d60c626eaf_0_191"/>
          <p:cNvSpPr/>
          <p:nvPr/>
        </p:nvSpPr>
        <p:spPr>
          <a:xfrm>
            <a:off x="457200" y="109728"/>
            <a:ext cx="8229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Mohamed — Member · </a:t>
            </a: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Selection Justification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g3d60c626eaf_0_191"/>
          <p:cNvSpPr/>
          <p:nvPr/>
        </p:nvSpPr>
        <p:spPr>
          <a:xfrm>
            <a:off x="5532120" y="1097280"/>
            <a:ext cx="3246000" cy="3749100"/>
          </a:xfrm>
          <a:prstGeom prst="rect">
            <a:avLst/>
          </a:prstGeom>
          <a:solidFill>
            <a:srgbClr val="E8F4F6"/>
          </a:solidFill>
          <a:ln cap="flat" cmpd="sng" w="12700">
            <a:solidFill>
              <a:srgbClr val="C8D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g3d60c626eaf_0_191"/>
          <p:cNvSpPr/>
          <p:nvPr/>
        </p:nvSpPr>
        <p:spPr>
          <a:xfrm>
            <a:off x="5532120" y="1170432"/>
            <a:ext cx="324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Control Flow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g3d60c626eaf_0_191"/>
          <p:cNvSpPr/>
          <p:nvPr/>
        </p:nvSpPr>
        <p:spPr>
          <a:xfrm>
            <a:off x="5760720" y="1536192"/>
            <a:ext cx="2743200" cy="5028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g3d60c626eaf_0_191"/>
          <p:cNvSpPr/>
          <p:nvPr/>
        </p:nvSpPr>
        <p:spPr>
          <a:xfrm>
            <a:off x="5760720" y="1572768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Arduino R4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g3d60c626eaf_0_191"/>
          <p:cNvSpPr/>
          <p:nvPr/>
        </p:nvSpPr>
        <p:spPr>
          <a:xfrm>
            <a:off x="5760720" y="1810512"/>
            <a:ext cx="2743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EF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0EEF0"/>
                </a:solidFill>
                <a:latin typeface="Calibri"/>
                <a:ea typeface="Calibri"/>
                <a:cs typeface="Calibri"/>
                <a:sym typeface="Calibri"/>
              </a:rPr>
              <a:t>GPIO trigger signal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g3d60c626eaf_0_191"/>
          <p:cNvSpPr/>
          <p:nvPr/>
        </p:nvSpPr>
        <p:spPr>
          <a:xfrm>
            <a:off x="5760720" y="205740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g3d60c626eaf_0_191"/>
          <p:cNvSpPr/>
          <p:nvPr/>
        </p:nvSpPr>
        <p:spPr>
          <a:xfrm>
            <a:off x="5760720" y="2313432"/>
            <a:ext cx="2743200" cy="502800"/>
          </a:xfrm>
          <a:prstGeom prst="rect">
            <a:avLst/>
          </a:prstGeom>
          <a:solidFill>
            <a:srgbClr val="1A5276"/>
          </a:solidFill>
          <a:ln cap="flat" cmpd="sng" w="12700">
            <a:solidFill>
              <a:srgbClr val="1A52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g3d60c626eaf_0_191"/>
          <p:cNvSpPr/>
          <p:nvPr/>
        </p:nvSpPr>
        <p:spPr>
          <a:xfrm>
            <a:off x="5760720" y="2350008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MOSFET Switch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g3d60c626eaf_0_191"/>
          <p:cNvSpPr/>
          <p:nvPr/>
        </p:nvSpPr>
        <p:spPr>
          <a:xfrm>
            <a:off x="5760720" y="2587752"/>
            <a:ext cx="2743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EF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0EEF0"/>
                </a:solidFill>
                <a:latin typeface="Calibri"/>
                <a:ea typeface="Calibri"/>
                <a:cs typeface="Calibri"/>
                <a:sym typeface="Calibri"/>
              </a:rPr>
              <a:t>ON / OFF control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g3d60c626eaf_0_191"/>
          <p:cNvSpPr/>
          <p:nvPr/>
        </p:nvSpPr>
        <p:spPr>
          <a:xfrm>
            <a:off x="5760720" y="28346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g3d60c626eaf_0_191"/>
          <p:cNvSpPr/>
          <p:nvPr/>
        </p:nvSpPr>
        <p:spPr>
          <a:xfrm>
            <a:off x="5760720" y="3090672"/>
            <a:ext cx="2743200" cy="5028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g3d60c626eaf_0_191"/>
          <p:cNvSpPr/>
          <p:nvPr/>
        </p:nvSpPr>
        <p:spPr>
          <a:xfrm>
            <a:off x="5760720" y="3127248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12V Compressor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g3d60c626eaf_0_191"/>
          <p:cNvSpPr/>
          <p:nvPr/>
        </p:nvSpPr>
        <p:spPr>
          <a:xfrm>
            <a:off x="5760720" y="3364992"/>
            <a:ext cx="2743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EF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0EEF0"/>
                </a:solidFill>
                <a:latin typeface="Calibri"/>
                <a:ea typeface="Calibri"/>
                <a:cs typeface="Calibri"/>
                <a:sym typeface="Calibri"/>
              </a:rPr>
              <a:t>Generates vacuum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g3d60c626eaf_0_191"/>
          <p:cNvSpPr/>
          <p:nvPr/>
        </p:nvSpPr>
        <p:spPr>
          <a:xfrm>
            <a:off x="5760720" y="361188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g3d60c626eaf_0_191"/>
          <p:cNvSpPr/>
          <p:nvPr/>
        </p:nvSpPr>
        <p:spPr>
          <a:xfrm>
            <a:off x="5760720" y="3867912"/>
            <a:ext cx="2743200" cy="502800"/>
          </a:xfrm>
          <a:prstGeom prst="rect">
            <a:avLst/>
          </a:prstGeom>
          <a:solidFill>
            <a:srgbClr val="02C39A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g3d60c626eaf_0_191"/>
          <p:cNvSpPr/>
          <p:nvPr/>
        </p:nvSpPr>
        <p:spPr>
          <a:xfrm>
            <a:off x="5760720" y="3904488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Suction Cup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g3d60c626eaf_0_191"/>
          <p:cNvSpPr/>
          <p:nvPr/>
        </p:nvSpPr>
        <p:spPr>
          <a:xfrm>
            <a:off x="5760720" y="4142232"/>
            <a:ext cx="2743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0EEF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0EEF0"/>
                </a:solidFill>
                <a:latin typeface="Calibri"/>
                <a:ea typeface="Calibri"/>
                <a:cs typeface="Calibri"/>
                <a:sym typeface="Calibri"/>
              </a:rPr>
              <a:t>Grips the object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g3d60c626eaf_0_191"/>
          <p:cNvSpPr/>
          <p:nvPr/>
        </p:nvSpPr>
        <p:spPr>
          <a:xfrm>
            <a:off x="365760" y="1097280"/>
            <a:ext cx="4892100" cy="777300"/>
          </a:xfrm>
          <a:prstGeom prst="rect">
            <a:avLst/>
          </a:prstGeom>
          <a:solidFill>
            <a:srgbClr val="E8F4F6"/>
          </a:solidFill>
          <a:ln cap="flat" cmpd="sng" w="12700">
            <a:solidFill>
              <a:srgbClr val="C8D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g3d60c626eaf_0_191"/>
          <p:cNvSpPr/>
          <p:nvPr/>
        </p:nvSpPr>
        <p:spPr>
          <a:xfrm>
            <a:off x="365760" y="1097280"/>
            <a:ext cx="502800" cy="7773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g3d60c626eaf_0_191"/>
          <p:cNvSpPr/>
          <p:nvPr/>
        </p:nvSpPr>
        <p:spPr>
          <a:xfrm>
            <a:off x="365760" y="1261872"/>
            <a:ext cx="502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g3d60c626eaf_0_191"/>
          <p:cNvSpPr/>
          <p:nvPr/>
        </p:nvSpPr>
        <p:spPr>
          <a:xfrm>
            <a:off x="960120" y="1143000"/>
            <a:ext cx="4206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Voltage Compatibility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g3d60c626eaf_0_191"/>
          <p:cNvSpPr/>
          <p:nvPr/>
        </p:nvSpPr>
        <p:spPr>
          <a:xfrm>
            <a:off x="960120" y="1444752"/>
            <a:ext cx="4206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Runs at 12V DC — shares the existing power rail with the JGA25-370 base motor, no extra supply needed.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g3d60c626eaf_0_191"/>
          <p:cNvSpPr/>
          <p:nvPr/>
        </p:nvSpPr>
        <p:spPr>
          <a:xfrm>
            <a:off x="365760" y="1993392"/>
            <a:ext cx="4892100" cy="777300"/>
          </a:xfrm>
          <a:prstGeom prst="rect">
            <a:avLst/>
          </a:prstGeom>
          <a:solidFill>
            <a:srgbClr val="E8F4F6"/>
          </a:solidFill>
          <a:ln cap="flat" cmpd="sng" w="12700">
            <a:solidFill>
              <a:srgbClr val="C8D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g3d60c626eaf_0_191"/>
          <p:cNvSpPr/>
          <p:nvPr/>
        </p:nvSpPr>
        <p:spPr>
          <a:xfrm>
            <a:off x="365760" y="1993392"/>
            <a:ext cx="502800" cy="7773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g3d60c626eaf_0_191"/>
          <p:cNvSpPr/>
          <p:nvPr/>
        </p:nvSpPr>
        <p:spPr>
          <a:xfrm>
            <a:off x="365760" y="2157984"/>
            <a:ext cx="502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g3d60c626eaf_0_191"/>
          <p:cNvSpPr/>
          <p:nvPr/>
        </p:nvSpPr>
        <p:spPr>
          <a:xfrm>
            <a:off x="960120" y="2039112"/>
            <a:ext cx="4206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Sufficient Vacuum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g3d60c626eaf_0_191"/>
          <p:cNvSpPr/>
          <p:nvPr/>
        </p:nvSpPr>
        <p:spPr>
          <a:xfrm>
            <a:off x="960120" y="2340864"/>
            <a:ext cx="4206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Achieves −70 to −85 kPa, well above the threshold needed to lift the project's lightweight flat-surfaced target objects.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g3d60c626eaf_0_191"/>
          <p:cNvSpPr/>
          <p:nvPr/>
        </p:nvSpPr>
        <p:spPr>
          <a:xfrm>
            <a:off x="365760" y="2889504"/>
            <a:ext cx="4892100" cy="777300"/>
          </a:xfrm>
          <a:prstGeom prst="rect">
            <a:avLst/>
          </a:prstGeom>
          <a:solidFill>
            <a:srgbClr val="E8F4F6"/>
          </a:solidFill>
          <a:ln cap="flat" cmpd="sng" w="12700">
            <a:solidFill>
              <a:srgbClr val="C8D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g3d60c626eaf_0_191"/>
          <p:cNvSpPr/>
          <p:nvPr/>
        </p:nvSpPr>
        <p:spPr>
          <a:xfrm>
            <a:off x="365760" y="2889504"/>
            <a:ext cx="502800" cy="7773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g3d60c626eaf_0_191"/>
          <p:cNvSpPr/>
          <p:nvPr/>
        </p:nvSpPr>
        <p:spPr>
          <a:xfrm>
            <a:off x="365760" y="3054096"/>
            <a:ext cx="502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g3d60c626eaf_0_191"/>
          <p:cNvSpPr/>
          <p:nvPr/>
        </p:nvSpPr>
        <p:spPr>
          <a:xfrm>
            <a:off x="960120" y="2935224"/>
            <a:ext cx="4206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Compact &amp; Lightweight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g3d60c626eaf_0_191"/>
          <p:cNvSpPr/>
          <p:nvPr/>
        </p:nvSpPr>
        <p:spPr>
          <a:xfrm>
            <a:off x="960120" y="3236976"/>
            <a:ext cx="4206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At ~65 g, it can mount near the end effector, cutting tube length and delivering faster suction response.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g3d60c626eaf_0_191"/>
          <p:cNvSpPr/>
          <p:nvPr/>
        </p:nvSpPr>
        <p:spPr>
          <a:xfrm>
            <a:off x="365760" y="3785616"/>
            <a:ext cx="4892100" cy="777300"/>
          </a:xfrm>
          <a:prstGeom prst="rect">
            <a:avLst/>
          </a:prstGeom>
          <a:solidFill>
            <a:srgbClr val="E8F4F6"/>
          </a:solidFill>
          <a:ln cap="flat" cmpd="sng" w="12700">
            <a:solidFill>
              <a:srgbClr val="C8D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g3d60c626eaf_0_191"/>
          <p:cNvSpPr/>
          <p:nvPr/>
        </p:nvSpPr>
        <p:spPr>
          <a:xfrm>
            <a:off x="365760" y="3785616"/>
            <a:ext cx="502800" cy="7773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g3d60c626eaf_0_191"/>
          <p:cNvSpPr/>
          <p:nvPr/>
        </p:nvSpPr>
        <p:spPr>
          <a:xfrm>
            <a:off x="365760" y="3950208"/>
            <a:ext cx="502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g3d60c626eaf_0_191"/>
          <p:cNvSpPr/>
          <p:nvPr/>
        </p:nvSpPr>
        <p:spPr>
          <a:xfrm>
            <a:off x="960120" y="3831336"/>
            <a:ext cx="4206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Simple Arduino Control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g3d60c626eaf_0_191"/>
          <p:cNvSpPr/>
          <p:nvPr/>
        </p:nvSpPr>
        <p:spPr>
          <a:xfrm>
            <a:off x="960120" y="4133088"/>
            <a:ext cx="4206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Switched via a MOSFET on an Arduino R4 digital GPIO pin — fits existing firmware without added complexity.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d60c626eaf_0_234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g3d60c626eaf_0_234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Mohamed — Member · </a:t>
            </a: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Next Steps – Week 7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g3d60c626eaf_0_234"/>
          <p:cNvSpPr/>
          <p:nvPr/>
        </p:nvSpPr>
        <p:spPr>
          <a:xfrm>
            <a:off x="320040" y="1188720"/>
            <a:ext cx="4114800" cy="1554600"/>
          </a:xfrm>
          <a:prstGeom prst="rect">
            <a:avLst/>
          </a:prstGeom>
          <a:solidFill>
            <a:srgbClr val="132435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g3d60c626eaf_0_234"/>
          <p:cNvSpPr/>
          <p:nvPr/>
        </p:nvSpPr>
        <p:spPr>
          <a:xfrm>
            <a:off x="320040" y="1188720"/>
            <a:ext cx="502800" cy="1554600"/>
          </a:xfrm>
          <a:prstGeom prst="rect">
            <a:avLst/>
          </a:prstGeom>
          <a:solidFill>
            <a:srgbClr val="028090">
              <a:alpha val="80000"/>
            </a:srgbClr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g3d60c626eaf_0_234"/>
          <p:cNvSpPr/>
          <p:nvPr/>
        </p:nvSpPr>
        <p:spPr>
          <a:xfrm>
            <a:off x="320040" y="1691640"/>
            <a:ext cx="50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g3d60c626eaf_0_234"/>
          <p:cNvSpPr/>
          <p:nvPr/>
        </p:nvSpPr>
        <p:spPr>
          <a:xfrm>
            <a:off x="914400" y="132588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🛒  Procure Compressor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g3d60c626eaf_0_234"/>
          <p:cNvSpPr/>
          <p:nvPr/>
        </p:nvSpPr>
        <p:spPr>
          <a:xfrm>
            <a:off x="914400" y="1783080"/>
            <a:ext cx="3429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B8C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BB8C4"/>
                </a:solidFill>
                <a:latin typeface="Calibri"/>
                <a:ea typeface="Calibri"/>
                <a:cs typeface="Calibri"/>
                <a:sym typeface="Calibri"/>
              </a:rPr>
              <a:t>Order the selected 12V DC diaphragm compressor for assembly and integration.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g3d60c626eaf_0_234"/>
          <p:cNvSpPr/>
          <p:nvPr/>
        </p:nvSpPr>
        <p:spPr>
          <a:xfrm>
            <a:off x="4754880" y="1188720"/>
            <a:ext cx="4114800" cy="1554600"/>
          </a:xfrm>
          <a:prstGeom prst="rect">
            <a:avLst/>
          </a:prstGeom>
          <a:solidFill>
            <a:srgbClr val="132435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g3d60c626eaf_0_234"/>
          <p:cNvSpPr/>
          <p:nvPr/>
        </p:nvSpPr>
        <p:spPr>
          <a:xfrm>
            <a:off x="4754880" y="1188720"/>
            <a:ext cx="502800" cy="1554600"/>
          </a:xfrm>
          <a:prstGeom prst="rect">
            <a:avLst/>
          </a:prstGeom>
          <a:solidFill>
            <a:srgbClr val="028090">
              <a:alpha val="80000"/>
            </a:srgbClr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g3d60c626eaf_0_234"/>
          <p:cNvSpPr/>
          <p:nvPr/>
        </p:nvSpPr>
        <p:spPr>
          <a:xfrm>
            <a:off x="4754880" y="1691640"/>
            <a:ext cx="50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g3d60c626eaf_0_234"/>
          <p:cNvSpPr/>
          <p:nvPr/>
        </p:nvSpPr>
        <p:spPr>
          <a:xfrm>
            <a:off x="5349240" y="132588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📐  CAD Integration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g3d60c626eaf_0_234"/>
          <p:cNvSpPr/>
          <p:nvPr/>
        </p:nvSpPr>
        <p:spPr>
          <a:xfrm>
            <a:off x="5349240" y="1783080"/>
            <a:ext cx="3429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B8C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BB8C4"/>
                </a:solidFill>
                <a:latin typeface="Calibri"/>
                <a:ea typeface="Calibri"/>
                <a:cs typeface="Calibri"/>
                <a:sym typeface="Calibri"/>
              </a:rPr>
              <a:t>Update Autodesk Inventor model to include compressor mounting bracket on the arm.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g3d60c626eaf_0_234"/>
          <p:cNvSpPr/>
          <p:nvPr/>
        </p:nvSpPr>
        <p:spPr>
          <a:xfrm>
            <a:off x="320040" y="2971800"/>
            <a:ext cx="4114800" cy="1554600"/>
          </a:xfrm>
          <a:prstGeom prst="rect">
            <a:avLst/>
          </a:prstGeom>
          <a:solidFill>
            <a:srgbClr val="132435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g3d60c626eaf_0_234"/>
          <p:cNvSpPr/>
          <p:nvPr/>
        </p:nvSpPr>
        <p:spPr>
          <a:xfrm>
            <a:off x="320040" y="2971800"/>
            <a:ext cx="502800" cy="1554600"/>
          </a:xfrm>
          <a:prstGeom prst="rect">
            <a:avLst/>
          </a:prstGeom>
          <a:solidFill>
            <a:srgbClr val="028090">
              <a:alpha val="80000"/>
            </a:srgbClr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g3d60c626eaf_0_234"/>
          <p:cNvSpPr/>
          <p:nvPr/>
        </p:nvSpPr>
        <p:spPr>
          <a:xfrm>
            <a:off x="320040" y="3474720"/>
            <a:ext cx="50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g3d60c626eaf_0_234"/>
          <p:cNvSpPr/>
          <p:nvPr/>
        </p:nvSpPr>
        <p:spPr>
          <a:xfrm>
            <a:off x="914400" y="310896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⚡  MOSFET Wiring Circuit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g3d60c626eaf_0_234"/>
          <p:cNvSpPr/>
          <p:nvPr/>
        </p:nvSpPr>
        <p:spPr>
          <a:xfrm>
            <a:off x="914400" y="3566160"/>
            <a:ext cx="3429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B8C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BB8C4"/>
                </a:solidFill>
                <a:latin typeface="Calibri"/>
                <a:ea typeface="Calibri"/>
                <a:cs typeface="Calibri"/>
                <a:sym typeface="Calibri"/>
              </a:rPr>
              <a:t>Design and build the switching circuit for Arduino R4 GPIO digital control of compressor ON/OFF.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g3d60c626eaf_0_234"/>
          <p:cNvSpPr/>
          <p:nvPr/>
        </p:nvSpPr>
        <p:spPr>
          <a:xfrm>
            <a:off x="4754880" y="2971800"/>
            <a:ext cx="4114800" cy="1554600"/>
          </a:xfrm>
          <a:prstGeom prst="rect">
            <a:avLst/>
          </a:prstGeom>
          <a:solidFill>
            <a:srgbClr val="132435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g3d60c626eaf_0_234"/>
          <p:cNvSpPr/>
          <p:nvPr/>
        </p:nvSpPr>
        <p:spPr>
          <a:xfrm>
            <a:off x="4754880" y="2971800"/>
            <a:ext cx="502800" cy="1554600"/>
          </a:xfrm>
          <a:prstGeom prst="rect">
            <a:avLst/>
          </a:prstGeom>
          <a:solidFill>
            <a:srgbClr val="028090">
              <a:alpha val="80000"/>
            </a:srgbClr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g3d60c626eaf_0_234"/>
          <p:cNvSpPr/>
          <p:nvPr/>
        </p:nvSpPr>
        <p:spPr>
          <a:xfrm>
            <a:off x="4754880" y="3474720"/>
            <a:ext cx="50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g3d60c626eaf_0_234"/>
          <p:cNvSpPr/>
          <p:nvPr/>
        </p:nvSpPr>
        <p:spPr>
          <a:xfrm>
            <a:off x="5349240" y="310896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🧪  Suction Force Test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g3d60c626eaf_0_234"/>
          <p:cNvSpPr/>
          <p:nvPr/>
        </p:nvSpPr>
        <p:spPr>
          <a:xfrm>
            <a:off x="5349240" y="3566160"/>
            <a:ext cx="34290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B8C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9BB8C4"/>
                </a:solidFill>
                <a:latin typeface="Calibri"/>
                <a:ea typeface="Calibri"/>
                <a:cs typeface="Calibri"/>
                <a:sym typeface="Calibri"/>
              </a:rPr>
              <a:t>Benchmark suction force against target objects to verify reliable grip before full integration.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g3d60c626eaf_0_234"/>
          <p:cNvSpPr/>
          <p:nvPr/>
        </p:nvSpPr>
        <p:spPr>
          <a:xfrm>
            <a:off x="0" y="5052060"/>
            <a:ext cx="9144000" cy="915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g3d60c626eaf_0_234"/>
          <p:cNvSpPr/>
          <p:nvPr/>
        </p:nvSpPr>
        <p:spPr>
          <a:xfrm>
            <a:off x="0" y="4773168"/>
            <a:ext cx="9144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7A8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7A8A"/>
                </a:solidFill>
                <a:latin typeface="Calibri"/>
                <a:ea typeface="Calibri"/>
                <a:cs typeface="Calibri"/>
                <a:sym typeface="Calibri"/>
              </a:rPr>
              <a:t>PickMasters  |  MEC 483 – Spring 2026  |  Abu Dhabi University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1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B4E9E"/>
          </a:solidFill>
          <a:ln cap="flat" cmpd="sng" w="12700">
            <a:solidFill>
              <a:srgbClr val="6B4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2"/>
          <p:cNvSpPr/>
          <p:nvPr/>
        </p:nvSpPr>
        <p:spPr>
          <a:xfrm>
            <a:off x="347472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Helal — Member  ·  Firmware &amp; Control Integration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2"/>
          <p:cNvSpPr/>
          <p:nvPr/>
        </p:nvSpPr>
        <p:spPr>
          <a:xfrm>
            <a:off x="347472" y="786384"/>
            <a:ext cx="4114800" cy="157276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2"/>
          <p:cNvSpPr/>
          <p:nvPr/>
        </p:nvSpPr>
        <p:spPr>
          <a:xfrm>
            <a:off x="347472" y="786384"/>
            <a:ext cx="4114800" cy="256032"/>
          </a:xfrm>
          <a:prstGeom prst="rect">
            <a:avLst/>
          </a:prstGeom>
          <a:solidFill>
            <a:srgbClr val="2EAD7A"/>
          </a:solidFill>
          <a:ln cap="flat" cmpd="sng" w="12700">
            <a:solidFill>
              <a:srgbClr val="2EA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2"/>
          <p:cNvSpPr/>
          <p:nvPr/>
        </p:nvSpPr>
        <p:spPr>
          <a:xfrm>
            <a:off x="438912" y="786384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Accomplished (since last report)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2"/>
          <p:cNvSpPr/>
          <p:nvPr/>
        </p:nvSpPr>
        <p:spPr>
          <a:xfrm>
            <a:off x="457200" y="1078992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Wrote combined Arduino firmware merging manual gamepad control and automatic Python command input into a single unified sketch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2"/>
          <p:cNvSpPr/>
          <p:nvPr/>
        </p:nvSpPr>
        <p:spPr>
          <a:xfrm>
            <a:off x="457200" y="1481328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Integrated IMU sensor readings into the Arduino code — wrist joint now auto-corrects to keep end effector pointing downward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2"/>
          <p:cNvSpPr/>
          <p:nvPr/>
        </p:nvSpPr>
        <p:spPr>
          <a:xfrm>
            <a:off x="457200" y="1883664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All three control modes (gamepad, Python auto, IMU levelling) run simultaneously without conflict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2"/>
          <p:cNvSpPr/>
          <p:nvPr/>
        </p:nvSpPr>
        <p:spPr>
          <a:xfrm>
            <a:off x="347472" y="2432304"/>
            <a:ext cx="4114800" cy="74980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2"/>
          <p:cNvSpPr/>
          <p:nvPr/>
        </p:nvSpPr>
        <p:spPr>
          <a:xfrm>
            <a:off x="347472" y="2432304"/>
            <a:ext cx="4114800" cy="256032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2"/>
          <p:cNvSpPr/>
          <p:nvPr/>
        </p:nvSpPr>
        <p:spPr>
          <a:xfrm>
            <a:off x="438912" y="2432304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 progress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2"/>
          <p:cNvSpPr/>
          <p:nvPr/>
        </p:nvSpPr>
        <p:spPr>
          <a:xfrm>
            <a:off x="457200" y="2724912"/>
            <a:ext cx="3840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CAD model — wrist joint and end effector mount still outstanding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2"/>
          <p:cNvSpPr/>
          <p:nvPr/>
        </p:nvSpPr>
        <p:spPr>
          <a:xfrm>
            <a:off x="347472" y="3255264"/>
            <a:ext cx="4114800" cy="124358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2"/>
          <p:cNvSpPr/>
          <p:nvPr/>
        </p:nvSpPr>
        <p:spPr>
          <a:xfrm>
            <a:off x="347472" y="3255264"/>
            <a:ext cx="4114800" cy="256032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2"/>
          <p:cNvSpPr/>
          <p:nvPr/>
        </p:nvSpPr>
        <p:spPr>
          <a:xfrm>
            <a:off x="438912" y="3255264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Next week plan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2"/>
          <p:cNvSpPr/>
          <p:nvPr/>
        </p:nvSpPr>
        <p:spPr>
          <a:xfrm>
            <a:off x="457200" y="3547872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Complete wrist joint CAD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2"/>
          <p:cNvSpPr/>
          <p:nvPr/>
        </p:nvSpPr>
        <p:spPr>
          <a:xfrm>
            <a:off x="457200" y="3858768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Begin end effector CAD design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2"/>
          <p:cNvSpPr/>
          <p:nvPr/>
        </p:nvSpPr>
        <p:spPr>
          <a:xfrm>
            <a:off x="457200" y="4169664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Follow up on 3D print status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2"/>
          <p:cNvSpPr/>
          <p:nvPr/>
        </p:nvSpPr>
        <p:spPr>
          <a:xfrm>
            <a:off x="4663440" y="786384"/>
            <a:ext cx="4206240" cy="279806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2"/>
          <p:cNvSpPr/>
          <p:nvPr/>
        </p:nvSpPr>
        <p:spPr>
          <a:xfrm>
            <a:off x="4663440" y="786384"/>
            <a:ext cx="4206240" cy="256032"/>
          </a:xfrm>
          <a:prstGeom prst="rect">
            <a:avLst/>
          </a:prstGeom>
          <a:solidFill>
            <a:srgbClr val="6B4E9E"/>
          </a:solidFill>
          <a:ln cap="flat" cmpd="sng" w="12700">
            <a:solidFill>
              <a:srgbClr val="6B4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2"/>
          <p:cNvSpPr/>
          <p:nvPr/>
        </p:nvSpPr>
        <p:spPr>
          <a:xfrm>
            <a:off x="4754880" y="786384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Combined firmware — what it does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2"/>
          <p:cNvSpPr/>
          <p:nvPr/>
        </p:nvSpPr>
        <p:spPr>
          <a:xfrm>
            <a:off x="4754880" y="1115568"/>
            <a:ext cx="3986784" cy="658368"/>
          </a:xfrm>
          <a:prstGeom prst="rect">
            <a:avLst/>
          </a:prstGeom>
          <a:solidFill>
            <a:srgbClr val="F4F6F9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2"/>
          <p:cNvSpPr/>
          <p:nvPr/>
        </p:nvSpPr>
        <p:spPr>
          <a:xfrm>
            <a:off x="4754880" y="1115568"/>
            <a:ext cx="54864" cy="658368"/>
          </a:xfrm>
          <a:prstGeom prst="rect">
            <a:avLst/>
          </a:prstGeom>
          <a:solidFill>
            <a:srgbClr val="2EAD7A"/>
          </a:solidFill>
          <a:ln cap="flat" cmpd="sng" w="12700">
            <a:solidFill>
              <a:srgbClr val="2EA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12"/>
          <p:cNvSpPr/>
          <p:nvPr/>
        </p:nvSpPr>
        <p:spPr>
          <a:xfrm>
            <a:off x="4864608" y="1170432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Manual mode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2"/>
          <p:cNvSpPr/>
          <p:nvPr/>
        </p:nvSpPr>
        <p:spPr>
          <a:xfrm>
            <a:off x="4864608" y="1408176"/>
            <a:ext cx="3749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Gamepad input via Bluetooth controller — each joint mapped to a stick/button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2"/>
          <p:cNvSpPr/>
          <p:nvPr/>
        </p:nvSpPr>
        <p:spPr>
          <a:xfrm>
            <a:off x="4754880" y="1865376"/>
            <a:ext cx="3986784" cy="658368"/>
          </a:xfrm>
          <a:prstGeom prst="rect">
            <a:avLst/>
          </a:prstGeom>
          <a:solidFill>
            <a:srgbClr val="F4F6F9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2"/>
          <p:cNvSpPr/>
          <p:nvPr/>
        </p:nvSpPr>
        <p:spPr>
          <a:xfrm>
            <a:off x="4754880" y="1865376"/>
            <a:ext cx="54864" cy="65836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2"/>
          <p:cNvSpPr/>
          <p:nvPr/>
        </p:nvSpPr>
        <p:spPr>
          <a:xfrm>
            <a:off x="4864608" y="1920240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Auto mode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2"/>
          <p:cNvSpPr/>
          <p:nvPr/>
        </p:nvSpPr>
        <p:spPr>
          <a:xfrm>
            <a:off x="4864608" y="2157984"/>
            <a:ext cx="3749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Python sends serial commands (e.g. S1:90) — Arduino receives and executes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2"/>
          <p:cNvSpPr/>
          <p:nvPr/>
        </p:nvSpPr>
        <p:spPr>
          <a:xfrm>
            <a:off x="4754880" y="2615184"/>
            <a:ext cx="3986784" cy="658368"/>
          </a:xfrm>
          <a:prstGeom prst="rect">
            <a:avLst/>
          </a:prstGeom>
          <a:solidFill>
            <a:srgbClr val="F4F6F9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2"/>
          <p:cNvSpPr/>
          <p:nvPr/>
        </p:nvSpPr>
        <p:spPr>
          <a:xfrm>
            <a:off x="4754880" y="2615184"/>
            <a:ext cx="54864" cy="658368"/>
          </a:xfrm>
          <a:prstGeom prst="rect">
            <a:avLst/>
          </a:prstGeom>
          <a:solidFill>
            <a:srgbClr val="6B4E9E"/>
          </a:solidFill>
          <a:ln cap="flat" cmpd="sng" w="12700">
            <a:solidFill>
              <a:srgbClr val="6B4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2"/>
          <p:cNvSpPr/>
          <p:nvPr/>
        </p:nvSpPr>
        <p:spPr>
          <a:xfrm>
            <a:off x="4864608" y="2670048"/>
            <a:ext cx="3749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IMU levelling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2"/>
          <p:cNvSpPr/>
          <p:nvPr/>
        </p:nvSpPr>
        <p:spPr>
          <a:xfrm>
            <a:off x="4864608" y="2907792"/>
            <a:ext cx="3749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Reads IMU orientation continuously — adjusts wrist servo to keep cup level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2"/>
          <p:cNvSpPr/>
          <p:nvPr/>
        </p:nvSpPr>
        <p:spPr>
          <a:xfrm>
            <a:off x="4663440" y="3657600"/>
            <a:ext cx="4206240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2"/>
          <p:cNvSpPr/>
          <p:nvPr/>
        </p:nvSpPr>
        <p:spPr>
          <a:xfrm>
            <a:off x="4663440" y="3657600"/>
            <a:ext cx="4206240" cy="256032"/>
          </a:xfrm>
          <a:prstGeom prst="rect">
            <a:avLst/>
          </a:prstGeom>
          <a:solidFill>
            <a:srgbClr val="E06530"/>
          </a:solidFill>
          <a:ln cap="flat" cmpd="sng" w="12700">
            <a:solidFill>
              <a:srgbClr val="E0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2"/>
          <p:cNvSpPr/>
          <p:nvPr/>
        </p:nvSpPr>
        <p:spPr>
          <a:xfrm>
            <a:off x="4754880" y="3657600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Help needed / questions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2"/>
          <p:cNvSpPr/>
          <p:nvPr/>
        </p:nvSpPr>
        <p:spPr>
          <a:xfrm>
            <a:off x="4773168" y="3950208"/>
            <a:ext cx="393192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3D printed parts still not received — wrist and end effector CAD cannot be verified for fit until parts arrive.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2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Mechatronics System Design 101  ·  Leen's Group  ·  Week 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1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B4E9E"/>
          </a:solidFill>
          <a:ln cap="flat" cmpd="sng" w="12700">
            <a:solidFill>
              <a:srgbClr val="6B4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3"/>
          <p:cNvSpPr/>
          <p:nvPr/>
        </p:nvSpPr>
        <p:spPr>
          <a:xfrm>
            <a:off x="6400800" y="-914400"/>
            <a:ext cx="4389120" cy="4389120"/>
          </a:xfrm>
          <a:prstGeom prst="ellipse">
            <a:avLst/>
          </a:prstGeom>
          <a:solidFill>
            <a:srgbClr val="6B4E9E">
              <a:alpha val="10196"/>
            </a:srgbClr>
          </a:solidFill>
          <a:ln cap="flat" cmpd="sng" w="12700">
            <a:solidFill>
              <a:srgbClr val="6B4E9E">
                <a:alpha val="1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13"/>
          <p:cNvSpPr/>
          <p:nvPr/>
        </p:nvSpPr>
        <p:spPr>
          <a:xfrm>
            <a:off x="384048" y="347472"/>
            <a:ext cx="73152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4E9E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6B4E9E"/>
                </a:solidFill>
                <a:latin typeface="Calibri"/>
                <a:ea typeface="Calibri"/>
                <a:cs typeface="Calibri"/>
                <a:sym typeface="Calibri"/>
              </a:rPr>
              <a:t>Demo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3"/>
          <p:cNvSpPr/>
          <p:nvPr/>
        </p:nvSpPr>
        <p:spPr>
          <a:xfrm>
            <a:off x="384048" y="731520"/>
            <a:ext cx="7315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IMU — End Effector Auto-Levelling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3"/>
          <p:cNvSpPr/>
          <p:nvPr/>
        </p:nvSpPr>
        <p:spPr>
          <a:xfrm>
            <a:off x="384048" y="1463040"/>
            <a:ext cx="5029200" cy="36576"/>
          </a:xfrm>
          <a:prstGeom prst="rect">
            <a:avLst/>
          </a:prstGeom>
          <a:solidFill>
            <a:srgbClr val="6B4E9E"/>
          </a:solidFill>
          <a:ln cap="flat" cmpd="sng" w="12700">
            <a:solidFill>
              <a:srgbClr val="6B4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3"/>
          <p:cNvSpPr/>
          <p:nvPr/>
        </p:nvSpPr>
        <p:spPr>
          <a:xfrm>
            <a:off x="384048" y="1572768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Helal — Week 6  ·  Wrist joint corrects in real time to keep suction cup pointing downward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3"/>
          <p:cNvSpPr/>
          <p:nvPr/>
        </p:nvSpPr>
        <p:spPr>
          <a:xfrm>
            <a:off x="384048" y="1975103"/>
            <a:ext cx="6858000" cy="2834700"/>
          </a:xfrm>
          <a:prstGeom prst="rect">
            <a:avLst/>
          </a:prstGeom>
          <a:solidFill>
            <a:srgbClr val="111827"/>
          </a:solidFill>
          <a:ln cap="flat" cmpd="sng" w="19050">
            <a:solidFill>
              <a:srgbClr val="6B4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3"/>
          <p:cNvSpPr/>
          <p:nvPr/>
        </p:nvSpPr>
        <p:spPr>
          <a:xfrm>
            <a:off x="3127248" y="2651760"/>
            <a:ext cx="1371600" cy="1371600"/>
          </a:xfrm>
          <a:prstGeom prst="ellipse">
            <a:avLst/>
          </a:prstGeom>
          <a:solidFill>
            <a:srgbClr val="6B4E9E">
              <a:alpha val="70196"/>
            </a:srgbClr>
          </a:solidFill>
          <a:ln cap="flat" cmpd="sng" w="12700">
            <a:solidFill>
              <a:srgbClr val="6B4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3">
            <a:hlinkClick r:id="rId3"/>
          </p:cNvPr>
          <p:cNvSpPr/>
          <p:nvPr/>
        </p:nvSpPr>
        <p:spPr>
          <a:xfrm>
            <a:off x="3127248" y="2651760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3"/>
          <p:cNvSpPr/>
          <p:nvPr/>
        </p:nvSpPr>
        <p:spPr>
          <a:xfrm>
            <a:off x="7406640" y="1920240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E6F5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C8E6F5"/>
                </a:solidFill>
                <a:latin typeface="Calibri"/>
                <a:ea typeface="Calibri"/>
                <a:cs typeface="Calibri"/>
                <a:sym typeface="Calibri"/>
              </a:rPr>
              <a:t>To insert video: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3"/>
          <p:cNvSpPr/>
          <p:nvPr/>
        </p:nvSpPr>
        <p:spPr>
          <a:xfrm>
            <a:off x="7406640" y="2212848"/>
            <a:ext cx="1554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Insert tab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3"/>
          <p:cNvSpPr/>
          <p:nvPr/>
        </p:nvSpPr>
        <p:spPr>
          <a:xfrm>
            <a:off x="7406640" y="2487168"/>
            <a:ext cx="1554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→ Video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3"/>
          <p:cNvSpPr/>
          <p:nvPr/>
        </p:nvSpPr>
        <p:spPr>
          <a:xfrm>
            <a:off x="7406640" y="2761488"/>
            <a:ext cx="1554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→ This Device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3"/>
          <p:cNvSpPr/>
          <p:nvPr/>
        </p:nvSpPr>
        <p:spPr>
          <a:xfrm>
            <a:off x="7406640" y="3035808"/>
            <a:ext cx="1554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Select file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3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Mechatronics System Design 101  ·  Leen's Group  ·  Week 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14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4"/>
          <p:cNvSpPr/>
          <p:nvPr/>
        </p:nvSpPr>
        <p:spPr>
          <a:xfrm>
            <a:off x="6583680" y="-1097280"/>
            <a:ext cx="4206240" cy="4206240"/>
          </a:xfrm>
          <a:prstGeom prst="ellipse">
            <a:avLst/>
          </a:prstGeom>
          <a:solidFill>
            <a:srgbClr val="028090">
              <a:alpha val="12156"/>
            </a:srgbClr>
          </a:solidFill>
          <a:ln cap="flat" cmpd="sng" w="12700">
            <a:solidFill>
              <a:srgbClr val="028090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4"/>
          <p:cNvSpPr/>
          <p:nvPr/>
        </p:nvSpPr>
        <p:spPr>
          <a:xfrm>
            <a:off x="7315200" y="3474720"/>
            <a:ext cx="2194560" cy="2194560"/>
          </a:xfrm>
          <a:prstGeom prst="ellipse">
            <a:avLst/>
          </a:prstGeom>
          <a:solidFill>
            <a:srgbClr val="028090">
              <a:alpha val="7843"/>
            </a:srgbClr>
          </a:solidFill>
          <a:ln cap="flat" cmpd="sng" w="12700">
            <a:solidFill>
              <a:srgbClr val="02809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4"/>
          <p:cNvSpPr/>
          <p:nvPr/>
        </p:nvSpPr>
        <p:spPr>
          <a:xfrm>
            <a:off x="411480" y="384048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Week 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4"/>
          <p:cNvSpPr/>
          <p:nvPr/>
        </p:nvSpPr>
        <p:spPr>
          <a:xfrm>
            <a:off x="411480" y="786384"/>
            <a:ext cx="73152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Wrap-up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4"/>
          <p:cNvSpPr/>
          <p:nvPr/>
        </p:nvSpPr>
        <p:spPr>
          <a:xfrm>
            <a:off x="411480" y="1591056"/>
            <a:ext cx="4572000" cy="36576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4"/>
          <p:cNvSpPr/>
          <p:nvPr/>
        </p:nvSpPr>
        <p:spPr>
          <a:xfrm>
            <a:off x="411480" y="1737360"/>
            <a:ext cx="5577840" cy="347472"/>
          </a:xfrm>
          <a:prstGeom prst="rect">
            <a:avLst/>
          </a:prstGeom>
          <a:solidFill>
            <a:srgbClr val="FFFFFF">
              <a:alpha val="5882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4"/>
          <p:cNvSpPr/>
          <p:nvPr/>
        </p:nvSpPr>
        <p:spPr>
          <a:xfrm>
            <a:off x="411480" y="1737360"/>
            <a:ext cx="54864" cy="347472"/>
          </a:xfrm>
          <a:prstGeom prst="rect">
            <a:avLst/>
          </a:prstGeom>
          <a:solidFill>
            <a:srgbClr val="2EAD7A"/>
          </a:solidFill>
          <a:ln cap="flat" cmpd="sng" w="12700">
            <a:solidFill>
              <a:srgbClr val="2EA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14"/>
          <p:cNvSpPr/>
          <p:nvPr/>
        </p:nvSpPr>
        <p:spPr>
          <a:xfrm>
            <a:off x="530352" y="1737360"/>
            <a:ext cx="274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AD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EAD7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4"/>
          <p:cNvSpPr/>
          <p:nvPr/>
        </p:nvSpPr>
        <p:spPr>
          <a:xfrm>
            <a:off x="859536" y="1737360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0E4F0"/>
                </a:solidFill>
                <a:latin typeface="Calibri"/>
                <a:ea typeface="Calibri"/>
                <a:cs typeface="Calibri"/>
                <a:sym typeface="Calibri"/>
              </a:rPr>
              <a:t>Object detection &amp; classification working in OpenCV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4"/>
          <p:cNvSpPr/>
          <p:nvPr/>
        </p:nvSpPr>
        <p:spPr>
          <a:xfrm>
            <a:off x="411480" y="2157984"/>
            <a:ext cx="5577840" cy="347472"/>
          </a:xfrm>
          <a:prstGeom prst="rect">
            <a:avLst/>
          </a:prstGeom>
          <a:solidFill>
            <a:srgbClr val="FFFFFF">
              <a:alpha val="5882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14"/>
          <p:cNvSpPr/>
          <p:nvPr/>
        </p:nvSpPr>
        <p:spPr>
          <a:xfrm>
            <a:off x="411480" y="2157984"/>
            <a:ext cx="54864" cy="347472"/>
          </a:xfrm>
          <a:prstGeom prst="rect">
            <a:avLst/>
          </a:prstGeom>
          <a:solidFill>
            <a:srgbClr val="2EAD7A"/>
          </a:solidFill>
          <a:ln cap="flat" cmpd="sng" w="12700">
            <a:solidFill>
              <a:srgbClr val="2EA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4"/>
          <p:cNvSpPr/>
          <p:nvPr/>
        </p:nvSpPr>
        <p:spPr>
          <a:xfrm>
            <a:off x="530352" y="2157984"/>
            <a:ext cx="274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AD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EAD7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4"/>
          <p:cNvSpPr/>
          <p:nvPr/>
        </p:nvSpPr>
        <p:spPr>
          <a:xfrm>
            <a:off x="859536" y="2157984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0E4F0"/>
                </a:solidFill>
                <a:latin typeface="Calibri"/>
                <a:ea typeface="Calibri"/>
                <a:cs typeface="Calibri"/>
                <a:sym typeface="Calibri"/>
              </a:rPr>
              <a:t>Arduino controllable via gamepad AND Python commands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4"/>
          <p:cNvSpPr/>
          <p:nvPr/>
        </p:nvSpPr>
        <p:spPr>
          <a:xfrm>
            <a:off x="411480" y="2578608"/>
            <a:ext cx="5577840" cy="347472"/>
          </a:xfrm>
          <a:prstGeom prst="rect">
            <a:avLst/>
          </a:prstGeom>
          <a:solidFill>
            <a:srgbClr val="FFFFFF">
              <a:alpha val="5882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14"/>
          <p:cNvSpPr/>
          <p:nvPr/>
        </p:nvSpPr>
        <p:spPr>
          <a:xfrm>
            <a:off x="411480" y="2578608"/>
            <a:ext cx="54864" cy="347472"/>
          </a:xfrm>
          <a:prstGeom prst="rect">
            <a:avLst/>
          </a:prstGeom>
          <a:solidFill>
            <a:srgbClr val="2EAD7A"/>
          </a:solidFill>
          <a:ln cap="flat" cmpd="sng" w="12700">
            <a:solidFill>
              <a:srgbClr val="2EA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4"/>
          <p:cNvSpPr/>
          <p:nvPr/>
        </p:nvSpPr>
        <p:spPr>
          <a:xfrm>
            <a:off x="530352" y="2578608"/>
            <a:ext cx="274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AD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EAD7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4"/>
          <p:cNvSpPr/>
          <p:nvPr/>
        </p:nvSpPr>
        <p:spPr>
          <a:xfrm>
            <a:off x="859536" y="2578608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0E4F0"/>
                </a:solidFill>
                <a:latin typeface="Calibri"/>
                <a:ea typeface="Calibri"/>
                <a:cs typeface="Calibri"/>
                <a:sym typeface="Calibri"/>
              </a:rPr>
              <a:t>IMU integrated — end effector auto-levels to point downward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4"/>
          <p:cNvSpPr/>
          <p:nvPr/>
        </p:nvSpPr>
        <p:spPr>
          <a:xfrm>
            <a:off x="411480" y="2999232"/>
            <a:ext cx="5577840" cy="347472"/>
          </a:xfrm>
          <a:prstGeom prst="rect">
            <a:avLst/>
          </a:prstGeom>
          <a:solidFill>
            <a:srgbClr val="FFFFFF">
              <a:alpha val="5882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4"/>
          <p:cNvSpPr/>
          <p:nvPr/>
        </p:nvSpPr>
        <p:spPr>
          <a:xfrm>
            <a:off x="411480" y="2999232"/>
            <a:ext cx="54864" cy="347472"/>
          </a:xfrm>
          <a:prstGeom prst="rect">
            <a:avLst/>
          </a:prstGeom>
          <a:solidFill>
            <a:srgbClr val="2EAD7A"/>
          </a:solidFill>
          <a:ln cap="flat" cmpd="sng" w="12700">
            <a:solidFill>
              <a:srgbClr val="2EA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4"/>
          <p:cNvSpPr/>
          <p:nvPr/>
        </p:nvSpPr>
        <p:spPr>
          <a:xfrm>
            <a:off x="530352" y="2999232"/>
            <a:ext cx="274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AD7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EAD7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4"/>
          <p:cNvSpPr/>
          <p:nvPr/>
        </p:nvSpPr>
        <p:spPr>
          <a:xfrm>
            <a:off x="859536" y="2999232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0E4F0"/>
                </a:solidFill>
                <a:latin typeface="Calibri"/>
                <a:ea typeface="Calibri"/>
                <a:cs typeface="Calibri"/>
                <a:sym typeface="Calibri"/>
              </a:rPr>
              <a:t>ROS2 Ubuntu VM installed — setup beginning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4"/>
          <p:cNvSpPr/>
          <p:nvPr/>
        </p:nvSpPr>
        <p:spPr>
          <a:xfrm>
            <a:off x="411480" y="3419856"/>
            <a:ext cx="5577840" cy="347472"/>
          </a:xfrm>
          <a:prstGeom prst="rect">
            <a:avLst/>
          </a:prstGeom>
          <a:solidFill>
            <a:srgbClr val="FFFFFF">
              <a:alpha val="5882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4"/>
          <p:cNvSpPr/>
          <p:nvPr/>
        </p:nvSpPr>
        <p:spPr>
          <a:xfrm>
            <a:off x="411480" y="3419856"/>
            <a:ext cx="54864" cy="347472"/>
          </a:xfrm>
          <a:prstGeom prst="rect">
            <a:avLst/>
          </a:prstGeom>
          <a:solidFill>
            <a:srgbClr val="E06530"/>
          </a:solidFill>
          <a:ln cap="flat" cmpd="sng" w="12700">
            <a:solidFill>
              <a:srgbClr val="E0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4"/>
          <p:cNvSpPr/>
          <p:nvPr/>
        </p:nvSpPr>
        <p:spPr>
          <a:xfrm>
            <a:off x="530352" y="3419856"/>
            <a:ext cx="274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653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06530"/>
                </a:solidFill>
                <a:latin typeface="Calibri"/>
                <a:ea typeface="Calibri"/>
                <a:cs typeface="Calibri"/>
                <a:sym typeface="Calibri"/>
              </a:rPr>
              <a:t>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4"/>
          <p:cNvSpPr/>
          <p:nvPr/>
        </p:nvSpPr>
        <p:spPr>
          <a:xfrm>
            <a:off x="859536" y="3419856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0E4F0"/>
                </a:solidFill>
                <a:latin typeface="Calibri"/>
                <a:ea typeface="Calibri"/>
                <a:cs typeface="Calibri"/>
                <a:sym typeface="Calibri"/>
              </a:rPr>
              <a:t>CV coordinate mapping not yet done — auto pipeline on hold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4"/>
          <p:cNvSpPr/>
          <p:nvPr/>
        </p:nvSpPr>
        <p:spPr>
          <a:xfrm>
            <a:off x="411480" y="3840480"/>
            <a:ext cx="5577840" cy="347472"/>
          </a:xfrm>
          <a:prstGeom prst="rect">
            <a:avLst/>
          </a:prstGeom>
          <a:solidFill>
            <a:srgbClr val="FFFFFF">
              <a:alpha val="5882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4"/>
          <p:cNvSpPr/>
          <p:nvPr/>
        </p:nvSpPr>
        <p:spPr>
          <a:xfrm>
            <a:off x="411480" y="3840480"/>
            <a:ext cx="54864" cy="347472"/>
          </a:xfrm>
          <a:prstGeom prst="rect">
            <a:avLst/>
          </a:prstGeom>
          <a:solidFill>
            <a:srgbClr val="C0392B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14"/>
          <p:cNvSpPr/>
          <p:nvPr/>
        </p:nvSpPr>
        <p:spPr>
          <a:xfrm>
            <a:off x="530352" y="3840480"/>
            <a:ext cx="274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4"/>
          <p:cNvSpPr/>
          <p:nvPr/>
        </p:nvSpPr>
        <p:spPr>
          <a:xfrm>
            <a:off x="859536" y="3840480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0E4F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0E4F0"/>
                </a:solidFill>
                <a:latin typeface="Calibri"/>
                <a:ea typeface="Calibri"/>
                <a:cs typeface="Calibri"/>
                <a:sym typeface="Calibri"/>
              </a:rPr>
              <a:t>3D prints delayed again — reprinting, blocking assembly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4"/>
          <p:cNvSpPr/>
          <p:nvPr/>
        </p:nvSpPr>
        <p:spPr>
          <a:xfrm>
            <a:off x="6263640" y="173736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E6F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8E6F5"/>
                </a:solidFill>
                <a:latin typeface="Calibri"/>
                <a:ea typeface="Calibri"/>
                <a:cs typeface="Calibri"/>
                <a:sym typeface="Calibri"/>
              </a:rPr>
              <a:t>Looking ahead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4"/>
          <p:cNvSpPr/>
          <p:nvPr/>
        </p:nvSpPr>
        <p:spPr>
          <a:xfrm>
            <a:off x="6263640" y="2066544"/>
            <a:ext cx="2633472" cy="365760"/>
          </a:xfrm>
          <a:prstGeom prst="rect">
            <a:avLst/>
          </a:prstGeom>
          <a:solidFill>
            <a:srgbClr val="FFFFFF">
              <a:alpha val="5882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14"/>
          <p:cNvSpPr/>
          <p:nvPr/>
        </p:nvSpPr>
        <p:spPr>
          <a:xfrm>
            <a:off x="6263640" y="2066544"/>
            <a:ext cx="54864" cy="36576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14"/>
          <p:cNvSpPr/>
          <p:nvPr/>
        </p:nvSpPr>
        <p:spPr>
          <a:xfrm>
            <a:off x="6364224" y="2139696"/>
            <a:ext cx="658368" cy="219456"/>
          </a:xfrm>
          <a:prstGeom prst="roundRect">
            <a:avLst>
              <a:gd fmla="val 16667" name="adj"/>
            </a:avLst>
          </a:prstGeom>
          <a:solidFill>
            <a:srgbClr val="028090">
              <a:alpha val="20000"/>
            </a:srgbClr>
          </a:solidFill>
          <a:ln cap="flat" cmpd="sng" w="12700">
            <a:solidFill>
              <a:srgbClr val="028090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4"/>
          <p:cNvSpPr/>
          <p:nvPr/>
        </p:nvSpPr>
        <p:spPr>
          <a:xfrm>
            <a:off x="6364224" y="2139696"/>
            <a:ext cx="6583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 7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4"/>
          <p:cNvSpPr/>
          <p:nvPr/>
        </p:nvSpPr>
        <p:spPr>
          <a:xfrm>
            <a:off x="7077456" y="2066544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Complete CV coordinate mapping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4"/>
          <p:cNvSpPr/>
          <p:nvPr/>
        </p:nvSpPr>
        <p:spPr>
          <a:xfrm>
            <a:off x="6263640" y="2505456"/>
            <a:ext cx="2633472" cy="365760"/>
          </a:xfrm>
          <a:prstGeom prst="rect">
            <a:avLst/>
          </a:prstGeom>
          <a:solidFill>
            <a:srgbClr val="FFFFFF">
              <a:alpha val="5882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14"/>
          <p:cNvSpPr/>
          <p:nvPr/>
        </p:nvSpPr>
        <p:spPr>
          <a:xfrm>
            <a:off x="6263640" y="2505456"/>
            <a:ext cx="54864" cy="365760"/>
          </a:xfrm>
          <a:prstGeom prst="rect">
            <a:avLst/>
          </a:prstGeom>
          <a:solidFill>
            <a:srgbClr val="E06530"/>
          </a:solidFill>
          <a:ln cap="flat" cmpd="sng" w="12700">
            <a:solidFill>
              <a:srgbClr val="E065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4"/>
          <p:cNvSpPr/>
          <p:nvPr/>
        </p:nvSpPr>
        <p:spPr>
          <a:xfrm>
            <a:off x="6364224" y="2578608"/>
            <a:ext cx="658368" cy="219456"/>
          </a:xfrm>
          <a:prstGeom prst="roundRect">
            <a:avLst>
              <a:gd fmla="val 16667" name="adj"/>
            </a:avLst>
          </a:prstGeom>
          <a:solidFill>
            <a:srgbClr val="E06530">
              <a:alpha val="20000"/>
            </a:srgbClr>
          </a:solidFill>
          <a:ln cap="flat" cmpd="sng" w="12700">
            <a:solidFill>
              <a:srgbClr val="E06530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14"/>
          <p:cNvSpPr/>
          <p:nvPr/>
        </p:nvSpPr>
        <p:spPr>
          <a:xfrm>
            <a:off x="6364224" y="2578608"/>
            <a:ext cx="6583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 7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4"/>
          <p:cNvSpPr/>
          <p:nvPr/>
        </p:nvSpPr>
        <p:spPr>
          <a:xfrm>
            <a:off x="7077456" y="2505456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CAD + 3D print resolved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4"/>
          <p:cNvSpPr/>
          <p:nvPr/>
        </p:nvSpPr>
        <p:spPr>
          <a:xfrm>
            <a:off x="6263640" y="2944368"/>
            <a:ext cx="2633472" cy="365760"/>
          </a:xfrm>
          <a:prstGeom prst="rect">
            <a:avLst/>
          </a:prstGeom>
          <a:solidFill>
            <a:srgbClr val="FFFFFF">
              <a:alpha val="5882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14"/>
          <p:cNvSpPr/>
          <p:nvPr/>
        </p:nvSpPr>
        <p:spPr>
          <a:xfrm>
            <a:off x="6263640" y="2944368"/>
            <a:ext cx="54864" cy="365760"/>
          </a:xfrm>
          <a:prstGeom prst="rect">
            <a:avLst/>
          </a:prstGeom>
          <a:solidFill>
            <a:srgbClr val="6B4E9E"/>
          </a:solidFill>
          <a:ln cap="flat" cmpd="sng" w="12700">
            <a:solidFill>
              <a:srgbClr val="6B4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14"/>
          <p:cNvSpPr/>
          <p:nvPr/>
        </p:nvSpPr>
        <p:spPr>
          <a:xfrm>
            <a:off x="6364224" y="3017520"/>
            <a:ext cx="658368" cy="219456"/>
          </a:xfrm>
          <a:prstGeom prst="roundRect">
            <a:avLst>
              <a:gd fmla="val 16667" name="adj"/>
            </a:avLst>
          </a:prstGeom>
          <a:solidFill>
            <a:srgbClr val="6B4E9E">
              <a:alpha val="20000"/>
            </a:srgbClr>
          </a:solidFill>
          <a:ln cap="flat" cmpd="sng" w="12700">
            <a:solidFill>
              <a:srgbClr val="6B4E9E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14"/>
          <p:cNvSpPr/>
          <p:nvPr/>
        </p:nvSpPr>
        <p:spPr>
          <a:xfrm>
            <a:off x="6364224" y="3017520"/>
            <a:ext cx="6583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 7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4"/>
          <p:cNvSpPr/>
          <p:nvPr/>
        </p:nvSpPr>
        <p:spPr>
          <a:xfrm>
            <a:off x="7077456" y="2944368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Continue ROS2 setup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4"/>
          <p:cNvSpPr/>
          <p:nvPr/>
        </p:nvSpPr>
        <p:spPr>
          <a:xfrm>
            <a:off x="6263640" y="3383280"/>
            <a:ext cx="2633472" cy="365760"/>
          </a:xfrm>
          <a:prstGeom prst="rect">
            <a:avLst/>
          </a:prstGeom>
          <a:solidFill>
            <a:srgbClr val="FFFFFF">
              <a:alpha val="5882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14"/>
          <p:cNvSpPr/>
          <p:nvPr/>
        </p:nvSpPr>
        <p:spPr>
          <a:xfrm>
            <a:off x="6263640" y="3383280"/>
            <a:ext cx="54864" cy="365760"/>
          </a:xfrm>
          <a:prstGeom prst="rect">
            <a:avLst/>
          </a:prstGeom>
          <a:solidFill>
            <a:srgbClr val="2EAD7A"/>
          </a:solidFill>
          <a:ln cap="flat" cmpd="sng" w="12700">
            <a:solidFill>
              <a:srgbClr val="2EAD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14"/>
          <p:cNvSpPr/>
          <p:nvPr/>
        </p:nvSpPr>
        <p:spPr>
          <a:xfrm>
            <a:off x="6364224" y="3456432"/>
            <a:ext cx="658368" cy="219456"/>
          </a:xfrm>
          <a:prstGeom prst="roundRect">
            <a:avLst>
              <a:gd fmla="val 16667" name="adj"/>
            </a:avLst>
          </a:prstGeom>
          <a:solidFill>
            <a:srgbClr val="2EAD7A">
              <a:alpha val="20000"/>
            </a:srgbClr>
          </a:solidFill>
          <a:ln cap="flat" cmpd="sng" w="12700">
            <a:solidFill>
              <a:srgbClr val="2EAD7A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14"/>
          <p:cNvSpPr/>
          <p:nvPr/>
        </p:nvSpPr>
        <p:spPr>
          <a:xfrm>
            <a:off x="6364224" y="3456432"/>
            <a:ext cx="6583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 7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4"/>
          <p:cNvSpPr/>
          <p:nvPr/>
        </p:nvSpPr>
        <p:spPr>
          <a:xfrm>
            <a:off x="7077456" y="338328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Finalise end effector design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4"/>
          <p:cNvSpPr/>
          <p:nvPr/>
        </p:nvSpPr>
        <p:spPr>
          <a:xfrm>
            <a:off x="6263640" y="3822192"/>
            <a:ext cx="2633472" cy="365760"/>
          </a:xfrm>
          <a:prstGeom prst="rect">
            <a:avLst/>
          </a:prstGeom>
          <a:solidFill>
            <a:srgbClr val="FFFFFF">
              <a:alpha val="5882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14"/>
          <p:cNvSpPr/>
          <p:nvPr/>
        </p:nvSpPr>
        <p:spPr>
          <a:xfrm>
            <a:off x="6263640" y="3822192"/>
            <a:ext cx="54864" cy="36576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14"/>
          <p:cNvSpPr/>
          <p:nvPr/>
        </p:nvSpPr>
        <p:spPr>
          <a:xfrm>
            <a:off x="6364224" y="3895344"/>
            <a:ext cx="658368" cy="219456"/>
          </a:xfrm>
          <a:prstGeom prst="roundRect">
            <a:avLst>
              <a:gd fmla="val 16667" name="adj"/>
            </a:avLst>
          </a:prstGeom>
          <a:solidFill>
            <a:srgbClr val="028090">
              <a:alpha val="20000"/>
            </a:srgbClr>
          </a:solidFill>
          <a:ln cap="flat" cmpd="sng" w="12700">
            <a:solidFill>
              <a:srgbClr val="028090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14"/>
          <p:cNvSpPr/>
          <p:nvPr/>
        </p:nvSpPr>
        <p:spPr>
          <a:xfrm>
            <a:off x="6364224" y="3895344"/>
            <a:ext cx="6583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 8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14"/>
          <p:cNvSpPr/>
          <p:nvPr/>
        </p:nvSpPr>
        <p:spPr>
          <a:xfrm>
            <a:off x="7077456" y="3822192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Vision + control fully connected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4"/>
          <p:cNvSpPr/>
          <p:nvPr/>
        </p:nvSpPr>
        <p:spPr>
          <a:xfrm>
            <a:off x="6263640" y="4261104"/>
            <a:ext cx="2633472" cy="365760"/>
          </a:xfrm>
          <a:prstGeom prst="rect">
            <a:avLst/>
          </a:prstGeom>
          <a:solidFill>
            <a:srgbClr val="FFFFFF">
              <a:alpha val="5882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14"/>
          <p:cNvSpPr/>
          <p:nvPr/>
        </p:nvSpPr>
        <p:spPr>
          <a:xfrm>
            <a:off x="6263640" y="4261104"/>
            <a:ext cx="54864" cy="365760"/>
          </a:xfrm>
          <a:prstGeom prst="rect">
            <a:avLst/>
          </a:prstGeom>
          <a:solidFill>
            <a:srgbClr val="E8A020"/>
          </a:solidFill>
          <a:ln cap="flat" cmpd="sng" w="127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14"/>
          <p:cNvSpPr/>
          <p:nvPr/>
        </p:nvSpPr>
        <p:spPr>
          <a:xfrm>
            <a:off x="6364224" y="4334256"/>
            <a:ext cx="658368" cy="219456"/>
          </a:xfrm>
          <a:prstGeom prst="roundRect">
            <a:avLst>
              <a:gd fmla="val 16667" name="adj"/>
            </a:avLst>
          </a:prstGeom>
          <a:solidFill>
            <a:srgbClr val="E8A020">
              <a:alpha val="20000"/>
            </a:srgbClr>
          </a:solidFill>
          <a:ln cap="flat" cmpd="sng" w="12700">
            <a:solidFill>
              <a:srgbClr val="E8A020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14"/>
          <p:cNvSpPr/>
          <p:nvPr/>
        </p:nvSpPr>
        <p:spPr>
          <a:xfrm>
            <a:off x="6364224" y="4334256"/>
            <a:ext cx="6583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 10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4"/>
          <p:cNvSpPr/>
          <p:nvPr/>
        </p:nvSpPr>
        <p:spPr>
          <a:xfrm>
            <a:off x="7077456" y="4261104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Assembly + Gazebo digital twin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14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494A8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494A8"/>
                </a:solidFill>
                <a:latin typeface="Calibri"/>
                <a:ea typeface="Calibri"/>
                <a:cs typeface="Calibri"/>
                <a:sym typeface="Calibri"/>
              </a:rPr>
              <a:t>Mechatronics System Design 101  ·  Leen's Group  ·  Week 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2026-04-14T11:10:08Z</dcterms:created>
  <dc:creator>PptxGenJS</dc:creator>
</cp:coreProperties>
</file>