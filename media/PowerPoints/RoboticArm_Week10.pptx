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mVYN2aa/wlEgwwcu9Clw+Ocli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120fc2874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e120fc2874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e120fc2874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spreadsheets/d/1vQUNIplIJCaTI_P2jxYhI44QH2mPTx2C/edit?usp=drive_link&amp;ouid=106065383605085710301&amp;rtpof=true&amp;sd=true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028090">
              <a:alpha val="14901"/>
            </a:srgbClr>
          </a:solidFill>
          <a:ln cap="flat" cmpd="sng" w="12700">
            <a:solidFill>
              <a:srgbClr val="02809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680960" y="3291840"/>
            <a:ext cx="2011680" cy="2011680"/>
          </a:xfrm>
          <a:prstGeom prst="ellipse">
            <a:avLst/>
          </a:prstGeom>
          <a:solidFill>
            <a:srgbClr val="028090">
              <a:alpha val="10196"/>
            </a:srgbClr>
          </a:solidFill>
          <a:ln cap="flat" cmpd="sng" w="12700">
            <a:solidFill>
              <a:srgbClr val="02809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38912" y="777240"/>
            <a:ext cx="1371600" cy="329184"/>
          </a:xfrm>
          <a:prstGeom prst="roundRect">
            <a:avLst>
              <a:gd fmla="val 16667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38912" y="77724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84048" y="1353312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Robotic Arm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84048" y="2176272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Pick &amp; Place System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84048" y="2907792"/>
            <a:ext cx="45720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84048" y="3090672"/>
            <a:ext cx="7772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Weekly Progress Report  ·  Mechatronics System Design 101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84048" y="446227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Leen's Group  ·  Leen  ·  Mohamed  ·  Helal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47472" y="0"/>
            <a:ext cx="6583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10 — Snapshot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47472" y="804672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What we worked on this week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47472" y="1133856"/>
            <a:ext cx="2688336" cy="16093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347472" y="1133856"/>
            <a:ext cx="2688336" cy="201168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75488" y="1426464"/>
            <a:ext cx="292608" cy="292608"/>
          </a:xfrm>
          <a:prstGeom prst="ellipse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75488" y="142646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59536" y="1389888"/>
            <a:ext cx="20665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Pump &amp; relay working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75488" y="1792224"/>
            <a:ext cx="245059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12V pump, relay module, and lithium batteries wired up and controlled via Arduino. Relay successfully activates and deactivates the pump on command.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163824" y="1133856"/>
            <a:ext cx="2688336" cy="16093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163824" y="1133856"/>
            <a:ext cx="2688336" cy="201168"/>
          </a:xfrm>
          <a:prstGeom prst="rect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291840" y="1426464"/>
            <a:ext cx="292608" cy="292608"/>
          </a:xfrm>
          <a:prstGeom prst="ellipse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291840" y="142646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675888" y="1389888"/>
            <a:ext cx="20665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ROS2 — arm in environment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291840" y="1792224"/>
            <a:ext cx="245059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CAD model now appears at correct positions in ROS2 environment. Arm joints are controllable and can be manipulated in simulation.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47472" y="2889504"/>
            <a:ext cx="2688336" cy="16093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47472" y="2889504"/>
            <a:ext cx="2688336" cy="20116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75488" y="3182112"/>
            <a:ext cx="292608" cy="292608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75488" y="31821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59536" y="3145536"/>
            <a:ext cx="20665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Arm assembly — stable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75488" y="3547872"/>
            <a:ext cx="245059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New screws procured — arm fits together perfectly and is structurally stable. Wheels received and ready to attach once base is complete.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163824" y="2889504"/>
            <a:ext cx="2688336" cy="16093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3163824" y="2889504"/>
            <a:ext cx="2688336" cy="201168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3291840" y="3182112"/>
            <a:ext cx="292608" cy="292608"/>
          </a:xfrm>
          <a:prstGeom prst="ellipse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3291840" y="31821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675888" y="3145536"/>
            <a:ext cx="20665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Mobile base — laser cut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291840" y="3547872"/>
            <a:ext cx="245059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Laser cut base attempted twice — both broke. Redesigning with a simpler geometry before the third attempt.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053328" y="80467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053328" y="1133856"/>
            <a:ext cx="283464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6053328" y="1133856"/>
            <a:ext cx="64008" cy="530352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6181344" y="1133856"/>
            <a:ext cx="1188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Pump / relay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443216" y="1261872"/>
            <a:ext cx="1335024" cy="256032"/>
          </a:xfrm>
          <a:prstGeom prst="roundRect">
            <a:avLst>
              <a:gd fmla="val 14286" name="adj"/>
            </a:avLst>
          </a:prstGeom>
          <a:solidFill>
            <a:srgbClr val="2EAD7A">
              <a:alpha val="18039"/>
            </a:srgbClr>
          </a:solidFill>
          <a:ln cap="flat" cmpd="sng" w="12700">
            <a:solidFill>
              <a:srgbClr val="2EAD7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7443216" y="1261872"/>
            <a:ext cx="13350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Working 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053328" y="1755648"/>
            <a:ext cx="283464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6053328" y="1755648"/>
            <a:ext cx="64008" cy="530352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6181344" y="1755648"/>
            <a:ext cx="1188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ROS2 / RViz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7443216" y="1883664"/>
            <a:ext cx="1335024" cy="256032"/>
          </a:xfrm>
          <a:prstGeom prst="roundRect">
            <a:avLst>
              <a:gd fmla="val 14286" name="adj"/>
            </a:avLst>
          </a:prstGeom>
          <a:solidFill>
            <a:srgbClr val="2EAD7A">
              <a:alpha val="18039"/>
            </a:srgbClr>
          </a:solidFill>
          <a:ln cap="flat" cmpd="sng" w="12700">
            <a:solidFill>
              <a:srgbClr val="2EAD7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7443216" y="1883664"/>
            <a:ext cx="13350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Working 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053328" y="2377440"/>
            <a:ext cx="283464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6053328" y="2377440"/>
            <a:ext cx="64008" cy="530352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6181344" y="2377440"/>
            <a:ext cx="1188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Arm assembly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443216" y="2505456"/>
            <a:ext cx="1335024" cy="256032"/>
          </a:xfrm>
          <a:prstGeom prst="roundRect">
            <a:avLst>
              <a:gd fmla="val 14286" name="adj"/>
            </a:avLst>
          </a:prstGeom>
          <a:solidFill>
            <a:srgbClr val="2EAD7A">
              <a:alpha val="18039"/>
            </a:srgbClr>
          </a:solidFill>
          <a:ln cap="flat" cmpd="sng" w="12700">
            <a:solidFill>
              <a:srgbClr val="2EAD7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7443216" y="2505456"/>
            <a:ext cx="13350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Stable 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6053328" y="2999232"/>
            <a:ext cx="283464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6053328" y="2999232"/>
            <a:ext cx="64008" cy="530352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6181344" y="2999232"/>
            <a:ext cx="1188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Mobile base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7443216" y="3127248"/>
            <a:ext cx="1335024" cy="256032"/>
          </a:xfrm>
          <a:prstGeom prst="roundRect">
            <a:avLst>
              <a:gd fmla="val 14286" name="adj"/>
            </a:avLst>
          </a:prstGeom>
          <a:solidFill>
            <a:srgbClr val="E06530">
              <a:alpha val="18039"/>
            </a:srgbClr>
          </a:solidFill>
          <a:ln cap="flat" cmpd="sng" w="12700">
            <a:solidFill>
              <a:srgbClr val="E0653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7443216" y="3127248"/>
            <a:ext cx="13350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0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000"/>
                </a:solidFill>
                <a:latin typeface="Calibri"/>
                <a:ea typeface="Calibri"/>
                <a:cs typeface="Calibri"/>
                <a:sym typeface="Calibri"/>
              </a:rPr>
              <a:t>Redesigning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053328" y="3621024"/>
            <a:ext cx="283464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6053328" y="3621024"/>
            <a:ext cx="64008" cy="530352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6181344" y="3621024"/>
            <a:ext cx="1188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End effector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7443216" y="3749040"/>
            <a:ext cx="1335024" cy="256032"/>
          </a:xfrm>
          <a:prstGeom prst="roundRect">
            <a:avLst>
              <a:gd fmla="val 14286" name="adj"/>
            </a:avLst>
          </a:prstGeom>
          <a:solidFill>
            <a:srgbClr val="E8A020">
              <a:alpha val="18039"/>
            </a:srgbClr>
          </a:solidFill>
          <a:ln cap="flat" cmpd="sng" w="12700">
            <a:solidFill>
              <a:srgbClr val="E8A02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7443216" y="3749040"/>
            <a:ext cx="13350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6053328" y="4242816"/>
            <a:ext cx="283464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6053328" y="4242816"/>
            <a:ext cx="64008" cy="530352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6181344" y="4242816"/>
            <a:ext cx="1188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Full assembly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7443216" y="4370832"/>
            <a:ext cx="1335024" cy="256032"/>
          </a:xfrm>
          <a:prstGeom prst="roundRect">
            <a:avLst>
              <a:gd fmla="val 14286" name="adj"/>
            </a:avLst>
          </a:prstGeom>
          <a:solidFill>
            <a:srgbClr val="E06530">
              <a:alpha val="18039"/>
            </a:srgbClr>
          </a:solidFill>
          <a:ln cap="flat" cmpd="sng" w="12700">
            <a:solidFill>
              <a:srgbClr val="E0653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7443216" y="4370832"/>
            <a:ext cx="13350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0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000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347472" y="4590288"/>
            <a:ext cx="8476488" cy="347472"/>
          </a:xfrm>
          <a:prstGeom prst="rect">
            <a:avLst/>
          </a:prstGeom>
          <a:solidFill>
            <a:srgbClr val="2EAD7A">
              <a:alpha val="12156"/>
            </a:srgbClr>
          </a:solidFill>
          <a:ln cap="flat" cmpd="sng" w="12700">
            <a:solidFill>
              <a:srgbClr val="2EAD7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475488" y="459028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✓  Major progress: pump + relay operational, ROS2 arm controllable in simulation, arm structurally stable.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347472" y="0"/>
            <a:ext cx="6583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Schedule — Gantt Chart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47472" y="804672"/>
            <a:ext cx="8476488" cy="4114800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C8D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347472" y="804672"/>
            <a:ext cx="8476488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EC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BAEC8"/>
                </a:solidFill>
                <a:latin typeface="Calibri"/>
                <a:ea typeface="Calibri"/>
                <a:cs typeface="Calibri"/>
                <a:sym typeface="Calibri"/>
              </a:rPr>
              <a:t>[ Paste Gantt Chart Image Here 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120fc2874_0_13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e120fc2874_0_13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e120fc2874_0_13"/>
          <p:cNvSpPr/>
          <p:nvPr/>
        </p:nvSpPr>
        <p:spPr>
          <a:xfrm>
            <a:off x="347472" y="0"/>
            <a:ext cx="6583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Schedule — Gantt Chart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e120fc2874_0_13"/>
          <p:cNvSpPr/>
          <p:nvPr/>
        </p:nvSpPr>
        <p:spPr>
          <a:xfrm>
            <a:off x="347472" y="804672"/>
            <a:ext cx="8476500" cy="4114800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C8D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e120fc2874_0_13"/>
          <p:cNvSpPr/>
          <p:nvPr/>
        </p:nvSpPr>
        <p:spPr>
          <a:xfrm>
            <a:off x="347472" y="804672"/>
            <a:ext cx="84765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EC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BAEC8"/>
                </a:solidFill>
                <a:latin typeface="Calibri"/>
                <a:ea typeface="Calibri"/>
                <a:cs typeface="Calibri"/>
                <a:sym typeface="Calibri"/>
              </a:rPr>
              <a:t>[ Paste Gantt Chart Image Here 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e120fc2874_0_13"/>
          <p:cNvSpPr/>
          <p:nvPr/>
        </p:nvSpPr>
        <p:spPr>
          <a:xfrm>
            <a:off x="274320" y="4919472"/>
            <a:ext cx="8595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g3e120fc2874_0_13" title="5716665.p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2550" y="961450"/>
            <a:ext cx="3452675" cy="34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47472" y="0"/>
            <a:ext cx="6583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Milestones &amp; Deliverables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47472" y="804672"/>
            <a:ext cx="2212848" cy="292608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438912" y="80467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2578608" y="804672"/>
            <a:ext cx="1572768" cy="292608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2670048" y="804672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169664" y="804672"/>
            <a:ext cx="1389888" cy="292608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4261104" y="80467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577840" y="804672"/>
            <a:ext cx="3246120" cy="292608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669280" y="804672"/>
            <a:ext cx="3136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week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47472" y="1097280"/>
            <a:ext cx="221284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2578608" y="1097280"/>
            <a:ext cx="157276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169664" y="1097280"/>
            <a:ext cx="138988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5577840" y="1097280"/>
            <a:ext cx="3246120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38912" y="1097280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CAD model complete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2670048" y="109728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261104" y="1179576"/>
            <a:ext cx="1207008" cy="237744"/>
          </a:xfrm>
          <a:prstGeom prst="roundRect">
            <a:avLst>
              <a:gd fmla="val 15385" name="adj"/>
            </a:avLst>
          </a:prstGeom>
          <a:solidFill>
            <a:srgbClr val="2EAD7A">
              <a:alpha val="18039"/>
            </a:srgbClr>
          </a:solidFill>
          <a:ln cap="flat" cmpd="sng" w="12700">
            <a:solidFill>
              <a:srgbClr val="2EAD7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4261104" y="1179576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Complete 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669280" y="1097280"/>
            <a:ext cx="31363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All links modelled — arm fits and is stable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47472" y="1554480"/>
            <a:ext cx="221284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2578608" y="1554480"/>
            <a:ext cx="157276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169664" y="1554480"/>
            <a:ext cx="138988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5577840" y="1554480"/>
            <a:ext cx="324612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438912" y="1554480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Pump &amp; relay control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2670048" y="155448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261104" y="1636776"/>
            <a:ext cx="1207008" cy="237744"/>
          </a:xfrm>
          <a:prstGeom prst="roundRect">
            <a:avLst>
              <a:gd fmla="val 15385" name="adj"/>
            </a:avLst>
          </a:prstGeom>
          <a:solidFill>
            <a:srgbClr val="2EAD7A">
              <a:alpha val="18039"/>
            </a:srgbClr>
          </a:solidFill>
          <a:ln cap="flat" cmpd="sng" w="12700">
            <a:solidFill>
              <a:srgbClr val="2EAD7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4261104" y="1636776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Done 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669280" y="1554480"/>
            <a:ext cx="31363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12V pump activated via relay and Arduino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47472" y="2011680"/>
            <a:ext cx="221284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2578608" y="2011680"/>
            <a:ext cx="157276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4169664" y="2011680"/>
            <a:ext cx="138988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5577840" y="2011680"/>
            <a:ext cx="3246120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438912" y="2011680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ROS2 / Digital twin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2670048" y="201168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261104" y="2093976"/>
            <a:ext cx="1207008" cy="237744"/>
          </a:xfrm>
          <a:prstGeom prst="roundRect">
            <a:avLst>
              <a:gd fmla="val 15385" name="adj"/>
            </a:avLst>
          </a:prstGeom>
          <a:solidFill>
            <a:srgbClr val="2EAD7A">
              <a:alpha val="18039"/>
            </a:srgbClr>
          </a:solidFill>
          <a:ln cap="flat" cmpd="sng" w="12700">
            <a:solidFill>
              <a:srgbClr val="2EAD7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4261104" y="2093976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Working 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5669280" y="2011680"/>
            <a:ext cx="31363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Arm at correct positions, joints manipulable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347472" y="2468880"/>
            <a:ext cx="221284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2578608" y="2468880"/>
            <a:ext cx="157276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4169664" y="2468880"/>
            <a:ext cx="138988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5577840" y="2468880"/>
            <a:ext cx="324612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438912" y="2468880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End effector (gripper)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2670048" y="246888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4261104" y="2551176"/>
            <a:ext cx="1207008" cy="237744"/>
          </a:xfrm>
          <a:prstGeom prst="roundRect">
            <a:avLst>
              <a:gd fmla="val 15385" name="adj"/>
            </a:avLst>
          </a:prstGeom>
          <a:solidFill>
            <a:srgbClr val="E8A020">
              <a:alpha val="18039"/>
            </a:srgbClr>
          </a:solidFill>
          <a:ln cap="flat" cmpd="sng" w="12700">
            <a:solidFill>
              <a:srgbClr val="E8A02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4261104" y="2551176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5669280" y="2468880"/>
            <a:ext cx="31363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3D printing gripper design in progress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347472" y="2926080"/>
            <a:ext cx="221284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2578608" y="2926080"/>
            <a:ext cx="157276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169664" y="2926080"/>
            <a:ext cx="138988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5577840" y="2926080"/>
            <a:ext cx="3246120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438912" y="2926080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Mobile base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2670048" y="292608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261104" y="3008376"/>
            <a:ext cx="1207008" cy="237744"/>
          </a:xfrm>
          <a:prstGeom prst="roundRect">
            <a:avLst>
              <a:gd fmla="val 15385" name="adj"/>
            </a:avLst>
          </a:prstGeom>
          <a:solidFill>
            <a:srgbClr val="E06530">
              <a:alpha val="18039"/>
            </a:srgbClr>
          </a:solidFill>
          <a:ln cap="flat" cmpd="sng" w="12700">
            <a:solidFill>
              <a:srgbClr val="E0653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4261104" y="3008376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0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000"/>
                </a:solidFill>
                <a:latin typeface="Calibri"/>
                <a:ea typeface="Calibri"/>
                <a:cs typeface="Calibri"/>
                <a:sym typeface="Calibri"/>
              </a:rPr>
              <a:t>Redesigning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5669280" y="2926080"/>
            <a:ext cx="31363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Laser cut failed twice — simpler design planned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347472" y="3383280"/>
            <a:ext cx="221284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2578608" y="3383280"/>
            <a:ext cx="157276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4169664" y="3383280"/>
            <a:ext cx="138988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5577840" y="3383280"/>
            <a:ext cx="324612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438912" y="3383280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Full assembly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2670048" y="338328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4261104" y="3465576"/>
            <a:ext cx="1207008" cy="237744"/>
          </a:xfrm>
          <a:prstGeom prst="roundRect">
            <a:avLst>
              <a:gd fmla="val 15385" name="adj"/>
            </a:avLst>
          </a:prstGeom>
          <a:solidFill>
            <a:srgbClr val="E06530">
              <a:alpha val="18039"/>
            </a:srgbClr>
          </a:solidFill>
          <a:ln cap="flat" cmpd="sng" w="12700">
            <a:solidFill>
              <a:srgbClr val="E0653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4261104" y="3465576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0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000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5669280" y="3383280"/>
            <a:ext cx="31363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Waiting on base and end effector completion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347472" y="3840480"/>
            <a:ext cx="221284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2578608" y="3840480"/>
            <a:ext cx="157276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4169664" y="3840480"/>
            <a:ext cx="138988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5577840" y="3840480"/>
            <a:ext cx="3246120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438912" y="3840480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Control complete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2670048" y="384048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4261104" y="3922776"/>
            <a:ext cx="1207008" cy="237744"/>
          </a:xfrm>
          <a:prstGeom prst="roundRect">
            <a:avLst>
              <a:gd fmla="val 15385" name="adj"/>
            </a:avLst>
          </a:prstGeom>
          <a:solidFill>
            <a:srgbClr val="2EAD7A">
              <a:alpha val="18039"/>
            </a:srgbClr>
          </a:solidFill>
          <a:ln cap="flat" cmpd="sng" w="12700">
            <a:solidFill>
              <a:srgbClr val="2EAD7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4261104" y="3922776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On track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5669280" y="3840480"/>
            <a:ext cx="31363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Gamepad + Python + CV + relay all functional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347472" y="0"/>
            <a:ext cx="6583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Issues, Risks &amp; Action Items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347472" y="786384"/>
            <a:ext cx="4041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Current issues &amp; risks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347472" y="1133856"/>
            <a:ext cx="4041648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347472" y="1133856"/>
            <a:ext cx="73152" cy="84124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3108960" y="1207008"/>
            <a:ext cx="1170432" cy="219456"/>
          </a:xfrm>
          <a:prstGeom prst="roundRect">
            <a:avLst>
              <a:gd fmla="val 16667" name="adj"/>
            </a:avLst>
          </a:prstGeom>
          <a:solidFill>
            <a:srgbClr val="C0392B">
              <a:alpha val="18039"/>
            </a:srgbClr>
          </a:solidFill>
          <a:ln cap="flat" cmpd="sng" w="12700">
            <a:solidFill>
              <a:srgbClr val="C0392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3108960" y="1207008"/>
            <a:ext cx="11704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1515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1515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493776" y="1188720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Mobile base — laser cut failing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493776" y="1463040"/>
            <a:ext cx="34015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Two laser cut attempts broke. Root cause: design too complex for the material. Redesigning with simpler geometry before third attempt.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347472" y="2084832"/>
            <a:ext cx="4041648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347472" y="2084832"/>
            <a:ext cx="73152" cy="84124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3108960" y="2157984"/>
            <a:ext cx="1170432" cy="219456"/>
          </a:xfrm>
          <a:prstGeom prst="roundRect">
            <a:avLst>
              <a:gd fmla="val 16667" name="adj"/>
            </a:avLst>
          </a:prstGeom>
          <a:solidFill>
            <a:srgbClr val="C0392B">
              <a:alpha val="18039"/>
            </a:srgbClr>
          </a:solidFill>
          <a:ln cap="flat" cmpd="sng" w="12700">
            <a:solidFill>
              <a:srgbClr val="C0392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3108960" y="2157984"/>
            <a:ext cx="11704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1515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1515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493776" y="213969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End effector not yet complete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493776" y="2414016"/>
            <a:ext cx="34015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Gripper being 3D printed. End effector assembly cannot be finalised until print is complete and fit is verified.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347472" y="3035808"/>
            <a:ext cx="4041648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347472" y="3035808"/>
            <a:ext cx="73152" cy="841248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3108960" y="3108960"/>
            <a:ext cx="1170432" cy="219456"/>
          </a:xfrm>
          <a:prstGeom prst="roundRect">
            <a:avLst>
              <a:gd fmla="val 16667" name="adj"/>
            </a:avLst>
          </a:prstGeom>
          <a:solidFill>
            <a:srgbClr val="E06530">
              <a:alpha val="18039"/>
            </a:srgbClr>
          </a:solidFill>
          <a:ln cap="flat" cmpd="sng" w="12700">
            <a:solidFill>
              <a:srgbClr val="E0653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3108960" y="3108960"/>
            <a:ext cx="11704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0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000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493776" y="3090672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Full assembly blocked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493776" y="3364992"/>
            <a:ext cx="34015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Cannot fully assemble the system until both the mobile base and end effector are ready.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347472" y="3986784"/>
            <a:ext cx="4041648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347472" y="3986784"/>
            <a:ext cx="73152" cy="841248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3108960" y="4059936"/>
            <a:ext cx="1170432" cy="219456"/>
          </a:xfrm>
          <a:prstGeom prst="roundRect">
            <a:avLst>
              <a:gd fmla="val 16667" name="adj"/>
            </a:avLst>
          </a:prstGeom>
          <a:solidFill>
            <a:srgbClr val="E06530">
              <a:alpha val="18039"/>
            </a:srgbClr>
          </a:solidFill>
          <a:ln cap="flat" cmpd="sng" w="12700">
            <a:solidFill>
              <a:srgbClr val="E0653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3108960" y="4059936"/>
            <a:ext cx="11704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0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000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93776" y="4041648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Box dimensions still unknown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493776" y="4315968"/>
            <a:ext cx="34015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Professor has not yet provided box dimensions — coordinate mapping and arm positioning cannot be fully finalised.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4663440" y="786384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Action items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4663440" y="1133856"/>
            <a:ext cx="41605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4663440" y="1133856"/>
            <a:ext cx="73152" cy="53035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809744" y="117043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Redesign base — simpler geometry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809744" y="144475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7589520" y="1261872"/>
            <a:ext cx="1133856" cy="237744"/>
          </a:xfrm>
          <a:prstGeom prst="roundRect">
            <a:avLst>
              <a:gd fmla="val 15385" name="adj"/>
            </a:avLst>
          </a:prstGeom>
          <a:solidFill>
            <a:srgbClr val="C0392B">
              <a:alpha val="14901"/>
            </a:srgbClr>
          </a:solidFill>
          <a:ln cap="flat" cmpd="sng" w="12700">
            <a:solidFill>
              <a:srgbClr val="C0392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"/>
          <p:cNvSpPr/>
          <p:nvPr/>
        </p:nvSpPr>
        <p:spPr>
          <a:xfrm>
            <a:off x="7589520" y="1261872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151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B1515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4663440" y="1755648"/>
            <a:ext cx="41605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4663440" y="1755648"/>
            <a:ext cx="73152" cy="53035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4809744" y="179222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Third laser cut attempt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4809744" y="206654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7589520" y="1883664"/>
            <a:ext cx="1133856" cy="237744"/>
          </a:xfrm>
          <a:prstGeom prst="roundRect">
            <a:avLst>
              <a:gd fmla="val 15385" name="adj"/>
            </a:avLst>
          </a:prstGeom>
          <a:solidFill>
            <a:srgbClr val="C0392B">
              <a:alpha val="14901"/>
            </a:srgbClr>
          </a:solidFill>
          <a:ln cap="flat" cmpd="sng" w="12700">
            <a:solidFill>
              <a:srgbClr val="C0392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"/>
          <p:cNvSpPr/>
          <p:nvPr/>
        </p:nvSpPr>
        <p:spPr>
          <a:xfrm>
            <a:off x="7589520" y="1883664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151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B1515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4663440" y="2377440"/>
            <a:ext cx="41605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4663440" y="2377440"/>
            <a:ext cx="73152" cy="530352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5"/>
          <p:cNvSpPr/>
          <p:nvPr/>
        </p:nvSpPr>
        <p:spPr>
          <a:xfrm>
            <a:off x="4809744" y="241401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Complete gripper 3D print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4809744" y="268833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Mohamed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7589520" y="2505456"/>
            <a:ext cx="1133856" cy="237744"/>
          </a:xfrm>
          <a:prstGeom prst="roundRect">
            <a:avLst>
              <a:gd fmla="val 15385" name="adj"/>
            </a:avLst>
          </a:prstGeom>
          <a:solidFill>
            <a:srgbClr val="E06530">
              <a:alpha val="14901"/>
            </a:srgbClr>
          </a:solidFill>
          <a:ln cap="flat" cmpd="sng" w="12700">
            <a:solidFill>
              <a:srgbClr val="E0653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7589520" y="2505456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0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B3000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4663440" y="2999232"/>
            <a:ext cx="41605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"/>
          <p:cNvSpPr/>
          <p:nvPr/>
        </p:nvSpPr>
        <p:spPr>
          <a:xfrm>
            <a:off x="4663440" y="2999232"/>
            <a:ext cx="73152" cy="530352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5"/>
          <p:cNvSpPr/>
          <p:nvPr/>
        </p:nvSpPr>
        <p:spPr>
          <a:xfrm>
            <a:off x="4809744" y="3035808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Attach wheels once base is ready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4809744" y="331012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7589520" y="3127248"/>
            <a:ext cx="1133856" cy="237744"/>
          </a:xfrm>
          <a:prstGeom prst="roundRect">
            <a:avLst>
              <a:gd fmla="val 15385" name="adj"/>
            </a:avLst>
          </a:prstGeom>
          <a:solidFill>
            <a:srgbClr val="E8A020">
              <a:alpha val="14901"/>
            </a:srgbClr>
          </a:solidFill>
          <a:ln cap="flat" cmpd="sng" w="12700">
            <a:solidFill>
              <a:srgbClr val="E8A02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7589520" y="3127248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0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B3000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4663440" y="3621024"/>
            <a:ext cx="41605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"/>
          <p:cNvSpPr/>
          <p:nvPr/>
        </p:nvSpPr>
        <p:spPr>
          <a:xfrm>
            <a:off x="4663440" y="3621024"/>
            <a:ext cx="73152" cy="530352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4809744" y="365760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Full system assembly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4809744" y="393192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7589520" y="3749040"/>
            <a:ext cx="1133856" cy="237744"/>
          </a:xfrm>
          <a:prstGeom prst="roundRect">
            <a:avLst>
              <a:gd fmla="val 15385" name="adj"/>
            </a:avLst>
          </a:prstGeom>
          <a:solidFill>
            <a:srgbClr val="2EAD7A">
              <a:alpha val="14901"/>
            </a:srgbClr>
          </a:solidFill>
          <a:ln cap="flat" cmpd="sng" w="12700">
            <a:solidFill>
              <a:srgbClr val="2EAD7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7589520" y="3749040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4663440" y="4242816"/>
            <a:ext cx="41605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4663440" y="4242816"/>
            <a:ext cx="73152" cy="530352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4809744" y="427939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Request box dimensions from professor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4809744" y="455371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Leen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7589520" y="4370832"/>
            <a:ext cx="1133856" cy="237744"/>
          </a:xfrm>
          <a:prstGeom prst="roundRect">
            <a:avLst>
              <a:gd fmla="val 15385" name="adj"/>
            </a:avLst>
          </a:prstGeom>
          <a:solidFill>
            <a:srgbClr val="E06530">
              <a:alpha val="14901"/>
            </a:srgbClr>
          </a:solidFill>
          <a:ln cap="flat" cmpd="sng" w="12700">
            <a:solidFill>
              <a:srgbClr val="E0653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7589520" y="4370832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0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B3000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6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028090">
              <a:alpha val="12156"/>
            </a:srgbClr>
          </a:solidFill>
          <a:ln cap="flat" cmpd="sng" w="12700">
            <a:solidFill>
              <a:srgbClr val="028090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7132320" y="3108960"/>
            <a:ext cx="2743200" cy="2743200"/>
          </a:xfrm>
          <a:prstGeom prst="ellipse">
            <a:avLst/>
          </a:prstGeom>
          <a:solidFill>
            <a:srgbClr val="028090">
              <a:alpha val="7843"/>
            </a:srgbClr>
          </a:solidFill>
          <a:ln cap="flat" cmpd="sng" w="12700">
            <a:solidFill>
              <a:srgbClr val="02809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6"/>
          <p:cNvSpPr/>
          <p:nvPr/>
        </p:nvSpPr>
        <p:spPr>
          <a:xfrm>
            <a:off x="411480" y="128016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Individual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411480" y="201168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Updates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411480" y="2999232"/>
            <a:ext cx="36576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"/>
          <p:cNvSpPr/>
          <p:nvPr/>
        </p:nvSpPr>
        <p:spPr>
          <a:xfrm>
            <a:off x="411480" y="3163824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What each member did, what they will do, what they need.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411480" y="3749040"/>
            <a:ext cx="2560320" cy="475488"/>
          </a:xfrm>
          <a:prstGeom prst="roundRect">
            <a:avLst>
              <a:gd fmla="val 15385" name="adj"/>
            </a:avLst>
          </a:prstGeom>
          <a:solidFill>
            <a:srgbClr val="028090">
              <a:alpha val="20000"/>
            </a:srgbClr>
          </a:solidFill>
          <a:ln cap="flat" cmpd="sng" w="12700">
            <a:solidFill>
              <a:srgbClr val="02809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"/>
          <p:cNvSpPr/>
          <p:nvPr/>
        </p:nvSpPr>
        <p:spPr>
          <a:xfrm>
            <a:off x="411480" y="37490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411480" y="4005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Group Leader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3246120" y="3749040"/>
            <a:ext cx="2560320" cy="475488"/>
          </a:xfrm>
          <a:prstGeom prst="roundRect">
            <a:avLst>
              <a:gd fmla="val 15385" name="adj"/>
            </a:avLst>
          </a:prstGeom>
          <a:solidFill>
            <a:srgbClr val="2EAD7A">
              <a:alpha val="20000"/>
            </a:srgbClr>
          </a:solidFill>
          <a:ln cap="flat" cmpd="sng" w="12700">
            <a:solidFill>
              <a:srgbClr val="2EAD7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>
            <a:off x="3246120" y="37490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Mohamed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3246120" y="4005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Member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6080760" y="3749040"/>
            <a:ext cx="2560320" cy="475488"/>
          </a:xfrm>
          <a:prstGeom prst="roundRect">
            <a:avLst>
              <a:gd fmla="val 15385" name="adj"/>
            </a:avLst>
          </a:prstGeom>
          <a:solidFill>
            <a:srgbClr val="6B4E9E">
              <a:alpha val="20000"/>
            </a:srgbClr>
          </a:solidFill>
          <a:ln cap="flat" cmpd="sng" w="12700">
            <a:solidFill>
              <a:srgbClr val="6B4E9E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"/>
          <p:cNvSpPr/>
          <p:nvPr/>
        </p:nvSpPr>
        <p:spPr>
          <a:xfrm>
            <a:off x="6080760" y="37490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6080760" y="4005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Member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Leen — Group Leader  ·  ROS2 &amp; Simulation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347472" y="786384"/>
            <a:ext cx="4114800" cy="1389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347472" y="786384"/>
            <a:ext cx="4114800" cy="256032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438912" y="78638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Accomplished (since last report)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457200" y="107899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CAD model imported into ROS2 environment at correct joint positions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457200" y="140817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Arm joints are now manipulable in the simulation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457200" y="173736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Digital twin reflects the physical arm structure accurately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347472" y="2249424"/>
            <a:ext cx="411480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347472" y="2249424"/>
            <a:ext cx="4114800" cy="256032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438912" y="224942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457200" y="25420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Linking ROS2 simulation to real Arduino control 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457200" y="281635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Finalising coordinate mapping for auto pick-and-place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347472" y="3127248"/>
            <a:ext cx="411480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347472" y="3127248"/>
            <a:ext cx="4114800" cy="256032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7"/>
          <p:cNvSpPr/>
          <p:nvPr/>
        </p:nvSpPr>
        <p:spPr>
          <a:xfrm>
            <a:off x="438912" y="312724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week plan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457200" y="341985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Connect ROS2 to Arduino for real-time joint control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457200" y="374904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Complete full auto pick-and-place 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457200" y="4078224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Request box dimensions from professor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4663440" y="786384"/>
            <a:ext cx="4206240" cy="23408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7"/>
          <p:cNvSpPr/>
          <p:nvPr/>
        </p:nvSpPr>
        <p:spPr>
          <a:xfrm>
            <a:off x="4663440" y="786384"/>
            <a:ext cx="4206240" cy="2560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4754880" y="78638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ROS2 / Digital twin — where we 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4754880" y="1115568"/>
            <a:ext cx="3986784" cy="310896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E0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"/>
          <p:cNvSpPr/>
          <p:nvPr/>
        </p:nvSpPr>
        <p:spPr>
          <a:xfrm>
            <a:off x="4846320" y="1115568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Ubuntu VM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5943600" y="1115568"/>
            <a:ext cx="27066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Installed &amp; configured 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4754880" y="1463040"/>
            <a:ext cx="3986784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7"/>
          <p:cNvSpPr/>
          <p:nvPr/>
        </p:nvSpPr>
        <p:spPr>
          <a:xfrm>
            <a:off x="4846320" y="1463040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ROS2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5943600" y="1463040"/>
            <a:ext cx="27066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Installed and running 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4754880" y="1810512"/>
            <a:ext cx="3986784" cy="310896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E0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>
            <a:off x="4846320" y="1810512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CAD import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5943600" y="1810512"/>
            <a:ext cx="27066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Model at correct positions 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4754880" y="2157984"/>
            <a:ext cx="3986784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>
            <a:off x="4846320" y="2157984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Joint control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5943600" y="2157984"/>
            <a:ext cx="27066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Joints manipulable in sim 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4754880" y="2505456"/>
            <a:ext cx="3986784" cy="310896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E0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7"/>
          <p:cNvSpPr/>
          <p:nvPr/>
        </p:nvSpPr>
        <p:spPr>
          <a:xfrm>
            <a:off x="4846320" y="2505456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Arduino link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5943600" y="2505456"/>
            <a:ext cx="27066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ROS2 ↔ Arduino — in progress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4754880" y="2852928"/>
            <a:ext cx="3986784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7"/>
          <p:cNvSpPr/>
          <p:nvPr/>
        </p:nvSpPr>
        <p:spPr>
          <a:xfrm>
            <a:off x="4846320" y="2852928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Full 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5943600" y="2852928"/>
            <a:ext cx="27066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Pending full assembly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4663440" y="3200400"/>
            <a:ext cx="4206240" cy="12984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7"/>
          <p:cNvSpPr/>
          <p:nvPr/>
        </p:nvSpPr>
        <p:spPr>
          <a:xfrm>
            <a:off x="4663440" y="3200400"/>
            <a:ext cx="4206240" cy="256032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7"/>
          <p:cNvSpPr/>
          <p:nvPr/>
        </p:nvSpPr>
        <p:spPr>
          <a:xfrm>
            <a:off x="4754880" y="320040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Help needed / questions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4773168" y="3493008"/>
            <a:ext cx="393192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Box dimensions still needed from professor to finalise arm positioning and coordinate mapping for pick-and-place.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Mohamed — Member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347472" y="786384"/>
            <a:ext cx="411480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347472" y="786384"/>
            <a:ext cx="4114800" cy="256032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"/>
          <p:cNvSpPr/>
          <p:nvPr/>
        </p:nvSpPr>
        <p:spPr>
          <a:xfrm>
            <a:off x="438912" y="786384"/>
            <a:ext cx="4005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Accomplished (since last report)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457200" y="1115568"/>
            <a:ext cx="3931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CD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BCCD8"/>
                </a:solidFill>
                <a:latin typeface="Calibri"/>
                <a:ea typeface="Calibri"/>
                <a:cs typeface="Calibri"/>
                <a:sym typeface="Calibri"/>
              </a:rPr>
              <a:t>[ To be filled in by Mohamed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347472" y="1865376"/>
            <a:ext cx="411480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347472" y="1865376"/>
            <a:ext cx="4114800" cy="256032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438912" y="1865376"/>
            <a:ext cx="4005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457200" y="2194560"/>
            <a:ext cx="3931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CD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BCCD8"/>
                </a:solidFill>
                <a:latin typeface="Calibri"/>
                <a:ea typeface="Calibri"/>
                <a:cs typeface="Calibri"/>
                <a:sym typeface="Calibri"/>
              </a:rPr>
              <a:t>[ To be filled in by Mohamed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347472" y="3474720"/>
            <a:ext cx="411480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347472" y="3474720"/>
            <a:ext cx="4114800" cy="256032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438912" y="3474720"/>
            <a:ext cx="4005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week plan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457200" y="3803904"/>
            <a:ext cx="3931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CD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BCCD8"/>
                </a:solidFill>
                <a:latin typeface="Calibri"/>
                <a:ea typeface="Calibri"/>
                <a:cs typeface="Calibri"/>
                <a:sym typeface="Calibri"/>
              </a:rPr>
              <a:t>[ To be filled in by Mohamed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4663440" y="786384"/>
            <a:ext cx="4206240" cy="20848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4663440" y="786384"/>
            <a:ext cx="4206240" cy="2560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8"/>
          <p:cNvSpPr/>
          <p:nvPr/>
        </p:nvSpPr>
        <p:spPr>
          <a:xfrm>
            <a:off x="4754880" y="786384"/>
            <a:ext cx="4096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Evidence (show, don't tell)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4773168" y="1115568"/>
            <a:ext cx="4023360" cy="1682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CD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BCCD8"/>
                </a:solidFill>
                <a:latin typeface="Calibri"/>
                <a:ea typeface="Calibri"/>
                <a:cs typeface="Calibri"/>
                <a:sym typeface="Calibri"/>
              </a:rPr>
              <a:t>[ To be filled in by Mohamed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4663440" y="2944368"/>
            <a:ext cx="4206240" cy="1536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8"/>
          <p:cNvSpPr/>
          <p:nvPr/>
        </p:nvSpPr>
        <p:spPr>
          <a:xfrm>
            <a:off x="4663440" y="2944368"/>
            <a:ext cx="4206240" cy="256032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8"/>
          <p:cNvSpPr/>
          <p:nvPr/>
        </p:nvSpPr>
        <p:spPr>
          <a:xfrm>
            <a:off x="4754880" y="2944368"/>
            <a:ext cx="4096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Help needed / questions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4773168" y="3273552"/>
            <a:ext cx="40233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CD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BCCD8"/>
                </a:solidFill>
                <a:latin typeface="Calibri"/>
                <a:ea typeface="Calibri"/>
                <a:cs typeface="Calibri"/>
                <a:sym typeface="Calibri"/>
              </a:rPr>
              <a:t>[ To be filled in by Mohamed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Helal — Member  ·  Hardware &amp; Assembly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347472" y="786384"/>
            <a:ext cx="411480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347472" y="786384"/>
            <a:ext cx="4114800" cy="256032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438912" y="78638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Accomplished (since last report)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457200" y="1078992"/>
            <a:ext cx="38404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Procured 12V pump, relay module, lithium batteries and case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457200" y="1380744"/>
            <a:ext cx="38404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Wired relay module to Arduino — pump activates and deactivates on command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457200" y="1682496"/>
            <a:ext cx="38404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Procured new screws — arm fits together and is structurally stable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457200" y="1984248"/>
            <a:ext cx="38404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Received wheels — ready to attach once base is complete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457200" y="2286000"/>
            <a:ext cx="38404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Laser cut base attempted twice — both attempts broke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347472" y="2688336"/>
            <a:ext cx="4114800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347472" y="2688336"/>
            <a:ext cx="4114800" cy="256032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9"/>
          <p:cNvSpPr/>
          <p:nvPr/>
        </p:nvSpPr>
        <p:spPr>
          <a:xfrm>
            <a:off x="438912" y="268833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457200" y="298094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Redesigning base with simpler geometry for third laser cut attempt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347472" y="3456432"/>
            <a:ext cx="4114800" cy="10424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"/>
          <p:cNvSpPr/>
          <p:nvPr/>
        </p:nvSpPr>
        <p:spPr>
          <a:xfrm>
            <a:off x="347472" y="3456432"/>
            <a:ext cx="4114800" cy="256032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9"/>
          <p:cNvSpPr/>
          <p:nvPr/>
        </p:nvSpPr>
        <p:spPr>
          <a:xfrm>
            <a:off x="438912" y="345643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week plan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457200" y="374904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Third laser cut attempt with simplified base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457200" y="400507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Attach wheels and DC motors to 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457200" y="426110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Begin full system assembly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4663440" y="786384"/>
            <a:ext cx="4206240" cy="2487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9"/>
          <p:cNvSpPr/>
          <p:nvPr/>
        </p:nvSpPr>
        <p:spPr>
          <a:xfrm>
            <a:off x="4663440" y="786384"/>
            <a:ext cx="4206240" cy="256032"/>
          </a:xfrm>
          <a:prstGeom prst="rect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>
            <a:off x="4754880" y="78638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Electrical system — what was bought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4754880" y="1115568"/>
            <a:ext cx="3986784" cy="329184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E0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4846320" y="1115568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E9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4E9E"/>
                </a:solidFill>
                <a:latin typeface="Calibri"/>
                <a:ea typeface="Calibri"/>
                <a:cs typeface="Calibri"/>
                <a:sym typeface="Calibri"/>
              </a:rPr>
              <a:t>Pump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5669280" y="1115568"/>
            <a:ext cx="2980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12V DC mini vacuum pump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4754880" y="1481328"/>
            <a:ext cx="3986784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9"/>
          <p:cNvSpPr/>
          <p:nvPr/>
        </p:nvSpPr>
        <p:spPr>
          <a:xfrm>
            <a:off x="4846320" y="1481328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E9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4E9E"/>
                </a:solidFill>
                <a:latin typeface="Calibri"/>
                <a:ea typeface="Calibri"/>
                <a:cs typeface="Calibri"/>
                <a:sym typeface="Calibri"/>
              </a:rPr>
              <a:t>Power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5669280" y="1481328"/>
            <a:ext cx="2980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3× 3.7V lithium batteries in series (~11.1V)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4754880" y="1847088"/>
            <a:ext cx="3986784" cy="329184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E0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>
            <a:off x="4846320" y="1847088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E9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4E9E"/>
                </a:solidFill>
                <a:latin typeface="Calibri"/>
                <a:ea typeface="Calibri"/>
                <a:cs typeface="Calibri"/>
                <a:sym typeface="Calibri"/>
              </a:rPr>
              <a:t>Relay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5669280" y="1847088"/>
            <a:ext cx="2980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Relay module — Arduino-controlled on/off for pump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4754880" y="2212848"/>
            <a:ext cx="3986784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9"/>
          <p:cNvSpPr/>
          <p:nvPr/>
        </p:nvSpPr>
        <p:spPr>
          <a:xfrm>
            <a:off x="4846320" y="2212848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E9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4E9E"/>
                </a:solidFill>
                <a:latin typeface="Calibri"/>
                <a:ea typeface="Calibri"/>
                <a:cs typeface="Calibri"/>
                <a:sym typeface="Calibri"/>
              </a:rPr>
              <a:t>Motors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5669280" y="2212848"/>
            <a:ext cx="2980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2× DC motors + wheels for mobile base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4754880" y="2578608"/>
            <a:ext cx="3986784" cy="329184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E0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4846320" y="2578608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E9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4E9E"/>
                </a:solidFill>
                <a:latin typeface="Calibri"/>
                <a:ea typeface="Calibri"/>
                <a:cs typeface="Calibri"/>
                <a:sym typeface="Calibri"/>
              </a:rPr>
              <a:t>Driver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5669280" y="2578608"/>
            <a:ext cx="2980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L298D motor driver shield for DC motors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4754880" y="2944368"/>
            <a:ext cx="3986784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>
            <a:off x="4846320" y="2944368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E9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4E9E"/>
                </a:solidFill>
                <a:latin typeface="Calibri"/>
                <a:ea typeface="Calibri"/>
                <a:cs typeface="Calibri"/>
                <a:sym typeface="Calibri"/>
              </a:rPr>
              <a:t>Screws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5669280" y="2944368"/>
            <a:ext cx="2980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New M3 screws — arm assembly now stable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4663440" y="3346704"/>
            <a:ext cx="4206240" cy="11521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9"/>
          <p:cNvSpPr/>
          <p:nvPr/>
        </p:nvSpPr>
        <p:spPr>
          <a:xfrm>
            <a:off x="4663440" y="3346704"/>
            <a:ext cx="4206240" cy="256032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9"/>
          <p:cNvSpPr/>
          <p:nvPr/>
        </p:nvSpPr>
        <p:spPr>
          <a:xfrm>
            <a:off x="4754880" y="334670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Help needed / questions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4773168" y="3639312"/>
            <a:ext cx="3931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Base material and design needs to be validated before cutting again — two failed attempts. Need to confirm final dimensions and cut settings before third attempt.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6583680" y="-1097280"/>
            <a:ext cx="4206240" cy="4206240"/>
          </a:xfrm>
          <a:prstGeom prst="ellipse">
            <a:avLst/>
          </a:prstGeom>
          <a:solidFill>
            <a:srgbClr val="028090">
              <a:alpha val="12156"/>
            </a:srgbClr>
          </a:solidFill>
          <a:ln cap="flat" cmpd="sng" w="12700">
            <a:solidFill>
              <a:srgbClr val="028090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7315200" y="3474720"/>
            <a:ext cx="2194560" cy="2194560"/>
          </a:xfrm>
          <a:prstGeom prst="ellipse">
            <a:avLst/>
          </a:prstGeom>
          <a:solidFill>
            <a:srgbClr val="028090">
              <a:alpha val="7843"/>
            </a:srgbClr>
          </a:solidFill>
          <a:ln cap="flat" cmpd="sng" w="12700">
            <a:solidFill>
              <a:srgbClr val="02809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411480" y="38404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Week 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411480" y="786384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411480" y="1591056"/>
            <a:ext cx="45720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0"/>
          <p:cNvSpPr/>
          <p:nvPr/>
        </p:nvSpPr>
        <p:spPr>
          <a:xfrm>
            <a:off x="411480" y="1737360"/>
            <a:ext cx="5577840" cy="310896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411480" y="1737360"/>
            <a:ext cx="54864" cy="310896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530352" y="1737360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859536" y="1737360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Pump + relay + batteries — working and controlled by Arduino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411480" y="2121408"/>
            <a:ext cx="5577840" cy="310896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411480" y="2121408"/>
            <a:ext cx="54864" cy="310896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530352" y="2121408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859536" y="2121408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ROS2 arm at correct positions in simulation — joints manipulable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411480" y="2505456"/>
            <a:ext cx="5577840" cy="310896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411480" y="2505456"/>
            <a:ext cx="54864" cy="310896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0"/>
          <p:cNvSpPr/>
          <p:nvPr/>
        </p:nvSpPr>
        <p:spPr>
          <a:xfrm>
            <a:off x="530352" y="2505456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859536" y="2505456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Arm structurally stable — new screws fit perfectly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411480" y="2889504"/>
            <a:ext cx="5577840" cy="310896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411480" y="2889504"/>
            <a:ext cx="54864" cy="310896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0"/>
          <p:cNvSpPr/>
          <p:nvPr/>
        </p:nvSpPr>
        <p:spPr>
          <a:xfrm>
            <a:off x="530352" y="2889504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859536" y="288950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Wheels and DC motors received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411480" y="3273552"/>
            <a:ext cx="5577840" cy="310896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0"/>
          <p:cNvSpPr/>
          <p:nvPr/>
        </p:nvSpPr>
        <p:spPr>
          <a:xfrm>
            <a:off x="411480" y="3273552"/>
            <a:ext cx="54864" cy="310896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0"/>
          <p:cNvSpPr/>
          <p:nvPr/>
        </p:nvSpPr>
        <p:spPr>
          <a:xfrm>
            <a:off x="530352" y="3273552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653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06530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859536" y="3273552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Mobile base laser cut failed twice — redesigning for third attempt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/>
          <p:nvPr/>
        </p:nvSpPr>
        <p:spPr>
          <a:xfrm>
            <a:off x="411480" y="3657600"/>
            <a:ext cx="5577840" cy="310896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0"/>
          <p:cNvSpPr/>
          <p:nvPr/>
        </p:nvSpPr>
        <p:spPr>
          <a:xfrm>
            <a:off x="411480" y="3657600"/>
            <a:ext cx="54864" cy="310896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0"/>
          <p:cNvSpPr/>
          <p:nvPr/>
        </p:nvSpPr>
        <p:spPr>
          <a:xfrm>
            <a:off x="530352" y="3657600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653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06530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859536" y="3657600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End effector / gripper still being 3D printed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411480" y="4041648"/>
            <a:ext cx="5577840" cy="310896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0"/>
          <p:cNvSpPr/>
          <p:nvPr/>
        </p:nvSpPr>
        <p:spPr>
          <a:xfrm>
            <a:off x="411480" y="4041648"/>
            <a:ext cx="54864" cy="310896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0"/>
          <p:cNvSpPr/>
          <p:nvPr/>
        </p:nvSpPr>
        <p:spPr>
          <a:xfrm>
            <a:off x="530352" y="4041648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0"/>
          <p:cNvSpPr/>
          <p:nvPr/>
        </p:nvSpPr>
        <p:spPr>
          <a:xfrm>
            <a:off x="859536" y="4041648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Box dimensions still not received from professor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0"/>
          <p:cNvSpPr/>
          <p:nvPr/>
        </p:nvSpPr>
        <p:spPr>
          <a:xfrm>
            <a:off x="6263640" y="17373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Looking ahead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6263640" y="2066544"/>
            <a:ext cx="2633472" cy="3657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0"/>
          <p:cNvSpPr/>
          <p:nvPr/>
        </p:nvSpPr>
        <p:spPr>
          <a:xfrm>
            <a:off x="6263640" y="2066544"/>
            <a:ext cx="54864" cy="3657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0"/>
          <p:cNvSpPr/>
          <p:nvPr/>
        </p:nvSpPr>
        <p:spPr>
          <a:xfrm>
            <a:off x="6364224" y="2139696"/>
            <a:ext cx="658368" cy="219456"/>
          </a:xfrm>
          <a:prstGeom prst="roundRect">
            <a:avLst>
              <a:gd fmla="val 16667" name="adj"/>
            </a:avLst>
          </a:prstGeom>
          <a:solidFill>
            <a:srgbClr val="C0392B">
              <a:alpha val="20000"/>
            </a:srgbClr>
          </a:solidFill>
          <a:ln cap="flat" cmpd="sng" w="12700">
            <a:solidFill>
              <a:srgbClr val="C0392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0"/>
          <p:cNvSpPr/>
          <p:nvPr/>
        </p:nvSpPr>
        <p:spPr>
          <a:xfrm>
            <a:off x="6364224" y="2139696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0"/>
          <p:cNvSpPr/>
          <p:nvPr/>
        </p:nvSpPr>
        <p:spPr>
          <a:xfrm>
            <a:off x="7077456" y="2066544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Simplified base — third laser cut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6263640" y="2505456"/>
            <a:ext cx="2633472" cy="3657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0"/>
          <p:cNvSpPr/>
          <p:nvPr/>
        </p:nvSpPr>
        <p:spPr>
          <a:xfrm>
            <a:off x="6263640" y="2505456"/>
            <a:ext cx="54864" cy="365760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6364224" y="2578608"/>
            <a:ext cx="658368" cy="219456"/>
          </a:xfrm>
          <a:prstGeom prst="roundRect">
            <a:avLst>
              <a:gd fmla="val 16667" name="adj"/>
            </a:avLst>
          </a:prstGeom>
          <a:solidFill>
            <a:srgbClr val="2EAD7A">
              <a:alpha val="20000"/>
            </a:srgbClr>
          </a:solidFill>
          <a:ln cap="flat" cmpd="sng" w="12700">
            <a:solidFill>
              <a:srgbClr val="2EAD7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0"/>
          <p:cNvSpPr/>
          <p:nvPr/>
        </p:nvSpPr>
        <p:spPr>
          <a:xfrm>
            <a:off x="6364224" y="2578608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0"/>
          <p:cNvSpPr/>
          <p:nvPr/>
        </p:nvSpPr>
        <p:spPr>
          <a:xfrm>
            <a:off x="7077456" y="2505456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Finish gripper + end effector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6263640" y="2944368"/>
            <a:ext cx="2633472" cy="3657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0"/>
          <p:cNvSpPr/>
          <p:nvPr/>
        </p:nvSpPr>
        <p:spPr>
          <a:xfrm>
            <a:off x="6263640" y="2944368"/>
            <a:ext cx="54864" cy="36576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0"/>
          <p:cNvSpPr/>
          <p:nvPr/>
        </p:nvSpPr>
        <p:spPr>
          <a:xfrm>
            <a:off x="6364224" y="3017520"/>
            <a:ext cx="658368" cy="219456"/>
          </a:xfrm>
          <a:prstGeom prst="roundRect">
            <a:avLst>
              <a:gd fmla="val 16667" name="adj"/>
            </a:avLst>
          </a:prstGeom>
          <a:solidFill>
            <a:srgbClr val="E8A020">
              <a:alpha val="20000"/>
            </a:srgbClr>
          </a:solidFill>
          <a:ln cap="flat" cmpd="sng" w="12700">
            <a:solidFill>
              <a:srgbClr val="E8A02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0"/>
          <p:cNvSpPr/>
          <p:nvPr/>
        </p:nvSpPr>
        <p:spPr>
          <a:xfrm>
            <a:off x="6364224" y="3017520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0"/>
          <p:cNvSpPr/>
          <p:nvPr/>
        </p:nvSpPr>
        <p:spPr>
          <a:xfrm>
            <a:off x="7077456" y="294436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Attach wheels + motors to 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6263640" y="3383280"/>
            <a:ext cx="2633472" cy="3657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0"/>
          <p:cNvSpPr/>
          <p:nvPr/>
        </p:nvSpPr>
        <p:spPr>
          <a:xfrm>
            <a:off x="6263640" y="3383280"/>
            <a:ext cx="54864" cy="3657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0"/>
          <p:cNvSpPr/>
          <p:nvPr/>
        </p:nvSpPr>
        <p:spPr>
          <a:xfrm>
            <a:off x="6364224" y="3456432"/>
            <a:ext cx="658368" cy="219456"/>
          </a:xfrm>
          <a:prstGeom prst="roundRect">
            <a:avLst>
              <a:gd fmla="val 16667" name="adj"/>
            </a:avLst>
          </a:prstGeom>
          <a:solidFill>
            <a:srgbClr val="028090">
              <a:alpha val="20000"/>
            </a:srgbClr>
          </a:solidFill>
          <a:ln cap="flat" cmpd="sng" w="12700">
            <a:solidFill>
              <a:srgbClr val="02809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0"/>
          <p:cNvSpPr/>
          <p:nvPr/>
        </p:nvSpPr>
        <p:spPr>
          <a:xfrm>
            <a:off x="6364224" y="3456432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7077456" y="33832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Full system assembly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6263640" y="3822192"/>
            <a:ext cx="2633472" cy="3657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0"/>
          <p:cNvSpPr/>
          <p:nvPr/>
        </p:nvSpPr>
        <p:spPr>
          <a:xfrm>
            <a:off x="6263640" y="3822192"/>
            <a:ext cx="54864" cy="365760"/>
          </a:xfrm>
          <a:prstGeom prst="rect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0"/>
          <p:cNvSpPr/>
          <p:nvPr/>
        </p:nvSpPr>
        <p:spPr>
          <a:xfrm>
            <a:off x="6364224" y="3895344"/>
            <a:ext cx="658368" cy="219456"/>
          </a:xfrm>
          <a:prstGeom prst="roundRect">
            <a:avLst>
              <a:gd fmla="val 16667" name="adj"/>
            </a:avLst>
          </a:prstGeom>
          <a:solidFill>
            <a:srgbClr val="6B4E9E">
              <a:alpha val="20000"/>
            </a:srgbClr>
          </a:solidFill>
          <a:ln cap="flat" cmpd="sng" w="12700">
            <a:solidFill>
              <a:srgbClr val="6B4E9E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0"/>
          <p:cNvSpPr/>
          <p:nvPr/>
        </p:nvSpPr>
        <p:spPr>
          <a:xfrm>
            <a:off x="6364224" y="3895344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7077456" y="382219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ROS2 ↔ Arduino live link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6263640" y="4261104"/>
            <a:ext cx="2633472" cy="3657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0"/>
          <p:cNvSpPr/>
          <p:nvPr/>
        </p:nvSpPr>
        <p:spPr>
          <a:xfrm>
            <a:off x="6263640" y="4261104"/>
            <a:ext cx="54864" cy="365760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0"/>
          <p:cNvSpPr/>
          <p:nvPr/>
        </p:nvSpPr>
        <p:spPr>
          <a:xfrm>
            <a:off x="6364224" y="4334256"/>
            <a:ext cx="658368" cy="219456"/>
          </a:xfrm>
          <a:prstGeom prst="roundRect">
            <a:avLst>
              <a:gd fmla="val 16667" name="adj"/>
            </a:avLst>
          </a:prstGeom>
          <a:solidFill>
            <a:srgbClr val="2EAD7A">
              <a:alpha val="20000"/>
            </a:srgbClr>
          </a:solidFill>
          <a:ln cap="flat" cmpd="sng" w="12700">
            <a:solidFill>
              <a:srgbClr val="2EAD7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0"/>
          <p:cNvSpPr/>
          <p:nvPr/>
        </p:nvSpPr>
        <p:spPr>
          <a:xfrm>
            <a:off x="6364224" y="4334256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7077456" y="4261104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Full pick-and-place 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0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2026-05-12T11:22:03Z</dcterms:created>
  <dc:creator>PptxGenJS</dc:creator>
</cp:coreProperties>
</file>