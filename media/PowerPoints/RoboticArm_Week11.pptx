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3291840"/>
            <a:ext cx="2011680" cy="2011680"/>
          </a:xfrm>
          <a:prstGeom prst="ellipse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777240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7772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WEEK 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353312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Arm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84048" y="217627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Place System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84048" y="2907792"/>
            <a:ext cx="4572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3090672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4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Report  ·  Mechatronics System Design 101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44622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4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Leen's Group  ·  Leen  ·  Mohamed  ·  Helal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— Snapshot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What we worked on this week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133856"/>
            <a:ext cx="2688336" cy="1609344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133856"/>
            <a:ext cx="2688336" cy="201168"/>
          </a:xfrm>
          <a:prstGeom prst="rect">
            <a:avLst/>
          </a:prstGeom>
          <a:solidFill>
            <a:srgbClr val="2EAD7A"/>
          </a:solidFill>
          <a:ln w="12700">
            <a:solidFill>
              <a:srgbClr val="2EAD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426464"/>
            <a:ext cx="292608" cy="292608"/>
          </a:xfrm>
          <a:prstGeom prst="ellipse">
            <a:avLst/>
          </a:prstGeom>
          <a:solidFill>
            <a:srgbClr val="2EAD7A"/>
          </a:solidFill>
          <a:ln w="12700">
            <a:solidFill>
              <a:srgbClr val="2EAD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26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59536" y="1389888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Full manual control working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1792224"/>
            <a:ext cx="24505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4A8"/>
                </a:solidFill>
              </a:rPr>
              <a:t>Gamepad now controls wheel motors, all servo joints, and the pump in a single unified control loop. Full manual operation of the system confirmed.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63824" y="1133856"/>
            <a:ext cx="2688336" cy="1609344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63824" y="1133856"/>
            <a:ext cx="2688336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426464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426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75888" y="1389888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Mobile base — laser cut done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1792224"/>
            <a:ext cx="24505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4A8"/>
                </a:solidFill>
              </a:rPr>
              <a:t>Two platforms successfully laser cut. Standoffs procured to space them apart. Base structure is coming together.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2889504"/>
            <a:ext cx="2688336" cy="1609344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2889504"/>
            <a:ext cx="2688336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3182112"/>
            <a:ext cx="292608" cy="29260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59536" y="3145536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CAD — scale verification needed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" y="3547872"/>
            <a:ext cx="24505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4A8"/>
                </a:solidFill>
              </a:rPr>
              <a:t>Further progress on CAD model. Printed parts need to be measured and compared to CAD to correct any scale discrepancies.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63824" y="2889504"/>
            <a:ext cx="2688336" cy="1609344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63824" y="2889504"/>
            <a:ext cx="2688336" cy="201168"/>
          </a:xfrm>
          <a:prstGeom prst="rect">
            <a:avLst/>
          </a:prstGeom>
          <a:solidFill>
            <a:srgbClr val="6B4E9E"/>
          </a:solidFill>
          <a:ln w="12700">
            <a:solidFill>
              <a:srgbClr val="6B4E9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3182112"/>
            <a:ext cx="292608" cy="292608"/>
          </a:xfrm>
          <a:prstGeom prst="ellipse">
            <a:avLst/>
          </a:prstGeom>
          <a:solidFill>
            <a:srgbClr val="6B4E9E"/>
          </a:solidFill>
          <a:ln w="12700">
            <a:solidFill>
              <a:srgbClr val="6B4E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75888" y="3145536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Detection — retraining model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91840" y="3547872"/>
            <a:ext cx="24505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4A8"/>
                </a:solidFill>
              </a:rPr>
              <a:t>Collected more images in a crowded environment. Model will be retrained to improve detection accuracy in realistic conditions.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53328" y="8046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Status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053328" y="1133856"/>
            <a:ext cx="2834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53328" y="1133856"/>
            <a:ext cx="64008" cy="530352"/>
          </a:xfrm>
          <a:prstGeom prst="rect">
            <a:avLst/>
          </a:prstGeom>
          <a:solidFill>
            <a:srgbClr val="2EAD7A"/>
          </a:solidFill>
          <a:ln w="12700">
            <a:solidFill>
              <a:srgbClr val="2EAD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81344" y="1133856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</a:rPr>
              <a:t>Manual control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43216" y="1261872"/>
            <a:ext cx="1335024" cy="256032"/>
          </a:xfrm>
          <a:prstGeom prst="roundRect">
            <a:avLst>
              <a:gd name="adj" fmla="val 14286"/>
            </a:avLst>
          </a:prstGeom>
          <a:solidFill>
            <a:srgbClr val="2EAD7A">
              <a:alpha val="18000"/>
            </a:srgbClr>
          </a:solidFill>
          <a:ln w="12700">
            <a:solidFill>
              <a:srgbClr val="2EAD7A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43216" y="126187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5C3E"/>
                </a:solidFill>
              </a:rPr>
              <a:t>Working ✓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053328" y="1755648"/>
            <a:ext cx="2834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53328" y="1755648"/>
            <a:ext cx="64008" cy="5303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81344" y="175564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</a:rPr>
              <a:t>Mobile base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443216" y="1883664"/>
            <a:ext cx="1335024" cy="256032"/>
          </a:xfrm>
          <a:prstGeom prst="roundRect">
            <a:avLst>
              <a:gd name="adj" fmla="val 14286"/>
            </a:avLst>
          </a:prstGeom>
          <a:solidFill>
            <a:srgbClr val="E8A020">
              <a:alpha val="18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43216" y="188366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000"/>
                </a:solidFill>
              </a:rPr>
              <a:t>In progress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53328" y="2377440"/>
            <a:ext cx="2834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53328" y="2377440"/>
            <a:ext cx="64008" cy="5303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81344" y="2377440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</a:rPr>
              <a:t>ROS2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443216" y="2505456"/>
            <a:ext cx="1335024" cy="256032"/>
          </a:xfrm>
          <a:prstGeom prst="roundRect">
            <a:avLst>
              <a:gd name="adj" fmla="val 14286"/>
            </a:avLst>
          </a:prstGeom>
          <a:solidFill>
            <a:srgbClr val="E8A020">
              <a:alpha val="18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43216" y="2505456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000"/>
                </a:solidFill>
              </a:rPr>
              <a:t>In progress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053328" y="2999232"/>
            <a:ext cx="2834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53328" y="2999232"/>
            <a:ext cx="64008" cy="5303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81344" y="2999232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</a:rPr>
              <a:t>CAD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443216" y="3127248"/>
            <a:ext cx="1335024" cy="256032"/>
          </a:xfrm>
          <a:prstGeom prst="roundRect">
            <a:avLst>
              <a:gd name="adj" fmla="val 14286"/>
            </a:avLst>
          </a:prstGeom>
          <a:solidFill>
            <a:srgbClr val="E8A020">
              <a:alpha val="18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43216" y="312724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000"/>
                </a:solidFill>
              </a:rPr>
              <a:t>Scale check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053328" y="3621024"/>
            <a:ext cx="2834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053328" y="3621024"/>
            <a:ext cx="64008" cy="5303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81344" y="3621024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</a:rPr>
              <a:t>Detection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443216" y="3749040"/>
            <a:ext cx="1335024" cy="256032"/>
          </a:xfrm>
          <a:prstGeom prst="roundRect">
            <a:avLst>
              <a:gd name="adj" fmla="val 14286"/>
            </a:avLst>
          </a:prstGeom>
          <a:solidFill>
            <a:srgbClr val="E8A020">
              <a:alpha val="18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43216" y="374904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000"/>
                </a:solidFill>
              </a:rPr>
              <a:t>Retraining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053328" y="4242816"/>
            <a:ext cx="2834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053328" y="4242816"/>
            <a:ext cx="64008" cy="530352"/>
          </a:xfrm>
          <a:prstGeom prst="rect">
            <a:avLst/>
          </a:prstGeom>
          <a:solidFill>
            <a:srgbClr val="8494A8"/>
          </a:solidFill>
          <a:ln w="12700">
            <a:solidFill>
              <a:srgbClr val="8494A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81344" y="4242816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</a:rPr>
              <a:t>End effector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443216" y="4370832"/>
            <a:ext cx="1335024" cy="256032"/>
          </a:xfrm>
          <a:prstGeom prst="roundRect">
            <a:avLst>
              <a:gd name="adj" fmla="val 14286"/>
            </a:avLst>
          </a:prstGeom>
          <a:solidFill>
            <a:srgbClr val="8494A8">
              <a:alpha val="18000"/>
            </a:srgbClr>
          </a:solidFill>
          <a:ln w="12700">
            <a:solidFill>
              <a:srgbClr val="8494A8">
                <a:alpha val="4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43216" y="4370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4A4A"/>
                </a:solidFill>
              </a:rPr>
              <a:t>No update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47472" y="4590288"/>
            <a:ext cx="8476488" cy="347472"/>
          </a:xfrm>
          <a:prstGeom prst="rect">
            <a:avLst/>
          </a:prstGeom>
          <a:solidFill>
            <a:srgbClr val="2EAD7A">
              <a:alpha val="12000"/>
            </a:srgbClr>
          </a:solidFill>
          <a:ln w="12700">
            <a:solidFill>
              <a:srgbClr val="2EAD7A">
                <a:alpha val="3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" y="459028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5C3E"/>
                </a:solidFill>
              </a:rPr>
              <a:t>✓  Major win: full manual control of wheels, servos, and pump confirmed working from a single gamepad.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94A8"/>
                </a:solidFill>
              </a:rPr>
              <a:t>Mechatronics System Design 101  ·  Leen's Group  ·  Week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 — Gantt Chart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8476488" cy="4114800"/>
          </a:xfrm>
          <a:prstGeom prst="rect">
            <a:avLst/>
          </a:prstGeom>
          <a:solidFill>
            <a:srgbClr val="E8EDF5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04672"/>
            <a:ext cx="8476488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BAEC8"/>
                </a:solidFill>
              </a:rPr>
              <a:t>[ Paste Gantt Chart Image Here 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94A8"/>
                </a:solidFill>
              </a:rPr>
              <a:t>Mechatronics System Design 101  ·  Leen's Group  ·  Week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&amp; Deliverables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2212848" cy="292608"/>
          </a:xfrm>
          <a:prstGeom prst="rect">
            <a:avLst/>
          </a:prstGeom>
          <a:solidFill>
            <a:srgbClr val="0D1B3E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80467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Deliverable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78608" y="804672"/>
            <a:ext cx="1572768" cy="292608"/>
          </a:xfrm>
          <a:prstGeom prst="rect">
            <a:avLst/>
          </a:prstGeom>
          <a:solidFill>
            <a:srgbClr val="0D1B3E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0048" y="8046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69664" y="804672"/>
            <a:ext cx="1389888" cy="292608"/>
          </a:xfrm>
          <a:prstGeom prst="rect">
            <a:avLst/>
          </a:prstGeom>
          <a:solidFill>
            <a:srgbClr val="0D1B3E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61104" y="8046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Status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804672"/>
            <a:ext cx="3246120" cy="292608"/>
          </a:xfrm>
          <a:prstGeom prst="rect">
            <a:avLst/>
          </a:prstGeom>
          <a:solidFill>
            <a:srgbClr val="0D1B3E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804672"/>
            <a:ext cx="3136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This week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1097280"/>
            <a:ext cx="2212848" cy="420624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78608" y="1097280"/>
            <a:ext cx="1572768" cy="420624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9664" y="1097280"/>
            <a:ext cx="1389888" cy="420624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0" y="1097280"/>
            <a:ext cx="3246120" cy="420624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109728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</a:rPr>
              <a:t>Manual control (full)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70048" y="109728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Week 11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61104" y="1179576"/>
            <a:ext cx="1207008" cy="237744"/>
          </a:xfrm>
          <a:prstGeom prst="roundRect">
            <a:avLst>
              <a:gd name="adj" fmla="val 15385"/>
            </a:avLst>
          </a:prstGeom>
          <a:solidFill>
            <a:srgbClr val="2EAD7A">
              <a:alpha val="18000"/>
            </a:srgbClr>
          </a:solidFill>
          <a:ln w="12700">
            <a:solidFill>
              <a:srgbClr val="2EAD7A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61104" y="117957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5C3E"/>
                </a:solidFill>
              </a:rPr>
              <a:t>Done ✓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69280" y="1097280"/>
            <a:ext cx="3136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8"/>
                </a:solidFill>
              </a:rPr>
              <a:t>Wheels + servos + pump via gamepad — all working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" y="1554480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78608" y="1554480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69664" y="1554480"/>
            <a:ext cx="138988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1554480"/>
            <a:ext cx="3246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155448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</a:rPr>
              <a:t>Mobile base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670048" y="155448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Week 11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261104" y="1636776"/>
            <a:ext cx="1207008" cy="237744"/>
          </a:xfrm>
          <a:prstGeom prst="roundRect">
            <a:avLst>
              <a:gd name="adj" fmla="val 15385"/>
            </a:avLst>
          </a:prstGeom>
          <a:solidFill>
            <a:srgbClr val="E8A020">
              <a:alpha val="18000"/>
            </a:srgbClr>
          </a:solidFill>
          <a:ln w="12700">
            <a:solidFill>
              <a:srgbClr val="E8A020">
                <a:alpha val="3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61104" y="163677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000"/>
                </a:solidFill>
              </a:rPr>
              <a:t>In progress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669280" y="1554480"/>
            <a:ext cx="3136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8"/>
                </a:solidFill>
              </a:rPr>
              <a:t>Two platforms laser cut — standoffs fitted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" y="2011680"/>
            <a:ext cx="2212848" cy="420624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78608" y="2011680"/>
            <a:ext cx="1572768" cy="420624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69664" y="2011680"/>
            <a:ext cx="1389888" cy="420624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77840" y="2011680"/>
            <a:ext cx="3246120" cy="420624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201168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</a:rPr>
              <a:t>CAD model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670048" y="201168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Week 11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261104" y="2093976"/>
            <a:ext cx="1207008" cy="237744"/>
          </a:xfrm>
          <a:prstGeom prst="roundRect">
            <a:avLst>
              <a:gd name="adj" fmla="val 15385"/>
            </a:avLst>
          </a:prstGeom>
          <a:solidFill>
            <a:srgbClr val="E8A020">
              <a:alpha val="18000"/>
            </a:srgbClr>
          </a:solidFill>
          <a:ln w="12700">
            <a:solidFill>
              <a:srgbClr val="E8A020">
                <a:alpha val="3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61104" y="209397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000"/>
                </a:solidFill>
              </a:rPr>
              <a:t>Scale check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669280" y="2011680"/>
            <a:ext cx="3136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8"/>
                </a:solidFill>
              </a:rPr>
              <a:t>Progress made — need to verify printed part dimensions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7472" y="2468880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78608" y="2468880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69664" y="2468880"/>
            <a:ext cx="138988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77840" y="2468880"/>
            <a:ext cx="3246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246888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</a:rPr>
              <a:t>Detection model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670048" y="246888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Week 11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261104" y="2551176"/>
            <a:ext cx="1207008" cy="237744"/>
          </a:xfrm>
          <a:prstGeom prst="roundRect">
            <a:avLst>
              <a:gd name="adj" fmla="val 15385"/>
            </a:avLst>
          </a:prstGeom>
          <a:solidFill>
            <a:srgbClr val="E8A020">
              <a:alpha val="18000"/>
            </a:srgbClr>
          </a:solidFill>
          <a:ln w="12700">
            <a:solidFill>
              <a:srgbClr val="E8A020">
                <a:alpha val="3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61104" y="255117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000"/>
                </a:solidFill>
              </a:rPr>
              <a:t>Retraining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669280" y="2468880"/>
            <a:ext cx="3136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8"/>
                </a:solidFill>
              </a:rPr>
              <a:t>More images collected — model retraining in progress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7472" y="2926080"/>
            <a:ext cx="2212848" cy="420624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78608" y="2926080"/>
            <a:ext cx="1572768" cy="420624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69664" y="2926080"/>
            <a:ext cx="1389888" cy="420624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577840" y="2926080"/>
            <a:ext cx="3246120" cy="420624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" y="292608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</a:rPr>
              <a:t>ROS2 / Digital twin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670048" y="292608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Week 11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261104" y="3008376"/>
            <a:ext cx="1207008" cy="237744"/>
          </a:xfrm>
          <a:prstGeom prst="roundRect">
            <a:avLst>
              <a:gd name="adj" fmla="val 15385"/>
            </a:avLst>
          </a:prstGeom>
          <a:solidFill>
            <a:srgbClr val="E8A020">
              <a:alpha val="18000"/>
            </a:srgbClr>
          </a:solidFill>
          <a:ln w="12700">
            <a:solidFill>
              <a:srgbClr val="E8A020">
                <a:alpha val="3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61104" y="300837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000"/>
                </a:solidFill>
              </a:rPr>
              <a:t>In progress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669280" y="2926080"/>
            <a:ext cx="3136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8"/>
                </a:solidFill>
              </a:rPr>
              <a:t>Joint positions not yet connecting correctly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47472" y="3383280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78608" y="3383280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169664" y="3383280"/>
            <a:ext cx="138988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577840" y="3383280"/>
            <a:ext cx="3246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" y="338328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</a:rPr>
              <a:t>End effector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2670048" y="338328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Week 11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261104" y="3465576"/>
            <a:ext cx="1207008" cy="237744"/>
          </a:xfrm>
          <a:prstGeom prst="roundRect">
            <a:avLst>
              <a:gd name="adj" fmla="val 15385"/>
            </a:avLst>
          </a:prstGeom>
          <a:solidFill>
            <a:srgbClr val="E06530">
              <a:alpha val="18000"/>
            </a:srgbClr>
          </a:solidFill>
          <a:ln w="12700">
            <a:solidFill>
              <a:srgbClr val="E06530">
                <a:alpha val="35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61104" y="346557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3000"/>
                </a:solidFill>
              </a:rPr>
              <a:t>No update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669280" y="3383280"/>
            <a:ext cx="3136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8"/>
                </a:solidFill>
              </a:rPr>
              <a:t>Gripper 3D print status unchanged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47472" y="3840480"/>
            <a:ext cx="2212848" cy="420624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78608" y="3840480"/>
            <a:ext cx="1572768" cy="420624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169664" y="3840480"/>
            <a:ext cx="1389888" cy="420624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577840" y="3840480"/>
            <a:ext cx="3246120" cy="420624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8912" y="384048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</a:rPr>
              <a:t>Full system assembly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2670048" y="384048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Week 11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261104" y="3922776"/>
            <a:ext cx="1207008" cy="237744"/>
          </a:xfrm>
          <a:prstGeom prst="roundRect">
            <a:avLst>
              <a:gd name="adj" fmla="val 15385"/>
            </a:avLst>
          </a:prstGeom>
          <a:solidFill>
            <a:srgbClr val="E06530">
              <a:alpha val="18000"/>
            </a:srgbClr>
          </a:solidFill>
          <a:ln w="12700">
            <a:solidFill>
              <a:srgbClr val="E06530">
                <a:alpha val="3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261104" y="392277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3000"/>
                </a:solidFill>
              </a:rPr>
              <a:t>Pending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669280" y="3840480"/>
            <a:ext cx="3136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8"/>
                </a:solidFill>
              </a:rPr>
              <a:t>Waiting on base, end effector, and CAD scale fix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94A8"/>
                </a:solidFill>
              </a:rPr>
              <a:t>Mechatronics System Design 101  ·  Leen's Group  ·  Week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Risks &amp; Action Items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786384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Current issues &amp; risks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133856"/>
            <a:ext cx="4041648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133856"/>
            <a:ext cx="73152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1207008"/>
            <a:ext cx="1170432" cy="219456"/>
          </a:xfrm>
          <a:prstGeom prst="roundRect">
            <a:avLst>
              <a:gd name="adj" fmla="val 16667"/>
            </a:avLst>
          </a:prstGeom>
          <a:solidFill>
            <a:srgbClr val="C0392B">
              <a:alpha val="18000"/>
            </a:srgbClr>
          </a:solidFill>
          <a:ln w="12700">
            <a:solidFill>
              <a:srgbClr val="C0392B">
                <a:alpha val="3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20700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1515"/>
                </a:solidFill>
              </a:rPr>
              <a:t>High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93776" y="118872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ROS2 — joints not connecting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3776" y="1463040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4A8"/>
                </a:solidFill>
              </a:rPr>
              <a:t>Worked on ROS2 this week but arm parts are not connecting at the correct positions in the simulation. Configuration still needed.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2084832"/>
            <a:ext cx="4041648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084832"/>
            <a:ext cx="73152" cy="841248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2157984"/>
            <a:ext cx="1170432" cy="219456"/>
          </a:xfrm>
          <a:prstGeom prst="roundRect">
            <a:avLst>
              <a:gd name="adj" fmla="val 16667"/>
            </a:avLst>
          </a:prstGeom>
          <a:solidFill>
            <a:srgbClr val="E06530">
              <a:alpha val="18000"/>
            </a:srgbClr>
          </a:solidFill>
          <a:ln w="12700">
            <a:solidFill>
              <a:srgbClr val="E0653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21579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3000"/>
                </a:solidFill>
              </a:rPr>
              <a:t>Medium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3776" y="2139696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CAD scale discrepancy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" y="2414016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4A8"/>
                </a:solidFill>
              </a:rPr>
              <a:t>Printed parts may not match CAD dimensions exactly. Need to measure and compare before adjusting the model.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3035808"/>
            <a:ext cx="4041648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3035808"/>
            <a:ext cx="73152" cy="841248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0" y="3108960"/>
            <a:ext cx="1170432" cy="219456"/>
          </a:xfrm>
          <a:prstGeom prst="roundRect">
            <a:avLst>
              <a:gd name="adj" fmla="val 16667"/>
            </a:avLst>
          </a:prstGeom>
          <a:solidFill>
            <a:srgbClr val="E06530">
              <a:alpha val="18000"/>
            </a:srgbClr>
          </a:solidFill>
          <a:ln w="12700">
            <a:solidFill>
              <a:srgbClr val="E06530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310896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3000"/>
                </a:solidFill>
              </a:rPr>
              <a:t>Medium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3776" y="309067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End effector — no progress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" y="3364992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4A8"/>
                </a:solidFill>
              </a:rPr>
              <a:t>Gripper 3D print has had no update. End effector assembly cannot proceed until this is resolved.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3986784"/>
            <a:ext cx="4041648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986784"/>
            <a:ext cx="73152" cy="8412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8960" y="4059936"/>
            <a:ext cx="1170432" cy="219456"/>
          </a:xfrm>
          <a:prstGeom prst="roundRect">
            <a:avLst>
              <a:gd name="adj" fmla="val 16667"/>
            </a:avLst>
          </a:prstGeom>
          <a:solidFill>
            <a:srgbClr val="E8A020">
              <a:alpha val="18000"/>
            </a:srgbClr>
          </a:solidFill>
          <a:ln w="12700">
            <a:solidFill>
              <a:srgbClr val="E8A020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0" y="405993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000"/>
                </a:solidFill>
              </a:rPr>
              <a:t>Medium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3776" y="404164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Full assembly still pending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3776" y="4315968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4A8"/>
                </a:solidFill>
              </a:rPr>
              <a:t>Assembly blocked until base is complete, end effector is ready, and CAD scale is confirmed.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63440" y="786384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Action items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1133856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1133856"/>
            <a:ext cx="73152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11704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Fix ROS2 joint connection positions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9744" y="14447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8"/>
                </a:solidFill>
              </a:rPr>
              <a:t>Mohamed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89520" y="1261872"/>
            <a:ext cx="1133856" cy="237744"/>
          </a:xfrm>
          <a:prstGeom prst="roundRect">
            <a:avLst>
              <a:gd name="adj" fmla="val 15385"/>
            </a:avLst>
          </a:prstGeom>
          <a:solidFill>
            <a:srgbClr val="C0392B">
              <a:alpha val="15000"/>
            </a:srgbClr>
          </a:solidFill>
          <a:ln w="12700">
            <a:solidFill>
              <a:srgbClr val="C0392B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126187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1515"/>
                </a:solidFill>
              </a:rPr>
              <a:t>Next week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1755648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1755648"/>
            <a:ext cx="73152" cy="530352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9744" y="17922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Measure printed parts vs CAD — adjust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09744" y="2066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8"/>
                </a:solidFill>
              </a:rPr>
              <a:t>Helal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589520" y="1883664"/>
            <a:ext cx="1133856" cy="237744"/>
          </a:xfrm>
          <a:prstGeom prst="roundRect">
            <a:avLst>
              <a:gd name="adj" fmla="val 15385"/>
            </a:avLst>
          </a:prstGeom>
          <a:solidFill>
            <a:srgbClr val="E06530">
              <a:alpha val="15000"/>
            </a:srgbClr>
          </a:solidFill>
          <a:ln w="12700">
            <a:solidFill>
              <a:srgbClr val="E06530">
                <a:alpha val="3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9520" y="1883664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3000"/>
                </a:solidFill>
              </a:rPr>
              <a:t>Next week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63440" y="2377440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2377440"/>
            <a:ext cx="73152" cy="530352"/>
          </a:xfrm>
          <a:prstGeom prst="rect">
            <a:avLst/>
          </a:prstGeom>
          <a:solidFill>
            <a:srgbClr val="6B4E9E"/>
          </a:solidFill>
          <a:ln w="12700">
            <a:solidFill>
              <a:srgbClr val="6B4E9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9744" y="241401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Retrain detection model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09744" y="26883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8"/>
                </a:solidFill>
              </a:rPr>
              <a:t>Leen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589520" y="2505456"/>
            <a:ext cx="1133856" cy="237744"/>
          </a:xfrm>
          <a:prstGeom prst="roundRect">
            <a:avLst>
              <a:gd name="adj" fmla="val 15385"/>
            </a:avLst>
          </a:prstGeom>
          <a:solidFill>
            <a:srgbClr val="6B4E9E">
              <a:alpha val="15000"/>
            </a:srgbClr>
          </a:solidFill>
          <a:ln w="12700">
            <a:solidFill>
              <a:srgbClr val="6B4E9E">
                <a:alpha val="3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89520" y="250545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1F6E"/>
                </a:solidFill>
              </a:rPr>
              <a:t>Next week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63440" y="2999232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63440" y="2999232"/>
            <a:ext cx="73152" cy="530352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9744" y="30358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Resolve end effector / gripper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09744" y="331012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8"/>
                </a:solidFill>
              </a:rPr>
              <a:t>Mohamed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589520" y="3127248"/>
            <a:ext cx="1133856" cy="237744"/>
          </a:xfrm>
          <a:prstGeom prst="roundRect">
            <a:avLst>
              <a:gd name="adj" fmla="val 15385"/>
            </a:avLst>
          </a:prstGeom>
          <a:solidFill>
            <a:srgbClr val="E06530">
              <a:alpha val="15000"/>
            </a:srgbClr>
          </a:solidFill>
          <a:ln w="12700">
            <a:solidFill>
              <a:srgbClr val="E06530">
                <a:alpha val="3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9520" y="3127248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3000"/>
                </a:solidFill>
              </a:rPr>
              <a:t>Next week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663440" y="3621024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63440" y="3621024"/>
            <a:ext cx="73152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9744" y="36576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Complete base — attach wheels &amp; motors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809744" y="39319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8"/>
                </a:solidFill>
              </a:rPr>
              <a:t>Helal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589520" y="3749040"/>
            <a:ext cx="1133856" cy="237744"/>
          </a:xfrm>
          <a:prstGeom prst="roundRect">
            <a:avLst>
              <a:gd name="adj" fmla="val 15385"/>
            </a:avLst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89520" y="3749040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15A68"/>
                </a:solidFill>
              </a:rPr>
              <a:t>Next week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663440" y="4242816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63440" y="4242816"/>
            <a:ext cx="73152" cy="530352"/>
          </a:xfrm>
          <a:prstGeom prst="rect">
            <a:avLst/>
          </a:prstGeom>
          <a:solidFill>
            <a:srgbClr val="2EAD7A"/>
          </a:solidFill>
          <a:ln w="12700">
            <a:solidFill>
              <a:srgbClr val="2EAD7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09744" y="42793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Begin full system assembly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809744" y="45537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8"/>
                </a:solidFill>
              </a:rPr>
              <a:t>All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589520" y="4370832"/>
            <a:ext cx="1133856" cy="237744"/>
          </a:xfrm>
          <a:prstGeom prst="roundRect">
            <a:avLst>
              <a:gd name="adj" fmla="val 15385"/>
            </a:avLst>
          </a:prstGeom>
          <a:solidFill>
            <a:srgbClr val="2EAD7A">
              <a:alpha val="15000"/>
            </a:srgbClr>
          </a:solidFill>
          <a:ln w="12700">
            <a:solidFill>
              <a:srgbClr val="2EAD7A">
                <a:alpha val="3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89520" y="437083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5C3E"/>
                </a:solidFill>
              </a:rPr>
              <a:t>Next week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94A8"/>
                </a:solidFill>
              </a:rPr>
              <a:t>Mechatronics System Design 101  ·  Leen's Group  ·  Week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108960"/>
            <a:ext cx="2743200" cy="2743200"/>
          </a:xfrm>
          <a:prstGeom prst="ellipse">
            <a:avLst/>
          </a:prstGeom>
          <a:solidFill>
            <a:srgbClr val="028090">
              <a:alpha val="8000"/>
            </a:srgbClr>
          </a:solidFill>
          <a:ln w="12700">
            <a:solidFill>
              <a:srgbClr val="02809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801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11480" y="20116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11480" y="2999232"/>
            <a:ext cx="3657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163824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4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member did, what they will do, what they need.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3749040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40050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6F5"/>
                </a:solidFill>
              </a:rPr>
              <a:t>Group Leader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3749040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2EAD7A">
              <a:alpha val="20000"/>
            </a:srgbClr>
          </a:solidFill>
          <a:ln w="12700">
            <a:solidFill>
              <a:srgbClr val="2EAD7A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Mohamed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46120" y="40050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6F5"/>
                </a:solidFill>
              </a:rPr>
              <a:t>Member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0760" y="3749040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6B4E9E">
              <a:alpha val="20000"/>
            </a:srgbClr>
          </a:solidFill>
          <a:ln w="12700">
            <a:solidFill>
              <a:srgbClr val="6B4E9E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Helal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80760" y="40050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6F5"/>
                </a:solidFill>
              </a:rPr>
              <a:t>Member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 — Group Leader  ·  Detection &amp; Image Collection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786384"/>
            <a:ext cx="41148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786384"/>
            <a:ext cx="4114800" cy="256032"/>
          </a:xfrm>
          <a:prstGeom prst="rect">
            <a:avLst/>
          </a:prstGeom>
          <a:solidFill>
            <a:srgbClr val="2EAD7A"/>
          </a:solidFill>
          <a:ln w="12700">
            <a:solidFill>
              <a:srgbClr val="2EAD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7863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Accomplished (since last report)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Collected additional training images in a crowded environment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Images captured across varied lighting and background conditions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7007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Dataset prepared — model retraining queued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2121408"/>
            <a:ext cx="4114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2121408"/>
            <a:ext cx="411480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1214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4140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Retraining detection model on expanded crowded-environment dataset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2889504"/>
            <a:ext cx="4114800" cy="1609344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2889504"/>
            <a:ext cx="41148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8895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 week plan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1821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Complete model retraining and evaluate accuracy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4930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Test retrained model on live camera feed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80390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Integrate updated detection with Arduino command pipeline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Finalise coordinate mapping once box dimensions are confirmed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786384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786384"/>
            <a:ext cx="42062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78638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Why crowded environment training?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115568"/>
            <a:ext cx="3986784" cy="402336"/>
          </a:xfrm>
          <a:prstGeom prst="rect">
            <a:avLst/>
          </a:prstGeom>
          <a:solidFill>
            <a:srgbClr val="F4F6F9"/>
          </a:solidFill>
          <a:ln w="6350">
            <a:solidFill>
              <a:srgbClr val="E0EE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11556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Problem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760720" y="1115568"/>
            <a:ext cx="2889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Earlier model trained on clean backgrounds — fails when other objects or clutter are present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1591056"/>
            <a:ext cx="3986784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591056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Solution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60720" y="1591056"/>
            <a:ext cx="2889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New images captured with multiple objects in frame — teaches model to isolate the target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066544"/>
            <a:ext cx="3986784" cy="402336"/>
          </a:xfrm>
          <a:prstGeom prst="rect">
            <a:avLst/>
          </a:prstGeom>
          <a:solidFill>
            <a:srgbClr val="F4F6F9"/>
          </a:solidFill>
          <a:ln w="6350">
            <a:solidFill>
              <a:srgbClr val="E0EE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06654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Goal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60720" y="2066544"/>
            <a:ext cx="2889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Robust detection in real lab conditions regardless of surrounding clutter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688336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688336"/>
            <a:ext cx="4206240" cy="256032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68833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Help needed / questions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73168" y="2980944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Box dimensions still needed from professor — coordinate mapping for the pick-and-place sequence cannot be finalised without knowing where the boxes will be placed.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94A8"/>
                </a:solidFill>
              </a:rPr>
              <a:t>Mechatronics System Design 101  ·  Leen's Group  ·  Week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AD7A"/>
          </a:solidFill>
          <a:ln w="12700">
            <a:solidFill>
              <a:srgbClr val="2EAD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— Member  ·  ROS2 Integration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786384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786384"/>
            <a:ext cx="4114800" cy="256032"/>
          </a:xfrm>
          <a:prstGeom prst="rect">
            <a:avLst/>
          </a:prstGeom>
          <a:solidFill>
            <a:srgbClr val="2EAD7A"/>
          </a:solidFill>
          <a:ln w="12700">
            <a:solidFill>
              <a:srgbClr val="2EAD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7863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Accomplished (since last report)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Continued work on ROS2 — arm model loaded into simulation environment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1865376"/>
            <a:ext cx="4114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865376"/>
            <a:ext cx="411480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8653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1579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Arm parts not yet connecting at correct positions in ROS2 — joint transforms being debugged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743200"/>
            <a:ext cx="411480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743200"/>
            <a:ext cx="41148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 week plan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03580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Fix joint transform positions in URDF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Verify arm model matches physical arm geometry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73075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Begin ROS2 ↔ Arduino live control link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07822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Resolve end effector / gripper status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786384"/>
            <a:ext cx="4206240" cy="24871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786384"/>
            <a:ext cx="4206240" cy="256032"/>
          </a:xfrm>
          <a:prstGeom prst="rect">
            <a:avLst/>
          </a:prstGeom>
          <a:solidFill>
            <a:srgbClr val="2EAD7A"/>
          </a:solidFill>
          <a:ln w="12700">
            <a:solidFill>
              <a:srgbClr val="2EAD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78638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ROS2 / Digital twin — current state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115568"/>
            <a:ext cx="3986784" cy="310896"/>
          </a:xfrm>
          <a:prstGeom prst="rect">
            <a:avLst/>
          </a:prstGeom>
          <a:solidFill>
            <a:srgbClr val="F4F6F9"/>
          </a:solidFill>
          <a:ln w="6350">
            <a:solidFill>
              <a:srgbClr val="E0EE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11556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AD7A"/>
                </a:solidFill>
              </a:rPr>
              <a:t>Ubuntu VM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0" y="1115568"/>
            <a:ext cx="2706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5C3E"/>
                </a:solidFill>
              </a:rPr>
              <a:t>Installed &amp; running ✓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463040"/>
            <a:ext cx="398678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46304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AD7A"/>
                </a:solidFill>
              </a:rPr>
              <a:t>ROS2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0" y="1463040"/>
            <a:ext cx="2706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5C3E"/>
                </a:solidFill>
              </a:rPr>
              <a:t>Installed &amp; running ✓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810512"/>
            <a:ext cx="3986784" cy="310896"/>
          </a:xfrm>
          <a:prstGeom prst="rect">
            <a:avLst/>
          </a:prstGeom>
          <a:solidFill>
            <a:srgbClr val="F4F6F9"/>
          </a:solidFill>
          <a:ln w="6350">
            <a:solidFill>
              <a:srgbClr val="E0EE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81051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AD7A"/>
                </a:solidFill>
              </a:rPr>
              <a:t>CAD import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0" y="1810512"/>
            <a:ext cx="2706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5C3E"/>
                </a:solidFill>
              </a:rPr>
              <a:t>Model loaded in sim ✓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157984"/>
            <a:ext cx="398678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15798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AD7A"/>
                </a:solidFill>
              </a:rPr>
              <a:t>Joint positions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0" y="2157984"/>
            <a:ext cx="2706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8"/>
                </a:solidFill>
              </a:rPr>
              <a:t>Not connecting correctly — in progress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505456"/>
            <a:ext cx="3986784" cy="310896"/>
          </a:xfrm>
          <a:prstGeom prst="rect">
            <a:avLst/>
          </a:prstGeom>
          <a:solidFill>
            <a:srgbClr val="F4F6F9"/>
          </a:solidFill>
          <a:ln w="6350">
            <a:solidFill>
              <a:srgbClr val="E0EE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505456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AD7A"/>
                </a:solidFill>
              </a:rPr>
              <a:t>Arduino link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0" y="2505456"/>
            <a:ext cx="2706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8"/>
                </a:solidFill>
              </a:rPr>
              <a:t>Not yet started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852928"/>
            <a:ext cx="398678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85292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AD7A"/>
                </a:solidFill>
              </a:rPr>
              <a:t>Full demo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43600" y="2852928"/>
            <a:ext cx="2706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8"/>
                </a:solidFill>
              </a:rPr>
              <a:t>Pending joint fix + assembly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3346704"/>
            <a:ext cx="4206240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3346704"/>
            <a:ext cx="4206240" cy="256032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34670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Help needed / questions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73168" y="3639312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URDF joint transforms are not placing parts at correct positions — need to review axis definitions and parent-child relationships in the URDF file.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94A8"/>
                </a:solidFill>
              </a:rPr>
              <a:t>Mechatronics System Design 101  ·  Leen's Group  ·  Week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B4E9E"/>
          </a:solidFill>
          <a:ln w="12700">
            <a:solidFill>
              <a:srgbClr val="6B4E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Helal — Member  ·  Control, CAD &amp; Base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786384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786384"/>
            <a:ext cx="4114800" cy="256032"/>
          </a:xfrm>
          <a:prstGeom prst="rect">
            <a:avLst/>
          </a:prstGeom>
          <a:solidFill>
            <a:srgbClr val="2EAD7A"/>
          </a:solidFill>
          <a:ln w="12700">
            <a:solidFill>
              <a:srgbClr val="2EAD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7863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Accomplished (since last report)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</a:rPr>
              <a:t>Completed unified manual control code — gamepad drives wheel motors, actuates all servo joints, and activates pump simultaneously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</a:rPr>
              <a:t>Two base platforms successfully laser cut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8105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</a:rPr>
              <a:t>Standoffs procured to space the two platforms apart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1762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</a:rPr>
              <a:t>Further progress on CAD model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2688336"/>
            <a:ext cx="4114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688336"/>
            <a:ext cx="411480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6883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9809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Measuring printed parts to check scale against CAD model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566160"/>
            <a:ext cx="411480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3566160"/>
            <a:ext cx="41148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566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 week plan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85876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</a:rPr>
              <a:t>Adjust CAD model based on measured part dimensions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05993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</a:rPr>
              <a:t>Assemble base — attach wheels and DC motors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26110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</a:rPr>
              <a:t>Begin full system assembly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786384"/>
            <a:ext cx="4206240" cy="23408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786384"/>
            <a:ext cx="4206240" cy="256032"/>
          </a:xfrm>
          <a:prstGeom prst="rect">
            <a:avLst/>
          </a:prstGeom>
          <a:solidFill>
            <a:srgbClr val="6B4E9E"/>
          </a:solidFill>
          <a:ln w="12700">
            <a:solidFill>
              <a:srgbClr val="6B4E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78638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Manual control — what the gamepad controls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115568"/>
            <a:ext cx="3986784" cy="310896"/>
          </a:xfrm>
          <a:prstGeom prst="rect">
            <a:avLst/>
          </a:prstGeom>
          <a:solidFill>
            <a:srgbClr val="F4F6F9"/>
          </a:solidFill>
          <a:ln w="6350">
            <a:solidFill>
              <a:srgbClr val="E0EE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11556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4E9E"/>
                </a:solidFill>
              </a:rPr>
              <a:t>Left stick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52160" y="1115568"/>
            <a:ext cx="2706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Drive wheel motors — forward / backward / turn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1463040"/>
            <a:ext cx="398678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46304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4E9E"/>
                </a:solidFill>
              </a:rPr>
              <a:t>Right stick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52160" y="1463040"/>
            <a:ext cx="2706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Shoulder and elbow servo joints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1810512"/>
            <a:ext cx="3986784" cy="310896"/>
          </a:xfrm>
          <a:prstGeom prst="rect">
            <a:avLst/>
          </a:prstGeom>
          <a:solidFill>
            <a:srgbClr val="F4F6F9"/>
          </a:solidFill>
          <a:ln w="6350">
            <a:solidFill>
              <a:srgbClr val="E0EE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81051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4E9E"/>
                </a:solidFill>
              </a:rPr>
              <a:t>Triggers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52160" y="1810512"/>
            <a:ext cx="2706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Wrist servo — up/down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157984"/>
            <a:ext cx="398678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15798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4E9E"/>
                </a:solidFill>
              </a:rPr>
              <a:t>Buttons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52160" y="2157984"/>
            <a:ext cx="2706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Pump on/off via relay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505456"/>
            <a:ext cx="3986784" cy="310896"/>
          </a:xfrm>
          <a:prstGeom prst="rect">
            <a:avLst/>
          </a:prstGeom>
          <a:solidFill>
            <a:srgbClr val="F4F6F9"/>
          </a:solidFill>
          <a:ln w="6350">
            <a:solidFill>
              <a:srgbClr val="E0EE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250545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4E9E"/>
                </a:solidFill>
              </a:rPr>
              <a:t>Bumpers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52160" y="2505456"/>
            <a:ext cx="2706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Base joint rotation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2852928"/>
            <a:ext cx="398678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285292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4E9E"/>
                </a:solidFill>
              </a:rPr>
              <a:t>All modes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852160" y="2852928"/>
            <a:ext cx="2706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Single unified Arduino firmware sketch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200400"/>
            <a:ext cx="42062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3200400"/>
            <a:ext cx="4206240" cy="256032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2004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Help needed / questions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73168" y="3493008"/>
            <a:ext cx="39319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Printed parts may be scaled down relative to the CAD. Need to physically measure each part and update the CAD before the model can be used for final assembly planning.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94A8"/>
                </a:solidFill>
              </a:rPr>
              <a:t>Mechatronics System Design 101  ·  Leen's Group  ·  Week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206240" cy="420624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474720"/>
            <a:ext cx="2194560" cy="2194560"/>
          </a:xfrm>
          <a:prstGeom prst="ellipse">
            <a:avLst/>
          </a:prstGeom>
          <a:solidFill>
            <a:srgbClr val="028090">
              <a:alpha val="8000"/>
            </a:srgbClr>
          </a:solidFill>
          <a:ln w="12700">
            <a:solidFill>
              <a:srgbClr val="02809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840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786384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572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737360"/>
            <a:ext cx="5577840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737360"/>
            <a:ext cx="54864" cy="347472"/>
          </a:xfrm>
          <a:prstGeom prst="rect">
            <a:avLst/>
          </a:prstGeom>
          <a:solidFill>
            <a:srgbClr val="2EAD7A"/>
          </a:solidFill>
          <a:ln w="12700">
            <a:solidFill>
              <a:srgbClr val="2EAD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73736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AD7A"/>
                </a:solidFill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9536" y="17373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4F0"/>
                </a:solidFill>
              </a:rPr>
              <a:t>Full manual control — wheels, servos, and pump via single gamepad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157984"/>
            <a:ext cx="5577840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157984"/>
            <a:ext cx="54864" cy="347472"/>
          </a:xfrm>
          <a:prstGeom prst="rect">
            <a:avLst/>
          </a:prstGeom>
          <a:solidFill>
            <a:srgbClr val="2EAD7A"/>
          </a:solidFill>
          <a:ln w="12700">
            <a:solidFill>
              <a:srgbClr val="2EAD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15798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AD7A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" y="215798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4F0"/>
                </a:solidFill>
              </a:rPr>
              <a:t>Mobile base platforms laser cut — standoffs fitted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578608"/>
            <a:ext cx="5577840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578608"/>
            <a:ext cx="54864" cy="347472"/>
          </a:xfrm>
          <a:prstGeom prst="rect">
            <a:avLst/>
          </a:prstGeom>
          <a:solidFill>
            <a:srgbClr val="2EAD7A"/>
          </a:solidFill>
          <a:ln w="12700">
            <a:solidFill>
              <a:srgbClr val="2EAD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57860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AD7A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9536" y="257860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4F0"/>
                </a:solidFill>
              </a:rPr>
              <a:t>More training images collected in crowded environment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999232"/>
            <a:ext cx="5577840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99232"/>
            <a:ext cx="54864" cy="347472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99923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6530"/>
                </a:solidFill>
              </a:rPr>
              <a:t>⚠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9536" y="299923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4F0"/>
                </a:solidFill>
              </a:rPr>
              <a:t>CAD scale needs verification against printed parts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419856"/>
            <a:ext cx="5577840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419856"/>
            <a:ext cx="54864" cy="347472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41985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6530"/>
                </a:solidFill>
              </a:rPr>
              <a:t>⚠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" y="341985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4F0"/>
                </a:solidFill>
              </a:rPr>
              <a:t>ROS2 joint positions not yet connecting correctly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3840480"/>
            <a:ext cx="5577840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840480"/>
            <a:ext cx="54864" cy="347472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84048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6530"/>
                </a:solidFill>
              </a:rPr>
              <a:t>⚠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9536" y="38404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4F0"/>
                </a:solidFill>
              </a:rPr>
              <a:t>End effector / gripper — no update this week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1737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E6F5"/>
                </a:solidFill>
              </a:rPr>
              <a:t>Looking ahead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2066544"/>
            <a:ext cx="2633472" cy="365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2066544"/>
            <a:ext cx="54864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64224" y="2139696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C0392B">
              <a:alpha val="20000"/>
            </a:srgbClr>
          </a:solidFill>
          <a:ln w="12700">
            <a:solidFill>
              <a:srgbClr val="C0392B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4224" y="213969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Next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077456" y="206654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Fix ROS2 joint transforms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63640" y="2505456"/>
            <a:ext cx="2633472" cy="365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63640" y="2505456"/>
            <a:ext cx="54864" cy="365760"/>
          </a:xfrm>
          <a:prstGeom prst="rect">
            <a:avLst/>
          </a:prstGeom>
          <a:solidFill>
            <a:srgbClr val="6B4E9E"/>
          </a:solidFill>
          <a:ln w="12700">
            <a:solidFill>
              <a:srgbClr val="6B4E9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64224" y="2578608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6B4E9E">
              <a:alpha val="20000"/>
            </a:srgbClr>
          </a:solidFill>
          <a:ln w="12700">
            <a:solidFill>
              <a:srgbClr val="6B4E9E">
                <a:alpha val="3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64224" y="25786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Next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077456" y="250545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Retrain + test detection model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63640" y="2944368"/>
            <a:ext cx="2633472" cy="365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63640" y="2944368"/>
            <a:ext cx="54864" cy="365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64224" y="3017520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E8A020">
              <a:alpha val="20000"/>
            </a:srgbClr>
          </a:solidFill>
          <a:ln w="12700">
            <a:solidFill>
              <a:srgbClr val="E8A020">
                <a:alpha val="3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64224" y="30175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Next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077456" y="29443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Verify CAD scale + adjust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63640" y="3383280"/>
            <a:ext cx="2633472" cy="365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63640" y="3383280"/>
            <a:ext cx="54864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64224" y="3456432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64224" y="345643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Next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077456" y="3383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Assemble base + attach wheels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63640" y="3822192"/>
            <a:ext cx="2633472" cy="365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63640" y="3822192"/>
            <a:ext cx="54864" cy="365760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64224" y="3895344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E06530">
              <a:alpha val="20000"/>
            </a:srgbClr>
          </a:solidFill>
          <a:ln w="12700">
            <a:solidFill>
              <a:srgbClr val="E06530">
                <a:alpha val="3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64224" y="389534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Next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077456" y="382219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Resolve end effector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63640" y="4261104"/>
            <a:ext cx="2633472" cy="365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63640" y="4261104"/>
            <a:ext cx="54864" cy="365760"/>
          </a:xfrm>
          <a:prstGeom prst="rect">
            <a:avLst/>
          </a:prstGeom>
          <a:solidFill>
            <a:srgbClr val="2EAD7A"/>
          </a:solidFill>
          <a:ln w="12700">
            <a:solidFill>
              <a:srgbClr val="2EAD7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64224" y="4334256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2EAD7A">
              <a:alpha val="20000"/>
            </a:srgbClr>
          </a:solidFill>
          <a:ln w="12700">
            <a:solidFill>
              <a:srgbClr val="2EAD7A">
                <a:alpha val="3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64224" y="433425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Next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077456" y="426110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Full system assembly + demo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94A8"/>
                </a:solidFill>
              </a:rPr>
              <a:t>Mechatronics System Design 101  ·  Leen's Group  ·  Week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Robotic Arm – Week 11 Progress Report</dc:title>
  <dc:subject>PptxGenJS Presentation</dc:subject>
  <dc:creator>PptxGenJS</dc:creator>
  <cp:lastModifiedBy>PptxGenJS</cp:lastModifiedBy>
  <cp:revision>1</cp:revision>
  <dcterms:created xsi:type="dcterms:W3CDTF">2026-05-19T10:55:46Z</dcterms:created>
  <dcterms:modified xsi:type="dcterms:W3CDTF">2026-05-19T10:55:46Z</dcterms:modified>
</cp:coreProperties>
</file>