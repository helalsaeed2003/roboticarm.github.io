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eXM1m8helz8GUtLtSTXxzfTW8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8112BB-50E1-4B34-86AA-8F6A788EB427}">
  <a:tblStyle styleId="{B18112BB-50E1-4B34-86AA-8F6A788EB4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83fb30301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d83fb30301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d83fb30301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d83fb30301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d83fb30301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g3d83fb30301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83fb3030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d83fb3030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g3d83fb3030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83fb30301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d83fb30301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d83fb30301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83fb30301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3d83fb30301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3d83fb30301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83fb30301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d83fb30301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d83fb30301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d83fb30301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d83fb30301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g3d83fb30301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cs.google.com/spreadsheets/d/1vQUNIplIJCaTI_P2jxYhI44QH2mPTx2C/edit?usp=drive_link&amp;ouid=106065383605085710301&amp;rtpof=true&amp;sd=true"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drive.google.com/file/d/1Rgf2nBnFbx51Z8rvWHdWCDRy_adOFiVr/view?usp=drive_lin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2.jpg"/><Relationship Id="rId5"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15" name="Shape 15"/>
        <p:cNvGrpSpPr/>
        <p:nvPr/>
      </p:nvGrpSpPr>
      <p:grpSpPr>
        <a:xfrm>
          <a:off x="0" y="0"/>
          <a:ext cx="0" cy="0"/>
          <a:chOff x="0" y="0"/>
          <a:chExt cx="0" cy="0"/>
        </a:xfrm>
      </p:grpSpPr>
      <p:sp>
        <p:nvSpPr>
          <p:cNvPr id="16" name="Google Shape;16;p1"/>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949440" y="-1280160"/>
            <a:ext cx="3840480" cy="3840480"/>
          </a:xfrm>
          <a:prstGeom prst="ellipse">
            <a:avLst/>
          </a:prstGeom>
          <a:solidFill>
            <a:srgbClr val="028090">
              <a:alpha val="14901"/>
            </a:srgbClr>
          </a:solidFill>
          <a:ln cap="flat" cmpd="sng" w="12700">
            <a:solidFill>
              <a:srgbClr val="028090">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680960" y="3291840"/>
            <a:ext cx="2011680" cy="2011680"/>
          </a:xfrm>
          <a:prstGeom prst="ellipse">
            <a:avLst/>
          </a:prstGeom>
          <a:solidFill>
            <a:srgbClr val="028090">
              <a:alpha val="10196"/>
            </a:srgbClr>
          </a:solidFill>
          <a:ln cap="flat" cmpd="sng" w="12700">
            <a:solidFill>
              <a:srgbClr val="028090">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38912" y="777240"/>
            <a:ext cx="1280160" cy="329184"/>
          </a:xfrm>
          <a:prstGeom prst="roundRect">
            <a:avLst>
              <a:gd fmla="val 1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38912" y="777240"/>
            <a:ext cx="12801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WEEK 7</a:t>
            </a:r>
            <a:endParaRPr b="0" i="0" sz="1000" u="none" cap="none" strike="noStrike">
              <a:solidFill>
                <a:schemeClr val="dk1"/>
              </a:solidFill>
              <a:latin typeface="Calibri"/>
              <a:ea typeface="Calibri"/>
              <a:cs typeface="Calibri"/>
              <a:sym typeface="Calibri"/>
            </a:endParaRPr>
          </a:p>
        </p:txBody>
      </p:sp>
      <p:sp>
        <p:nvSpPr>
          <p:cNvPr id="21" name="Google Shape;21;p1"/>
          <p:cNvSpPr/>
          <p:nvPr/>
        </p:nvSpPr>
        <p:spPr>
          <a:xfrm>
            <a:off x="384048" y="1353312"/>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Robotic Arm</a:t>
            </a:r>
            <a:endParaRPr b="0" i="0" sz="5200" u="none" cap="none" strike="noStrike">
              <a:solidFill>
                <a:schemeClr val="dk1"/>
              </a:solidFill>
              <a:latin typeface="Calibri"/>
              <a:ea typeface="Calibri"/>
              <a:cs typeface="Calibri"/>
              <a:sym typeface="Calibri"/>
            </a:endParaRPr>
          </a:p>
        </p:txBody>
      </p:sp>
      <p:sp>
        <p:nvSpPr>
          <p:cNvPr id="22" name="Google Shape;22;p1"/>
          <p:cNvSpPr/>
          <p:nvPr/>
        </p:nvSpPr>
        <p:spPr>
          <a:xfrm>
            <a:off x="384048" y="2176272"/>
            <a:ext cx="77724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3000"/>
              <a:buFont typeface="Calibri"/>
              <a:buNone/>
            </a:pPr>
            <a:r>
              <a:rPr b="0" i="0" lang="en-US" sz="3000" u="none" cap="none" strike="noStrike">
                <a:solidFill>
                  <a:srgbClr val="C8E6F5"/>
                </a:solidFill>
                <a:latin typeface="Calibri"/>
                <a:ea typeface="Calibri"/>
                <a:cs typeface="Calibri"/>
                <a:sym typeface="Calibri"/>
              </a:rPr>
              <a:t>Pick &amp; Place System</a:t>
            </a:r>
            <a:endParaRPr b="0" i="0" sz="3000" u="none" cap="none" strike="noStrike">
              <a:solidFill>
                <a:schemeClr val="dk1"/>
              </a:solidFill>
              <a:latin typeface="Calibri"/>
              <a:ea typeface="Calibri"/>
              <a:cs typeface="Calibri"/>
              <a:sym typeface="Calibri"/>
            </a:endParaRPr>
          </a:p>
        </p:txBody>
      </p:sp>
      <p:sp>
        <p:nvSpPr>
          <p:cNvPr id="23" name="Google Shape;23;p1"/>
          <p:cNvSpPr/>
          <p:nvPr/>
        </p:nvSpPr>
        <p:spPr>
          <a:xfrm>
            <a:off x="384048" y="2907792"/>
            <a:ext cx="45720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384048" y="3090672"/>
            <a:ext cx="7772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300"/>
              <a:buFont typeface="Calibri"/>
              <a:buNone/>
            </a:pPr>
            <a:r>
              <a:rPr b="0" i="0" lang="en-US" sz="1300" u="none" cap="none" strike="noStrike">
                <a:solidFill>
                  <a:srgbClr val="8494A8"/>
                </a:solidFill>
                <a:latin typeface="Calibri"/>
                <a:ea typeface="Calibri"/>
                <a:cs typeface="Calibri"/>
                <a:sym typeface="Calibri"/>
              </a:rPr>
              <a:t>Weekly Progress Report  ·  Mechatronics System Design 101</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384048" y="4462272"/>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100"/>
              <a:buFont typeface="Calibri"/>
              <a:buNone/>
            </a:pPr>
            <a:r>
              <a:rPr b="0" i="1" lang="en-US" sz="1100" u="none" cap="none" strike="noStrike">
                <a:solidFill>
                  <a:srgbClr val="8494A8"/>
                </a:solidFill>
                <a:latin typeface="Calibri"/>
                <a:ea typeface="Calibri"/>
                <a:cs typeface="Calibri"/>
                <a:sym typeface="Calibri"/>
              </a:rPr>
              <a:t>Leen's Group  ·  Leen  ·  Mohamed  ·  Helal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0" name="Shape 30"/>
        <p:cNvGrpSpPr/>
        <p:nvPr/>
      </p:nvGrpSpPr>
      <p:grpSpPr>
        <a:xfrm>
          <a:off x="0" y="0"/>
          <a:ext cx="0" cy="0"/>
          <a:chOff x="0" y="0"/>
          <a:chExt cx="0" cy="0"/>
        </a:xfrm>
      </p:grpSpPr>
      <p:sp>
        <p:nvSpPr>
          <p:cNvPr id="31" name="Google Shape;31;p2"/>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7 — Snapshot</a:t>
            </a:r>
            <a:endParaRPr b="0" i="0" sz="2000" u="none" cap="none" strike="noStrike">
              <a:solidFill>
                <a:schemeClr val="dk1"/>
              </a:solidFill>
              <a:latin typeface="Calibri"/>
              <a:ea typeface="Calibri"/>
              <a:cs typeface="Calibri"/>
              <a:sym typeface="Calibri"/>
            </a:endParaRPr>
          </a:p>
        </p:txBody>
      </p:sp>
      <p:sp>
        <p:nvSpPr>
          <p:cNvPr id="34" name="Google Shape;34;p2"/>
          <p:cNvSpPr/>
          <p:nvPr/>
        </p:nvSpPr>
        <p:spPr>
          <a:xfrm>
            <a:off x="347472" y="804672"/>
            <a:ext cx="5577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What we worked on this week</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347472" y="1152144"/>
            <a:ext cx="5577840" cy="859536"/>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47472" y="1152144"/>
            <a:ext cx="73152" cy="859536"/>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93776" y="1353312"/>
            <a:ext cx="329184" cy="329184"/>
          </a:xfrm>
          <a:prstGeom prst="ellipse">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93776" y="13533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01</a:t>
            </a:r>
            <a:endParaRPr b="0" i="0" sz="900" u="none" cap="none" strike="noStrike">
              <a:solidFill>
                <a:schemeClr val="dk1"/>
              </a:solidFill>
              <a:latin typeface="Calibri"/>
              <a:ea typeface="Calibri"/>
              <a:cs typeface="Calibri"/>
              <a:sym typeface="Calibri"/>
            </a:endParaRPr>
          </a:p>
        </p:txBody>
      </p:sp>
      <p:sp>
        <p:nvSpPr>
          <p:cNvPr id="39" name="Google Shape;39;p2"/>
          <p:cNvSpPr/>
          <p:nvPr/>
        </p:nvSpPr>
        <p:spPr>
          <a:xfrm>
            <a:off x="932688" y="1243584"/>
            <a:ext cx="4846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In-person meetup + 3D parts collected &amp; fixed</a:t>
            </a:r>
            <a:endParaRPr b="0" i="0" sz="1200" u="none" cap="none" strike="noStrike">
              <a:solidFill>
                <a:schemeClr val="dk1"/>
              </a:solidFill>
              <a:latin typeface="Calibri"/>
              <a:ea typeface="Calibri"/>
              <a:cs typeface="Calibri"/>
              <a:sym typeface="Calibri"/>
            </a:endParaRPr>
          </a:p>
        </p:txBody>
      </p:sp>
      <p:sp>
        <p:nvSpPr>
          <p:cNvPr id="40" name="Google Shape;40;p2"/>
          <p:cNvSpPr/>
          <p:nvPr/>
        </p:nvSpPr>
        <p:spPr>
          <a:xfrm>
            <a:off x="932688" y="1536192"/>
            <a:ext cx="48463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000"/>
              <a:buFont typeface="Calibri"/>
              <a:buNone/>
            </a:pPr>
            <a:r>
              <a:rPr b="0" i="0" lang="en-US" sz="1000" u="none" cap="none" strike="noStrike">
                <a:solidFill>
                  <a:srgbClr val="8494A8"/>
                </a:solidFill>
                <a:latin typeface="Calibri"/>
                <a:ea typeface="Calibri"/>
                <a:cs typeface="Calibri"/>
                <a:sym typeface="Calibri"/>
              </a:rPr>
              <a:t>First in-person session. Collected long-delayed 3D printed parts. Servo motor fittings were wrong dimensions — team manually cut and corrected the parts on the spot.</a:t>
            </a:r>
            <a:endParaRPr b="0" i="0" sz="1000" u="none" cap="none" strike="noStrike">
              <a:solidFill>
                <a:schemeClr val="dk1"/>
              </a:solidFill>
              <a:latin typeface="Calibri"/>
              <a:ea typeface="Calibri"/>
              <a:cs typeface="Calibri"/>
              <a:sym typeface="Calibri"/>
            </a:endParaRPr>
          </a:p>
        </p:txBody>
      </p:sp>
      <p:sp>
        <p:nvSpPr>
          <p:cNvPr id="41" name="Google Shape;41;p2"/>
          <p:cNvSpPr/>
          <p:nvPr/>
        </p:nvSpPr>
        <p:spPr>
          <a:xfrm>
            <a:off x="347472" y="2121408"/>
            <a:ext cx="5577840" cy="859536"/>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47472" y="2121408"/>
            <a:ext cx="73152" cy="85953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93776" y="2322576"/>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93776" y="2322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02</a:t>
            </a:r>
            <a:endParaRPr b="0" i="0" sz="900" u="none" cap="none" strike="noStrike">
              <a:solidFill>
                <a:schemeClr val="dk1"/>
              </a:solidFill>
              <a:latin typeface="Calibri"/>
              <a:ea typeface="Calibri"/>
              <a:cs typeface="Calibri"/>
              <a:sym typeface="Calibri"/>
            </a:endParaRPr>
          </a:p>
        </p:txBody>
      </p:sp>
      <p:sp>
        <p:nvSpPr>
          <p:cNvPr id="45" name="Google Shape;45;p2"/>
          <p:cNvSpPr/>
          <p:nvPr/>
        </p:nvSpPr>
        <p:spPr>
          <a:xfrm>
            <a:off x="932688" y="2212848"/>
            <a:ext cx="4846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OpenCV — mapping progress</a:t>
            </a:r>
            <a:endParaRPr b="0" i="0" sz="1200" u="none" cap="none" strike="noStrike">
              <a:solidFill>
                <a:schemeClr val="dk1"/>
              </a:solidFill>
              <a:latin typeface="Calibri"/>
              <a:ea typeface="Calibri"/>
              <a:cs typeface="Calibri"/>
              <a:sym typeface="Calibri"/>
            </a:endParaRPr>
          </a:p>
        </p:txBody>
      </p:sp>
      <p:sp>
        <p:nvSpPr>
          <p:cNvPr id="46" name="Google Shape;46;p2"/>
          <p:cNvSpPr/>
          <p:nvPr/>
        </p:nvSpPr>
        <p:spPr>
          <a:xfrm>
            <a:off x="932688" y="2505456"/>
            <a:ext cx="48463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000"/>
              <a:buFont typeface="Calibri"/>
              <a:buNone/>
            </a:pPr>
            <a:r>
              <a:rPr b="0" i="0" lang="en-US" sz="1000" u="none" cap="none" strike="noStrike">
                <a:solidFill>
                  <a:srgbClr val="8494A8"/>
                </a:solidFill>
                <a:latin typeface="Calibri"/>
                <a:ea typeface="Calibri"/>
                <a:cs typeface="Calibri"/>
                <a:sym typeface="Calibri"/>
              </a:rPr>
              <a:t>Through trial and error, camera vision now detects if an object is to the left or right and sends movement commands to the Arduino base motor accordingly.</a:t>
            </a:r>
            <a:endParaRPr b="0" i="0" sz="1000" u="none" cap="none" strike="noStrike">
              <a:solidFill>
                <a:schemeClr val="dk1"/>
              </a:solidFill>
              <a:latin typeface="Calibri"/>
              <a:ea typeface="Calibri"/>
              <a:cs typeface="Calibri"/>
              <a:sym typeface="Calibri"/>
            </a:endParaRPr>
          </a:p>
        </p:txBody>
      </p:sp>
      <p:sp>
        <p:nvSpPr>
          <p:cNvPr id="47" name="Google Shape;47;p2"/>
          <p:cNvSpPr/>
          <p:nvPr/>
        </p:nvSpPr>
        <p:spPr>
          <a:xfrm>
            <a:off x="347472" y="3090672"/>
            <a:ext cx="5577840" cy="859536"/>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47472" y="3090672"/>
            <a:ext cx="73152" cy="859536"/>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93776" y="3291840"/>
            <a:ext cx="329184" cy="329184"/>
          </a:xfrm>
          <a:prstGeom prst="ellipse">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93776" y="3291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03</a:t>
            </a:r>
            <a:endParaRPr b="0" i="0" sz="900" u="none" cap="none" strike="noStrike">
              <a:solidFill>
                <a:schemeClr val="dk1"/>
              </a:solidFill>
              <a:latin typeface="Calibri"/>
              <a:ea typeface="Calibri"/>
              <a:cs typeface="Calibri"/>
              <a:sym typeface="Calibri"/>
            </a:endParaRPr>
          </a:p>
        </p:txBody>
      </p:sp>
      <p:sp>
        <p:nvSpPr>
          <p:cNvPr id="51" name="Google Shape;51;p2"/>
          <p:cNvSpPr/>
          <p:nvPr/>
        </p:nvSpPr>
        <p:spPr>
          <a:xfrm>
            <a:off x="932688" y="3182112"/>
            <a:ext cx="48463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1" i="0" lang="en-US" sz="1200" u="none" cap="none" strike="noStrike">
                <a:solidFill>
                  <a:srgbClr val="2C3E50"/>
                </a:solidFill>
                <a:latin typeface="Calibri"/>
                <a:ea typeface="Calibri"/>
                <a:cs typeface="Calibri"/>
                <a:sym typeface="Calibri"/>
              </a:rPr>
              <a:t>ROS2 installed and running</a:t>
            </a:r>
            <a:endParaRPr b="0" i="0" sz="1200" u="none" cap="none" strike="noStrike">
              <a:solidFill>
                <a:schemeClr val="dk1"/>
              </a:solidFill>
              <a:latin typeface="Calibri"/>
              <a:ea typeface="Calibri"/>
              <a:cs typeface="Calibri"/>
              <a:sym typeface="Calibri"/>
            </a:endParaRPr>
          </a:p>
        </p:txBody>
      </p:sp>
      <p:sp>
        <p:nvSpPr>
          <p:cNvPr id="52" name="Google Shape;52;p2"/>
          <p:cNvSpPr/>
          <p:nvPr/>
        </p:nvSpPr>
        <p:spPr>
          <a:xfrm>
            <a:off x="932688" y="3474720"/>
            <a:ext cx="48463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000"/>
              <a:buFont typeface="Calibri"/>
              <a:buNone/>
            </a:pPr>
            <a:r>
              <a:rPr b="0" i="0" lang="en-US" sz="1000" u="none" cap="none" strike="noStrike">
                <a:solidFill>
                  <a:srgbClr val="8494A8"/>
                </a:solidFill>
                <a:latin typeface="Calibri"/>
                <a:ea typeface="Calibri"/>
                <a:cs typeface="Calibri"/>
                <a:sym typeface="Calibri"/>
              </a:rPr>
              <a:t>After significant learning on the new Linux OS, ROS2 is now installed and operational on the Ubuntu system — ready to begin integration work.</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6144768" y="804672"/>
            <a:ext cx="2743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Status</a:t>
            </a:r>
            <a:endParaRPr b="0" i="0" sz="1300" u="none" cap="none" strike="noStrike">
              <a:solidFill>
                <a:schemeClr val="dk1"/>
              </a:solidFill>
              <a:latin typeface="Calibri"/>
              <a:ea typeface="Calibri"/>
              <a:cs typeface="Calibri"/>
              <a:sym typeface="Calibri"/>
            </a:endParaRPr>
          </a:p>
        </p:txBody>
      </p:sp>
      <p:sp>
        <p:nvSpPr>
          <p:cNvPr id="54" name="Google Shape;54;p2"/>
          <p:cNvSpPr/>
          <p:nvPr/>
        </p:nvSpPr>
        <p:spPr>
          <a:xfrm>
            <a:off x="6144768" y="115214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144768" y="1152144"/>
            <a:ext cx="64008" cy="4572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272784" y="115214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Schedule</a:t>
            </a:r>
            <a:endParaRPr b="0" i="0" sz="950" u="none" cap="none" strike="noStrike">
              <a:solidFill>
                <a:schemeClr val="dk1"/>
              </a:solidFill>
              <a:latin typeface="Calibri"/>
              <a:ea typeface="Calibri"/>
              <a:cs typeface="Calibri"/>
              <a:sym typeface="Calibri"/>
            </a:endParaRPr>
          </a:p>
        </p:txBody>
      </p:sp>
      <p:sp>
        <p:nvSpPr>
          <p:cNvPr id="57" name="Google Shape;57;p2"/>
          <p:cNvSpPr/>
          <p:nvPr/>
        </p:nvSpPr>
        <p:spPr>
          <a:xfrm>
            <a:off x="7443216" y="1243584"/>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443216" y="124358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Recovering</a:t>
            </a:r>
            <a:endParaRPr b="0" i="0" sz="800" u="none" cap="none" strike="noStrike">
              <a:solidFill>
                <a:schemeClr val="dk1"/>
              </a:solidFill>
              <a:latin typeface="Calibri"/>
              <a:ea typeface="Calibri"/>
              <a:cs typeface="Calibri"/>
              <a:sym typeface="Calibri"/>
            </a:endParaRPr>
          </a:p>
        </p:txBody>
      </p:sp>
      <p:sp>
        <p:nvSpPr>
          <p:cNvPr id="59" name="Google Shape;59;p2"/>
          <p:cNvSpPr/>
          <p:nvPr/>
        </p:nvSpPr>
        <p:spPr>
          <a:xfrm>
            <a:off x="6144768" y="170078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144768" y="1700784"/>
            <a:ext cx="64008" cy="45720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272784" y="170078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3D parts</a:t>
            </a:r>
            <a:endParaRPr b="0" i="0" sz="950" u="none" cap="none" strike="noStrike">
              <a:solidFill>
                <a:schemeClr val="dk1"/>
              </a:solidFill>
              <a:latin typeface="Calibri"/>
              <a:ea typeface="Calibri"/>
              <a:cs typeface="Calibri"/>
              <a:sym typeface="Calibri"/>
            </a:endParaRPr>
          </a:p>
        </p:txBody>
      </p:sp>
      <p:sp>
        <p:nvSpPr>
          <p:cNvPr id="62" name="Google Shape;62;p2"/>
          <p:cNvSpPr/>
          <p:nvPr/>
        </p:nvSpPr>
        <p:spPr>
          <a:xfrm>
            <a:off x="7443216" y="1792224"/>
            <a:ext cx="1335024" cy="256032"/>
          </a:xfrm>
          <a:prstGeom prst="roundRect">
            <a:avLst>
              <a:gd fmla="val 14286" name="adj"/>
            </a:avLst>
          </a:prstGeom>
          <a:solidFill>
            <a:srgbClr val="2EAD7A">
              <a:alpha val="18039"/>
            </a:srgbClr>
          </a:solidFill>
          <a:ln cap="flat" cmpd="sng" w="12700">
            <a:solidFill>
              <a:srgbClr val="2EAD7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443216" y="179222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Fixed ✓</a:t>
            </a:r>
            <a:endParaRPr b="0" i="0" sz="800" u="none" cap="none" strike="noStrike">
              <a:solidFill>
                <a:schemeClr val="dk1"/>
              </a:solidFill>
              <a:latin typeface="Calibri"/>
              <a:ea typeface="Calibri"/>
              <a:cs typeface="Calibri"/>
              <a:sym typeface="Calibri"/>
            </a:endParaRPr>
          </a:p>
        </p:txBody>
      </p:sp>
      <p:sp>
        <p:nvSpPr>
          <p:cNvPr id="64" name="Google Shape;64;p2"/>
          <p:cNvSpPr/>
          <p:nvPr/>
        </p:nvSpPr>
        <p:spPr>
          <a:xfrm>
            <a:off x="6144768" y="224942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144768" y="2249424"/>
            <a:ext cx="64008" cy="4572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272784" y="224942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OpenCV</a:t>
            </a:r>
            <a:endParaRPr b="0" i="0" sz="950" u="none" cap="none" strike="noStrike">
              <a:solidFill>
                <a:schemeClr val="dk1"/>
              </a:solidFill>
              <a:latin typeface="Calibri"/>
              <a:ea typeface="Calibri"/>
              <a:cs typeface="Calibri"/>
              <a:sym typeface="Calibri"/>
            </a:endParaRPr>
          </a:p>
        </p:txBody>
      </p:sp>
      <p:sp>
        <p:nvSpPr>
          <p:cNvPr id="67" name="Google Shape;67;p2"/>
          <p:cNvSpPr/>
          <p:nvPr/>
        </p:nvSpPr>
        <p:spPr>
          <a:xfrm>
            <a:off x="7443216" y="2340864"/>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7443216" y="234086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Progressing</a:t>
            </a:r>
            <a:endParaRPr b="0" i="0" sz="800" u="none" cap="none" strike="noStrike">
              <a:solidFill>
                <a:schemeClr val="dk1"/>
              </a:solidFill>
              <a:latin typeface="Calibri"/>
              <a:ea typeface="Calibri"/>
              <a:cs typeface="Calibri"/>
              <a:sym typeface="Calibri"/>
            </a:endParaRPr>
          </a:p>
        </p:txBody>
      </p:sp>
      <p:sp>
        <p:nvSpPr>
          <p:cNvPr id="69" name="Google Shape;69;p2"/>
          <p:cNvSpPr/>
          <p:nvPr/>
        </p:nvSpPr>
        <p:spPr>
          <a:xfrm>
            <a:off x="6144768" y="279806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144768" y="2798064"/>
            <a:ext cx="64008" cy="45720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272784" y="279806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ROS2</a:t>
            </a:r>
            <a:endParaRPr b="0" i="0" sz="950" u="none" cap="none" strike="noStrike">
              <a:solidFill>
                <a:schemeClr val="dk1"/>
              </a:solidFill>
              <a:latin typeface="Calibri"/>
              <a:ea typeface="Calibri"/>
              <a:cs typeface="Calibri"/>
              <a:sym typeface="Calibri"/>
            </a:endParaRPr>
          </a:p>
        </p:txBody>
      </p:sp>
      <p:sp>
        <p:nvSpPr>
          <p:cNvPr id="72" name="Google Shape;72;p2"/>
          <p:cNvSpPr/>
          <p:nvPr/>
        </p:nvSpPr>
        <p:spPr>
          <a:xfrm>
            <a:off x="7443216" y="2889504"/>
            <a:ext cx="1335024" cy="256032"/>
          </a:xfrm>
          <a:prstGeom prst="roundRect">
            <a:avLst>
              <a:gd fmla="val 14286" name="adj"/>
            </a:avLst>
          </a:prstGeom>
          <a:solidFill>
            <a:srgbClr val="2EAD7A">
              <a:alpha val="18039"/>
            </a:srgbClr>
          </a:solidFill>
          <a:ln cap="flat" cmpd="sng" w="12700">
            <a:solidFill>
              <a:srgbClr val="2EAD7A">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7443216" y="288950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Running ✓</a:t>
            </a:r>
            <a:endParaRPr b="0" i="0" sz="800" u="none" cap="none" strike="noStrike">
              <a:solidFill>
                <a:schemeClr val="dk1"/>
              </a:solidFill>
              <a:latin typeface="Calibri"/>
              <a:ea typeface="Calibri"/>
              <a:cs typeface="Calibri"/>
              <a:sym typeface="Calibri"/>
            </a:endParaRPr>
          </a:p>
        </p:txBody>
      </p:sp>
      <p:sp>
        <p:nvSpPr>
          <p:cNvPr id="74" name="Google Shape;74;p2"/>
          <p:cNvSpPr/>
          <p:nvPr/>
        </p:nvSpPr>
        <p:spPr>
          <a:xfrm>
            <a:off x="6144768" y="334670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144768" y="3346704"/>
            <a:ext cx="64008" cy="457200"/>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272784" y="334670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Assembly</a:t>
            </a:r>
            <a:endParaRPr b="0" i="0" sz="950" u="none" cap="none" strike="noStrike">
              <a:solidFill>
                <a:schemeClr val="dk1"/>
              </a:solidFill>
              <a:latin typeface="Calibri"/>
              <a:ea typeface="Calibri"/>
              <a:cs typeface="Calibri"/>
              <a:sym typeface="Calibri"/>
            </a:endParaRPr>
          </a:p>
        </p:txBody>
      </p:sp>
      <p:sp>
        <p:nvSpPr>
          <p:cNvPr id="77" name="Google Shape;77;p2"/>
          <p:cNvSpPr/>
          <p:nvPr/>
        </p:nvSpPr>
        <p:spPr>
          <a:xfrm>
            <a:off x="7443216" y="3438144"/>
            <a:ext cx="1335024" cy="256032"/>
          </a:xfrm>
          <a:prstGeom prst="roundRect">
            <a:avLst>
              <a:gd fmla="val 14286" name="adj"/>
            </a:avLst>
          </a:prstGeom>
          <a:solidFill>
            <a:srgbClr val="E06530">
              <a:alpha val="18039"/>
            </a:srgbClr>
          </a:solidFill>
          <a:ln cap="flat" cmpd="sng" w="12700">
            <a:solidFill>
              <a:srgbClr val="E0653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7443216" y="343814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Pending</a:t>
            </a:r>
            <a:endParaRPr b="0" i="0" sz="800" u="none" cap="none" strike="noStrike">
              <a:solidFill>
                <a:schemeClr val="dk1"/>
              </a:solidFill>
              <a:latin typeface="Calibri"/>
              <a:ea typeface="Calibri"/>
              <a:cs typeface="Calibri"/>
              <a:sym typeface="Calibri"/>
            </a:endParaRPr>
          </a:p>
        </p:txBody>
      </p:sp>
      <p:sp>
        <p:nvSpPr>
          <p:cNvPr id="79" name="Google Shape;79;p2"/>
          <p:cNvSpPr/>
          <p:nvPr/>
        </p:nvSpPr>
        <p:spPr>
          <a:xfrm>
            <a:off x="6144768" y="3895344"/>
            <a:ext cx="2743200" cy="4572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6144768" y="3895344"/>
            <a:ext cx="64008" cy="4572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6272784" y="3895344"/>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CAD</a:t>
            </a:r>
            <a:endParaRPr b="0" i="0" sz="950" u="none" cap="none" strike="noStrike">
              <a:solidFill>
                <a:schemeClr val="dk1"/>
              </a:solidFill>
              <a:latin typeface="Calibri"/>
              <a:ea typeface="Calibri"/>
              <a:cs typeface="Calibri"/>
              <a:sym typeface="Calibri"/>
            </a:endParaRPr>
          </a:p>
        </p:txBody>
      </p:sp>
      <p:sp>
        <p:nvSpPr>
          <p:cNvPr id="82" name="Google Shape;82;p2"/>
          <p:cNvSpPr/>
          <p:nvPr/>
        </p:nvSpPr>
        <p:spPr>
          <a:xfrm>
            <a:off x="7443216" y="3986784"/>
            <a:ext cx="1335024" cy="256032"/>
          </a:xfrm>
          <a:prstGeom prst="roundRect">
            <a:avLst>
              <a:gd fmla="val 14286" name="adj"/>
            </a:avLst>
          </a:prstGeom>
          <a:solidFill>
            <a:srgbClr val="E8A020">
              <a:alpha val="18039"/>
            </a:srgbClr>
          </a:solidFill>
          <a:ln cap="flat" cmpd="sng" w="12700">
            <a:solidFill>
              <a:srgbClr val="E8A02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7443216" y="3986784"/>
            <a:ext cx="133502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On track</a:t>
            </a:r>
            <a:endParaRPr b="0" i="0" sz="800" u="none" cap="none" strike="noStrike">
              <a:solidFill>
                <a:schemeClr val="dk1"/>
              </a:solidFill>
              <a:latin typeface="Calibri"/>
              <a:ea typeface="Calibri"/>
              <a:cs typeface="Calibri"/>
              <a:sym typeface="Calibri"/>
            </a:endParaRPr>
          </a:p>
        </p:txBody>
      </p:sp>
      <p:sp>
        <p:nvSpPr>
          <p:cNvPr id="84" name="Google Shape;84;p2"/>
          <p:cNvSpPr/>
          <p:nvPr/>
        </p:nvSpPr>
        <p:spPr>
          <a:xfrm>
            <a:off x="347472" y="4151376"/>
            <a:ext cx="8476488" cy="384048"/>
          </a:xfrm>
          <a:prstGeom prst="rect">
            <a:avLst/>
          </a:prstGeom>
          <a:solidFill>
            <a:srgbClr val="2EAD7A">
              <a:alpha val="12156"/>
            </a:srgbClr>
          </a:solidFill>
          <a:ln cap="flat" cmpd="sng" w="12700">
            <a:solidFill>
              <a:srgbClr val="2EAD7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475488" y="4151376"/>
            <a:ext cx="8321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1000"/>
              <a:buFont typeface="Calibri"/>
              <a:buNone/>
            </a:pPr>
            <a:r>
              <a:rPr b="1" i="0" lang="en-US" sz="1000" u="none" cap="none" strike="noStrike">
                <a:solidFill>
                  <a:srgbClr val="165C3E"/>
                </a:solidFill>
                <a:latin typeface="Calibri"/>
                <a:ea typeface="Calibri"/>
                <a:cs typeface="Calibri"/>
                <a:sym typeface="Calibri"/>
              </a:rPr>
              <a:t>✓  Major win: team met in person, collected 3D parts, and corrected servo fittings on the day — assembly is now unblocked.</a:t>
            </a:r>
            <a:endParaRPr b="0" i="0" sz="1000" u="none" cap="none" strike="noStrike">
              <a:solidFill>
                <a:schemeClr val="dk1"/>
              </a:solidFill>
              <a:latin typeface="Calibri"/>
              <a:ea typeface="Calibri"/>
              <a:cs typeface="Calibri"/>
              <a:sym typeface="Calibri"/>
            </a:endParaRPr>
          </a:p>
        </p:txBody>
      </p:sp>
      <p:sp>
        <p:nvSpPr>
          <p:cNvPr id="86" name="Google Shape;86;p2"/>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91" name="Shape 91"/>
        <p:cNvGrpSpPr/>
        <p:nvPr/>
      </p:nvGrpSpPr>
      <p:grpSpPr>
        <a:xfrm>
          <a:off x="0" y="0"/>
          <a:ext cx="0" cy="0"/>
          <a:chOff x="0" y="0"/>
          <a:chExt cx="0" cy="0"/>
        </a:xfrm>
      </p:grpSpPr>
      <p:sp>
        <p:nvSpPr>
          <p:cNvPr id="92" name="Google Shape;92;p3"/>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0" y="0"/>
            <a:ext cx="164592" cy="51435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Project Schedule — Gantt Chart</a:t>
            </a:r>
            <a:endParaRPr b="0" i="0" sz="2000" u="none" cap="none" strike="noStrike">
              <a:solidFill>
                <a:schemeClr val="dk1"/>
              </a:solidFill>
              <a:latin typeface="Calibri"/>
              <a:ea typeface="Calibri"/>
              <a:cs typeface="Calibri"/>
              <a:sym typeface="Calibri"/>
            </a:endParaRPr>
          </a:p>
        </p:txBody>
      </p:sp>
      <p:sp>
        <p:nvSpPr>
          <p:cNvPr id="95" name="Google Shape;95;p3"/>
          <p:cNvSpPr/>
          <p:nvPr/>
        </p:nvSpPr>
        <p:spPr>
          <a:xfrm>
            <a:off x="347472" y="804672"/>
            <a:ext cx="8476488" cy="4114800"/>
          </a:xfrm>
          <a:prstGeom prst="rect">
            <a:avLst/>
          </a:prstGeom>
          <a:solidFill>
            <a:srgbClr val="E8EDF5"/>
          </a:solidFill>
          <a:ln cap="flat" cmpd="sng" w="12700">
            <a:solidFill>
              <a:srgbClr val="C8D4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347472" y="804672"/>
            <a:ext cx="8476488" cy="411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BAEC8"/>
              </a:buClr>
              <a:buSzPts val="1600"/>
              <a:buFont typeface="Calibri"/>
              <a:buNone/>
            </a:pPr>
            <a:r>
              <a:rPr b="0" i="1" lang="en-US" sz="1600" u="none" cap="none" strike="noStrike">
                <a:solidFill>
                  <a:srgbClr val="9BAEC8"/>
                </a:solidFill>
                <a:latin typeface="Calibri"/>
                <a:ea typeface="Calibri"/>
                <a:cs typeface="Calibri"/>
                <a:sym typeface="Calibri"/>
              </a:rPr>
              <a:t>[ Paste Gantt Chart Image Here ]</a:t>
            </a:r>
            <a:endParaRPr b="0" i="0" sz="1600" u="none" cap="none" strike="noStrike">
              <a:solidFill>
                <a:schemeClr val="dk1"/>
              </a:solidFill>
              <a:latin typeface="Calibri"/>
              <a:ea typeface="Calibri"/>
              <a:cs typeface="Calibri"/>
              <a:sym typeface="Calibri"/>
            </a:endParaRPr>
          </a:p>
        </p:txBody>
      </p:sp>
      <p:sp>
        <p:nvSpPr>
          <p:cNvPr id="97" name="Google Shape;97;p3"/>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pic>
        <p:nvPicPr>
          <p:cNvPr id="98" name="Google Shape;98;p3" title="5716665.png">
            <a:hlinkClick r:id="rId3"/>
          </p:cNvPr>
          <p:cNvPicPr preferRelativeResize="0"/>
          <p:nvPr/>
        </p:nvPicPr>
        <p:blipFill>
          <a:blip r:embed="rId4">
            <a:alphaModFix/>
          </a:blip>
          <a:stretch>
            <a:fillRect/>
          </a:stretch>
        </p:blipFill>
        <p:spPr>
          <a:xfrm>
            <a:off x="2902550" y="961450"/>
            <a:ext cx="3452675" cy="3452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03" name="Shape 103"/>
        <p:cNvGrpSpPr/>
        <p:nvPr/>
      </p:nvGrpSpPr>
      <p:grpSpPr>
        <a:xfrm>
          <a:off x="0" y="0"/>
          <a:ext cx="0" cy="0"/>
          <a:chOff x="0" y="0"/>
          <a:chExt cx="0" cy="0"/>
        </a:xfrm>
      </p:grpSpPr>
      <p:sp>
        <p:nvSpPr>
          <p:cNvPr id="104" name="Google Shape;104;p4"/>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Milestones &amp; Deliverables</a:t>
            </a:r>
            <a:endParaRPr b="0" i="0" sz="2000" u="none" cap="none" strike="noStrike">
              <a:solidFill>
                <a:schemeClr val="dk1"/>
              </a:solidFill>
              <a:latin typeface="Calibri"/>
              <a:ea typeface="Calibri"/>
              <a:cs typeface="Calibri"/>
              <a:sym typeface="Calibri"/>
            </a:endParaRPr>
          </a:p>
        </p:txBody>
      </p:sp>
      <p:sp>
        <p:nvSpPr>
          <p:cNvPr id="107" name="Google Shape;107;p4"/>
          <p:cNvSpPr/>
          <p:nvPr/>
        </p:nvSpPr>
        <p:spPr>
          <a:xfrm>
            <a:off x="347472" y="804672"/>
            <a:ext cx="221284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438912" y="804672"/>
            <a:ext cx="21031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Deliverable</a:t>
            </a:r>
            <a:endParaRPr b="0" i="0" sz="1000" u="none" cap="none" strike="noStrike">
              <a:solidFill>
                <a:schemeClr val="dk1"/>
              </a:solidFill>
              <a:latin typeface="Calibri"/>
              <a:ea typeface="Calibri"/>
              <a:cs typeface="Calibri"/>
              <a:sym typeface="Calibri"/>
            </a:endParaRPr>
          </a:p>
        </p:txBody>
      </p:sp>
      <p:sp>
        <p:nvSpPr>
          <p:cNvPr id="109" name="Google Shape;109;p4"/>
          <p:cNvSpPr/>
          <p:nvPr/>
        </p:nvSpPr>
        <p:spPr>
          <a:xfrm>
            <a:off x="2578608" y="804672"/>
            <a:ext cx="157276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2670048" y="804672"/>
            <a:ext cx="14630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Target</a:t>
            </a:r>
            <a:endParaRPr b="0" i="0" sz="1000" u="none" cap="none" strike="noStrike">
              <a:solidFill>
                <a:schemeClr val="dk1"/>
              </a:solidFill>
              <a:latin typeface="Calibri"/>
              <a:ea typeface="Calibri"/>
              <a:cs typeface="Calibri"/>
              <a:sym typeface="Calibri"/>
            </a:endParaRPr>
          </a:p>
        </p:txBody>
      </p:sp>
      <p:sp>
        <p:nvSpPr>
          <p:cNvPr id="111" name="Google Shape;111;p4"/>
          <p:cNvSpPr/>
          <p:nvPr/>
        </p:nvSpPr>
        <p:spPr>
          <a:xfrm>
            <a:off x="4169664" y="804672"/>
            <a:ext cx="1389888"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261104" y="804672"/>
            <a:ext cx="12801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Status</a:t>
            </a:r>
            <a:endParaRPr b="0" i="0" sz="1000" u="none" cap="none" strike="noStrike">
              <a:solidFill>
                <a:schemeClr val="dk1"/>
              </a:solidFill>
              <a:latin typeface="Calibri"/>
              <a:ea typeface="Calibri"/>
              <a:cs typeface="Calibri"/>
              <a:sym typeface="Calibri"/>
            </a:endParaRPr>
          </a:p>
        </p:txBody>
      </p:sp>
      <p:sp>
        <p:nvSpPr>
          <p:cNvPr id="113" name="Google Shape;113;p4"/>
          <p:cNvSpPr/>
          <p:nvPr/>
        </p:nvSpPr>
        <p:spPr>
          <a:xfrm>
            <a:off x="5577840" y="804672"/>
            <a:ext cx="3246120" cy="292608"/>
          </a:xfrm>
          <a:prstGeom prst="rect">
            <a:avLst/>
          </a:prstGeom>
          <a:solidFill>
            <a:srgbClr val="0D1B3E"/>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669280" y="804672"/>
            <a:ext cx="3136392"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This week</a:t>
            </a:r>
            <a:endParaRPr b="0" i="0" sz="1000" u="none" cap="none" strike="noStrike">
              <a:solidFill>
                <a:schemeClr val="dk1"/>
              </a:solidFill>
              <a:latin typeface="Calibri"/>
              <a:ea typeface="Calibri"/>
              <a:cs typeface="Calibri"/>
              <a:sym typeface="Calibri"/>
            </a:endParaRPr>
          </a:p>
        </p:txBody>
      </p:sp>
      <p:sp>
        <p:nvSpPr>
          <p:cNvPr id="115" name="Google Shape;115;p4"/>
          <p:cNvSpPr/>
          <p:nvPr/>
        </p:nvSpPr>
        <p:spPr>
          <a:xfrm>
            <a:off x="347472" y="10972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2578608" y="10972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4169664" y="10972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5577840" y="10972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438912" y="10972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CAD model complete</a:t>
            </a:r>
            <a:endParaRPr b="0" i="0" sz="950" u="none" cap="none" strike="noStrike">
              <a:solidFill>
                <a:schemeClr val="dk1"/>
              </a:solidFill>
              <a:latin typeface="Calibri"/>
              <a:ea typeface="Calibri"/>
              <a:cs typeface="Calibri"/>
              <a:sym typeface="Calibri"/>
            </a:endParaRPr>
          </a:p>
        </p:txBody>
      </p:sp>
      <p:sp>
        <p:nvSpPr>
          <p:cNvPr id="120" name="Google Shape;120;p4"/>
          <p:cNvSpPr/>
          <p:nvPr/>
        </p:nvSpPr>
        <p:spPr>
          <a:xfrm>
            <a:off x="2670048" y="10972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7</a:t>
            </a:r>
            <a:endParaRPr b="0" i="0" sz="950" u="none" cap="none" strike="noStrike">
              <a:solidFill>
                <a:schemeClr val="dk1"/>
              </a:solidFill>
              <a:latin typeface="Calibri"/>
              <a:ea typeface="Calibri"/>
              <a:cs typeface="Calibri"/>
              <a:sym typeface="Calibri"/>
            </a:endParaRPr>
          </a:p>
        </p:txBody>
      </p:sp>
      <p:sp>
        <p:nvSpPr>
          <p:cNvPr id="121" name="Google Shape;121;p4"/>
          <p:cNvSpPr/>
          <p:nvPr/>
        </p:nvSpPr>
        <p:spPr>
          <a:xfrm>
            <a:off x="4261104" y="1179576"/>
            <a:ext cx="1207008" cy="237744"/>
          </a:xfrm>
          <a:prstGeom prst="roundRect">
            <a:avLst>
              <a:gd fmla="val 15385"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261104" y="11795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Nearly done</a:t>
            </a:r>
            <a:endParaRPr b="0" i="0" sz="800" u="none" cap="none" strike="noStrike">
              <a:solidFill>
                <a:schemeClr val="dk1"/>
              </a:solidFill>
              <a:latin typeface="Calibri"/>
              <a:ea typeface="Calibri"/>
              <a:cs typeface="Calibri"/>
              <a:sym typeface="Calibri"/>
            </a:endParaRPr>
          </a:p>
        </p:txBody>
      </p:sp>
      <p:sp>
        <p:nvSpPr>
          <p:cNvPr id="123" name="Google Shape;123;p4"/>
          <p:cNvSpPr/>
          <p:nvPr/>
        </p:nvSpPr>
        <p:spPr>
          <a:xfrm>
            <a:off x="5669280" y="10972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Parts corrected — final CAD to finish this week</a:t>
            </a:r>
            <a:endParaRPr b="0" i="0" sz="900" u="none" cap="none" strike="noStrike">
              <a:solidFill>
                <a:schemeClr val="dk1"/>
              </a:solidFill>
              <a:latin typeface="Calibri"/>
              <a:ea typeface="Calibri"/>
              <a:cs typeface="Calibri"/>
              <a:sym typeface="Calibri"/>
            </a:endParaRPr>
          </a:p>
        </p:txBody>
      </p:sp>
      <p:sp>
        <p:nvSpPr>
          <p:cNvPr id="124" name="Google Shape;124;p4"/>
          <p:cNvSpPr/>
          <p:nvPr/>
        </p:nvSpPr>
        <p:spPr>
          <a:xfrm>
            <a:off x="347472" y="15544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2578608" y="15544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169664" y="15544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38912" y="15544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New part prints</a:t>
            </a:r>
            <a:endParaRPr b="0" i="0" sz="950" u="none" cap="none" strike="noStrike">
              <a:solidFill>
                <a:schemeClr val="dk1"/>
              </a:solidFill>
              <a:latin typeface="Calibri"/>
              <a:ea typeface="Calibri"/>
              <a:cs typeface="Calibri"/>
              <a:sym typeface="Calibri"/>
            </a:endParaRPr>
          </a:p>
        </p:txBody>
      </p:sp>
      <p:sp>
        <p:nvSpPr>
          <p:cNvPr id="128" name="Google Shape;128;p4"/>
          <p:cNvSpPr/>
          <p:nvPr/>
        </p:nvSpPr>
        <p:spPr>
          <a:xfrm>
            <a:off x="5577840" y="15544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2670048" y="15544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30" name="Google Shape;130;p4"/>
          <p:cNvSpPr/>
          <p:nvPr/>
        </p:nvSpPr>
        <p:spPr>
          <a:xfrm>
            <a:off x="4261104" y="1636776"/>
            <a:ext cx="1207008" cy="237744"/>
          </a:xfrm>
          <a:prstGeom prst="roundRect">
            <a:avLst>
              <a:gd fmla="val 15385"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4261104" y="16367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Ordered</a:t>
            </a:r>
            <a:endParaRPr b="0" i="0" sz="800" u="none" cap="none" strike="noStrike">
              <a:solidFill>
                <a:schemeClr val="dk1"/>
              </a:solidFill>
              <a:latin typeface="Calibri"/>
              <a:ea typeface="Calibri"/>
              <a:cs typeface="Calibri"/>
              <a:sym typeface="Calibri"/>
            </a:endParaRPr>
          </a:p>
        </p:txBody>
      </p:sp>
      <p:sp>
        <p:nvSpPr>
          <p:cNvPr id="132" name="Google Shape;132;p4"/>
          <p:cNvSpPr/>
          <p:nvPr/>
        </p:nvSpPr>
        <p:spPr>
          <a:xfrm>
            <a:off x="5669280" y="15544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Corrected dimensions sent for reprint</a:t>
            </a:r>
            <a:endParaRPr b="0" i="0" sz="900" u="none" cap="none" strike="noStrike">
              <a:solidFill>
                <a:schemeClr val="dk1"/>
              </a:solidFill>
              <a:latin typeface="Calibri"/>
              <a:ea typeface="Calibri"/>
              <a:cs typeface="Calibri"/>
              <a:sym typeface="Calibri"/>
            </a:endParaRPr>
          </a:p>
        </p:txBody>
      </p:sp>
      <p:sp>
        <p:nvSpPr>
          <p:cNvPr id="133" name="Google Shape;133;p4"/>
          <p:cNvSpPr/>
          <p:nvPr/>
        </p:nvSpPr>
        <p:spPr>
          <a:xfrm>
            <a:off x="347472" y="20116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2578608" y="20116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4169664" y="20116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5577840" y="20116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438912" y="20116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Camera vision (OpenCV)</a:t>
            </a:r>
            <a:endParaRPr b="0" i="0" sz="950" u="none" cap="none" strike="noStrike">
              <a:solidFill>
                <a:schemeClr val="dk1"/>
              </a:solidFill>
              <a:latin typeface="Calibri"/>
              <a:ea typeface="Calibri"/>
              <a:cs typeface="Calibri"/>
              <a:sym typeface="Calibri"/>
            </a:endParaRPr>
          </a:p>
        </p:txBody>
      </p:sp>
      <p:sp>
        <p:nvSpPr>
          <p:cNvPr id="138" name="Google Shape;138;p4"/>
          <p:cNvSpPr/>
          <p:nvPr/>
        </p:nvSpPr>
        <p:spPr>
          <a:xfrm>
            <a:off x="2670048" y="20116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39" name="Google Shape;139;p4"/>
          <p:cNvSpPr/>
          <p:nvPr/>
        </p:nvSpPr>
        <p:spPr>
          <a:xfrm>
            <a:off x="4261104" y="2093976"/>
            <a:ext cx="1207008" cy="237744"/>
          </a:xfrm>
          <a:prstGeom prst="roundRect">
            <a:avLst>
              <a:gd fmla="val 15385"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4261104" y="20939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Progressing</a:t>
            </a:r>
            <a:endParaRPr b="0" i="0" sz="800" u="none" cap="none" strike="noStrike">
              <a:solidFill>
                <a:schemeClr val="dk1"/>
              </a:solidFill>
              <a:latin typeface="Calibri"/>
              <a:ea typeface="Calibri"/>
              <a:cs typeface="Calibri"/>
              <a:sym typeface="Calibri"/>
            </a:endParaRPr>
          </a:p>
        </p:txBody>
      </p:sp>
      <p:sp>
        <p:nvSpPr>
          <p:cNvPr id="141" name="Google Shape;141;p4"/>
          <p:cNvSpPr/>
          <p:nvPr/>
        </p:nvSpPr>
        <p:spPr>
          <a:xfrm>
            <a:off x="5669280" y="20116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Left/right detection + base motor commands working</a:t>
            </a:r>
            <a:endParaRPr b="0" i="0" sz="900" u="none" cap="none" strike="noStrike">
              <a:solidFill>
                <a:schemeClr val="dk1"/>
              </a:solidFill>
              <a:latin typeface="Calibri"/>
              <a:ea typeface="Calibri"/>
              <a:cs typeface="Calibri"/>
              <a:sym typeface="Calibri"/>
            </a:endParaRPr>
          </a:p>
        </p:txBody>
      </p:sp>
      <p:sp>
        <p:nvSpPr>
          <p:cNvPr id="142" name="Google Shape;142;p4"/>
          <p:cNvSpPr/>
          <p:nvPr/>
        </p:nvSpPr>
        <p:spPr>
          <a:xfrm>
            <a:off x="347472" y="24688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2578608" y="24688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4169664" y="24688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5577840" y="24688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438912" y="24688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End effector + pump</a:t>
            </a:r>
            <a:endParaRPr b="0" i="0" sz="950" u="none" cap="none" strike="noStrike">
              <a:solidFill>
                <a:schemeClr val="dk1"/>
              </a:solidFill>
              <a:latin typeface="Calibri"/>
              <a:ea typeface="Calibri"/>
              <a:cs typeface="Calibri"/>
              <a:sym typeface="Calibri"/>
            </a:endParaRPr>
          </a:p>
        </p:txBody>
      </p:sp>
      <p:sp>
        <p:nvSpPr>
          <p:cNvPr id="147" name="Google Shape;147;p4"/>
          <p:cNvSpPr/>
          <p:nvPr/>
        </p:nvSpPr>
        <p:spPr>
          <a:xfrm>
            <a:off x="2670048" y="24688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48" name="Google Shape;148;p4"/>
          <p:cNvSpPr/>
          <p:nvPr/>
        </p:nvSpPr>
        <p:spPr>
          <a:xfrm>
            <a:off x="4261104" y="2551176"/>
            <a:ext cx="1207008" cy="237744"/>
          </a:xfrm>
          <a:prstGeom prst="roundRect">
            <a:avLst>
              <a:gd fmla="val 15385"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4261104" y="25511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In progress</a:t>
            </a:r>
            <a:endParaRPr b="0" i="0" sz="800" u="none" cap="none" strike="noStrike">
              <a:solidFill>
                <a:schemeClr val="dk1"/>
              </a:solidFill>
              <a:latin typeface="Calibri"/>
              <a:ea typeface="Calibri"/>
              <a:cs typeface="Calibri"/>
              <a:sym typeface="Calibri"/>
            </a:endParaRPr>
          </a:p>
        </p:txBody>
      </p:sp>
      <p:sp>
        <p:nvSpPr>
          <p:cNvPr id="150" name="Google Shape;150;p4"/>
          <p:cNvSpPr/>
          <p:nvPr/>
        </p:nvSpPr>
        <p:spPr>
          <a:xfrm>
            <a:off x="5669280" y="24688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Pump being sourced this week</a:t>
            </a:r>
            <a:endParaRPr b="0" i="0" sz="900" u="none" cap="none" strike="noStrike">
              <a:solidFill>
                <a:schemeClr val="dk1"/>
              </a:solidFill>
              <a:latin typeface="Calibri"/>
              <a:ea typeface="Calibri"/>
              <a:cs typeface="Calibri"/>
              <a:sym typeface="Calibri"/>
            </a:endParaRPr>
          </a:p>
        </p:txBody>
      </p:sp>
      <p:sp>
        <p:nvSpPr>
          <p:cNvPr id="151" name="Google Shape;151;p4"/>
          <p:cNvSpPr/>
          <p:nvPr/>
        </p:nvSpPr>
        <p:spPr>
          <a:xfrm>
            <a:off x="347472" y="29260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2578608" y="29260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4169664" y="29260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5577840" y="29260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438912" y="29260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Control system</a:t>
            </a:r>
            <a:endParaRPr b="0" i="0" sz="950" u="none" cap="none" strike="noStrike">
              <a:solidFill>
                <a:schemeClr val="dk1"/>
              </a:solidFill>
              <a:latin typeface="Calibri"/>
              <a:ea typeface="Calibri"/>
              <a:cs typeface="Calibri"/>
              <a:sym typeface="Calibri"/>
            </a:endParaRPr>
          </a:p>
        </p:txBody>
      </p:sp>
      <p:sp>
        <p:nvSpPr>
          <p:cNvPr id="156" name="Google Shape;156;p4"/>
          <p:cNvSpPr/>
          <p:nvPr/>
        </p:nvSpPr>
        <p:spPr>
          <a:xfrm>
            <a:off x="2670048" y="29260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8</a:t>
            </a:r>
            <a:endParaRPr b="0" i="0" sz="950" u="none" cap="none" strike="noStrike">
              <a:solidFill>
                <a:schemeClr val="dk1"/>
              </a:solidFill>
              <a:latin typeface="Calibri"/>
              <a:ea typeface="Calibri"/>
              <a:cs typeface="Calibri"/>
              <a:sym typeface="Calibri"/>
            </a:endParaRPr>
          </a:p>
        </p:txBody>
      </p:sp>
      <p:sp>
        <p:nvSpPr>
          <p:cNvPr id="157" name="Google Shape;157;p4"/>
          <p:cNvSpPr/>
          <p:nvPr/>
        </p:nvSpPr>
        <p:spPr>
          <a:xfrm>
            <a:off x="4261104" y="30083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4261104" y="30083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On track</a:t>
            </a:r>
            <a:endParaRPr b="0" i="0" sz="800" u="none" cap="none" strike="noStrike">
              <a:solidFill>
                <a:schemeClr val="dk1"/>
              </a:solidFill>
              <a:latin typeface="Calibri"/>
              <a:ea typeface="Calibri"/>
              <a:cs typeface="Calibri"/>
              <a:sym typeface="Calibri"/>
            </a:endParaRPr>
          </a:p>
        </p:txBody>
      </p:sp>
      <p:sp>
        <p:nvSpPr>
          <p:cNvPr id="159" name="Google Shape;159;p4"/>
          <p:cNvSpPr/>
          <p:nvPr/>
        </p:nvSpPr>
        <p:spPr>
          <a:xfrm>
            <a:off x="5669280" y="29260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Gamepad + Python + CV commands all functional</a:t>
            </a:r>
            <a:endParaRPr b="0" i="0" sz="900" u="none" cap="none" strike="noStrike">
              <a:solidFill>
                <a:schemeClr val="dk1"/>
              </a:solidFill>
              <a:latin typeface="Calibri"/>
              <a:ea typeface="Calibri"/>
              <a:cs typeface="Calibri"/>
              <a:sym typeface="Calibri"/>
            </a:endParaRPr>
          </a:p>
        </p:txBody>
      </p:sp>
      <p:sp>
        <p:nvSpPr>
          <p:cNvPr id="160" name="Google Shape;160;p4"/>
          <p:cNvSpPr/>
          <p:nvPr/>
        </p:nvSpPr>
        <p:spPr>
          <a:xfrm>
            <a:off x="347472" y="33832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2578608" y="33832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4169664" y="33832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577840" y="33832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438912" y="33832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ROS2 / Digital twin</a:t>
            </a:r>
            <a:endParaRPr b="0" i="0" sz="950" u="none" cap="none" strike="noStrike">
              <a:solidFill>
                <a:schemeClr val="dk1"/>
              </a:solidFill>
              <a:latin typeface="Calibri"/>
              <a:ea typeface="Calibri"/>
              <a:cs typeface="Calibri"/>
              <a:sym typeface="Calibri"/>
            </a:endParaRPr>
          </a:p>
        </p:txBody>
      </p:sp>
      <p:sp>
        <p:nvSpPr>
          <p:cNvPr id="165" name="Google Shape;165;p4"/>
          <p:cNvSpPr/>
          <p:nvPr/>
        </p:nvSpPr>
        <p:spPr>
          <a:xfrm>
            <a:off x="2670048" y="33832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10</a:t>
            </a:r>
            <a:endParaRPr b="0" i="0" sz="950" u="none" cap="none" strike="noStrike">
              <a:solidFill>
                <a:schemeClr val="dk1"/>
              </a:solidFill>
              <a:latin typeface="Calibri"/>
              <a:ea typeface="Calibri"/>
              <a:cs typeface="Calibri"/>
              <a:sym typeface="Calibri"/>
            </a:endParaRPr>
          </a:p>
        </p:txBody>
      </p:sp>
      <p:sp>
        <p:nvSpPr>
          <p:cNvPr id="166" name="Google Shape;166;p4"/>
          <p:cNvSpPr/>
          <p:nvPr/>
        </p:nvSpPr>
        <p:spPr>
          <a:xfrm>
            <a:off x="4261104" y="34655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4261104" y="34655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Running ✓</a:t>
            </a:r>
            <a:endParaRPr b="0" i="0" sz="800" u="none" cap="none" strike="noStrike">
              <a:solidFill>
                <a:schemeClr val="dk1"/>
              </a:solidFill>
              <a:latin typeface="Calibri"/>
              <a:ea typeface="Calibri"/>
              <a:cs typeface="Calibri"/>
              <a:sym typeface="Calibri"/>
            </a:endParaRPr>
          </a:p>
        </p:txBody>
      </p:sp>
      <p:sp>
        <p:nvSpPr>
          <p:cNvPr id="168" name="Google Shape;168;p4"/>
          <p:cNvSpPr/>
          <p:nvPr/>
        </p:nvSpPr>
        <p:spPr>
          <a:xfrm>
            <a:off x="5669280" y="33832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ROS2 installed and operational on Ubuntu</a:t>
            </a:r>
            <a:endParaRPr b="0" i="0" sz="900" u="none" cap="none" strike="noStrike">
              <a:solidFill>
                <a:schemeClr val="dk1"/>
              </a:solidFill>
              <a:latin typeface="Calibri"/>
              <a:ea typeface="Calibri"/>
              <a:cs typeface="Calibri"/>
              <a:sym typeface="Calibri"/>
            </a:endParaRPr>
          </a:p>
        </p:txBody>
      </p:sp>
      <p:sp>
        <p:nvSpPr>
          <p:cNvPr id="169" name="Google Shape;169;p4"/>
          <p:cNvSpPr/>
          <p:nvPr/>
        </p:nvSpPr>
        <p:spPr>
          <a:xfrm>
            <a:off x="347472" y="3840480"/>
            <a:ext cx="221284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2578608" y="3840480"/>
            <a:ext cx="157276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4169664" y="3840480"/>
            <a:ext cx="1389888"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5577840" y="3840480"/>
            <a:ext cx="3246120" cy="420624"/>
          </a:xfrm>
          <a:prstGeom prst="rect">
            <a:avLst/>
          </a:prstGeom>
          <a:solidFill>
            <a:srgbClr val="EDF2F7"/>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438912" y="38404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Full assembly</a:t>
            </a:r>
            <a:endParaRPr b="0" i="0" sz="950" u="none" cap="none" strike="noStrike">
              <a:solidFill>
                <a:schemeClr val="dk1"/>
              </a:solidFill>
              <a:latin typeface="Calibri"/>
              <a:ea typeface="Calibri"/>
              <a:cs typeface="Calibri"/>
              <a:sym typeface="Calibri"/>
            </a:endParaRPr>
          </a:p>
        </p:txBody>
      </p:sp>
      <p:sp>
        <p:nvSpPr>
          <p:cNvPr id="174" name="Google Shape;174;p4"/>
          <p:cNvSpPr/>
          <p:nvPr/>
        </p:nvSpPr>
        <p:spPr>
          <a:xfrm>
            <a:off x="2670048" y="38404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10</a:t>
            </a:r>
            <a:endParaRPr b="0" i="0" sz="950" u="none" cap="none" strike="noStrike">
              <a:solidFill>
                <a:schemeClr val="dk1"/>
              </a:solidFill>
              <a:latin typeface="Calibri"/>
              <a:ea typeface="Calibri"/>
              <a:cs typeface="Calibri"/>
              <a:sym typeface="Calibri"/>
            </a:endParaRPr>
          </a:p>
        </p:txBody>
      </p:sp>
      <p:sp>
        <p:nvSpPr>
          <p:cNvPr id="175" name="Google Shape;175;p4"/>
          <p:cNvSpPr/>
          <p:nvPr/>
        </p:nvSpPr>
        <p:spPr>
          <a:xfrm>
            <a:off x="4261104" y="39227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4261104" y="39227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Unblocked</a:t>
            </a:r>
            <a:endParaRPr b="0" i="0" sz="800" u="none" cap="none" strike="noStrike">
              <a:solidFill>
                <a:schemeClr val="dk1"/>
              </a:solidFill>
              <a:latin typeface="Calibri"/>
              <a:ea typeface="Calibri"/>
              <a:cs typeface="Calibri"/>
              <a:sym typeface="Calibri"/>
            </a:endParaRPr>
          </a:p>
        </p:txBody>
      </p:sp>
      <p:sp>
        <p:nvSpPr>
          <p:cNvPr id="177" name="Google Shape;177;p4"/>
          <p:cNvSpPr/>
          <p:nvPr/>
        </p:nvSpPr>
        <p:spPr>
          <a:xfrm>
            <a:off x="5669280" y="38404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Parts in hand — assembly begins once reprints arrive</a:t>
            </a:r>
            <a:endParaRPr b="0" i="0" sz="900" u="none" cap="none" strike="noStrike">
              <a:solidFill>
                <a:schemeClr val="dk1"/>
              </a:solidFill>
              <a:latin typeface="Calibri"/>
              <a:ea typeface="Calibri"/>
              <a:cs typeface="Calibri"/>
              <a:sym typeface="Calibri"/>
            </a:endParaRPr>
          </a:p>
        </p:txBody>
      </p:sp>
      <p:sp>
        <p:nvSpPr>
          <p:cNvPr id="178" name="Google Shape;178;p4"/>
          <p:cNvSpPr/>
          <p:nvPr/>
        </p:nvSpPr>
        <p:spPr>
          <a:xfrm>
            <a:off x="347472" y="4297680"/>
            <a:ext cx="221284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2578608" y="4297680"/>
            <a:ext cx="157276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4169664" y="4297680"/>
            <a:ext cx="1389888"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5577840" y="4297680"/>
            <a:ext cx="3246120" cy="420624"/>
          </a:xfrm>
          <a:prstGeom prst="rect">
            <a:avLst/>
          </a:prstGeom>
          <a:solidFill>
            <a:srgbClr val="FFFFFF"/>
          </a:solidFill>
          <a:ln cap="flat" cmpd="sng" w="9525">
            <a:solidFill>
              <a:srgbClr val="D0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a:off x="438912" y="4297680"/>
            <a:ext cx="210312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1" i="0" lang="en-US" sz="950" u="none" cap="none" strike="noStrike">
                <a:solidFill>
                  <a:srgbClr val="2C3E50"/>
                </a:solidFill>
                <a:latin typeface="Calibri"/>
                <a:ea typeface="Calibri"/>
                <a:cs typeface="Calibri"/>
                <a:sym typeface="Calibri"/>
              </a:rPr>
              <a:t>Control system complete</a:t>
            </a:r>
            <a:endParaRPr b="0" i="0" sz="950" u="none" cap="none" strike="noStrike">
              <a:solidFill>
                <a:schemeClr val="dk1"/>
              </a:solidFill>
              <a:latin typeface="Calibri"/>
              <a:ea typeface="Calibri"/>
              <a:cs typeface="Calibri"/>
              <a:sym typeface="Calibri"/>
            </a:endParaRPr>
          </a:p>
        </p:txBody>
      </p:sp>
      <p:sp>
        <p:nvSpPr>
          <p:cNvPr id="183" name="Google Shape;183;p4"/>
          <p:cNvSpPr/>
          <p:nvPr/>
        </p:nvSpPr>
        <p:spPr>
          <a:xfrm>
            <a:off x="2670048" y="4297680"/>
            <a:ext cx="146304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Week 11</a:t>
            </a:r>
            <a:endParaRPr b="0" i="0" sz="950" u="none" cap="none" strike="noStrike">
              <a:solidFill>
                <a:schemeClr val="dk1"/>
              </a:solidFill>
              <a:latin typeface="Calibri"/>
              <a:ea typeface="Calibri"/>
              <a:cs typeface="Calibri"/>
              <a:sym typeface="Calibri"/>
            </a:endParaRPr>
          </a:p>
        </p:txBody>
      </p:sp>
      <p:sp>
        <p:nvSpPr>
          <p:cNvPr id="184" name="Google Shape;184;p4"/>
          <p:cNvSpPr/>
          <p:nvPr/>
        </p:nvSpPr>
        <p:spPr>
          <a:xfrm>
            <a:off x="4261104" y="4379976"/>
            <a:ext cx="1207008" cy="237744"/>
          </a:xfrm>
          <a:prstGeom prst="roundRect">
            <a:avLst>
              <a:gd fmla="val 15385"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4261104" y="4379976"/>
            <a:ext cx="12070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On track</a:t>
            </a:r>
            <a:endParaRPr b="0" i="0" sz="800" u="none" cap="none" strike="noStrike">
              <a:solidFill>
                <a:schemeClr val="dk1"/>
              </a:solidFill>
              <a:latin typeface="Calibri"/>
              <a:ea typeface="Calibri"/>
              <a:cs typeface="Calibri"/>
              <a:sym typeface="Calibri"/>
            </a:endParaRPr>
          </a:p>
        </p:txBody>
      </p:sp>
      <p:sp>
        <p:nvSpPr>
          <p:cNvPr id="186" name="Google Shape;186;p4"/>
          <p:cNvSpPr/>
          <p:nvPr/>
        </p:nvSpPr>
        <p:spPr>
          <a:xfrm>
            <a:off x="5669280" y="4297680"/>
            <a:ext cx="3136392"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CV pipeline sending commands to Arduino</a:t>
            </a:r>
            <a:endParaRPr b="0" i="0" sz="900" u="none" cap="none" strike="noStrike">
              <a:solidFill>
                <a:schemeClr val="dk1"/>
              </a:solidFill>
              <a:latin typeface="Calibri"/>
              <a:ea typeface="Calibri"/>
              <a:cs typeface="Calibri"/>
              <a:sym typeface="Calibri"/>
            </a:endParaRPr>
          </a:p>
        </p:txBody>
      </p:sp>
      <p:sp>
        <p:nvSpPr>
          <p:cNvPr id="187" name="Google Shape;187;p4"/>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92" name="Shape 192"/>
        <p:cNvGrpSpPr/>
        <p:nvPr/>
      </p:nvGrpSpPr>
      <p:grpSpPr>
        <a:xfrm>
          <a:off x="0" y="0"/>
          <a:ext cx="0" cy="0"/>
          <a:chOff x="0" y="0"/>
          <a:chExt cx="0" cy="0"/>
        </a:xfrm>
      </p:grpSpPr>
      <p:sp>
        <p:nvSpPr>
          <p:cNvPr id="193" name="Google Shape;193;p5"/>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0" y="0"/>
            <a:ext cx="164592" cy="5143500"/>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347472" y="0"/>
            <a:ext cx="65836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Issues, Risks &amp; Action Items</a:t>
            </a:r>
            <a:endParaRPr b="0" i="0" sz="2000" u="none" cap="none" strike="noStrike">
              <a:solidFill>
                <a:schemeClr val="dk1"/>
              </a:solidFill>
              <a:latin typeface="Calibri"/>
              <a:ea typeface="Calibri"/>
              <a:cs typeface="Calibri"/>
              <a:sym typeface="Calibri"/>
            </a:endParaRPr>
          </a:p>
        </p:txBody>
      </p:sp>
      <p:sp>
        <p:nvSpPr>
          <p:cNvPr id="196" name="Google Shape;196;p5"/>
          <p:cNvSpPr/>
          <p:nvPr/>
        </p:nvSpPr>
        <p:spPr>
          <a:xfrm>
            <a:off x="347472" y="786384"/>
            <a:ext cx="404164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Current issues &amp; risks</a:t>
            </a:r>
            <a:endParaRPr b="0" i="0" sz="1300" u="none" cap="none" strike="noStrike">
              <a:solidFill>
                <a:schemeClr val="dk1"/>
              </a:solidFill>
              <a:latin typeface="Calibri"/>
              <a:ea typeface="Calibri"/>
              <a:cs typeface="Calibri"/>
              <a:sym typeface="Calibri"/>
            </a:endParaRPr>
          </a:p>
        </p:txBody>
      </p:sp>
      <p:sp>
        <p:nvSpPr>
          <p:cNvPr id="197" name="Google Shape;197;p5"/>
          <p:cNvSpPr/>
          <p:nvPr/>
        </p:nvSpPr>
        <p:spPr>
          <a:xfrm>
            <a:off x="347472" y="1133856"/>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347472" y="1133856"/>
            <a:ext cx="73152" cy="841248"/>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108960" y="1207008"/>
            <a:ext cx="1170432" cy="219456"/>
          </a:xfrm>
          <a:prstGeom prst="roundRect">
            <a:avLst>
              <a:gd fmla="val 16667" name="adj"/>
            </a:avLst>
          </a:prstGeom>
          <a:solidFill>
            <a:srgbClr val="2EAD7A">
              <a:alpha val="18039"/>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3108960" y="1207008"/>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00"/>
              <a:buFont typeface="Calibri"/>
              <a:buNone/>
            </a:pPr>
            <a:r>
              <a:rPr b="1" i="0" lang="en-US" sz="800" u="none" cap="none" strike="noStrike">
                <a:solidFill>
                  <a:srgbClr val="165C3E"/>
                </a:solidFill>
                <a:latin typeface="Calibri"/>
                <a:ea typeface="Calibri"/>
                <a:cs typeface="Calibri"/>
                <a:sym typeface="Calibri"/>
              </a:rPr>
              <a:t>Resolved</a:t>
            </a:r>
            <a:endParaRPr b="0" i="0" sz="800" u="none" cap="none" strike="noStrike">
              <a:solidFill>
                <a:schemeClr val="dk1"/>
              </a:solidFill>
              <a:latin typeface="Calibri"/>
              <a:ea typeface="Calibri"/>
              <a:cs typeface="Calibri"/>
              <a:sym typeface="Calibri"/>
            </a:endParaRPr>
          </a:p>
        </p:txBody>
      </p:sp>
      <p:sp>
        <p:nvSpPr>
          <p:cNvPr id="201" name="Google Shape;201;p5"/>
          <p:cNvSpPr/>
          <p:nvPr/>
        </p:nvSpPr>
        <p:spPr>
          <a:xfrm>
            <a:off x="493776" y="1188720"/>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Servo fittings — wrong dimensions</a:t>
            </a:r>
            <a:endParaRPr b="0" i="0" sz="1050" u="none" cap="none" strike="noStrike">
              <a:solidFill>
                <a:schemeClr val="dk1"/>
              </a:solidFill>
              <a:latin typeface="Calibri"/>
              <a:ea typeface="Calibri"/>
              <a:cs typeface="Calibri"/>
              <a:sym typeface="Calibri"/>
            </a:endParaRPr>
          </a:p>
        </p:txBody>
      </p:sp>
      <p:sp>
        <p:nvSpPr>
          <p:cNvPr id="202" name="Google Shape;202;p5"/>
          <p:cNvSpPr/>
          <p:nvPr/>
        </p:nvSpPr>
        <p:spPr>
          <a:xfrm>
            <a:off x="493776" y="1463040"/>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3D printed motor mounts did not fit. Team manually cut parts to correct on the day — new accurate parts sent for reprint.</a:t>
            </a:r>
            <a:endParaRPr b="0" i="0" sz="950" u="none" cap="none" strike="noStrike">
              <a:solidFill>
                <a:schemeClr val="dk1"/>
              </a:solidFill>
              <a:latin typeface="Calibri"/>
              <a:ea typeface="Calibri"/>
              <a:cs typeface="Calibri"/>
              <a:sym typeface="Calibri"/>
            </a:endParaRPr>
          </a:p>
        </p:txBody>
      </p:sp>
      <p:sp>
        <p:nvSpPr>
          <p:cNvPr id="203" name="Google Shape;203;p5"/>
          <p:cNvSpPr/>
          <p:nvPr/>
        </p:nvSpPr>
        <p:spPr>
          <a:xfrm>
            <a:off x="347472" y="2084832"/>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347472" y="2084832"/>
            <a:ext cx="73152" cy="841248"/>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3108960" y="2157984"/>
            <a:ext cx="1170432" cy="219456"/>
          </a:xfrm>
          <a:prstGeom prst="roundRect">
            <a:avLst>
              <a:gd fmla="val 16667" name="adj"/>
            </a:avLst>
          </a:prstGeom>
          <a:solidFill>
            <a:srgbClr val="E06530">
              <a:alpha val="18039"/>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3108960" y="2157984"/>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00"/>
              <a:buFont typeface="Calibri"/>
              <a:buNone/>
            </a:pPr>
            <a:r>
              <a:rPr b="1" i="0" lang="en-US" sz="800" u="none" cap="none" strike="noStrike">
                <a:solidFill>
                  <a:srgbClr val="8B3000"/>
                </a:solidFill>
                <a:latin typeface="Calibri"/>
                <a:ea typeface="Calibri"/>
                <a:cs typeface="Calibri"/>
                <a:sym typeface="Calibri"/>
              </a:rPr>
              <a:t>Medium</a:t>
            </a:r>
            <a:endParaRPr b="0" i="0" sz="800" u="none" cap="none" strike="noStrike">
              <a:solidFill>
                <a:schemeClr val="dk1"/>
              </a:solidFill>
              <a:latin typeface="Calibri"/>
              <a:ea typeface="Calibri"/>
              <a:cs typeface="Calibri"/>
              <a:sym typeface="Calibri"/>
            </a:endParaRPr>
          </a:p>
        </p:txBody>
      </p:sp>
      <p:sp>
        <p:nvSpPr>
          <p:cNvPr id="207" name="Google Shape;207;p5"/>
          <p:cNvSpPr/>
          <p:nvPr/>
        </p:nvSpPr>
        <p:spPr>
          <a:xfrm>
            <a:off x="493776" y="2139696"/>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OpenCV mapping incomplete</a:t>
            </a:r>
            <a:endParaRPr b="0" i="0" sz="1050" u="none" cap="none" strike="noStrike">
              <a:solidFill>
                <a:schemeClr val="dk1"/>
              </a:solidFill>
              <a:latin typeface="Calibri"/>
              <a:ea typeface="Calibri"/>
              <a:cs typeface="Calibri"/>
              <a:sym typeface="Calibri"/>
            </a:endParaRPr>
          </a:p>
        </p:txBody>
      </p:sp>
      <p:sp>
        <p:nvSpPr>
          <p:cNvPr id="208" name="Google Shape;208;p5"/>
          <p:cNvSpPr/>
          <p:nvPr/>
        </p:nvSpPr>
        <p:spPr>
          <a:xfrm>
            <a:off x="493776" y="2414016"/>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Left/right detection working but full coordinate mapping to arm workspace not yet done — auto pick-and-place still pending.</a:t>
            </a:r>
            <a:endParaRPr b="0" i="0" sz="950" u="none" cap="none" strike="noStrike">
              <a:solidFill>
                <a:schemeClr val="dk1"/>
              </a:solidFill>
              <a:latin typeface="Calibri"/>
              <a:ea typeface="Calibri"/>
              <a:cs typeface="Calibri"/>
              <a:sym typeface="Calibri"/>
            </a:endParaRPr>
          </a:p>
        </p:txBody>
      </p:sp>
      <p:sp>
        <p:nvSpPr>
          <p:cNvPr id="209" name="Google Shape;209;p5"/>
          <p:cNvSpPr/>
          <p:nvPr/>
        </p:nvSpPr>
        <p:spPr>
          <a:xfrm>
            <a:off x="347472" y="3035808"/>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347472" y="3035808"/>
            <a:ext cx="73152" cy="84124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3108960" y="3108960"/>
            <a:ext cx="1170432" cy="219456"/>
          </a:xfrm>
          <a:prstGeom prst="roundRect">
            <a:avLst>
              <a:gd fmla="val 16667"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3108960" y="3108960"/>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Medium</a:t>
            </a:r>
            <a:endParaRPr b="0" i="0" sz="800" u="none" cap="none" strike="noStrike">
              <a:solidFill>
                <a:schemeClr val="dk1"/>
              </a:solidFill>
              <a:latin typeface="Calibri"/>
              <a:ea typeface="Calibri"/>
              <a:cs typeface="Calibri"/>
              <a:sym typeface="Calibri"/>
            </a:endParaRPr>
          </a:p>
        </p:txBody>
      </p:sp>
      <p:sp>
        <p:nvSpPr>
          <p:cNvPr id="213" name="Google Shape;213;p5"/>
          <p:cNvSpPr/>
          <p:nvPr/>
        </p:nvSpPr>
        <p:spPr>
          <a:xfrm>
            <a:off x="493776" y="3090672"/>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Assembly not yet tested</a:t>
            </a:r>
            <a:endParaRPr b="0" i="0" sz="1050" u="none" cap="none" strike="noStrike">
              <a:solidFill>
                <a:schemeClr val="dk1"/>
              </a:solidFill>
              <a:latin typeface="Calibri"/>
              <a:ea typeface="Calibri"/>
              <a:cs typeface="Calibri"/>
              <a:sym typeface="Calibri"/>
            </a:endParaRPr>
          </a:p>
        </p:txBody>
      </p:sp>
      <p:sp>
        <p:nvSpPr>
          <p:cNvPr id="214" name="Google Shape;214;p5"/>
          <p:cNvSpPr/>
          <p:nvPr/>
        </p:nvSpPr>
        <p:spPr>
          <a:xfrm>
            <a:off x="493776" y="3364992"/>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Physical assembly could not be completed this week due to fitting issues. Unblocked now — to proceed when reprints arrive.</a:t>
            </a:r>
            <a:endParaRPr b="0" i="0" sz="950" u="none" cap="none" strike="noStrike">
              <a:solidFill>
                <a:schemeClr val="dk1"/>
              </a:solidFill>
              <a:latin typeface="Calibri"/>
              <a:ea typeface="Calibri"/>
              <a:cs typeface="Calibri"/>
              <a:sym typeface="Calibri"/>
            </a:endParaRPr>
          </a:p>
        </p:txBody>
      </p:sp>
      <p:sp>
        <p:nvSpPr>
          <p:cNvPr id="215" name="Google Shape;215;p5"/>
          <p:cNvSpPr/>
          <p:nvPr/>
        </p:nvSpPr>
        <p:spPr>
          <a:xfrm>
            <a:off x="347472" y="3986784"/>
            <a:ext cx="4041648" cy="8412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347472" y="3986784"/>
            <a:ext cx="73152" cy="841248"/>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3108960" y="4059936"/>
            <a:ext cx="1170432" cy="219456"/>
          </a:xfrm>
          <a:prstGeom prst="roundRect">
            <a:avLst>
              <a:gd fmla="val 16667" name="adj"/>
            </a:avLst>
          </a:prstGeom>
          <a:solidFill>
            <a:srgbClr val="E8A020">
              <a:alpha val="18039"/>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3108960" y="4059936"/>
            <a:ext cx="117043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00"/>
              <a:buFont typeface="Calibri"/>
              <a:buNone/>
            </a:pPr>
            <a:r>
              <a:rPr b="1" i="0" lang="en-US" sz="800" u="none" cap="none" strike="noStrike">
                <a:solidFill>
                  <a:srgbClr val="7A5000"/>
                </a:solidFill>
                <a:latin typeface="Calibri"/>
                <a:ea typeface="Calibri"/>
                <a:cs typeface="Calibri"/>
                <a:sym typeface="Calibri"/>
              </a:rPr>
              <a:t>Low</a:t>
            </a:r>
            <a:endParaRPr b="0" i="0" sz="800" u="none" cap="none" strike="noStrike">
              <a:solidFill>
                <a:schemeClr val="dk1"/>
              </a:solidFill>
              <a:latin typeface="Calibri"/>
              <a:ea typeface="Calibri"/>
              <a:cs typeface="Calibri"/>
              <a:sym typeface="Calibri"/>
            </a:endParaRPr>
          </a:p>
        </p:txBody>
      </p:sp>
      <p:sp>
        <p:nvSpPr>
          <p:cNvPr id="219" name="Google Shape;219;p5"/>
          <p:cNvSpPr/>
          <p:nvPr/>
        </p:nvSpPr>
        <p:spPr>
          <a:xfrm>
            <a:off x="493776" y="4041648"/>
            <a:ext cx="2523744"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ROS2 integration not started</a:t>
            </a:r>
            <a:endParaRPr b="0" i="0" sz="1050" u="none" cap="none" strike="noStrike">
              <a:solidFill>
                <a:schemeClr val="dk1"/>
              </a:solidFill>
              <a:latin typeface="Calibri"/>
              <a:ea typeface="Calibri"/>
              <a:cs typeface="Calibri"/>
              <a:sym typeface="Calibri"/>
            </a:endParaRPr>
          </a:p>
        </p:txBody>
      </p:sp>
      <p:sp>
        <p:nvSpPr>
          <p:cNvPr id="220" name="Google Shape;220;p5"/>
          <p:cNvSpPr/>
          <p:nvPr/>
        </p:nvSpPr>
        <p:spPr>
          <a:xfrm>
            <a:off x="493776" y="4315968"/>
            <a:ext cx="3401568"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ROS2 is installed and running. Integration with arm control pipeline yet to begin — must start Week 8.</a:t>
            </a:r>
            <a:endParaRPr b="0" i="0" sz="950" u="none" cap="none" strike="noStrike">
              <a:solidFill>
                <a:schemeClr val="dk1"/>
              </a:solidFill>
              <a:latin typeface="Calibri"/>
              <a:ea typeface="Calibri"/>
              <a:cs typeface="Calibri"/>
              <a:sym typeface="Calibri"/>
            </a:endParaRPr>
          </a:p>
        </p:txBody>
      </p:sp>
      <p:sp>
        <p:nvSpPr>
          <p:cNvPr id="221" name="Google Shape;221;p5"/>
          <p:cNvSpPr/>
          <p:nvPr/>
        </p:nvSpPr>
        <p:spPr>
          <a:xfrm>
            <a:off x="4663440" y="786384"/>
            <a:ext cx="4160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1300"/>
              <a:buFont typeface="Calibri"/>
              <a:buNone/>
            </a:pPr>
            <a:r>
              <a:rPr b="1" i="0" lang="en-US" sz="1300" u="none" cap="none" strike="noStrike">
                <a:solidFill>
                  <a:srgbClr val="0D1B3E"/>
                </a:solidFill>
                <a:latin typeface="Calibri"/>
                <a:ea typeface="Calibri"/>
                <a:cs typeface="Calibri"/>
                <a:sym typeface="Calibri"/>
              </a:rPr>
              <a:t>Action items</a:t>
            </a:r>
            <a:endParaRPr b="0" i="0" sz="1300" u="none" cap="none" strike="noStrike">
              <a:solidFill>
                <a:schemeClr val="dk1"/>
              </a:solidFill>
              <a:latin typeface="Calibri"/>
              <a:ea typeface="Calibri"/>
              <a:cs typeface="Calibri"/>
              <a:sym typeface="Calibri"/>
            </a:endParaRPr>
          </a:p>
        </p:txBody>
      </p:sp>
      <p:sp>
        <p:nvSpPr>
          <p:cNvPr id="222" name="Google Shape;222;p5"/>
          <p:cNvSpPr/>
          <p:nvPr/>
        </p:nvSpPr>
        <p:spPr>
          <a:xfrm>
            <a:off x="4663440" y="1133856"/>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4663440" y="1133856"/>
            <a:ext cx="73152" cy="53035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4809744" y="1170432"/>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Complete CAD model</a:t>
            </a:r>
            <a:endParaRPr b="0" i="0" sz="1000" u="none" cap="none" strike="noStrike">
              <a:solidFill>
                <a:schemeClr val="dk1"/>
              </a:solidFill>
              <a:latin typeface="Calibri"/>
              <a:ea typeface="Calibri"/>
              <a:cs typeface="Calibri"/>
              <a:sym typeface="Calibri"/>
            </a:endParaRPr>
          </a:p>
        </p:txBody>
      </p:sp>
      <p:sp>
        <p:nvSpPr>
          <p:cNvPr id="225" name="Google Shape;225;p5"/>
          <p:cNvSpPr/>
          <p:nvPr/>
        </p:nvSpPr>
        <p:spPr>
          <a:xfrm>
            <a:off x="4809744" y="1444752"/>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Helal</a:t>
            </a:r>
            <a:endParaRPr b="0" i="0" sz="900" u="none" cap="none" strike="noStrike">
              <a:solidFill>
                <a:schemeClr val="dk1"/>
              </a:solidFill>
              <a:latin typeface="Calibri"/>
              <a:ea typeface="Calibri"/>
              <a:cs typeface="Calibri"/>
              <a:sym typeface="Calibri"/>
            </a:endParaRPr>
          </a:p>
        </p:txBody>
      </p:sp>
      <p:sp>
        <p:nvSpPr>
          <p:cNvPr id="226" name="Google Shape;226;p5"/>
          <p:cNvSpPr/>
          <p:nvPr/>
        </p:nvSpPr>
        <p:spPr>
          <a:xfrm>
            <a:off x="7589520" y="1261872"/>
            <a:ext cx="1133856" cy="237744"/>
          </a:xfrm>
          <a:prstGeom prst="roundRect">
            <a:avLst>
              <a:gd fmla="val 15385" name="adj"/>
            </a:avLst>
          </a:prstGeom>
          <a:solidFill>
            <a:srgbClr val="E8A020">
              <a:alpha val="14901"/>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7589520" y="1261872"/>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5000"/>
              </a:buClr>
              <a:buSzPts val="850"/>
              <a:buFont typeface="Calibri"/>
              <a:buNone/>
            </a:pPr>
            <a:r>
              <a:rPr b="1" i="0" lang="en-US" sz="850" u="none" cap="none" strike="noStrike">
                <a:solidFill>
                  <a:srgbClr val="7A5000"/>
                </a:solidFill>
                <a:latin typeface="Calibri"/>
                <a:ea typeface="Calibri"/>
                <a:cs typeface="Calibri"/>
                <a:sym typeface="Calibri"/>
              </a:rPr>
              <a:t>Week 7</a:t>
            </a:r>
            <a:endParaRPr b="0" i="0" sz="850" u="none" cap="none" strike="noStrike">
              <a:solidFill>
                <a:schemeClr val="dk1"/>
              </a:solidFill>
              <a:latin typeface="Calibri"/>
              <a:ea typeface="Calibri"/>
              <a:cs typeface="Calibri"/>
              <a:sym typeface="Calibri"/>
            </a:endParaRPr>
          </a:p>
        </p:txBody>
      </p:sp>
      <p:sp>
        <p:nvSpPr>
          <p:cNvPr id="228" name="Google Shape;228;p5"/>
          <p:cNvSpPr/>
          <p:nvPr/>
        </p:nvSpPr>
        <p:spPr>
          <a:xfrm>
            <a:off x="4663440" y="1755648"/>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4663440" y="1755648"/>
            <a:ext cx="73152" cy="53035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4809744" y="1792224"/>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Source and buy suction pump</a:t>
            </a:r>
            <a:endParaRPr b="0" i="0" sz="1000" u="none" cap="none" strike="noStrike">
              <a:solidFill>
                <a:schemeClr val="dk1"/>
              </a:solidFill>
              <a:latin typeface="Calibri"/>
              <a:ea typeface="Calibri"/>
              <a:cs typeface="Calibri"/>
              <a:sym typeface="Calibri"/>
            </a:endParaRPr>
          </a:p>
        </p:txBody>
      </p:sp>
      <p:sp>
        <p:nvSpPr>
          <p:cNvPr id="231" name="Google Shape;231;p5"/>
          <p:cNvSpPr/>
          <p:nvPr/>
        </p:nvSpPr>
        <p:spPr>
          <a:xfrm>
            <a:off x="4809744" y="2066544"/>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Mohamed</a:t>
            </a:r>
            <a:endParaRPr b="0" i="0" sz="900" u="none" cap="none" strike="noStrike">
              <a:solidFill>
                <a:schemeClr val="dk1"/>
              </a:solidFill>
              <a:latin typeface="Calibri"/>
              <a:ea typeface="Calibri"/>
              <a:cs typeface="Calibri"/>
              <a:sym typeface="Calibri"/>
            </a:endParaRPr>
          </a:p>
        </p:txBody>
      </p:sp>
      <p:sp>
        <p:nvSpPr>
          <p:cNvPr id="232" name="Google Shape;232;p5"/>
          <p:cNvSpPr/>
          <p:nvPr/>
        </p:nvSpPr>
        <p:spPr>
          <a:xfrm>
            <a:off x="7589520" y="1883664"/>
            <a:ext cx="1133856" cy="237744"/>
          </a:xfrm>
          <a:prstGeom prst="roundRect">
            <a:avLst>
              <a:gd fmla="val 15385" name="adj"/>
            </a:avLst>
          </a:prstGeom>
          <a:solidFill>
            <a:srgbClr val="2EAD7A">
              <a:alpha val="14901"/>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7589520" y="1883664"/>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50"/>
              <a:buFont typeface="Calibri"/>
              <a:buNone/>
            </a:pPr>
            <a:r>
              <a:rPr b="1" i="0" lang="en-US" sz="850" u="none" cap="none" strike="noStrike">
                <a:solidFill>
                  <a:srgbClr val="165C3E"/>
                </a:solidFill>
                <a:latin typeface="Calibri"/>
                <a:ea typeface="Calibri"/>
                <a:cs typeface="Calibri"/>
                <a:sym typeface="Calibri"/>
              </a:rPr>
              <a:t>Week 8</a:t>
            </a:r>
            <a:endParaRPr b="0" i="0" sz="850" u="none" cap="none" strike="noStrike">
              <a:solidFill>
                <a:schemeClr val="dk1"/>
              </a:solidFill>
              <a:latin typeface="Calibri"/>
              <a:ea typeface="Calibri"/>
              <a:cs typeface="Calibri"/>
              <a:sym typeface="Calibri"/>
            </a:endParaRPr>
          </a:p>
        </p:txBody>
      </p:sp>
      <p:sp>
        <p:nvSpPr>
          <p:cNvPr id="234" name="Google Shape;234;p5"/>
          <p:cNvSpPr/>
          <p:nvPr/>
        </p:nvSpPr>
        <p:spPr>
          <a:xfrm>
            <a:off x="4663440" y="2377440"/>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4663440" y="2377440"/>
            <a:ext cx="73152" cy="53035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4809744" y="2414016"/>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Finish OpenCV coordinate mapping</a:t>
            </a:r>
            <a:endParaRPr b="0" i="0" sz="1000" u="none" cap="none" strike="noStrike">
              <a:solidFill>
                <a:schemeClr val="dk1"/>
              </a:solidFill>
              <a:latin typeface="Calibri"/>
              <a:ea typeface="Calibri"/>
              <a:cs typeface="Calibri"/>
              <a:sym typeface="Calibri"/>
            </a:endParaRPr>
          </a:p>
        </p:txBody>
      </p:sp>
      <p:sp>
        <p:nvSpPr>
          <p:cNvPr id="237" name="Google Shape;237;p5"/>
          <p:cNvSpPr/>
          <p:nvPr/>
        </p:nvSpPr>
        <p:spPr>
          <a:xfrm>
            <a:off x="4809744" y="2688336"/>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Leen</a:t>
            </a:r>
            <a:endParaRPr b="0" i="0" sz="900" u="none" cap="none" strike="noStrike">
              <a:solidFill>
                <a:schemeClr val="dk1"/>
              </a:solidFill>
              <a:latin typeface="Calibri"/>
              <a:ea typeface="Calibri"/>
              <a:cs typeface="Calibri"/>
              <a:sym typeface="Calibri"/>
            </a:endParaRPr>
          </a:p>
        </p:txBody>
      </p:sp>
      <p:sp>
        <p:nvSpPr>
          <p:cNvPr id="238" name="Google Shape;238;p5"/>
          <p:cNvSpPr/>
          <p:nvPr/>
        </p:nvSpPr>
        <p:spPr>
          <a:xfrm>
            <a:off x="7589520" y="2505456"/>
            <a:ext cx="1133856" cy="237744"/>
          </a:xfrm>
          <a:prstGeom prst="roundRect">
            <a:avLst>
              <a:gd fmla="val 15385" name="adj"/>
            </a:avLst>
          </a:prstGeom>
          <a:solidFill>
            <a:srgbClr val="028090">
              <a:alpha val="14901"/>
            </a:srgbClr>
          </a:solidFill>
          <a:ln cap="flat" cmpd="sng" w="12700">
            <a:solidFill>
              <a:srgbClr val="02809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7589520" y="2505456"/>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15A68"/>
              </a:buClr>
              <a:buSzPts val="850"/>
              <a:buFont typeface="Calibri"/>
              <a:buNone/>
            </a:pPr>
            <a:r>
              <a:rPr b="1" i="0" lang="en-US" sz="850" u="none" cap="none" strike="noStrike">
                <a:solidFill>
                  <a:srgbClr val="015A68"/>
                </a:solidFill>
                <a:latin typeface="Calibri"/>
                <a:ea typeface="Calibri"/>
                <a:cs typeface="Calibri"/>
                <a:sym typeface="Calibri"/>
              </a:rPr>
              <a:t>Week 8</a:t>
            </a:r>
            <a:endParaRPr b="0" i="0" sz="850" u="none" cap="none" strike="noStrike">
              <a:solidFill>
                <a:schemeClr val="dk1"/>
              </a:solidFill>
              <a:latin typeface="Calibri"/>
              <a:ea typeface="Calibri"/>
              <a:cs typeface="Calibri"/>
              <a:sym typeface="Calibri"/>
            </a:endParaRPr>
          </a:p>
        </p:txBody>
      </p:sp>
      <p:sp>
        <p:nvSpPr>
          <p:cNvPr id="240" name="Google Shape;240;p5"/>
          <p:cNvSpPr/>
          <p:nvPr/>
        </p:nvSpPr>
        <p:spPr>
          <a:xfrm>
            <a:off x="4663440" y="2999232"/>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4663440" y="2999232"/>
            <a:ext cx="73152" cy="530352"/>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4809744" y="3035808"/>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Begin ROS2 arm integration</a:t>
            </a:r>
            <a:endParaRPr b="0" i="0" sz="1000" u="none" cap="none" strike="noStrike">
              <a:solidFill>
                <a:schemeClr val="dk1"/>
              </a:solidFill>
              <a:latin typeface="Calibri"/>
              <a:ea typeface="Calibri"/>
              <a:cs typeface="Calibri"/>
              <a:sym typeface="Calibri"/>
            </a:endParaRPr>
          </a:p>
        </p:txBody>
      </p:sp>
      <p:sp>
        <p:nvSpPr>
          <p:cNvPr id="243" name="Google Shape;243;p5"/>
          <p:cNvSpPr/>
          <p:nvPr/>
        </p:nvSpPr>
        <p:spPr>
          <a:xfrm>
            <a:off x="4809744" y="3310128"/>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All</a:t>
            </a:r>
            <a:endParaRPr b="0" i="0" sz="900" u="none" cap="none" strike="noStrike">
              <a:solidFill>
                <a:schemeClr val="dk1"/>
              </a:solidFill>
              <a:latin typeface="Calibri"/>
              <a:ea typeface="Calibri"/>
              <a:cs typeface="Calibri"/>
              <a:sym typeface="Calibri"/>
            </a:endParaRPr>
          </a:p>
        </p:txBody>
      </p:sp>
      <p:sp>
        <p:nvSpPr>
          <p:cNvPr id="244" name="Google Shape;244;p5"/>
          <p:cNvSpPr/>
          <p:nvPr/>
        </p:nvSpPr>
        <p:spPr>
          <a:xfrm>
            <a:off x="7589520" y="3127248"/>
            <a:ext cx="1133856" cy="237744"/>
          </a:xfrm>
          <a:prstGeom prst="roundRect">
            <a:avLst>
              <a:gd fmla="val 15385" name="adj"/>
            </a:avLst>
          </a:prstGeom>
          <a:solidFill>
            <a:srgbClr val="6B4E9E">
              <a:alpha val="14901"/>
            </a:srgbClr>
          </a:solidFill>
          <a:ln cap="flat" cmpd="sng" w="12700">
            <a:solidFill>
              <a:srgbClr val="6B4E9E">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7589520" y="3127248"/>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1F6E"/>
              </a:buClr>
              <a:buSzPts val="850"/>
              <a:buFont typeface="Calibri"/>
              <a:buNone/>
            </a:pPr>
            <a:r>
              <a:rPr b="1" i="0" lang="en-US" sz="850" u="none" cap="none" strike="noStrike">
                <a:solidFill>
                  <a:srgbClr val="3D1F6E"/>
                </a:solidFill>
                <a:latin typeface="Calibri"/>
                <a:ea typeface="Calibri"/>
                <a:cs typeface="Calibri"/>
                <a:sym typeface="Calibri"/>
              </a:rPr>
              <a:t>Week 8</a:t>
            </a:r>
            <a:endParaRPr b="0" i="0" sz="850" u="none" cap="none" strike="noStrike">
              <a:solidFill>
                <a:schemeClr val="dk1"/>
              </a:solidFill>
              <a:latin typeface="Calibri"/>
              <a:ea typeface="Calibri"/>
              <a:cs typeface="Calibri"/>
              <a:sym typeface="Calibri"/>
            </a:endParaRPr>
          </a:p>
        </p:txBody>
      </p:sp>
      <p:sp>
        <p:nvSpPr>
          <p:cNvPr id="246" name="Google Shape;246;p5"/>
          <p:cNvSpPr/>
          <p:nvPr/>
        </p:nvSpPr>
        <p:spPr>
          <a:xfrm>
            <a:off x="4663440" y="3621024"/>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4663440" y="3621024"/>
            <a:ext cx="73152" cy="53035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4809744" y="3657600"/>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Assemble arm once reprints arrive</a:t>
            </a:r>
            <a:endParaRPr b="0" i="0" sz="1000" u="none" cap="none" strike="noStrike">
              <a:solidFill>
                <a:schemeClr val="dk1"/>
              </a:solidFill>
              <a:latin typeface="Calibri"/>
              <a:ea typeface="Calibri"/>
              <a:cs typeface="Calibri"/>
              <a:sym typeface="Calibri"/>
            </a:endParaRPr>
          </a:p>
        </p:txBody>
      </p:sp>
      <p:sp>
        <p:nvSpPr>
          <p:cNvPr id="249" name="Google Shape;249;p5"/>
          <p:cNvSpPr/>
          <p:nvPr/>
        </p:nvSpPr>
        <p:spPr>
          <a:xfrm>
            <a:off x="4809744" y="3931920"/>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All</a:t>
            </a:r>
            <a:endParaRPr b="0" i="0" sz="900" u="none" cap="none" strike="noStrike">
              <a:solidFill>
                <a:schemeClr val="dk1"/>
              </a:solidFill>
              <a:latin typeface="Calibri"/>
              <a:ea typeface="Calibri"/>
              <a:cs typeface="Calibri"/>
              <a:sym typeface="Calibri"/>
            </a:endParaRPr>
          </a:p>
        </p:txBody>
      </p:sp>
      <p:sp>
        <p:nvSpPr>
          <p:cNvPr id="250" name="Google Shape;250;p5"/>
          <p:cNvSpPr/>
          <p:nvPr/>
        </p:nvSpPr>
        <p:spPr>
          <a:xfrm>
            <a:off x="7589520" y="3749040"/>
            <a:ext cx="1133856" cy="237744"/>
          </a:xfrm>
          <a:prstGeom prst="roundRect">
            <a:avLst>
              <a:gd fmla="val 15385" name="adj"/>
            </a:avLst>
          </a:prstGeom>
          <a:solidFill>
            <a:srgbClr val="E06530">
              <a:alpha val="14901"/>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7589520" y="3749040"/>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3000"/>
              </a:buClr>
              <a:buSzPts val="850"/>
              <a:buFont typeface="Calibri"/>
              <a:buNone/>
            </a:pPr>
            <a:r>
              <a:rPr b="1" i="0" lang="en-US" sz="850" u="none" cap="none" strike="noStrike">
                <a:solidFill>
                  <a:srgbClr val="8B3000"/>
                </a:solidFill>
                <a:latin typeface="Calibri"/>
                <a:ea typeface="Calibri"/>
                <a:cs typeface="Calibri"/>
                <a:sym typeface="Calibri"/>
              </a:rPr>
              <a:t>Week 8</a:t>
            </a:r>
            <a:endParaRPr b="0" i="0" sz="850" u="none" cap="none" strike="noStrike">
              <a:solidFill>
                <a:schemeClr val="dk1"/>
              </a:solidFill>
              <a:latin typeface="Calibri"/>
              <a:ea typeface="Calibri"/>
              <a:cs typeface="Calibri"/>
              <a:sym typeface="Calibri"/>
            </a:endParaRPr>
          </a:p>
        </p:txBody>
      </p:sp>
      <p:sp>
        <p:nvSpPr>
          <p:cNvPr id="252" name="Google Shape;252;p5"/>
          <p:cNvSpPr/>
          <p:nvPr/>
        </p:nvSpPr>
        <p:spPr>
          <a:xfrm>
            <a:off x="4663440" y="4242816"/>
            <a:ext cx="4160520" cy="530352"/>
          </a:xfrm>
          <a:prstGeom prst="rect">
            <a:avLst/>
          </a:prstGeom>
          <a:solidFill>
            <a:srgbClr val="FFFFFF"/>
          </a:solidFill>
          <a:ln cap="flat" cmpd="sng" w="9525">
            <a:solidFill>
              <a:srgbClr val="E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4663440" y="4242816"/>
            <a:ext cx="73152" cy="53035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4809744" y="4279392"/>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Test full control pipeline end-to-end</a:t>
            </a:r>
            <a:endParaRPr b="0" i="0" sz="1000" u="none" cap="none" strike="noStrike">
              <a:solidFill>
                <a:schemeClr val="dk1"/>
              </a:solidFill>
              <a:latin typeface="Calibri"/>
              <a:ea typeface="Calibri"/>
              <a:cs typeface="Calibri"/>
              <a:sym typeface="Calibri"/>
            </a:endParaRPr>
          </a:p>
        </p:txBody>
      </p:sp>
      <p:sp>
        <p:nvSpPr>
          <p:cNvPr id="255" name="Google Shape;255;p5"/>
          <p:cNvSpPr/>
          <p:nvPr/>
        </p:nvSpPr>
        <p:spPr>
          <a:xfrm>
            <a:off x="4809744" y="4553712"/>
            <a:ext cx="13716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00"/>
              <a:buFont typeface="Calibri"/>
              <a:buNone/>
            </a:pPr>
            <a:r>
              <a:rPr b="0" i="0" lang="en-US" sz="900" u="none" cap="none" strike="noStrike">
                <a:solidFill>
                  <a:srgbClr val="8494A8"/>
                </a:solidFill>
                <a:latin typeface="Calibri"/>
                <a:ea typeface="Calibri"/>
                <a:cs typeface="Calibri"/>
                <a:sym typeface="Calibri"/>
              </a:rPr>
              <a:t>All</a:t>
            </a:r>
            <a:endParaRPr b="0" i="0" sz="900" u="none" cap="none" strike="noStrike">
              <a:solidFill>
                <a:schemeClr val="dk1"/>
              </a:solidFill>
              <a:latin typeface="Calibri"/>
              <a:ea typeface="Calibri"/>
              <a:cs typeface="Calibri"/>
              <a:sym typeface="Calibri"/>
            </a:endParaRPr>
          </a:p>
        </p:txBody>
      </p:sp>
      <p:sp>
        <p:nvSpPr>
          <p:cNvPr id="256" name="Google Shape;256;p5"/>
          <p:cNvSpPr/>
          <p:nvPr/>
        </p:nvSpPr>
        <p:spPr>
          <a:xfrm>
            <a:off x="7589520" y="4370832"/>
            <a:ext cx="1133856" cy="237744"/>
          </a:xfrm>
          <a:prstGeom prst="roundRect">
            <a:avLst>
              <a:gd fmla="val 15385" name="adj"/>
            </a:avLst>
          </a:prstGeom>
          <a:solidFill>
            <a:srgbClr val="2EAD7A">
              <a:alpha val="14901"/>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7589520" y="4370832"/>
            <a:ext cx="113385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5C3E"/>
              </a:buClr>
              <a:buSzPts val="850"/>
              <a:buFont typeface="Calibri"/>
              <a:buNone/>
            </a:pPr>
            <a:r>
              <a:rPr b="1" i="0" lang="en-US" sz="850" u="none" cap="none" strike="noStrike">
                <a:solidFill>
                  <a:srgbClr val="165C3E"/>
                </a:solidFill>
                <a:latin typeface="Calibri"/>
                <a:ea typeface="Calibri"/>
                <a:cs typeface="Calibri"/>
                <a:sym typeface="Calibri"/>
              </a:rPr>
              <a:t>Week 8</a:t>
            </a:r>
            <a:endParaRPr b="0" i="0" sz="850" u="none" cap="none" strike="noStrike">
              <a:solidFill>
                <a:schemeClr val="dk1"/>
              </a:solidFill>
              <a:latin typeface="Calibri"/>
              <a:ea typeface="Calibri"/>
              <a:cs typeface="Calibri"/>
              <a:sym typeface="Calibri"/>
            </a:endParaRPr>
          </a:p>
        </p:txBody>
      </p:sp>
      <p:sp>
        <p:nvSpPr>
          <p:cNvPr id="258" name="Google Shape;258;p5"/>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263" name="Shape 263"/>
        <p:cNvGrpSpPr/>
        <p:nvPr/>
      </p:nvGrpSpPr>
      <p:grpSpPr>
        <a:xfrm>
          <a:off x="0" y="0"/>
          <a:ext cx="0" cy="0"/>
          <a:chOff x="0" y="0"/>
          <a:chExt cx="0" cy="0"/>
        </a:xfrm>
      </p:grpSpPr>
      <p:sp>
        <p:nvSpPr>
          <p:cNvPr id="264" name="Google Shape;264;p6"/>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6217920" y="-1097280"/>
            <a:ext cx="4572000" cy="4572000"/>
          </a:xfrm>
          <a:prstGeom prst="ellipse">
            <a:avLst/>
          </a:prstGeom>
          <a:solidFill>
            <a:srgbClr val="028090">
              <a:alpha val="12156"/>
            </a:srgbClr>
          </a:solidFill>
          <a:ln cap="flat" cmpd="sng" w="12700">
            <a:solidFill>
              <a:srgbClr val="028090">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7132320" y="3108960"/>
            <a:ext cx="2743200" cy="2743200"/>
          </a:xfrm>
          <a:prstGeom prst="ellipse">
            <a:avLst/>
          </a:prstGeom>
          <a:solidFill>
            <a:srgbClr val="028090">
              <a:alpha val="7843"/>
            </a:srgbClr>
          </a:solidFill>
          <a:ln cap="flat" cmpd="sng" w="12700">
            <a:solidFill>
              <a:srgbClr val="02809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411480" y="128016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Individual</a:t>
            </a:r>
            <a:endParaRPr b="0" i="0" sz="5600" u="none" cap="none" strike="noStrike">
              <a:solidFill>
                <a:schemeClr val="dk1"/>
              </a:solidFill>
              <a:latin typeface="Calibri"/>
              <a:ea typeface="Calibri"/>
              <a:cs typeface="Calibri"/>
              <a:sym typeface="Calibri"/>
            </a:endParaRPr>
          </a:p>
        </p:txBody>
      </p:sp>
      <p:sp>
        <p:nvSpPr>
          <p:cNvPr id="268" name="Google Shape;268;p6"/>
          <p:cNvSpPr/>
          <p:nvPr/>
        </p:nvSpPr>
        <p:spPr>
          <a:xfrm>
            <a:off x="411480" y="201168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5600"/>
              <a:buFont typeface="Calibri"/>
              <a:buNone/>
            </a:pPr>
            <a:r>
              <a:rPr b="1" i="0" lang="en-US" sz="5600" u="none" cap="none" strike="noStrike">
                <a:solidFill>
                  <a:srgbClr val="C8E6F5"/>
                </a:solidFill>
                <a:latin typeface="Calibri"/>
                <a:ea typeface="Calibri"/>
                <a:cs typeface="Calibri"/>
                <a:sym typeface="Calibri"/>
              </a:rPr>
              <a:t>Updates</a:t>
            </a:r>
            <a:endParaRPr b="0" i="0" sz="5600" u="none" cap="none" strike="noStrike">
              <a:solidFill>
                <a:schemeClr val="dk1"/>
              </a:solidFill>
              <a:latin typeface="Calibri"/>
              <a:ea typeface="Calibri"/>
              <a:cs typeface="Calibri"/>
              <a:sym typeface="Calibri"/>
            </a:endParaRPr>
          </a:p>
        </p:txBody>
      </p:sp>
      <p:sp>
        <p:nvSpPr>
          <p:cNvPr id="269" name="Google Shape;269;p6"/>
          <p:cNvSpPr/>
          <p:nvPr/>
        </p:nvSpPr>
        <p:spPr>
          <a:xfrm>
            <a:off x="411480" y="2999232"/>
            <a:ext cx="36576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411480" y="3163824"/>
            <a:ext cx="64008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300"/>
              <a:buFont typeface="Calibri"/>
              <a:buNone/>
            </a:pPr>
            <a:r>
              <a:rPr b="0" i="0" lang="en-US" sz="1300" u="none" cap="none" strike="noStrike">
                <a:solidFill>
                  <a:srgbClr val="8494A8"/>
                </a:solidFill>
                <a:latin typeface="Calibri"/>
                <a:ea typeface="Calibri"/>
                <a:cs typeface="Calibri"/>
                <a:sym typeface="Calibri"/>
              </a:rPr>
              <a:t>What each member did, what they will do, what they need.</a:t>
            </a:r>
            <a:endParaRPr b="0" i="0" sz="1300" u="none" cap="none" strike="noStrike">
              <a:solidFill>
                <a:schemeClr val="dk1"/>
              </a:solidFill>
              <a:latin typeface="Calibri"/>
              <a:ea typeface="Calibri"/>
              <a:cs typeface="Calibri"/>
              <a:sym typeface="Calibri"/>
            </a:endParaRPr>
          </a:p>
        </p:txBody>
      </p:sp>
      <p:sp>
        <p:nvSpPr>
          <p:cNvPr id="271" name="Google Shape;271;p6"/>
          <p:cNvSpPr/>
          <p:nvPr/>
        </p:nvSpPr>
        <p:spPr>
          <a:xfrm>
            <a:off x="411480" y="3749040"/>
            <a:ext cx="2560320" cy="475488"/>
          </a:xfrm>
          <a:prstGeom prst="roundRect">
            <a:avLst>
              <a:gd fmla="val 15385" name="adj"/>
            </a:avLst>
          </a:prstGeom>
          <a:solidFill>
            <a:srgbClr val="028090">
              <a:alpha val="20000"/>
            </a:srgbClr>
          </a:solidFill>
          <a:ln cap="flat" cmpd="sng" w="12700">
            <a:solidFill>
              <a:srgbClr val="028090">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a:off x="41148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Leen</a:t>
            </a:r>
            <a:endParaRPr b="0" i="0" sz="1300" u="none" cap="none" strike="noStrike">
              <a:solidFill>
                <a:schemeClr val="dk1"/>
              </a:solidFill>
              <a:latin typeface="Calibri"/>
              <a:ea typeface="Calibri"/>
              <a:cs typeface="Calibri"/>
              <a:sym typeface="Calibri"/>
            </a:endParaRPr>
          </a:p>
        </p:txBody>
      </p:sp>
      <p:sp>
        <p:nvSpPr>
          <p:cNvPr id="273" name="Google Shape;273;p6"/>
          <p:cNvSpPr/>
          <p:nvPr/>
        </p:nvSpPr>
        <p:spPr>
          <a:xfrm>
            <a:off x="41148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Group Leader</a:t>
            </a:r>
            <a:endParaRPr b="0" i="0" sz="900" u="none" cap="none" strike="noStrike">
              <a:solidFill>
                <a:schemeClr val="dk1"/>
              </a:solidFill>
              <a:latin typeface="Calibri"/>
              <a:ea typeface="Calibri"/>
              <a:cs typeface="Calibri"/>
              <a:sym typeface="Calibri"/>
            </a:endParaRPr>
          </a:p>
        </p:txBody>
      </p:sp>
      <p:sp>
        <p:nvSpPr>
          <p:cNvPr id="274" name="Google Shape;274;p6"/>
          <p:cNvSpPr/>
          <p:nvPr/>
        </p:nvSpPr>
        <p:spPr>
          <a:xfrm>
            <a:off x="3246120" y="3749040"/>
            <a:ext cx="2560320" cy="475488"/>
          </a:xfrm>
          <a:prstGeom prst="roundRect">
            <a:avLst>
              <a:gd fmla="val 15385" name="adj"/>
            </a:avLst>
          </a:prstGeom>
          <a:solidFill>
            <a:srgbClr val="2EAD7A">
              <a:alpha val="20000"/>
            </a:srgbClr>
          </a:solidFill>
          <a:ln cap="flat" cmpd="sng" w="12700">
            <a:solidFill>
              <a:srgbClr val="2EAD7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324612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Mohamed</a:t>
            </a:r>
            <a:endParaRPr b="0" i="0" sz="1300" u="none" cap="none" strike="noStrike">
              <a:solidFill>
                <a:schemeClr val="dk1"/>
              </a:solidFill>
              <a:latin typeface="Calibri"/>
              <a:ea typeface="Calibri"/>
              <a:cs typeface="Calibri"/>
              <a:sym typeface="Calibri"/>
            </a:endParaRPr>
          </a:p>
        </p:txBody>
      </p:sp>
      <p:sp>
        <p:nvSpPr>
          <p:cNvPr id="276" name="Google Shape;276;p6"/>
          <p:cNvSpPr/>
          <p:nvPr/>
        </p:nvSpPr>
        <p:spPr>
          <a:xfrm>
            <a:off x="324612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Member</a:t>
            </a:r>
            <a:endParaRPr b="0" i="0" sz="900" u="none" cap="none" strike="noStrike">
              <a:solidFill>
                <a:schemeClr val="dk1"/>
              </a:solidFill>
              <a:latin typeface="Calibri"/>
              <a:ea typeface="Calibri"/>
              <a:cs typeface="Calibri"/>
              <a:sym typeface="Calibri"/>
            </a:endParaRPr>
          </a:p>
        </p:txBody>
      </p:sp>
      <p:sp>
        <p:nvSpPr>
          <p:cNvPr id="277" name="Google Shape;277;p6"/>
          <p:cNvSpPr/>
          <p:nvPr/>
        </p:nvSpPr>
        <p:spPr>
          <a:xfrm>
            <a:off x="6080760" y="3749040"/>
            <a:ext cx="2560320" cy="475488"/>
          </a:xfrm>
          <a:prstGeom prst="roundRect">
            <a:avLst>
              <a:gd fmla="val 15385" name="adj"/>
            </a:avLst>
          </a:prstGeom>
          <a:solidFill>
            <a:srgbClr val="6B4E9E">
              <a:alpha val="20000"/>
            </a:srgbClr>
          </a:solidFill>
          <a:ln cap="flat" cmpd="sng" w="12700">
            <a:solidFill>
              <a:srgbClr val="6B4E9E">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6080760" y="3749040"/>
            <a:ext cx="2560320" cy="2743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Helal</a:t>
            </a:r>
            <a:endParaRPr b="0" i="0" sz="1300" u="none" cap="none" strike="noStrike">
              <a:solidFill>
                <a:schemeClr val="dk1"/>
              </a:solidFill>
              <a:latin typeface="Calibri"/>
              <a:ea typeface="Calibri"/>
              <a:cs typeface="Calibri"/>
              <a:sym typeface="Calibri"/>
            </a:endParaRPr>
          </a:p>
        </p:txBody>
      </p:sp>
      <p:sp>
        <p:nvSpPr>
          <p:cNvPr id="279" name="Google Shape;279;p6"/>
          <p:cNvSpPr/>
          <p:nvPr/>
        </p:nvSpPr>
        <p:spPr>
          <a:xfrm>
            <a:off x="6080760" y="4005072"/>
            <a:ext cx="2560320" cy="21945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8E6F5"/>
              </a:buClr>
              <a:buSzPts val="900"/>
              <a:buFont typeface="Calibri"/>
              <a:buNone/>
            </a:pPr>
            <a:r>
              <a:rPr b="0" i="0" lang="en-US" sz="900" u="none" cap="none" strike="noStrike">
                <a:solidFill>
                  <a:srgbClr val="C8E6F5"/>
                </a:solidFill>
                <a:latin typeface="Calibri"/>
                <a:ea typeface="Calibri"/>
                <a:cs typeface="Calibri"/>
                <a:sym typeface="Calibri"/>
              </a:rPr>
              <a:t>Member</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84" name="Shape 284"/>
        <p:cNvGrpSpPr/>
        <p:nvPr/>
      </p:nvGrpSpPr>
      <p:grpSpPr>
        <a:xfrm>
          <a:off x="0" y="0"/>
          <a:ext cx="0" cy="0"/>
          <a:chOff x="0" y="0"/>
          <a:chExt cx="0" cy="0"/>
        </a:xfrm>
      </p:grpSpPr>
      <p:sp>
        <p:nvSpPr>
          <p:cNvPr id="285" name="Google Shape;285;g3d83fb30301_0_149"/>
          <p:cNvSpPr/>
          <p:nvPr/>
        </p:nvSpPr>
        <p:spPr>
          <a:xfrm>
            <a:off x="0" y="0"/>
            <a:ext cx="9144000" cy="6585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d83fb30301_0_149"/>
          <p:cNvSpPr/>
          <p:nvPr/>
        </p:nvSpPr>
        <p:spPr>
          <a:xfrm>
            <a:off x="0" y="0"/>
            <a:ext cx="164700"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d83fb30301_0_149"/>
          <p:cNvSpPr/>
          <p:nvPr/>
        </p:nvSpPr>
        <p:spPr>
          <a:xfrm>
            <a:off x="347472" y="0"/>
            <a:ext cx="8412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Leen — Group Leader  ·  OpenCV &amp; Arduino Control</a:t>
            </a:r>
            <a:endParaRPr b="0" i="0" sz="2000" u="none" cap="none" strike="noStrike">
              <a:solidFill>
                <a:schemeClr val="dk1"/>
              </a:solidFill>
              <a:latin typeface="Calibri"/>
              <a:ea typeface="Calibri"/>
              <a:cs typeface="Calibri"/>
              <a:sym typeface="Calibri"/>
            </a:endParaRPr>
          </a:p>
        </p:txBody>
      </p:sp>
      <p:sp>
        <p:nvSpPr>
          <p:cNvPr id="288" name="Google Shape;288;g3d83fb30301_0_149"/>
          <p:cNvSpPr/>
          <p:nvPr/>
        </p:nvSpPr>
        <p:spPr>
          <a:xfrm>
            <a:off x="347472" y="786384"/>
            <a:ext cx="4114800" cy="14997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d83fb30301_0_149"/>
          <p:cNvSpPr/>
          <p:nvPr/>
        </p:nvSpPr>
        <p:spPr>
          <a:xfrm>
            <a:off x="347472" y="786384"/>
            <a:ext cx="4114800" cy="25590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d83fb30301_0_149"/>
          <p:cNvSpPr/>
          <p:nvPr/>
        </p:nvSpPr>
        <p:spPr>
          <a:xfrm>
            <a:off x="438912" y="786384"/>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Accomplished (since last report)</a:t>
            </a:r>
            <a:endParaRPr b="0" i="0" sz="1000" u="none" cap="none" strike="noStrike">
              <a:solidFill>
                <a:schemeClr val="dk1"/>
              </a:solidFill>
              <a:latin typeface="Calibri"/>
              <a:ea typeface="Calibri"/>
              <a:cs typeface="Calibri"/>
              <a:sym typeface="Calibri"/>
            </a:endParaRPr>
          </a:p>
        </p:txBody>
      </p:sp>
      <p:sp>
        <p:nvSpPr>
          <p:cNvPr id="291" name="Google Shape;291;g3d83fb30301_0_149"/>
          <p:cNvSpPr/>
          <p:nvPr/>
        </p:nvSpPr>
        <p:spPr>
          <a:xfrm>
            <a:off x="457200" y="1078992"/>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Integrated OpenCV detection with Arduino motor control</a:t>
            </a:r>
            <a:endParaRPr b="0" i="0" sz="950" u="none" cap="none" strike="noStrike">
              <a:solidFill>
                <a:schemeClr val="dk1"/>
              </a:solidFill>
              <a:latin typeface="Calibri"/>
              <a:ea typeface="Calibri"/>
              <a:cs typeface="Calibri"/>
              <a:sym typeface="Calibri"/>
            </a:endParaRPr>
          </a:p>
        </p:txBody>
      </p:sp>
      <p:sp>
        <p:nvSpPr>
          <p:cNvPr id="292" name="Google Shape;292;g3d83fb30301_0_149"/>
          <p:cNvSpPr/>
          <p:nvPr/>
        </p:nvSpPr>
        <p:spPr>
          <a:xfrm>
            <a:off x="457200" y="1371600"/>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Object detected on left → base motor turns left until centred</a:t>
            </a:r>
            <a:endParaRPr b="0" i="0" sz="950" u="none" cap="none" strike="noStrike">
              <a:solidFill>
                <a:schemeClr val="dk1"/>
              </a:solidFill>
              <a:latin typeface="Calibri"/>
              <a:ea typeface="Calibri"/>
              <a:cs typeface="Calibri"/>
              <a:sym typeface="Calibri"/>
            </a:endParaRPr>
          </a:p>
        </p:txBody>
      </p:sp>
      <p:sp>
        <p:nvSpPr>
          <p:cNvPr id="293" name="Google Shape;293;g3d83fb30301_0_149"/>
          <p:cNvSpPr/>
          <p:nvPr/>
        </p:nvSpPr>
        <p:spPr>
          <a:xfrm>
            <a:off x="457200" y="1664208"/>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Object detected on right → base motor turns right until centred</a:t>
            </a:r>
            <a:endParaRPr b="0" i="0" sz="950" u="none" cap="none" strike="noStrike">
              <a:solidFill>
                <a:schemeClr val="dk1"/>
              </a:solidFill>
              <a:latin typeface="Calibri"/>
              <a:ea typeface="Calibri"/>
              <a:cs typeface="Calibri"/>
              <a:sym typeface="Calibri"/>
            </a:endParaRPr>
          </a:p>
        </p:txBody>
      </p:sp>
      <p:sp>
        <p:nvSpPr>
          <p:cNvPr id="294" name="Google Shape;294;g3d83fb30301_0_149"/>
          <p:cNvSpPr/>
          <p:nvPr/>
        </p:nvSpPr>
        <p:spPr>
          <a:xfrm>
            <a:off x="457200" y="1956816"/>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Closed-loop centering behaviour confirmed working</a:t>
            </a:r>
            <a:endParaRPr b="0" i="0" sz="950" u="none" cap="none" strike="noStrike">
              <a:solidFill>
                <a:schemeClr val="dk1"/>
              </a:solidFill>
              <a:latin typeface="Calibri"/>
              <a:ea typeface="Calibri"/>
              <a:cs typeface="Calibri"/>
              <a:sym typeface="Calibri"/>
            </a:endParaRPr>
          </a:p>
        </p:txBody>
      </p:sp>
      <p:sp>
        <p:nvSpPr>
          <p:cNvPr id="295" name="Google Shape;295;g3d83fb30301_0_149"/>
          <p:cNvSpPr/>
          <p:nvPr/>
        </p:nvSpPr>
        <p:spPr>
          <a:xfrm>
            <a:off x="347472" y="2359152"/>
            <a:ext cx="4114800" cy="8046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d83fb30301_0_149"/>
          <p:cNvSpPr/>
          <p:nvPr/>
        </p:nvSpPr>
        <p:spPr>
          <a:xfrm>
            <a:off x="347472" y="2359152"/>
            <a:ext cx="4114800" cy="25590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d83fb30301_0_149"/>
          <p:cNvSpPr/>
          <p:nvPr/>
        </p:nvSpPr>
        <p:spPr>
          <a:xfrm>
            <a:off x="438912" y="2359152"/>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 progress</a:t>
            </a:r>
            <a:endParaRPr b="0" i="0" sz="1000" u="none" cap="none" strike="noStrike">
              <a:solidFill>
                <a:schemeClr val="dk1"/>
              </a:solidFill>
              <a:latin typeface="Calibri"/>
              <a:ea typeface="Calibri"/>
              <a:cs typeface="Calibri"/>
              <a:sym typeface="Calibri"/>
            </a:endParaRPr>
          </a:p>
        </p:txBody>
      </p:sp>
      <p:sp>
        <p:nvSpPr>
          <p:cNvPr id="298" name="Google Shape;298;g3d83fb30301_0_149"/>
          <p:cNvSpPr/>
          <p:nvPr/>
        </p:nvSpPr>
        <p:spPr>
          <a:xfrm>
            <a:off x="457200" y="2651760"/>
            <a:ext cx="3840600" cy="2559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Camera producing too many false detections — collecting more training data</a:t>
            </a:r>
            <a:endParaRPr b="0" i="0" sz="1000" u="none" cap="none" strike="noStrike">
              <a:solidFill>
                <a:schemeClr val="dk1"/>
              </a:solidFill>
              <a:latin typeface="Calibri"/>
              <a:ea typeface="Calibri"/>
              <a:cs typeface="Calibri"/>
              <a:sym typeface="Calibri"/>
            </a:endParaRPr>
          </a:p>
        </p:txBody>
      </p:sp>
      <p:sp>
        <p:nvSpPr>
          <p:cNvPr id="299" name="Google Shape;299;g3d83fb30301_0_149"/>
          <p:cNvSpPr/>
          <p:nvPr/>
        </p:nvSpPr>
        <p:spPr>
          <a:xfrm>
            <a:off x="457200" y="2926080"/>
            <a:ext cx="3840600" cy="2559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Full x/y coordinate mapping to arm workspace</a:t>
            </a:r>
            <a:endParaRPr b="0" i="0" sz="1000" u="none" cap="none" strike="noStrike">
              <a:solidFill>
                <a:schemeClr val="dk1"/>
              </a:solidFill>
              <a:latin typeface="Calibri"/>
              <a:ea typeface="Calibri"/>
              <a:cs typeface="Calibri"/>
              <a:sym typeface="Calibri"/>
            </a:endParaRPr>
          </a:p>
        </p:txBody>
      </p:sp>
      <p:sp>
        <p:nvSpPr>
          <p:cNvPr id="300" name="Google Shape;300;g3d83fb30301_0_149"/>
          <p:cNvSpPr/>
          <p:nvPr/>
        </p:nvSpPr>
        <p:spPr>
          <a:xfrm>
            <a:off x="347472" y="3236976"/>
            <a:ext cx="4114800" cy="12618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d83fb30301_0_149"/>
          <p:cNvSpPr/>
          <p:nvPr/>
        </p:nvSpPr>
        <p:spPr>
          <a:xfrm>
            <a:off x="347472" y="3236976"/>
            <a:ext cx="4114800" cy="2559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d83fb30301_0_149"/>
          <p:cNvSpPr/>
          <p:nvPr/>
        </p:nvSpPr>
        <p:spPr>
          <a:xfrm>
            <a:off x="438912" y="3236976"/>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 week plan</a:t>
            </a:r>
            <a:endParaRPr b="0" i="0" sz="1000" u="none" cap="none" strike="noStrike">
              <a:solidFill>
                <a:schemeClr val="dk1"/>
              </a:solidFill>
              <a:latin typeface="Calibri"/>
              <a:ea typeface="Calibri"/>
              <a:cs typeface="Calibri"/>
              <a:sym typeface="Calibri"/>
            </a:endParaRPr>
          </a:p>
        </p:txBody>
      </p:sp>
      <p:sp>
        <p:nvSpPr>
          <p:cNvPr id="303" name="Google Shape;303;g3d83fb30301_0_149"/>
          <p:cNvSpPr/>
          <p:nvPr/>
        </p:nvSpPr>
        <p:spPr>
          <a:xfrm>
            <a:off x="457200" y="3529584"/>
            <a:ext cx="3840600" cy="2925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Gather and annotate more training data for camera</a:t>
            </a:r>
            <a:endParaRPr b="0" i="0" sz="1000" u="none" cap="none" strike="noStrike">
              <a:solidFill>
                <a:schemeClr val="dk1"/>
              </a:solidFill>
              <a:latin typeface="Calibri"/>
              <a:ea typeface="Calibri"/>
              <a:cs typeface="Calibri"/>
              <a:sym typeface="Calibri"/>
            </a:endParaRPr>
          </a:p>
        </p:txBody>
      </p:sp>
      <p:sp>
        <p:nvSpPr>
          <p:cNvPr id="304" name="Google Shape;304;g3d83fb30301_0_149"/>
          <p:cNvSpPr/>
          <p:nvPr/>
        </p:nvSpPr>
        <p:spPr>
          <a:xfrm>
            <a:off x="457200" y="3840480"/>
            <a:ext cx="3840600" cy="2925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Improve detection accuracy — reduce false positives</a:t>
            </a:r>
            <a:endParaRPr b="0" i="0" sz="1000" u="none" cap="none" strike="noStrike">
              <a:solidFill>
                <a:schemeClr val="dk1"/>
              </a:solidFill>
              <a:latin typeface="Calibri"/>
              <a:ea typeface="Calibri"/>
              <a:cs typeface="Calibri"/>
              <a:sym typeface="Calibri"/>
            </a:endParaRPr>
          </a:p>
        </p:txBody>
      </p:sp>
      <p:sp>
        <p:nvSpPr>
          <p:cNvPr id="305" name="Google Shape;305;g3d83fb30301_0_149"/>
          <p:cNvSpPr/>
          <p:nvPr/>
        </p:nvSpPr>
        <p:spPr>
          <a:xfrm>
            <a:off x="457200" y="4151376"/>
            <a:ext cx="3840600" cy="2925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Complete full coordinate mapping for auto pick-and-place</a:t>
            </a:r>
            <a:endParaRPr b="0" i="0" sz="1000" u="none" cap="none" strike="noStrike">
              <a:solidFill>
                <a:schemeClr val="dk1"/>
              </a:solidFill>
              <a:latin typeface="Calibri"/>
              <a:ea typeface="Calibri"/>
              <a:cs typeface="Calibri"/>
              <a:sym typeface="Calibri"/>
            </a:endParaRPr>
          </a:p>
        </p:txBody>
      </p:sp>
      <p:sp>
        <p:nvSpPr>
          <p:cNvPr id="306" name="Google Shape;306;g3d83fb30301_0_149"/>
          <p:cNvSpPr/>
          <p:nvPr/>
        </p:nvSpPr>
        <p:spPr>
          <a:xfrm>
            <a:off x="4663440" y="786384"/>
            <a:ext cx="4206300" cy="21579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d83fb30301_0_149"/>
          <p:cNvSpPr/>
          <p:nvPr/>
        </p:nvSpPr>
        <p:spPr>
          <a:xfrm>
            <a:off x="4663440" y="786384"/>
            <a:ext cx="4206300" cy="2559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d83fb30301_0_149"/>
          <p:cNvSpPr/>
          <p:nvPr/>
        </p:nvSpPr>
        <p:spPr>
          <a:xfrm>
            <a:off x="4754880" y="786384"/>
            <a:ext cx="4023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Control loop — how it works</a:t>
            </a:r>
            <a:endParaRPr b="0" i="0" sz="1000" u="none" cap="none" strike="noStrike">
              <a:solidFill>
                <a:schemeClr val="dk1"/>
              </a:solidFill>
              <a:latin typeface="Calibri"/>
              <a:ea typeface="Calibri"/>
              <a:cs typeface="Calibri"/>
              <a:sym typeface="Calibri"/>
            </a:endParaRPr>
          </a:p>
        </p:txBody>
      </p:sp>
      <p:sp>
        <p:nvSpPr>
          <p:cNvPr id="309" name="Google Shape;309;g3d83fb30301_0_149"/>
          <p:cNvSpPr/>
          <p:nvPr/>
        </p:nvSpPr>
        <p:spPr>
          <a:xfrm>
            <a:off x="4754880" y="1170432"/>
            <a:ext cx="274200" cy="27420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d83fb30301_0_149"/>
          <p:cNvSpPr/>
          <p:nvPr/>
        </p:nvSpPr>
        <p:spPr>
          <a:xfrm>
            <a:off x="4754880" y="1170432"/>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11" name="Google Shape;311;g3d83fb30301_0_149"/>
          <p:cNvSpPr/>
          <p:nvPr/>
        </p:nvSpPr>
        <p:spPr>
          <a:xfrm>
            <a:off x="5102352" y="1152144"/>
            <a:ext cx="365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Camera captures frame</a:t>
            </a:r>
            <a:endParaRPr b="0" i="0" sz="1000" u="none" cap="none" strike="noStrike">
              <a:solidFill>
                <a:schemeClr val="dk1"/>
              </a:solidFill>
              <a:latin typeface="Calibri"/>
              <a:ea typeface="Calibri"/>
              <a:cs typeface="Calibri"/>
              <a:sym typeface="Calibri"/>
            </a:endParaRPr>
          </a:p>
        </p:txBody>
      </p:sp>
      <p:sp>
        <p:nvSpPr>
          <p:cNvPr id="312" name="Google Shape;312;g3d83fb30301_0_149"/>
          <p:cNvSpPr/>
          <p:nvPr/>
        </p:nvSpPr>
        <p:spPr>
          <a:xfrm>
            <a:off x="5102352" y="1353312"/>
            <a:ext cx="3657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OpenCV processes live video feed</a:t>
            </a:r>
            <a:endParaRPr b="0" i="0" sz="950" u="none" cap="none" strike="noStrike">
              <a:solidFill>
                <a:schemeClr val="dk1"/>
              </a:solidFill>
              <a:latin typeface="Calibri"/>
              <a:ea typeface="Calibri"/>
              <a:cs typeface="Calibri"/>
              <a:sym typeface="Calibri"/>
            </a:endParaRPr>
          </a:p>
        </p:txBody>
      </p:sp>
      <p:sp>
        <p:nvSpPr>
          <p:cNvPr id="313" name="Google Shape;313;g3d83fb30301_0_149"/>
          <p:cNvSpPr/>
          <p:nvPr/>
        </p:nvSpPr>
        <p:spPr>
          <a:xfrm>
            <a:off x="4754880" y="1609344"/>
            <a:ext cx="274200" cy="27420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d83fb30301_0_149"/>
          <p:cNvSpPr/>
          <p:nvPr/>
        </p:nvSpPr>
        <p:spPr>
          <a:xfrm>
            <a:off x="4754880" y="1609344"/>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15" name="Google Shape;315;g3d83fb30301_0_149"/>
          <p:cNvSpPr/>
          <p:nvPr/>
        </p:nvSpPr>
        <p:spPr>
          <a:xfrm>
            <a:off x="5102352" y="1591056"/>
            <a:ext cx="365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Object position detected</a:t>
            </a:r>
            <a:endParaRPr b="0" i="0" sz="1000" u="none" cap="none" strike="noStrike">
              <a:solidFill>
                <a:schemeClr val="dk1"/>
              </a:solidFill>
              <a:latin typeface="Calibri"/>
              <a:ea typeface="Calibri"/>
              <a:cs typeface="Calibri"/>
              <a:sym typeface="Calibri"/>
            </a:endParaRPr>
          </a:p>
        </p:txBody>
      </p:sp>
      <p:sp>
        <p:nvSpPr>
          <p:cNvPr id="316" name="Google Shape;316;g3d83fb30301_0_149"/>
          <p:cNvSpPr/>
          <p:nvPr/>
        </p:nvSpPr>
        <p:spPr>
          <a:xfrm>
            <a:off x="5102352" y="1792224"/>
            <a:ext cx="3657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Bounding box centre compared to frame centre</a:t>
            </a:r>
            <a:endParaRPr b="0" i="0" sz="950" u="none" cap="none" strike="noStrike">
              <a:solidFill>
                <a:schemeClr val="dk1"/>
              </a:solidFill>
              <a:latin typeface="Calibri"/>
              <a:ea typeface="Calibri"/>
              <a:cs typeface="Calibri"/>
              <a:sym typeface="Calibri"/>
            </a:endParaRPr>
          </a:p>
        </p:txBody>
      </p:sp>
      <p:sp>
        <p:nvSpPr>
          <p:cNvPr id="317" name="Google Shape;317;g3d83fb30301_0_149"/>
          <p:cNvSpPr/>
          <p:nvPr/>
        </p:nvSpPr>
        <p:spPr>
          <a:xfrm>
            <a:off x="4754880" y="2048256"/>
            <a:ext cx="274200" cy="27420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83fb30301_0_149"/>
          <p:cNvSpPr/>
          <p:nvPr/>
        </p:nvSpPr>
        <p:spPr>
          <a:xfrm>
            <a:off x="4754880" y="204825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319" name="Google Shape;319;g3d83fb30301_0_149"/>
          <p:cNvSpPr/>
          <p:nvPr/>
        </p:nvSpPr>
        <p:spPr>
          <a:xfrm>
            <a:off x="5102352" y="2029968"/>
            <a:ext cx="365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Left / right decision</a:t>
            </a:r>
            <a:endParaRPr b="0" i="0" sz="1000" u="none" cap="none" strike="noStrike">
              <a:solidFill>
                <a:schemeClr val="dk1"/>
              </a:solidFill>
              <a:latin typeface="Calibri"/>
              <a:ea typeface="Calibri"/>
              <a:cs typeface="Calibri"/>
              <a:sym typeface="Calibri"/>
            </a:endParaRPr>
          </a:p>
        </p:txBody>
      </p:sp>
      <p:sp>
        <p:nvSpPr>
          <p:cNvPr id="320" name="Google Shape;320;g3d83fb30301_0_149"/>
          <p:cNvSpPr/>
          <p:nvPr/>
        </p:nvSpPr>
        <p:spPr>
          <a:xfrm>
            <a:off x="5102352" y="2231136"/>
            <a:ext cx="3657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If object is left → turn left. If right → turn right.</a:t>
            </a:r>
            <a:endParaRPr b="0" i="0" sz="950" u="none" cap="none" strike="noStrike">
              <a:solidFill>
                <a:schemeClr val="dk1"/>
              </a:solidFill>
              <a:latin typeface="Calibri"/>
              <a:ea typeface="Calibri"/>
              <a:cs typeface="Calibri"/>
              <a:sym typeface="Calibri"/>
            </a:endParaRPr>
          </a:p>
        </p:txBody>
      </p:sp>
      <p:sp>
        <p:nvSpPr>
          <p:cNvPr id="321" name="Google Shape;321;g3d83fb30301_0_149"/>
          <p:cNvSpPr/>
          <p:nvPr/>
        </p:nvSpPr>
        <p:spPr>
          <a:xfrm>
            <a:off x="4754880" y="2487168"/>
            <a:ext cx="274200" cy="27420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d83fb30301_0_149"/>
          <p:cNvSpPr/>
          <p:nvPr/>
        </p:nvSpPr>
        <p:spPr>
          <a:xfrm>
            <a:off x="4754880" y="2487168"/>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323" name="Google Shape;323;g3d83fb30301_0_149"/>
          <p:cNvSpPr/>
          <p:nvPr/>
        </p:nvSpPr>
        <p:spPr>
          <a:xfrm>
            <a:off x="5102352" y="2468880"/>
            <a:ext cx="365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1" i="0" lang="en-US" sz="1000" u="none" cap="none" strike="noStrike">
                <a:solidFill>
                  <a:srgbClr val="2C3E50"/>
                </a:solidFill>
                <a:latin typeface="Calibri"/>
                <a:ea typeface="Calibri"/>
                <a:cs typeface="Calibri"/>
                <a:sym typeface="Calibri"/>
              </a:rPr>
              <a:t>Command sent to Arduino</a:t>
            </a:r>
            <a:endParaRPr b="0" i="0" sz="1000" u="none" cap="none" strike="noStrike">
              <a:solidFill>
                <a:schemeClr val="dk1"/>
              </a:solidFill>
              <a:latin typeface="Calibri"/>
              <a:ea typeface="Calibri"/>
              <a:cs typeface="Calibri"/>
              <a:sym typeface="Calibri"/>
            </a:endParaRPr>
          </a:p>
        </p:txBody>
      </p:sp>
      <p:sp>
        <p:nvSpPr>
          <p:cNvPr id="324" name="Google Shape;324;g3d83fb30301_0_149"/>
          <p:cNvSpPr/>
          <p:nvPr/>
        </p:nvSpPr>
        <p:spPr>
          <a:xfrm>
            <a:off x="5102352" y="2670048"/>
            <a:ext cx="36576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Serial command adjusts base servo until object is centred</a:t>
            </a:r>
            <a:endParaRPr b="0" i="0" sz="950" u="none" cap="none" strike="noStrike">
              <a:solidFill>
                <a:schemeClr val="dk1"/>
              </a:solidFill>
              <a:latin typeface="Calibri"/>
              <a:ea typeface="Calibri"/>
              <a:cs typeface="Calibri"/>
              <a:sym typeface="Calibri"/>
            </a:endParaRPr>
          </a:p>
        </p:txBody>
      </p:sp>
      <p:sp>
        <p:nvSpPr>
          <p:cNvPr id="325" name="Google Shape;325;g3d83fb30301_0_149"/>
          <p:cNvSpPr/>
          <p:nvPr/>
        </p:nvSpPr>
        <p:spPr>
          <a:xfrm>
            <a:off x="4663440" y="3017520"/>
            <a:ext cx="4206300" cy="1481400"/>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d83fb30301_0_149"/>
          <p:cNvSpPr/>
          <p:nvPr/>
        </p:nvSpPr>
        <p:spPr>
          <a:xfrm>
            <a:off x="4663440" y="3017520"/>
            <a:ext cx="4206300" cy="255900"/>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d83fb30301_0_149"/>
          <p:cNvSpPr/>
          <p:nvPr/>
        </p:nvSpPr>
        <p:spPr>
          <a:xfrm>
            <a:off x="4754880" y="3017520"/>
            <a:ext cx="4023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Current issue — false detections</a:t>
            </a:r>
            <a:endParaRPr b="0" i="0" sz="1000" u="none" cap="none" strike="noStrike">
              <a:solidFill>
                <a:schemeClr val="dk1"/>
              </a:solidFill>
              <a:latin typeface="Calibri"/>
              <a:ea typeface="Calibri"/>
              <a:cs typeface="Calibri"/>
              <a:sym typeface="Calibri"/>
            </a:endParaRPr>
          </a:p>
        </p:txBody>
      </p:sp>
      <p:sp>
        <p:nvSpPr>
          <p:cNvPr id="328" name="Google Shape;328;g3d83fb30301_0_149"/>
          <p:cNvSpPr/>
          <p:nvPr/>
        </p:nvSpPr>
        <p:spPr>
          <a:xfrm>
            <a:off x="4773168" y="3310128"/>
            <a:ext cx="3931800" cy="113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950"/>
              <a:buFont typeface="Calibri"/>
              <a:buNone/>
            </a:pPr>
            <a:r>
              <a:rPr b="0" i="0" lang="en-US" sz="950" u="none" cap="none" strike="noStrike">
                <a:solidFill>
                  <a:srgbClr val="2C3E50"/>
                </a:solidFill>
                <a:latin typeface="Calibri"/>
                <a:ea typeface="Calibri"/>
                <a:cs typeface="Calibri"/>
                <a:sym typeface="Calibri"/>
              </a:rPr>
              <a:t>The camera is detecting too many incorrect objects. This is a training data problem — the model has not seen enough examples to reliably distinguish the target objects from the background and other items. More labelled images need to be collected and the model retrained before the system can be used reliably for auto pick-and-place.</a:t>
            </a:r>
            <a:endParaRPr b="0" i="0" sz="950" u="none" cap="none" strike="noStrike">
              <a:solidFill>
                <a:schemeClr val="dk1"/>
              </a:solidFill>
              <a:latin typeface="Calibri"/>
              <a:ea typeface="Calibri"/>
              <a:cs typeface="Calibri"/>
              <a:sym typeface="Calibri"/>
            </a:endParaRPr>
          </a:p>
        </p:txBody>
      </p:sp>
      <p:sp>
        <p:nvSpPr>
          <p:cNvPr id="329" name="Google Shape;329;g3d83fb30301_0_149"/>
          <p:cNvSpPr/>
          <p:nvPr/>
        </p:nvSpPr>
        <p:spPr>
          <a:xfrm>
            <a:off x="274320" y="4864608"/>
            <a:ext cx="8595300" cy="2013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334" name="Shape 334"/>
        <p:cNvGrpSpPr/>
        <p:nvPr/>
      </p:nvGrpSpPr>
      <p:grpSpPr>
        <a:xfrm>
          <a:off x="0" y="0"/>
          <a:ext cx="0" cy="0"/>
          <a:chOff x="0" y="0"/>
          <a:chExt cx="0" cy="0"/>
        </a:xfrm>
      </p:grpSpPr>
      <p:sp>
        <p:nvSpPr>
          <p:cNvPr id="335" name="Google Shape;335;g3d83fb30301_0_127"/>
          <p:cNvSpPr/>
          <p:nvPr/>
        </p:nvSpPr>
        <p:spPr>
          <a:xfrm>
            <a:off x="0" y="0"/>
            <a:ext cx="164700"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d83fb30301_0_127"/>
          <p:cNvSpPr/>
          <p:nvPr/>
        </p:nvSpPr>
        <p:spPr>
          <a:xfrm>
            <a:off x="6400800" y="-914400"/>
            <a:ext cx="4389000" cy="4389000"/>
          </a:xfrm>
          <a:prstGeom prst="ellipse">
            <a:avLst/>
          </a:prstGeom>
          <a:solidFill>
            <a:srgbClr val="028090">
              <a:alpha val="10200"/>
            </a:srgbClr>
          </a:solidFill>
          <a:ln cap="flat" cmpd="sng" w="12700">
            <a:solidFill>
              <a:srgbClr val="028090">
                <a:alpha val="1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d83fb30301_0_127"/>
          <p:cNvSpPr/>
          <p:nvPr/>
        </p:nvSpPr>
        <p:spPr>
          <a:xfrm>
            <a:off x="384048" y="347472"/>
            <a:ext cx="7315200" cy="42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0" i="0" lang="en-US" sz="1800" u="none" cap="none" strike="noStrike">
                <a:solidFill>
                  <a:srgbClr val="028090"/>
                </a:solidFill>
                <a:latin typeface="Calibri"/>
                <a:ea typeface="Calibri"/>
                <a:cs typeface="Calibri"/>
                <a:sym typeface="Calibri"/>
              </a:rPr>
              <a:t>Demo</a:t>
            </a:r>
            <a:endParaRPr b="0" i="0" sz="1800" u="none" cap="none" strike="noStrike">
              <a:solidFill>
                <a:schemeClr val="dk1"/>
              </a:solidFill>
              <a:latin typeface="Calibri"/>
              <a:ea typeface="Calibri"/>
              <a:cs typeface="Calibri"/>
              <a:sym typeface="Calibri"/>
            </a:endParaRPr>
          </a:p>
        </p:txBody>
      </p:sp>
      <p:sp>
        <p:nvSpPr>
          <p:cNvPr id="338" name="Google Shape;338;g3d83fb30301_0_127"/>
          <p:cNvSpPr/>
          <p:nvPr/>
        </p:nvSpPr>
        <p:spPr>
          <a:xfrm>
            <a:off x="384048" y="731520"/>
            <a:ext cx="73152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OpenCV — Object Detection</a:t>
            </a:r>
            <a:endParaRPr b="0" i="0" sz="3400" u="none" cap="none" strike="noStrike">
              <a:solidFill>
                <a:schemeClr val="dk1"/>
              </a:solidFill>
              <a:latin typeface="Calibri"/>
              <a:ea typeface="Calibri"/>
              <a:cs typeface="Calibri"/>
              <a:sym typeface="Calibri"/>
            </a:endParaRPr>
          </a:p>
        </p:txBody>
      </p:sp>
      <p:sp>
        <p:nvSpPr>
          <p:cNvPr id="339" name="Google Shape;339;g3d83fb30301_0_127"/>
          <p:cNvSpPr/>
          <p:nvPr/>
        </p:nvSpPr>
        <p:spPr>
          <a:xfrm>
            <a:off x="384048" y="1463040"/>
            <a:ext cx="5029200" cy="366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d83fb30301_0_127"/>
          <p:cNvSpPr/>
          <p:nvPr/>
        </p:nvSpPr>
        <p:spPr>
          <a:xfrm>
            <a:off x="384048" y="1572768"/>
            <a:ext cx="7315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1100"/>
              <a:buFont typeface="Calibri"/>
              <a:buNone/>
            </a:pPr>
            <a:r>
              <a:rPr b="0" i="1" lang="en-US" sz="1100" u="none" cap="none" strike="noStrike">
                <a:solidFill>
                  <a:srgbClr val="8494A8"/>
                </a:solidFill>
                <a:latin typeface="Calibri"/>
                <a:ea typeface="Calibri"/>
                <a:cs typeface="Calibri"/>
                <a:sym typeface="Calibri"/>
              </a:rPr>
              <a:t>Leen — Week 7  ·  Left/right detection sending base motor commands to Arduino</a:t>
            </a:r>
            <a:endParaRPr b="0" i="0" sz="1100" u="none" cap="none" strike="noStrike">
              <a:solidFill>
                <a:schemeClr val="dk1"/>
              </a:solidFill>
              <a:latin typeface="Calibri"/>
              <a:ea typeface="Calibri"/>
              <a:cs typeface="Calibri"/>
              <a:sym typeface="Calibri"/>
            </a:endParaRPr>
          </a:p>
        </p:txBody>
      </p:sp>
      <p:sp>
        <p:nvSpPr>
          <p:cNvPr id="341" name="Google Shape;341;g3d83fb30301_0_127"/>
          <p:cNvSpPr/>
          <p:nvPr/>
        </p:nvSpPr>
        <p:spPr>
          <a:xfrm>
            <a:off x="384048" y="1920240"/>
            <a:ext cx="6858000" cy="2834700"/>
          </a:xfrm>
          <a:prstGeom prst="rect">
            <a:avLst/>
          </a:prstGeom>
          <a:solidFill>
            <a:srgbClr val="111827"/>
          </a:solidFill>
          <a:ln cap="flat" cmpd="sng" w="1905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d83fb30301_0_127"/>
          <p:cNvSpPr/>
          <p:nvPr/>
        </p:nvSpPr>
        <p:spPr>
          <a:xfrm>
            <a:off x="3127248" y="2651760"/>
            <a:ext cx="1371600" cy="1371600"/>
          </a:xfrm>
          <a:prstGeom prst="ellipse">
            <a:avLst/>
          </a:prstGeom>
          <a:solidFill>
            <a:srgbClr val="028090">
              <a:alpha val="70200"/>
            </a:srgbClr>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d83fb30301_0_127">
            <a:hlinkClick r:id="rId3"/>
          </p:cNvPr>
          <p:cNvSpPr/>
          <p:nvPr/>
        </p:nvSpPr>
        <p:spPr>
          <a:xfrm>
            <a:off x="3127248" y="2651760"/>
            <a:ext cx="13716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344" name="Google Shape;344;g3d83fb30301_0_127"/>
          <p:cNvSpPr/>
          <p:nvPr/>
        </p:nvSpPr>
        <p:spPr>
          <a:xfrm>
            <a:off x="384048" y="4206240"/>
            <a:ext cx="6858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494A8"/>
              </a:buClr>
              <a:buSzPts val="1100"/>
              <a:buFont typeface="Calibri"/>
              <a:buNone/>
            </a:pPr>
            <a:r>
              <a:rPr b="0" i="1" lang="en-US" sz="1100" u="none" cap="none" strike="noStrike">
                <a:solidFill>
                  <a:srgbClr val="8494A8"/>
                </a:solidFill>
                <a:latin typeface="Calibri"/>
                <a:ea typeface="Calibri"/>
                <a:cs typeface="Calibri"/>
                <a:sym typeface="Calibri"/>
              </a:rPr>
              <a:t>[ Insert video here ]</a:t>
            </a:r>
            <a:endParaRPr b="0" i="0" sz="1100" u="none" cap="none" strike="noStrike">
              <a:solidFill>
                <a:schemeClr val="dk1"/>
              </a:solidFill>
              <a:latin typeface="Calibri"/>
              <a:ea typeface="Calibri"/>
              <a:cs typeface="Calibri"/>
              <a:sym typeface="Calibri"/>
            </a:endParaRPr>
          </a:p>
        </p:txBody>
      </p:sp>
      <p:sp>
        <p:nvSpPr>
          <p:cNvPr id="345" name="Google Shape;345;g3d83fb30301_0_127"/>
          <p:cNvSpPr/>
          <p:nvPr/>
        </p:nvSpPr>
        <p:spPr>
          <a:xfrm>
            <a:off x="7406640" y="1920240"/>
            <a:ext cx="1554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850"/>
              <a:buFont typeface="Calibri"/>
              <a:buNone/>
            </a:pPr>
            <a:r>
              <a:rPr b="1" i="0" lang="en-US" sz="850" u="none" cap="none" strike="noStrike">
                <a:solidFill>
                  <a:srgbClr val="C8E6F5"/>
                </a:solidFill>
                <a:latin typeface="Calibri"/>
                <a:ea typeface="Calibri"/>
                <a:cs typeface="Calibri"/>
                <a:sym typeface="Calibri"/>
              </a:rPr>
              <a:t>To insert video:</a:t>
            </a:r>
            <a:endParaRPr b="0" i="0" sz="850" u="none" cap="none" strike="noStrike">
              <a:solidFill>
                <a:schemeClr val="dk1"/>
              </a:solidFill>
              <a:latin typeface="Calibri"/>
              <a:ea typeface="Calibri"/>
              <a:cs typeface="Calibri"/>
              <a:sym typeface="Calibri"/>
            </a:endParaRPr>
          </a:p>
        </p:txBody>
      </p:sp>
      <p:sp>
        <p:nvSpPr>
          <p:cNvPr id="346" name="Google Shape;346;g3d83fb30301_0_127"/>
          <p:cNvSpPr/>
          <p:nvPr/>
        </p:nvSpPr>
        <p:spPr>
          <a:xfrm>
            <a:off x="7406640" y="2212848"/>
            <a:ext cx="1554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Insert tab</a:t>
            </a:r>
            <a:endParaRPr b="0" i="0" sz="800" u="none" cap="none" strike="noStrike">
              <a:solidFill>
                <a:schemeClr val="dk1"/>
              </a:solidFill>
              <a:latin typeface="Calibri"/>
              <a:ea typeface="Calibri"/>
              <a:cs typeface="Calibri"/>
              <a:sym typeface="Calibri"/>
            </a:endParaRPr>
          </a:p>
        </p:txBody>
      </p:sp>
      <p:sp>
        <p:nvSpPr>
          <p:cNvPr id="347" name="Google Shape;347;g3d83fb30301_0_127"/>
          <p:cNvSpPr/>
          <p:nvPr/>
        </p:nvSpPr>
        <p:spPr>
          <a:xfrm>
            <a:off x="7406640" y="2487168"/>
            <a:ext cx="1554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 Video</a:t>
            </a:r>
            <a:endParaRPr b="0" i="0" sz="800" u="none" cap="none" strike="noStrike">
              <a:solidFill>
                <a:schemeClr val="dk1"/>
              </a:solidFill>
              <a:latin typeface="Calibri"/>
              <a:ea typeface="Calibri"/>
              <a:cs typeface="Calibri"/>
              <a:sym typeface="Calibri"/>
            </a:endParaRPr>
          </a:p>
        </p:txBody>
      </p:sp>
      <p:sp>
        <p:nvSpPr>
          <p:cNvPr id="348" name="Google Shape;348;g3d83fb30301_0_127"/>
          <p:cNvSpPr/>
          <p:nvPr/>
        </p:nvSpPr>
        <p:spPr>
          <a:xfrm>
            <a:off x="7406640" y="2761488"/>
            <a:ext cx="1554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 This Device</a:t>
            </a:r>
            <a:endParaRPr b="0" i="0" sz="800" u="none" cap="none" strike="noStrike">
              <a:solidFill>
                <a:schemeClr val="dk1"/>
              </a:solidFill>
              <a:latin typeface="Calibri"/>
              <a:ea typeface="Calibri"/>
              <a:cs typeface="Calibri"/>
              <a:sym typeface="Calibri"/>
            </a:endParaRPr>
          </a:p>
        </p:txBody>
      </p:sp>
      <p:sp>
        <p:nvSpPr>
          <p:cNvPr id="349" name="Google Shape;349;g3d83fb30301_0_127"/>
          <p:cNvSpPr/>
          <p:nvPr/>
        </p:nvSpPr>
        <p:spPr>
          <a:xfrm>
            <a:off x="7406640" y="3035808"/>
            <a:ext cx="1554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Select file</a:t>
            </a:r>
            <a:endParaRPr b="0" i="0" sz="800" u="none" cap="none" strike="noStrike">
              <a:solidFill>
                <a:schemeClr val="dk1"/>
              </a:solidFill>
              <a:latin typeface="Calibri"/>
              <a:ea typeface="Calibri"/>
              <a:cs typeface="Calibri"/>
              <a:sym typeface="Calibri"/>
            </a:endParaRPr>
          </a:p>
        </p:txBody>
      </p:sp>
      <p:sp>
        <p:nvSpPr>
          <p:cNvPr id="350" name="Google Shape;350;g3d83fb30301_0_127"/>
          <p:cNvSpPr/>
          <p:nvPr/>
        </p:nvSpPr>
        <p:spPr>
          <a:xfrm>
            <a:off x="274320" y="4919472"/>
            <a:ext cx="8595300" cy="183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6"/>
        </a:solidFill>
      </p:bgPr>
    </p:bg>
    <p:spTree>
      <p:nvGrpSpPr>
        <p:cNvPr id="355" name="Shape 355"/>
        <p:cNvGrpSpPr/>
        <p:nvPr/>
      </p:nvGrpSpPr>
      <p:grpSpPr>
        <a:xfrm>
          <a:off x="0" y="0"/>
          <a:ext cx="0" cy="0"/>
          <a:chOff x="0" y="0"/>
          <a:chExt cx="0" cy="0"/>
        </a:xfrm>
      </p:grpSpPr>
      <p:sp>
        <p:nvSpPr>
          <p:cNvPr id="356" name="Google Shape;356;g3d83fb30301_0_0"/>
          <p:cNvSpPr/>
          <p:nvPr/>
        </p:nvSpPr>
        <p:spPr>
          <a:xfrm>
            <a:off x="0" y="0"/>
            <a:ext cx="9144000" cy="9600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d83fb30301_0_0"/>
          <p:cNvSpPr/>
          <p:nvPr/>
        </p:nvSpPr>
        <p:spPr>
          <a:xfrm>
            <a:off x="457200" y="109728"/>
            <a:ext cx="68580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3D Printed Part Adjustments</a:t>
            </a:r>
            <a:endParaRPr b="0" i="0" sz="2800" u="none" cap="none" strike="noStrike">
              <a:solidFill>
                <a:schemeClr val="dk1"/>
              </a:solidFill>
              <a:latin typeface="Calibri"/>
              <a:ea typeface="Calibri"/>
              <a:cs typeface="Calibri"/>
              <a:sym typeface="Calibri"/>
            </a:endParaRPr>
          </a:p>
        </p:txBody>
      </p:sp>
      <p:sp>
        <p:nvSpPr>
          <p:cNvPr id="358" name="Google Shape;358;g3d83fb30301_0_0"/>
          <p:cNvSpPr/>
          <p:nvPr/>
        </p:nvSpPr>
        <p:spPr>
          <a:xfrm>
            <a:off x="6217920" y="109728"/>
            <a:ext cx="2560200" cy="7314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2C39A"/>
              </a:buClr>
              <a:buSzPts val="1100"/>
              <a:buFont typeface="Calibri"/>
              <a:buNone/>
            </a:pPr>
            <a:r>
              <a:rPr b="0" i="0" lang="en-US" sz="1100" u="none" cap="none" strike="noStrike">
                <a:solidFill>
                  <a:srgbClr val="02C39A"/>
                </a:solidFill>
                <a:latin typeface="Calibri"/>
                <a:ea typeface="Calibri"/>
                <a:cs typeface="Calibri"/>
                <a:sym typeface="Calibri"/>
              </a:rPr>
              <a:t>Mohamed  •  Hardware &amp; Firmware</a:t>
            </a:r>
            <a:endParaRPr b="0" i="0" sz="1100" u="none" cap="none" strike="noStrike">
              <a:solidFill>
                <a:schemeClr val="dk1"/>
              </a:solidFill>
              <a:latin typeface="Calibri"/>
              <a:ea typeface="Calibri"/>
              <a:cs typeface="Calibri"/>
              <a:sym typeface="Calibri"/>
            </a:endParaRPr>
          </a:p>
        </p:txBody>
      </p:sp>
      <p:sp>
        <p:nvSpPr>
          <p:cNvPr id="359" name="Google Shape;359;g3d83fb30301_0_0"/>
          <p:cNvSpPr/>
          <p:nvPr/>
        </p:nvSpPr>
        <p:spPr>
          <a:xfrm>
            <a:off x="320040" y="1097280"/>
            <a:ext cx="2743200" cy="3703200"/>
          </a:xfrm>
          <a:prstGeom prst="rect">
            <a:avLst/>
          </a:prstGeom>
          <a:solidFill>
            <a:srgbClr val="FFFFFF"/>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0" name="Google Shape;360;g3d83fb30301_0_0"/>
          <p:cNvPicPr preferRelativeResize="0"/>
          <p:nvPr/>
        </p:nvPicPr>
        <p:blipFill rotWithShape="1">
          <a:blip r:embed="rId3">
            <a:alphaModFix/>
          </a:blip>
          <a:srcRect b="0" l="0" r="0" t="0"/>
          <a:stretch/>
        </p:blipFill>
        <p:spPr>
          <a:xfrm>
            <a:off x="411480" y="1188720"/>
            <a:ext cx="2560320" cy="3383280"/>
          </a:xfrm>
          <a:prstGeom prst="rect">
            <a:avLst/>
          </a:prstGeom>
          <a:noFill/>
          <a:ln>
            <a:noFill/>
          </a:ln>
        </p:spPr>
      </p:pic>
      <p:sp>
        <p:nvSpPr>
          <p:cNvPr id="361" name="Google Shape;361;g3d83fb30301_0_0"/>
          <p:cNvSpPr/>
          <p:nvPr/>
        </p:nvSpPr>
        <p:spPr>
          <a:xfrm>
            <a:off x="320040" y="4727448"/>
            <a:ext cx="2743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900"/>
              <a:buFont typeface="Calibri"/>
              <a:buNone/>
            </a:pPr>
            <a:r>
              <a:rPr b="0" i="1" lang="en-US" sz="900" u="none" cap="none" strike="noStrike">
                <a:solidFill>
                  <a:srgbClr val="028090"/>
                </a:solidFill>
                <a:latin typeface="Calibri"/>
                <a:ea typeface="Calibri"/>
                <a:cs typeface="Calibri"/>
                <a:sym typeface="Calibri"/>
              </a:rPr>
              <a:t>3D Printed Arm Link</a:t>
            </a:r>
            <a:endParaRPr b="0" i="0" sz="900" u="none" cap="none" strike="noStrike">
              <a:solidFill>
                <a:schemeClr val="dk1"/>
              </a:solidFill>
              <a:latin typeface="Calibri"/>
              <a:ea typeface="Calibri"/>
              <a:cs typeface="Calibri"/>
              <a:sym typeface="Calibri"/>
            </a:endParaRPr>
          </a:p>
        </p:txBody>
      </p:sp>
      <p:sp>
        <p:nvSpPr>
          <p:cNvPr id="362" name="Google Shape;362;g3d83fb30301_0_0"/>
          <p:cNvSpPr/>
          <p:nvPr/>
        </p:nvSpPr>
        <p:spPr>
          <a:xfrm>
            <a:off x="3246120" y="1097280"/>
            <a:ext cx="2743200" cy="3703200"/>
          </a:xfrm>
          <a:prstGeom prst="rect">
            <a:avLst/>
          </a:prstGeom>
          <a:solidFill>
            <a:srgbClr val="FFFFFF"/>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3" name="Google Shape;363;g3d83fb30301_0_0"/>
          <p:cNvPicPr preferRelativeResize="0"/>
          <p:nvPr/>
        </p:nvPicPr>
        <p:blipFill rotWithShape="1">
          <a:blip r:embed="rId4">
            <a:alphaModFix/>
          </a:blip>
          <a:srcRect b="0" l="0" r="0" t="0"/>
          <a:stretch/>
        </p:blipFill>
        <p:spPr>
          <a:xfrm>
            <a:off x="3337560" y="1188720"/>
            <a:ext cx="2560320" cy="3383280"/>
          </a:xfrm>
          <a:prstGeom prst="rect">
            <a:avLst/>
          </a:prstGeom>
          <a:noFill/>
          <a:ln>
            <a:noFill/>
          </a:ln>
        </p:spPr>
      </p:pic>
      <p:sp>
        <p:nvSpPr>
          <p:cNvPr id="364" name="Google Shape;364;g3d83fb30301_0_0"/>
          <p:cNvSpPr/>
          <p:nvPr/>
        </p:nvSpPr>
        <p:spPr>
          <a:xfrm>
            <a:off x="3246120" y="4727448"/>
            <a:ext cx="2743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900"/>
              <a:buFont typeface="Calibri"/>
              <a:buNone/>
            </a:pPr>
            <a:r>
              <a:rPr b="0" i="1" lang="en-US" sz="900" u="none" cap="none" strike="noStrike">
                <a:solidFill>
                  <a:srgbClr val="028090"/>
                </a:solidFill>
                <a:latin typeface="Calibri"/>
                <a:ea typeface="Calibri"/>
                <a:cs typeface="Calibri"/>
                <a:sym typeface="Calibri"/>
              </a:rPr>
              <a:t>Dremel Adjustment in Lab</a:t>
            </a:r>
            <a:endParaRPr b="0" i="0" sz="900" u="none" cap="none" strike="noStrike">
              <a:solidFill>
                <a:schemeClr val="dk1"/>
              </a:solidFill>
              <a:latin typeface="Calibri"/>
              <a:ea typeface="Calibri"/>
              <a:cs typeface="Calibri"/>
              <a:sym typeface="Calibri"/>
            </a:endParaRPr>
          </a:p>
        </p:txBody>
      </p:sp>
      <p:sp>
        <p:nvSpPr>
          <p:cNvPr id="365" name="Google Shape;365;g3d83fb30301_0_0"/>
          <p:cNvSpPr/>
          <p:nvPr/>
        </p:nvSpPr>
        <p:spPr>
          <a:xfrm>
            <a:off x="6172200" y="1097280"/>
            <a:ext cx="2651700" cy="3703200"/>
          </a:xfrm>
          <a:prstGeom prst="rect">
            <a:avLst/>
          </a:prstGeom>
          <a:solidFill>
            <a:srgbClr val="FFFFFF"/>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83fb30301_0_0"/>
          <p:cNvSpPr/>
          <p:nvPr/>
        </p:nvSpPr>
        <p:spPr>
          <a:xfrm>
            <a:off x="6172200" y="1097280"/>
            <a:ext cx="91500" cy="3703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d83fb30301_0_0"/>
          <p:cNvSpPr/>
          <p:nvPr/>
        </p:nvSpPr>
        <p:spPr>
          <a:xfrm>
            <a:off x="6336792" y="1261872"/>
            <a:ext cx="2331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Parts Adjusted</a:t>
            </a:r>
            <a:endParaRPr b="0" i="0" sz="1000" u="none" cap="none" strike="noStrike">
              <a:solidFill>
                <a:schemeClr val="dk1"/>
              </a:solidFill>
              <a:latin typeface="Calibri"/>
              <a:ea typeface="Calibri"/>
              <a:cs typeface="Calibri"/>
              <a:sym typeface="Calibri"/>
            </a:endParaRPr>
          </a:p>
        </p:txBody>
      </p:sp>
      <p:sp>
        <p:nvSpPr>
          <p:cNvPr id="368" name="Google Shape;368;g3d83fb30301_0_0"/>
          <p:cNvSpPr/>
          <p:nvPr/>
        </p:nvSpPr>
        <p:spPr>
          <a:xfrm>
            <a:off x="6336792" y="1554480"/>
            <a:ext cx="23316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Base and shoulder 3D printed links were too tight for the servo motor shaft and required post-processing.</a:t>
            </a:r>
            <a:endParaRPr b="0" i="0" sz="900" u="none" cap="none" strike="noStrike">
              <a:solidFill>
                <a:schemeClr val="dk1"/>
              </a:solidFill>
              <a:latin typeface="Calibri"/>
              <a:ea typeface="Calibri"/>
              <a:cs typeface="Calibri"/>
              <a:sym typeface="Calibri"/>
            </a:endParaRPr>
          </a:p>
        </p:txBody>
      </p:sp>
      <p:sp>
        <p:nvSpPr>
          <p:cNvPr id="369" name="Google Shape;369;g3d83fb30301_0_0"/>
          <p:cNvSpPr/>
          <p:nvPr/>
        </p:nvSpPr>
        <p:spPr>
          <a:xfrm>
            <a:off x="6336792" y="2432304"/>
            <a:ext cx="2331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Method – Dremel</a:t>
            </a:r>
            <a:endParaRPr b="0" i="0" sz="1000" u="none" cap="none" strike="noStrike">
              <a:solidFill>
                <a:schemeClr val="dk1"/>
              </a:solidFill>
              <a:latin typeface="Calibri"/>
              <a:ea typeface="Calibri"/>
              <a:cs typeface="Calibri"/>
              <a:sym typeface="Calibri"/>
            </a:endParaRPr>
          </a:p>
        </p:txBody>
      </p:sp>
      <p:sp>
        <p:nvSpPr>
          <p:cNvPr id="370" name="Google Shape;370;g3d83fb30301_0_0"/>
          <p:cNvSpPr/>
          <p:nvPr/>
        </p:nvSpPr>
        <p:spPr>
          <a:xfrm>
            <a:off x="6336792" y="2724912"/>
            <a:ext cx="23316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A Dremel rotary tool was used in the lab to widen the mounting holes and clean up the tight printed tolerances.</a:t>
            </a:r>
            <a:endParaRPr b="0" i="0" sz="900" u="none" cap="none" strike="noStrike">
              <a:solidFill>
                <a:schemeClr val="dk1"/>
              </a:solidFill>
              <a:latin typeface="Calibri"/>
              <a:ea typeface="Calibri"/>
              <a:cs typeface="Calibri"/>
              <a:sym typeface="Calibri"/>
            </a:endParaRPr>
          </a:p>
        </p:txBody>
      </p:sp>
      <p:sp>
        <p:nvSpPr>
          <p:cNvPr id="371" name="Google Shape;371;g3d83fb30301_0_0"/>
          <p:cNvSpPr/>
          <p:nvPr/>
        </p:nvSpPr>
        <p:spPr>
          <a:xfrm>
            <a:off x="6336792" y="3602736"/>
            <a:ext cx="2331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  Parts Fixed</a:t>
            </a:r>
            <a:endParaRPr b="0" i="0" sz="1000" u="none" cap="none" strike="noStrike">
              <a:solidFill>
                <a:schemeClr val="dk1"/>
              </a:solidFill>
              <a:latin typeface="Calibri"/>
              <a:ea typeface="Calibri"/>
              <a:cs typeface="Calibri"/>
              <a:sym typeface="Calibri"/>
            </a:endParaRPr>
          </a:p>
        </p:txBody>
      </p:sp>
      <p:sp>
        <p:nvSpPr>
          <p:cNvPr id="372" name="Google Shape;372;g3d83fb30301_0_0"/>
          <p:cNvSpPr/>
          <p:nvPr/>
        </p:nvSpPr>
        <p:spPr>
          <a:xfrm>
            <a:off x="6336792" y="3895344"/>
            <a:ext cx="2331600" cy="74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Both parts are now fully adjusted and seat correctly on the servo shafts — no reprinting required.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g3d83fb30301_0_21"/>
          <p:cNvSpPr/>
          <p:nvPr/>
        </p:nvSpPr>
        <p:spPr>
          <a:xfrm>
            <a:off x="0" y="0"/>
            <a:ext cx="9144000" cy="9600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3d83fb30301_0_21"/>
          <p:cNvSpPr/>
          <p:nvPr/>
        </p:nvSpPr>
        <p:spPr>
          <a:xfrm>
            <a:off x="457200" y="109728"/>
            <a:ext cx="8229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End Effector CAD – Hybrid Design</a:t>
            </a:r>
            <a:endParaRPr b="0" i="0" sz="2800" u="none" cap="none" strike="noStrike">
              <a:solidFill>
                <a:schemeClr val="dk1"/>
              </a:solidFill>
              <a:latin typeface="Calibri"/>
              <a:ea typeface="Calibri"/>
              <a:cs typeface="Calibri"/>
              <a:sym typeface="Calibri"/>
            </a:endParaRPr>
          </a:p>
        </p:txBody>
      </p:sp>
      <p:sp>
        <p:nvSpPr>
          <p:cNvPr id="380" name="Google Shape;380;g3d83fb30301_0_21"/>
          <p:cNvSpPr/>
          <p:nvPr/>
        </p:nvSpPr>
        <p:spPr>
          <a:xfrm>
            <a:off x="320040" y="1024128"/>
            <a:ext cx="8503800" cy="502800"/>
          </a:xfrm>
          <a:prstGeom prst="rect">
            <a:avLst/>
          </a:prstGeom>
          <a:solidFill>
            <a:srgbClr val="E8F4F6"/>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d83fb30301_0_21"/>
          <p:cNvSpPr/>
          <p:nvPr/>
        </p:nvSpPr>
        <p:spPr>
          <a:xfrm>
            <a:off x="320040" y="1024128"/>
            <a:ext cx="91500" cy="5028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d83fb30301_0_21"/>
          <p:cNvSpPr/>
          <p:nvPr/>
        </p:nvSpPr>
        <p:spPr>
          <a:xfrm>
            <a:off x="502920" y="1060704"/>
            <a:ext cx="8229600" cy="42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Hybrid mechanism: vacuum suction cup + gear-driven mechanical claws. Suction cup hole diameter TBD pending servo motor fitment confirmation.</a:t>
            </a:r>
            <a:endParaRPr b="0" i="0" sz="1050" u="none" cap="none" strike="noStrike">
              <a:solidFill>
                <a:schemeClr val="dk1"/>
              </a:solidFill>
              <a:latin typeface="Calibri"/>
              <a:ea typeface="Calibri"/>
              <a:cs typeface="Calibri"/>
              <a:sym typeface="Calibri"/>
            </a:endParaRPr>
          </a:p>
        </p:txBody>
      </p:sp>
      <p:sp>
        <p:nvSpPr>
          <p:cNvPr id="383" name="Google Shape;383;g3d83fb30301_0_21"/>
          <p:cNvSpPr/>
          <p:nvPr/>
        </p:nvSpPr>
        <p:spPr>
          <a:xfrm>
            <a:off x="274320" y="1627632"/>
            <a:ext cx="2788800" cy="25602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4" name="Google Shape;384;g3d83fb30301_0_21"/>
          <p:cNvPicPr preferRelativeResize="0"/>
          <p:nvPr/>
        </p:nvPicPr>
        <p:blipFill rotWithShape="1">
          <a:blip r:embed="rId3">
            <a:alphaModFix/>
          </a:blip>
          <a:srcRect b="0" l="0" r="0" t="0"/>
          <a:stretch/>
        </p:blipFill>
        <p:spPr>
          <a:xfrm>
            <a:off x="338328" y="1691640"/>
            <a:ext cx="2660904" cy="2432304"/>
          </a:xfrm>
          <a:prstGeom prst="rect">
            <a:avLst/>
          </a:prstGeom>
          <a:noFill/>
          <a:ln>
            <a:noFill/>
          </a:ln>
        </p:spPr>
      </p:pic>
      <p:sp>
        <p:nvSpPr>
          <p:cNvPr id="385" name="Google Shape;385;g3d83fb30301_0_21"/>
          <p:cNvSpPr/>
          <p:nvPr/>
        </p:nvSpPr>
        <p:spPr>
          <a:xfrm>
            <a:off x="274320" y="4224528"/>
            <a:ext cx="27888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900"/>
              <a:buFont typeface="Calibri"/>
              <a:buNone/>
            </a:pPr>
            <a:r>
              <a:rPr b="0" i="1" lang="en-US" sz="900" u="none" cap="none" strike="noStrike">
                <a:solidFill>
                  <a:srgbClr val="028090"/>
                </a:solidFill>
                <a:latin typeface="Calibri"/>
                <a:ea typeface="Calibri"/>
                <a:cs typeface="Calibri"/>
                <a:sym typeface="Calibri"/>
              </a:rPr>
              <a:t>Claw Mechanism</a:t>
            </a:r>
            <a:endParaRPr b="0" i="0" sz="900" u="none" cap="none" strike="noStrike">
              <a:solidFill>
                <a:schemeClr val="dk1"/>
              </a:solidFill>
              <a:latin typeface="Calibri"/>
              <a:ea typeface="Calibri"/>
              <a:cs typeface="Calibri"/>
              <a:sym typeface="Calibri"/>
            </a:endParaRPr>
          </a:p>
        </p:txBody>
      </p:sp>
      <p:sp>
        <p:nvSpPr>
          <p:cNvPr id="386" name="Google Shape;386;g3d83fb30301_0_21"/>
          <p:cNvSpPr/>
          <p:nvPr/>
        </p:nvSpPr>
        <p:spPr>
          <a:xfrm>
            <a:off x="3154680" y="1627632"/>
            <a:ext cx="2788800" cy="25602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7" name="Google Shape;387;g3d83fb30301_0_21"/>
          <p:cNvPicPr preferRelativeResize="0"/>
          <p:nvPr/>
        </p:nvPicPr>
        <p:blipFill rotWithShape="1">
          <a:blip r:embed="rId4">
            <a:alphaModFix/>
          </a:blip>
          <a:srcRect b="0" l="0" r="0" t="0"/>
          <a:stretch/>
        </p:blipFill>
        <p:spPr>
          <a:xfrm>
            <a:off x="3218688" y="1691640"/>
            <a:ext cx="2660903" cy="2432305"/>
          </a:xfrm>
          <a:prstGeom prst="rect">
            <a:avLst/>
          </a:prstGeom>
          <a:noFill/>
          <a:ln>
            <a:noFill/>
          </a:ln>
        </p:spPr>
      </p:pic>
      <p:sp>
        <p:nvSpPr>
          <p:cNvPr id="388" name="Google Shape;388;g3d83fb30301_0_21"/>
          <p:cNvSpPr/>
          <p:nvPr/>
        </p:nvSpPr>
        <p:spPr>
          <a:xfrm>
            <a:off x="3154680" y="4224528"/>
            <a:ext cx="27888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900"/>
              <a:buFont typeface="Calibri"/>
              <a:buNone/>
            </a:pPr>
            <a:r>
              <a:rPr b="0" i="1" lang="en-US" sz="900" u="none" cap="none" strike="noStrike">
                <a:solidFill>
                  <a:srgbClr val="028090"/>
                </a:solidFill>
                <a:latin typeface="Calibri"/>
                <a:ea typeface="Calibri"/>
                <a:cs typeface="Calibri"/>
                <a:sym typeface="Calibri"/>
              </a:rPr>
              <a:t>Housing – Side View</a:t>
            </a:r>
            <a:endParaRPr b="0" i="0" sz="900" u="none" cap="none" strike="noStrike">
              <a:solidFill>
                <a:schemeClr val="dk1"/>
              </a:solidFill>
              <a:latin typeface="Calibri"/>
              <a:ea typeface="Calibri"/>
              <a:cs typeface="Calibri"/>
              <a:sym typeface="Calibri"/>
            </a:endParaRPr>
          </a:p>
        </p:txBody>
      </p:sp>
      <p:sp>
        <p:nvSpPr>
          <p:cNvPr id="389" name="Google Shape;389;g3d83fb30301_0_21"/>
          <p:cNvSpPr/>
          <p:nvPr/>
        </p:nvSpPr>
        <p:spPr>
          <a:xfrm>
            <a:off x="6035040" y="1627632"/>
            <a:ext cx="2788800" cy="25602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0" name="Google Shape;390;g3d83fb30301_0_21"/>
          <p:cNvPicPr preferRelativeResize="0"/>
          <p:nvPr/>
        </p:nvPicPr>
        <p:blipFill rotWithShape="1">
          <a:blip r:embed="rId5">
            <a:alphaModFix/>
          </a:blip>
          <a:srcRect b="0" l="0" r="0" t="0"/>
          <a:stretch/>
        </p:blipFill>
        <p:spPr>
          <a:xfrm>
            <a:off x="6099048" y="1691640"/>
            <a:ext cx="2660904" cy="2432304"/>
          </a:xfrm>
          <a:prstGeom prst="rect">
            <a:avLst/>
          </a:prstGeom>
          <a:noFill/>
          <a:ln>
            <a:noFill/>
          </a:ln>
        </p:spPr>
      </p:pic>
      <p:sp>
        <p:nvSpPr>
          <p:cNvPr id="391" name="Google Shape;391;g3d83fb30301_0_21"/>
          <p:cNvSpPr/>
          <p:nvPr/>
        </p:nvSpPr>
        <p:spPr>
          <a:xfrm>
            <a:off x="6035040" y="4224528"/>
            <a:ext cx="27888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900"/>
              <a:buFont typeface="Calibri"/>
              <a:buNone/>
            </a:pPr>
            <a:r>
              <a:rPr b="0" i="1" lang="en-US" sz="900" u="none" cap="none" strike="noStrike">
                <a:solidFill>
                  <a:srgbClr val="028090"/>
                </a:solidFill>
                <a:latin typeface="Calibri"/>
                <a:ea typeface="Calibri"/>
                <a:cs typeface="Calibri"/>
                <a:sym typeface="Calibri"/>
              </a:rPr>
              <a:t>Housing – Front Port View</a:t>
            </a:r>
            <a:endParaRPr b="0" i="0" sz="900" u="none" cap="none" strike="noStrike">
              <a:solidFill>
                <a:schemeClr val="dk1"/>
              </a:solidFill>
              <a:latin typeface="Calibri"/>
              <a:ea typeface="Calibri"/>
              <a:cs typeface="Calibri"/>
              <a:sym typeface="Calibri"/>
            </a:endParaRPr>
          </a:p>
        </p:txBody>
      </p:sp>
      <p:sp>
        <p:nvSpPr>
          <p:cNvPr id="392" name="Google Shape;392;g3d83fb30301_0_21"/>
          <p:cNvSpPr/>
          <p:nvPr/>
        </p:nvSpPr>
        <p:spPr>
          <a:xfrm>
            <a:off x="274320" y="4480560"/>
            <a:ext cx="2788800" cy="5943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d83fb30301_0_21"/>
          <p:cNvSpPr/>
          <p:nvPr/>
        </p:nvSpPr>
        <p:spPr>
          <a:xfrm>
            <a:off x="274320" y="4480560"/>
            <a:ext cx="91500" cy="5943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d83fb30301_0_21"/>
          <p:cNvSpPr/>
          <p:nvPr/>
        </p:nvSpPr>
        <p:spPr>
          <a:xfrm>
            <a:off x="438912" y="4507992"/>
            <a:ext cx="2560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  Gear-Driven Claws</a:t>
            </a:r>
            <a:endParaRPr b="0" i="0" sz="1000" u="none" cap="none" strike="noStrike">
              <a:solidFill>
                <a:schemeClr val="dk1"/>
              </a:solidFill>
              <a:latin typeface="Calibri"/>
              <a:ea typeface="Calibri"/>
              <a:cs typeface="Calibri"/>
              <a:sym typeface="Calibri"/>
            </a:endParaRPr>
          </a:p>
        </p:txBody>
      </p:sp>
      <p:sp>
        <p:nvSpPr>
          <p:cNvPr id="395" name="Google Shape;395;g3d83fb30301_0_21"/>
          <p:cNvSpPr/>
          <p:nvPr/>
        </p:nvSpPr>
        <p:spPr>
          <a:xfrm>
            <a:off x="438912" y="4764024"/>
            <a:ext cx="2560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Two symmetrical claws actuated by a gear mechanism grip the object securely from the sides.</a:t>
            </a:r>
            <a:endParaRPr b="0" i="0" sz="850" u="none" cap="none" strike="noStrike">
              <a:solidFill>
                <a:schemeClr val="dk1"/>
              </a:solidFill>
              <a:latin typeface="Calibri"/>
              <a:ea typeface="Calibri"/>
              <a:cs typeface="Calibri"/>
              <a:sym typeface="Calibri"/>
            </a:endParaRPr>
          </a:p>
        </p:txBody>
      </p:sp>
      <p:sp>
        <p:nvSpPr>
          <p:cNvPr id="396" name="Google Shape;396;g3d83fb30301_0_21"/>
          <p:cNvSpPr/>
          <p:nvPr/>
        </p:nvSpPr>
        <p:spPr>
          <a:xfrm>
            <a:off x="3154680" y="4480560"/>
            <a:ext cx="2788800" cy="5943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d83fb30301_0_21"/>
          <p:cNvSpPr/>
          <p:nvPr/>
        </p:nvSpPr>
        <p:spPr>
          <a:xfrm>
            <a:off x="3154680" y="4480560"/>
            <a:ext cx="91500" cy="5943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d83fb30301_0_21"/>
          <p:cNvSpPr/>
          <p:nvPr/>
        </p:nvSpPr>
        <p:spPr>
          <a:xfrm>
            <a:off x="3319272" y="4507992"/>
            <a:ext cx="2560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  Suction Cup Port</a:t>
            </a:r>
            <a:endParaRPr b="0" i="0" sz="1000" u="none" cap="none" strike="noStrike">
              <a:solidFill>
                <a:schemeClr val="dk1"/>
              </a:solidFill>
              <a:latin typeface="Calibri"/>
              <a:ea typeface="Calibri"/>
              <a:cs typeface="Calibri"/>
              <a:sym typeface="Calibri"/>
            </a:endParaRPr>
          </a:p>
        </p:txBody>
      </p:sp>
      <p:sp>
        <p:nvSpPr>
          <p:cNvPr id="399" name="Google Shape;399;g3d83fb30301_0_21"/>
          <p:cNvSpPr/>
          <p:nvPr/>
        </p:nvSpPr>
        <p:spPr>
          <a:xfrm>
            <a:off x="3319272" y="4764024"/>
            <a:ext cx="2560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Hole diameter TBD — pending servo motor fitment confirmation in next CAD revision.</a:t>
            </a:r>
            <a:endParaRPr b="0" i="0" sz="850" u="none" cap="none" strike="noStrike">
              <a:solidFill>
                <a:schemeClr val="dk1"/>
              </a:solidFill>
              <a:latin typeface="Calibri"/>
              <a:ea typeface="Calibri"/>
              <a:cs typeface="Calibri"/>
              <a:sym typeface="Calibri"/>
            </a:endParaRPr>
          </a:p>
        </p:txBody>
      </p:sp>
      <p:sp>
        <p:nvSpPr>
          <p:cNvPr id="400" name="Google Shape;400;g3d83fb30301_0_21"/>
          <p:cNvSpPr/>
          <p:nvPr/>
        </p:nvSpPr>
        <p:spPr>
          <a:xfrm>
            <a:off x="6035040" y="4480560"/>
            <a:ext cx="2788800" cy="594300"/>
          </a:xfrm>
          <a:prstGeom prst="rect">
            <a:avLst/>
          </a:prstGeom>
          <a:solidFill>
            <a:srgbClr val="E8F4F6"/>
          </a:solidFill>
          <a:ln cap="flat" cmpd="sng" w="12700">
            <a:solidFill>
              <a:srgbClr val="C8D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d83fb30301_0_21"/>
          <p:cNvSpPr/>
          <p:nvPr/>
        </p:nvSpPr>
        <p:spPr>
          <a:xfrm>
            <a:off x="6035040" y="4480560"/>
            <a:ext cx="91500" cy="5943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d83fb30301_0_21"/>
          <p:cNvSpPr/>
          <p:nvPr/>
        </p:nvSpPr>
        <p:spPr>
          <a:xfrm>
            <a:off x="6199632" y="4507992"/>
            <a:ext cx="2560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  Material &amp; Mounting</a:t>
            </a:r>
            <a:endParaRPr b="0" i="0" sz="1000" u="none" cap="none" strike="noStrike">
              <a:solidFill>
                <a:schemeClr val="dk1"/>
              </a:solidFill>
              <a:latin typeface="Calibri"/>
              <a:ea typeface="Calibri"/>
              <a:cs typeface="Calibri"/>
              <a:sym typeface="Calibri"/>
            </a:endParaRPr>
          </a:p>
        </p:txBody>
      </p:sp>
      <p:sp>
        <p:nvSpPr>
          <p:cNvPr id="403" name="Google Shape;403;g3d83fb30301_0_21"/>
          <p:cNvSpPr/>
          <p:nvPr/>
        </p:nvSpPr>
        <p:spPr>
          <a:xfrm>
            <a:off x="6199632" y="4764024"/>
            <a:ext cx="2560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3D printed PLA/PETG. Housing mounts directly onto the wrist joint of the arm.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g3d83fb30301_0_51"/>
          <p:cNvSpPr/>
          <p:nvPr/>
        </p:nvSpPr>
        <p:spPr>
          <a:xfrm>
            <a:off x="0" y="0"/>
            <a:ext cx="9144000" cy="9600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3d83fb30301_0_51"/>
          <p:cNvSpPr/>
          <p:nvPr/>
        </p:nvSpPr>
        <p:spPr>
          <a:xfrm>
            <a:off x="457200" y="109728"/>
            <a:ext cx="8229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Vacuum Pump – Market Research</a:t>
            </a:r>
            <a:endParaRPr b="0" i="0" sz="2800" u="none" cap="none" strike="noStrike">
              <a:solidFill>
                <a:schemeClr val="dk1"/>
              </a:solidFill>
              <a:latin typeface="Calibri"/>
              <a:ea typeface="Calibri"/>
              <a:cs typeface="Calibri"/>
              <a:sym typeface="Calibri"/>
            </a:endParaRPr>
          </a:p>
        </p:txBody>
      </p:sp>
      <p:sp>
        <p:nvSpPr>
          <p:cNvPr id="411" name="Google Shape;411;g3d83fb30301_0_51"/>
          <p:cNvSpPr/>
          <p:nvPr/>
        </p:nvSpPr>
        <p:spPr>
          <a:xfrm>
            <a:off x="365760" y="1024128"/>
            <a:ext cx="8412600" cy="567000"/>
          </a:xfrm>
          <a:prstGeom prst="rect">
            <a:avLst/>
          </a:prstGeom>
          <a:solidFill>
            <a:srgbClr val="E8F4F6"/>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d83fb30301_0_51"/>
          <p:cNvSpPr/>
          <p:nvPr/>
        </p:nvSpPr>
        <p:spPr>
          <a:xfrm>
            <a:off x="365760" y="1024128"/>
            <a:ext cx="91500" cy="5670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d83fb30301_0_51"/>
          <p:cNvSpPr/>
          <p:nvPr/>
        </p:nvSpPr>
        <p:spPr>
          <a:xfrm>
            <a:off x="566928" y="1069848"/>
            <a:ext cx="81381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Visited Besomi Electronics and a local electrical shop. Also searched online. Key challenge: most pumps do not list port diameter — critical for suction force calculation (F = P × A). Research ongoing.</a:t>
            </a:r>
            <a:endParaRPr b="0" i="0" sz="1050" u="none" cap="none" strike="noStrike">
              <a:solidFill>
                <a:schemeClr val="dk1"/>
              </a:solidFill>
              <a:latin typeface="Calibri"/>
              <a:ea typeface="Calibri"/>
              <a:cs typeface="Calibri"/>
              <a:sym typeface="Calibri"/>
            </a:endParaRPr>
          </a:p>
        </p:txBody>
      </p:sp>
      <p:sp>
        <p:nvSpPr>
          <p:cNvPr id="414" name="Google Shape;414;g3d83fb30301_0_51"/>
          <p:cNvSpPr/>
          <p:nvPr/>
        </p:nvSpPr>
        <p:spPr>
          <a:xfrm>
            <a:off x="365760" y="1691640"/>
            <a:ext cx="8412600" cy="1005900"/>
          </a:xfrm>
          <a:prstGeom prst="rect">
            <a:avLst/>
          </a:prstGeom>
          <a:solidFill>
            <a:srgbClr val="E0F4F4"/>
          </a:solidFill>
          <a:ln cap="flat" cmpd="sng" w="12700">
            <a:solidFill>
              <a:srgbClr val="C8DDE0"/>
            </a:solidFill>
            <a:prstDash val="solid"/>
            <a:round/>
            <a:headEnd len="sm" w="sm" type="none"/>
            <a:tailEnd len="sm" w="sm" type="none"/>
          </a:ln>
          <a:effectLst>
            <a:outerShdw blurRad="50800" rotWithShape="0" algn="bl" dir="81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d83fb30301_0_51"/>
          <p:cNvSpPr/>
          <p:nvPr/>
        </p:nvSpPr>
        <p:spPr>
          <a:xfrm>
            <a:off x="365760" y="1691640"/>
            <a:ext cx="91500" cy="10059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d83fb30301_0_51"/>
          <p:cNvSpPr/>
          <p:nvPr/>
        </p:nvSpPr>
        <p:spPr>
          <a:xfrm>
            <a:off x="365760" y="2039112"/>
            <a:ext cx="5028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17" name="Google Shape;417;g3d83fb30301_0_51"/>
          <p:cNvSpPr/>
          <p:nvPr/>
        </p:nvSpPr>
        <p:spPr>
          <a:xfrm>
            <a:off x="1005840" y="1755648"/>
            <a:ext cx="7406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Gikfun Mini DC 6V–12V R385 Diaphragm Pump</a:t>
            </a:r>
            <a:endParaRPr b="0" i="0" sz="1200" u="none" cap="none" strike="noStrike">
              <a:solidFill>
                <a:schemeClr val="dk1"/>
              </a:solidFill>
              <a:latin typeface="Calibri"/>
              <a:ea typeface="Calibri"/>
              <a:cs typeface="Calibri"/>
              <a:sym typeface="Calibri"/>
            </a:endParaRPr>
          </a:p>
        </p:txBody>
      </p:sp>
      <p:sp>
        <p:nvSpPr>
          <p:cNvPr id="418" name="Google Shape;418;g3d83fb30301_0_51"/>
          <p:cNvSpPr/>
          <p:nvPr/>
        </p:nvSpPr>
        <p:spPr>
          <a:xfrm>
            <a:off x="1005840" y="2029968"/>
            <a:ext cx="7406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000"/>
              <a:buFont typeface="Calibri"/>
              <a:buNone/>
            </a:pPr>
            <a:r>
              <a:rPr b="0" i="1" lang="en-US" sz="1000" u="none" cap="none" strike="noStrike">
                <a:solidFill>
                  <a:srgbClr val="028090"/>
                </a:solidFill>
                <a:latin typeface="Calibri"/>
                <a:ea typeface="Calibri"/>
                <a:cs typeface="Calibri"/>
                <a:sym typeface="Calibri"/>
              </a:rPr>
              <a:t>Amazon.ae  •  AED 36</a:t>
            </a:r>
            <a:endParaRPr b="0" i="0" sz="1000" u="none" cap="none" strike="noStrike">
              <a:solidFill>
                <a:schemeClr val="dk1"/>
              </a:solidFill>
              <a:latin typeface="Calibri"/>
              <a:ea typeface="Calibri"/>
              <a:cs typeface="Calibri"/>
              <a:sym typeface="Calibri"/>
            </a:endParaRPr>
          </a:p>
        </p:txBody>
      </p:sp>
      <p:sp>
        <p:nvSpPr>
          <p:cNvPr id="419" name="Google Shape;419;g3d83fb30301_0_51"/>
          <p:cNvSpPr/>
          <p:nvPr/>
        </p:nvSpPr>
        <p:spPr>
          <a:xfrm>
            <a:off x="1005840" y="2231136"/>
            <a:ext cx="74067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Only option found with port dimensions clearly listed. Port ID of 5 mm gives a contact area of 19.6 mm², sufficient to lift the target objects at the compressor's operating vacuum.</a:t>
            </a:r>
            <a:endParaRPr b="0" i="0" sz="950" u="none" cap="none" strike="noStrike">
              <a:solidFill>
                <a:schemeClr val="dk1"/>
              </a:solidFill>
              <a:latin typeface="Calibri"/>
              <a:ea typeface="Calibri"/>
              <a:cs typeface="Calibri"/>
              <a:sym typeface="Calibri"/>
            </a:endParaRPr>
          </a:p>
        </p:txBody>
      </p:sp>
      <p:sp>
        <p:nvSpPr>
          <p:cNvPr id="420" name="Google Shape;420;g3d83fb30301_0_51"/>
          <p:cNvSpPr/>
          <p:nvPr/>
        </p:nvSpPr>
        <p:spPr>
          <a:xfrm>
            <a:off x="365760" y="2788920"/>
            <a:ext cx="8412600" cy="1005900"/>
          </a:xfrm>
          <a:prstGeom prst="rect">
            <a:avLst/>
          </a:prstGeom>
          <a:solidFill>
            <a:srgbClr val="FAFCFC"/>
          </a:solidFill>
          <a:ln cap="flat" cmpd="sng" w="12700">
            <a:solidFill>
              <a:srgbClr val="C8DDE0"/>
            </a:solidFill>
            <a:prstDash val="solid"/>
            <a:round/>
            <a:headEnd len="sm" w="sm" type="none"/>
            <a:tailEnd len="sm" w="sm" type="none"/>
          </a:ln>
          <a:effectLst>
            <a:outerShdw blurRad="50800" rotWithShape="0" algn="bl" dir="81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d83fb30301_0_51"/>
          <p:cNvSpPr/>
          <p:nvPr/>
        </p:nvSpPr>
        <p:spPr>
          <a:xfrm>
            <a:off x="365760" y="2788920"/>
            <a:ext cx="91500" cy="10059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d83fb30301_0_51"/>
          <p:cNvSpPr/>
          <p:nvPr/>
        </p:nvSpPr>
        <p:spPr>
          <a:xfrm>
            <a:off x="365760" y="3136392"/>
            <a:ext cx="5028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23" name="Google Shape;423;g3d83fb30301_0_51"/>
          <p:cNvSpPr/>
          <p:nvPr/>
        </p:nvSpPr>
        <p:spPr>
          <a:xfrm>
            <a:off x="1005840" y="2852928"/>
            <a:ext cx="7406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370 Mini Vacuum Pump</a:t>
            </a:r>
            <a:endParaRPr b="0" i="0" sz="1200" u="none" cap="none" strike="noStrike">
              <a:solidFill>
                <a:schemeClr val="dk1"/>
              </a:solidFill>
              <a:latin typeface="Calibri"/>
              <a:ea typeface="Calibri"/>
              <a:cs typeface="Calibri"/>
              <a:sym typeface="Calibri"/>
            </a:endParaRPr>
          </a:p>
        </p:txBody>
      </p:sp>
      <p:sp>
        <p:nvSpPr>
          <p:cNvPr id="424" name="Google Shape;424;g3d83fb30301_0_51"/>
          <p:cNvSpPr/>
          <p:nvPr/>
        </p:nvSpPr>
        <p:spPr>
          <a:xfrm>
            <a:off x="1005840" y="3127248"/>
            <a:ext cx="7406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000"/>
              <a:buFont typeface="Calibri"/>
              <a:buNone/>
            </a:pPr>
            <a:r>
              <a:rPr b="0" i="1" lang="en-US" sz="1000" u="none" cap="none" strike="noStrike">
                <a:solidFill>
                  <a:srgbClr val="028090"/>
                </a:solidFill>
                <a:latin typeface="Calibri"/>
                <a:ea typeface="Calibri"/>
                <a:cs typeface="Calibri"/>
                <a:sym typeface="Calibri"/>
              </a:rPr>
              <a:t>DFRobot / Local  •  AED 26.20</a:t>
            </a:r>
            <a:endParaRPr b="0" i="0" sz="1000" u="none" cap="none" strike="noStrike">
              <a:solidFill>
                <a:schemeClr val="dk1"/>
              </a:solidFill>
              <a:latin typeface="Calibri"/>
              <a:ea typeface="Calibri"/>
              <a:cs typeface="Calibri"/>
              <a:sym typeface="Calibri"/>
            </a:endParaRPr>
          </a:p>
        </p:txBody>
      </p:sp>
      <p:sp>
        <p:nvSpPr>
          <p:cNvPr id="425" name="Google Shape;425;g3d83fb30301_0_51"/>
          <p:cNvSpPr/>
          <p:nvPr/>
        </p:nvSpPr>
        <p:spPr>
          <a:xfrm>
            <a:off x="1005840" y="3328416"/>
            <a:ext cx="74067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Cheapest option available. Port specs are not provided — physical measurement would be required before confirming suitability for the required suction force.</a:t>
            </a:r>
            <a:endParaRPr b="0" i="0" sz="950" u="none" cap="none" strike="noStrike">
              <a:solidFill>
                <a:schemeClr val="dk1"/>
              </a:solidFill>
              <a:latin typeface="Calibri"/>
              <a:ea typeface="Calibri"/>
              <a:cs typeface="Calibri"/>
              <a:sym typeface="Calibri"/>
            </a:endParaRPr>
          </a:p>
        </p:txBody>
      </p:sp>
      <p:sp>
        <p:nvSpPr>
          <p:cNvPr id="426" name="Google Shape;426;g3d83fb30301_0_51"/>
          <p:cNvSpPr/>
          <p:nvPr/>
        </p:nvSpPr>
        <p:spPr>
          <a:xfrm>
            <a:off x="365760" y="3886200"/>
            <a:ext cx="8412600" cy="1005900"/>
          </a:xfrm>
          <a:prstGeom prst="rect">
            <a:avLst/>
          </a:prstGeom>
          <a:solidFill>
            <a:srgbClr val="E0F4F4"/>
          </a:solidFill>
          <a:ln cap="flat" cmpd="sng" w="12700">
            <a:solidFill>
              <a:srgbClr val="C8DDE0"/>
            </a:solidFill>
            <a:prstDash val="solid"/>
            <a:round/>
            <a:headEnd len="sm" w="sm" type="none"/>
            <a:tailEnd len="sm" w="sm" type="none"/>
          </a:ln>
          <a:effectLst>
            <a:outerShdw blurRad="50800" rotWithShape="0" algn="bl" dir="81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d83fb30301_0_51"/>
          <p:cNvSpPr/>
          <p:nvPr/>
        </p:nvSpPr>
        <p:spPr>
          <a:xfrm>
            <a:off x="365760" y="3886200"/>
            <a:ext cx="91500" cy="10059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d83fb30301_0_51"/>
          <p:cNvSpPr/>
          <p:nvPr/>
        </p:nvSpPr>
        <p:spPr>
          <a:xfrm>
            <a:off x="365760" y="4233672"/>
            <a:ext cx="5028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29" name="Google Shape;429;g3d83fb30301_0_51"/>
          <p:cNvSpPr/>
          <p:nvPr/>
        </p:nvSpPr>
        <p:spPr>
          <a:xfrm>
            <a:off x="1005840" y="3950208"/>
            <a:ext cx="7406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Vacuum Pump – 12V</a:t>
            </a:r>
            <a:endParaRPr b="0" i="0" sz="1200" u="none" cap="none" strike="noStrike">
              <a:solidFill>
                <a:schemeClr val="dk1"/>
              </a:solidFill>
              <a:latin typeface="Calibri"/>
              <a:ea typeface="Calibri"/>
              <a:cs typeface="Calibri"/>
              <a:sym typeface="Calibri"/>
            </a:endParaRPr>
          </a:p>
        </p:txBody>
      </p:sp>
      <p:sp>
        <p:nvSpPr>
          <p:cNvPr id="430" name="Google Shape;430;g3d83fb30301_0_51"/>
          <p:cNvSpPr/>
          <p:nvPr/>
        </p:nvSpPr>
        <p:spPr>
          <a:xfrm>
            <a:off x="1005840" y="4224528"/>
            <a:ext cx="74067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000"/>
              <a:buFont typeface="Calibri"/>
              <a:buNone/>
            </a:pPr>
            <a:r>
              <a:rPr b="0" i="1" lang="en-US" sz="1000" u="none" cap="none" strike="noStrike">
                <a:solidFill>
                  <a:srgbClr val="028090"/>
                </a:solidFill>
                <a:latin typeface="Calibri"/>
                <a:ea typeface="Calibri"/>
                <a:cs typeface="Calibri"/>
                <a:sym typeface="Calibri"/>
              </a:rPr>
              <a:t>SparkFun / Local  •  AED 86.24</a:t>
            </a:r>
            <a:endParaRPr b="0" i="0" sz="1000" u="none" cap="none" strike="noStrike">
              <a:solidFill>
                <a:schemeClr val="dk1"/>
              </a:solidFill>
              <a:latin typeface="Calibri"/>
              <a:ea typeface="Calibri"/>
              <a:cs typeface="Calibri"/>
              <a:sym typeface="Calibri"/>
            </a:endParaRPr>
          </a:p>
        </p:txBody>
      </p:sp>
      <p:sp>
        <p:nvSpPr>
          <p:cNvPr id="431" name="Google Shape;431;g3d83fb30301_0_51"/>
          <p:cNvSpPr/>
          <p:nvPr/>
        </p:nvSpPr>
        <p:spPr>
          <a:xfrm>
            <a:off x="1005840" y="4425696"/>
            <a:ext cx="74067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Most reputable brand with known reliability. Port specs unavailable online. Highest price and long lead time make this less practical for the current project timeline.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4F6"/>
        </a:solidFill>
      </p:bgPr>
    </p:bg>
    <p:spTree>
      <p:nvGrpSpPr>
        <p:cNvPr id="436" name="Shape 436"/>
        <p:cNvGrpSpPr/>
        <p:nvPr/>
      </p:nvGrpSpPr>
      <p:grpSpPr>
        <a:xfrm>
          <a:off x="0" y="0"/>
          <a:ext cx="0" cy="0"/>
          <a:chOff x="0" y="0"/>
          <a:chExt cx="0" cy="0"/>
        </a:xfrm>
      </p:grpSpPr>
      <p:sp>
        <p:nvSpPr>
          <p:cNvPr id="437" name="Google Shape;437;g3d83fb30301_0_78"/>
          <p:cNvSpPr/>
          <p:nvPr/>
        </p:nvSpPr>
        <p:spPr>
          <a:xfrm>
            <a:off x="0" y="0"/>
            <a:ext cx="9144000" cy="9600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d83fb30301_0_78"/>
          <p:cNvSpPr/>
          <p:nvPr/>
        </p:nvSpPr>
        <p:spPr>
          <a:xfrm>
            <a:off x="457200" y="109728"/>
            <a:ext cx="82296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Pump Options – Specification Comparison</a:t>
            </a:r>
            <a:endParaRPr b="0" i="0" sz="2600" u="none" cap="none" strike="noStrike">
              <a:solidFill>
                <a:schemeClr val="dk1"/>
              </a:solidFill>
              <a:latin typeface="Calibri"/>
              <a:ea typeface="Calibri"/>
              <a:cs typeface="Calibri"/>
              <a:sym typeface="Calibri"/>
            </a:endParaRPr>
          </a:p>
        </p:txBody>
      </p:sp>
      <p:graphicFrame>
        <p:nvGraphicFramePr>
          <p:cNvPr id="439" name="Google Shape;439;g3d83fb30301_0_78"/>
          <p:cNvGraphicFramePr/>
          <p:nvPr/>
        </p:nvGraphicFramePr>
        <p:xfrm>
          <a:off x="320040" y="1097280"/>
          <a:ext cx="3000000" cy="3000000"/>
        </p:xfrm>
        <a:graphic>
          <a:graphicData uri="http://schemas.openxmlformats.org/drawingml/2006/table">
            <a:tbl>
              <a:tblPr>
                <a:noFill/>
                <a:tableStyleId>{B18112BB-50E1-4B34-86AA-8F6A788EB427}</a:tableStyleId>
              </a:tblPr>
              <a:tblGrid>
                <a:gridCol w="1737350"/>
                <a:gridCol w="1097275"/>
                <a:gridCol w="1097275"/>
                <a:gridCol w="1280150"/>
                <a:gridCol w="1097275"/>
                <a:gridCol w="1188725"/>
                <a:gridCol w="1205800"/>
              </a:tblGrid>
              <a:tr h="5486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Pump</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Voltage</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Port ID</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Contact Area</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Price (AED)</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Availability</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Port Specs Listed?</a:t>
                      </a:r>
                      <a:endParaRPr sz="11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028090"/>
                    </a:solidFill>
                  </a:tcPr>
                </a:tc>
              </a:tr>
              <a:tr h="548650">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Gikfun R385</a:t>
                      </a:r>
                      <a:endParaRPr sz="1000" u="none" cap="none" strike="noStrike"/>
                    </a:p>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(Amazon.ae)</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6–12V DC</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9966"/>
                        </a:buClr>
                        <a:buSzPts val="1000"/>
                        <a:buFont typeface="Calibri"/>
                        <a:buNone/>
                      </a:pPr>
                      <a:r>
                        <a:rPr b="1" lang="en-US" sz="1000" u="none" cap="none" strike="noStrike">
                          <a:solidFill>
                            <a:srgbClr val="009966"/>
                          </a:solidFill>
                        </a:rPr>
                        <a:t>5 mm</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19.6 mm²</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36</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In stock</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9966"/>
                        </a:buClr>
                        <a:buSzPts val="1200"/>
                        <a:buFont typeface="Calibri"/>
                        <a:buNone/>
                      </a:pPr>
                      <a:r>
                        <a:rPr b="1" lang="en-US" sz="1200" u="none" cap="none" strike="noStrike">
                          <a:solidFill>
                            <a:srgbClr val="009966"/>
                          </a:solidFill>
                        </a:rPr>
                        <a:t>✓ Yes</a:t>
                      </a:r>
                      <a:endParaRPr sz="12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r>
              <a:tr h="548650">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370 Mini Pump</a:t>
                      </a:r>
                      <a:endParaRPr sz="1000" u="none" cap="none" strike="noStrike"/>
                    </a:p>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(DFRobot)</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TBC</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CC3333"/>
                        </a:buClr>
                        <a:buSzPts val="1000"/>
                        <a:buFont typeface="Calibri"/>
                        <a:buNone/>
                      </a:pPr>
                      <a:r>
                        <a:rPr lang="en-US" sz="1000" u="none" cap="none" strike="noStrike">
                          <a:solidFill>
                            <a:srgbClr val="CC3333"/>
                          </a:solidFill>
                        </a:rPr>
                        <a:t>Not listed</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CC3333"/>
                        </a:buClr>
                        <a:buSzPts val="1000"/>
                        <a:buFont typeface="Calibri"/>
                        <a:buNone/>
                      </a:pPr>
                      <a:r>
                        <a:rPr lang="en-US" sz="1000" u="none" cap="none" strike="noStrike">
                          <a:solidFill>
                            <a:srgbClr val="CC3333"/>
                          </a:solidFill>
                        </a:rPr>
                        <a:t>Unknown</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26.20</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In stock</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c>
                  <a:txBody>
                    <a:bodyPr/>
                    <a:lstStyle/>
                    <a:p>
                      <a:pPr indent="0" lvl="0" marL="0" marR="0" rtl="0" algn="ctr">
                        <a:spcBef>
                          <a:spcPts val="0"/>
                        </a:spcBef>
                        <a:spcAft>
                          <a:spcPts val="0"/>
                        </a:spcAft>
                        <a:buClr>
                          <a:srgbClr val="CC3333"/>
                        </a:buClr>
                        <a:buSzPts val="1200"/>
                        <a:buFont typeface="Calibri"/>
                        <a:buNone/>
                      </a:pPr>
                      <a:r>
                        <a:rPr b="1" lang="en-US" sz="1200" u="none" cap="none" strike="noStrike">
                          <a:solidFill>
                            <a:srgbClr val="CC3333"/>
                          </a:solidFill>
                        </a:rPr>
                        <a:t>✗ No</a:t>
                      </a:r>
                      <a:endParaRPr sz="12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tcPr>
                </a:tc>
              </a:tr>
              <a:tr h="548650">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SparkFun 12V</a:t>
                      </a:r>
                      <a:endParaRPr sz="1000" u="none" cap="none" strike="noStrike"/>
                    </a:p>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(Local)</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12V DC</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CC3333"/>
                        </a:buClr>
                        <a:buSzPts val="1000"/>
                        <a:buFont typeface="Calibri"/>
                        <a:buNone/>
                      </a:pPr>
                      <a:r>
                        <a:rPr lang="en-US" sz="1000" u="none" cap="none" strike="noStrike">
                          <a:solidFill>
                            <a:srgbClr val="CC3333"/>
                          </a:solidFill>
                        </a:rPr>
                        <a:t>Not listed</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CC3333"/>
                        </a:buClr>
                        <a:buSzPts val="1000"/>
                        <a:buFont typeface="Calibri"/>
                        <a:buNone/>
                      </a:pPr>
                      <a:r>
                        <a:rPr lang="en-US" sz="1000" u="none" cap="none" strike="noStrike">
                          <a:solidFill>
                            <a:srgbClr val="CC3333"/>
                          </a:solidFill>
                        </a:rPr>
                        <a:t>Unknown</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000000"/>
                        </a:buClr>
                        <a:buSzPts val="1000"/>
                        <a:buFont typeface="Calibri"/>
                        <a:buNone/>
                      </a:pPr>
                      <a:r>
                        <a:rPr lang="en-US" sz="1000" u="none" cap="none" strike="noStrike">
                          <a:solidFill>
                            <a:srgbClr val="000000"/>
                          </a:solidFill>
                        </a:rPr>
                        <a:t>86.24</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CC3333"/>
                        </a:buClr>
                        <a:buSzPts val="1000"/>
                        <a:buFont typeface="Calibri"/>
                        <a:buNone/>
                      </a:pPr>
                      <a:r>
                        <a:rPr lang="en-US" sz="1000" u="none" cap="none" strike="noStrike">
                          <a:solidFill>
                            <a:srgbClr val="CC3333"/>
                          </a:solidFill>
                        </a:rPr>
                        <a:t>2–3 weeks</a:t>
                      </a:r>
                      <a:endParaRPr sz="10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c>
                  <a:txBody>
                    <a:bodyPr/>
                    <a:lstStyle/>
                    <a:p>
                      <a:pPr indent="0" lvl="0" marL="0" marR="0" rtl="0" algn="ctr">
                        <a:spcBef>
                          <a:spcPts val="0"/>
                        </a:spcBef>
                        <a:spcAft>
                          <a:spcPts val="0"/>
                        </a:spcAft>
                        <a:buClr>
                          <a:srgbClr val="CC3333"/>
                        </a:buClr>
                        <a:buSzPts val="1200"/>
                        <a:buFont typeface="Calibri"/>
                        <a:buNone/>
                      </a:pPr>
                      <a:r>
                        <a:rPr b="1" lang="en-US" sz="1200" u="none" cap="none" strike="noStrike">
                          <a:solidFill>
                            <a:srgbClr val="CC3333"/>
                          </a:solidFill>
                        </a:rPr>
                        <a:t>✗ No</a:t>
                      </a:r>
                      <a:endParaRPr sz="1200" u="none" cap="none" strike="noStrike"/>
                    </a:p>
                  </a:txBody>
                  <a:tcPr marT="45725" marB="45725" marR="91450" marL="91450">
                    <a:lnL cap="flat" cmpd="sng" w="12700">
                      <a:solidFill>
                        <a:srgbClr val="D1E8EC"/>
                      </a:solidFill>
                      <a:prstDash val="solid"/>
                      <a:round/>
                      <a:headEnd len="sm" w="sm" type="none"/>
                      <a:tailEnd len="sm" w="sm" type="none"/>
                    </a:lnL>
                    <a:lnR cap="flat" cmpd="sng" w="12700">
                      <a:solidFill>
                        <a:srgbClr val="D1E8EC"/>
                      </a:solidFill>
                      <a:prstDash val="solid"/>
                      <a:round/>
                      <a:headEnd len="sm" w="sm" type="none"/>
                      <a:tailEnd len="sm" w="sm" type="none"/>
                    </a:lnR>
                    <a:lnT cap="flat" cmpd="sng" w="12700">
                      <a:solidFill>
                        <a:srgbClr val="D1E8EC"/>
                      </a:solidFill>
                      <a:prstDash val="solid"/>
                      <a:round/>
                      <a:headEnd len="sm" w="sm" type="none"/>
                      <a:tailEnd len="sm" w="sm" type="none"/>
                    </a:lnT>
                    <a:lnB cap="flat" cmpd="sng" w="12700">
                      <a:solidFill>
                        <a:srgbClr val="D1E8EC"/>
                      </a:solidFill>
                      <a:prstDash val="solid"/>
                      <a:round/>
                      <a:headEnd len="sm" w="sm" type="none"/>
                      <a:tailEnd len="sm" w="sm" type="none"/>
                    </a:lnB>
                    <a:solidFill>
                      <a:srgbClr val="F8FAFB"/>
                    </a:solidFill>
                  </a:tcPr>
                </a:tc>
              </a:tr>
            </a:tbl>
          </a:graphicData>
        </a:graphic>
      </p:graphicFrame>
      <p:sp>
        <p:nvSpPr>
          <p:cNvPr id="440" name="Google Shape;440;g3d83fb30301_0_78"/>
          <p:cNvSpPr/>
          <p:nvPr/>
        </p:nvSpPr>
        <p:spPr>
          <a:xfrm>
            <a:off x="320040" y="3913632"/>
            <a:ext cx="8503800" cy="914400"/>
          </a:xfrm>
          <a:prstGeom prst="rect">
            <a:avLst/>
          </a:prstGeom>
          <a:solidFill>
            <a:srgbClr val="E0F4F4"/>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d83fb30301_0_78"/>
          <p:cNvSpPr/>
          <p:nvPr/>
        </p:nvSpPr>
        <p:spPr>
          <a:xfrm>
            <a:off x="320040" y="3913632"/>
            <a:ext cx="91500" cy="9144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d83fb30301_0_78"/>
          <p:cNvSpPr/>
          <p:nvPr/>
        </p:nvSpPr>
        <p:spPr>
          <a:xfrm>
            <a:off x="502920" y="3950208"/>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Suction Force Estimate – Gikfun R385 (only option with known Port ID)</a:t>
            </a:r>
            <a:endParaRPr b="0" i="0" sz="1100" u="none" cap="none" strike="noStrike">
              <a:solidFill>
                <a:schemeClr val="dk1"/>
              </a:solidFill>
              <a:latin typeface="Calibri"/>
              <a:ea typeface="Calibri"/>
              <a:cs typeface="Calibri"/>
              <a:sym typeface="Calibri"/>
            </a:endParaRPr>
          </a:p>
        </p:txBody>
      </p:sp>
      <p:sp>
        <p:nvSpPr>
          <p:cNvPr id="443" name="Google Shape;443;g3d83fb30301_0_78"/>
          <p:cNvSpPr/>
          <p:nvPr/>
        </p:nvSpPr>
        <p:spPr>
          <a:xfrm>
            <a:off x="502920" y="42519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50"/>
              <a:buFont typeface="Calibri"/>
              <a:buNone/>
            </a:pPr>
            <a:r>
              <a:rPr b="0" i="0" lang="en-US" sz="1050" u="none" cap="none" strike="noStrike">
                <a:solidFill>
                  <a:srgbClr val="0D1B2A"/>
                </a:solidFill>
                <a:latin typeface="Calibri"/>
                <a:ea typeface="Calibri"/>
                <a:cs typeface="Calibri"/>
                <a:sym typeface="Calibri"/>
              </a:rPr>
              <a:t>F = P × A   →   Port ID = 5 mm   →   A = π/4 × (0.005)² = 19.6 mm²   |   At 70 kPa:   F = 70,000 × 0.0000196 ≈ 1.37 N  (~140 g)   ✓  Sufficient for target objects.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48" name="Shape 448"/>
        <p:cNvGrpSpPr/>
        <p:nvPr/>
      </p:nvGrpSpPr>
      <p:grpSpPr>
        <a:xfrm>
          <a:off x="0" y="0"/>
          <a:ext cx="0" cy="0"/>
          <a:chOff x="0" y="0"/>
          <a:chExt cx="0" cy="0"/>
        </a:xfrm>
      </p:grpSpPr>
      <p:sp>
        <p:nvSpPr>
          <p:cNvPr id="449" name="Google Shape;449;g3d83fb30301_0_89"/>
          <p:cNvSpPr/>
          <p:nvPr/>
        </p:nvSpPr>
        <p:spPr>
          <a:xfrm>
            <a:off x="0" y="0"/>
            <a:ext cx="9144000" cy="73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d83fb30301_0_89"/>
          <p:cNvSpPr/>
          <p:nvPr/>
        </p:nvSpPr>
        <p:spPr>
          <a:xfrm>
            <a:off x="457200" y="228600"/>
            <a:ext cx="82296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Next Steps – Week 8</a:t>
            </a:r>
            <a:endParaRPr b="0" i="0" sz="3200" u="none" cap="none" strike="noStrike">
              <a:solidFill>
                <a:schemeClr val="dk1"/>
              </a:solidFill>
              <a:latin typeface="Calibri"/>
              <a:ea typeface="Calibri"/>
              <a:cs typeface="Calibri"/>
              <a:sym typeface="Calibri"/>
            </a:endParaRPr>
          </a:p>
        </p:txBody>
      </p:sp>
      <p:sp>
        <p:nvSpPr>
          <p:cNvPr id="451" name="Google Shape;451;g3d83fb30301_0_89"/>
          <p:cNvSpPr/>
          <p:nvPr/>
        </p:nvSpPr>
        <p:spPr>
          <a:xfrm>
            <a:off x="320040" y="1188720"/>
            <a:ext cx="4114800" cy="1554600"/>
          </a:xfrm>
          <a:prstGeom prst="rect">
            <a:avLst/>
          </a:prstGeom>
          <a:solidFill>
            <a:srgbClr val="132435"/>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d83fb30301_0_89"/>
          <p:cNvSpPr/>
          <p:nvPr/>
        </p:nvSpPr>
        <p:spPr>
          <a:xfrm>
            <a:off x="320040" y="1188720"/>
            <a:ext cx="502800" cy="1554600"/>
          </a:xfrm>
          <a:prstGeom prst="rect">
            <a:avLst/>
          </a:prstGeom>
          <a:solidFill>
            <a:srgbClr val="028090">
              <a:alpha val="80000"/>
            </a:srgbClr>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d83fb30301_0_89"/>
          <p:cNvSpPr/>
          <p:nvPr/>
        </p:nvSpPr>
        <p:spPr>
          <a:xfrm>
            <a:off x="320040" y="1691640"/>
            <a:ext cx="502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454" name="Google Shape;454;g3d83fb30301_0_89"/>
          <p:cNvSpPr/>
          <p:nvPr/>
        </p:nvSpPr>
        <p:spPr>
          <a:xfrm>
            <a:off x="914400" y="1325880"/>
            <a:ext cx="3429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Continue Pump Research</a:t>
            </a:r>
            <a:endParaRPr b="0" i="0" sz="1200" u="none" cap="none" strike="noStrike">
              <a:solidFill>
                <a:schemeClr val="dk1"/>
              </a:solidFill>
              <a:latin typeface="Calibri"/>
              <a:ea typeface="Calibri"/>
              <a:cs typeface="Calibri"/>
              <a:sym typeface="Calibri"/>
            </a:endParaRPr>
          </a:p>
        </p:txBody>
      </p:sp>
      <p:sp>
        <p:nvSpPr>
          <p:cNvPr id="455" name="Google Shape;455;g3d83fb30301_0_89"/>
          <p:cNvSpPr/>
          <p:nvPr/>
        </p:nvSpPr>
        <p:spPr>
          <a:xfrm>
            <a:off x="914400" y="1783080"/>
            <a:ext cx="34290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B8C4"/>
              </a:buClr>
              <a:buSzPts val="1000"/>
              <a:buFont typeface="Calibri"/>
              <a:buNone/>
            </a:pPr>
            <a:r>
              <a:rPr b="0" i="0" lang="en-US" sz="1000" u="none" cap="none" strike="noStrike">
                <a:solidFill>
                  <a:srgbClr val="9BB8C4"/>
                </a:solidFill>
                <a:latin typeface="Calibri"/>
                <a:ea typeface="Calibri"/>
                <a:cs typeface="Calibri"/>
                <a:sym typeface="Calibri"/>
              </a:rPr>
              <a:t>Visit more suppliers and search online for pumps with port specs listed. Finalise pump selection before procurement.</a:t>
            </a:r>
            <a:endParaRPr b="0" i="0" sz="1000" u="none" cap="none" strike="noStrike">
              <a:solidFill>
                <a:schemeClr val="dk1"/>
              </a:solidFill>
              <a:latin typeface="Calibri"/>
              <a:ea typeface="Calibri"/>
              <a:cs typeface="Calibri"/>
              <a:sym typeface="Calibri"/>
            </a:endParaRPr>
          </a:p>
        </p:txBody>
      </p:sp>
      <p:sp>
        <p:nvSpPr>
          <p:cNvPr id="456" name="Google Shape;456;g3d83fb30301_0_89"/>
          <p:cNvSpPr/>
          <p:nvPr/>
        </p:nvSpPr>
        <p:spPr>
          <a:xfrm>
            <a:off x="4754880" y="1188720"/>
            <a:ext cx="4114800" cy="1554600"/>
          </a:xfrm>
          <a:prstGeom prst="rect">
            <a:avLst/>
          </a:prstGeom>
          <a:solidFill>
            <a:srgbClr val="132435"/>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d83fb30301_0_89"/>
          <p:cNvSpPr/>
          <p:nvPr/>
        </p:nvSpPr>
        <p:spPr>
          <a:xfrm>
            <a:off x="4754880" y="1188720"/>
            <a:ext cx="502800" cy="1554600"/>
          </a:xfrm>
          <a:prstGeom prst="rect">
            <a:avLst/>
          </a:prstGeom>
          <a:solidFill>
            <a:srgbClr val="028090">
              <a:alpha val="80000"/>
            </a:srgbClr>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d83fb30301_0_89"/>
          <p:cNvSpPr/>
          <p:nvPr/>
        </p:nvSpPr>
        <p:spPr>
          <a:xfrm>
            <a:off x="4754880" y="1691640"/>
            <a:ext cx="502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459" name="Google Shape;459;g3d83fb30301_0_89"/>
          <p:cNvSpPr/>
          <p:nvPr/>
        </p:nvSpPr>
        <p:spPr>
          <a:xfrm>
            <a:off x="5349240" y="1325880"/>
            <a:ext cx="3429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Finalise Suction Port Size</a:t>
            </a:r>
            <a:endParaRPr b="0" i="0" sz="1200" u="none" cap="none" strike="noStrike">
              <a:solidFill>
                <a:schemeClr val="dk1"/>
              </a:solidFill>
              <a:latin typeface="Calibri"/>
              <a:ea typeface="Calibri"/>
              <a:cs typeface="Calibri"/>
              <a:sym typeface="Calibri"/>
            </a:endParaRPr>
          </a:p>
        </p:txBody>
      </p:sp>
      <p:sp>
        <p:nvSpPr>
          <p:cNvPr id="460" name="Google Shape;460;g3d83fb30301_0_89"/>
          <p:cNvSpPr/>
          <p:nvPr/>
        </p:nvSpPr>
        <p:spPr>
          <a:xfrm>
            <a:off x="5349240" y="1783080"/>
            <a:ext cx="34290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B8C4"/>
              </a:buClr>
              <a:buSzPts val="1000"/>
              <a:buFont typeface="Calibri"/>
              <a:buNone/>
            </a:pPr>
            <a:r>
              <a:rPr b="0" i="0" lang="en-US" sz="1000" u="none" cap="none" strike="noStrike">
                <a:solidFill>
                  <a:srgbClr val="9BB8C4"/>
                </a:solidFill>
                <a:latin typeface="Calibri"/>
                <a:ea typeface="Calibri"/>
                <a:cs typeface="Calibri"/>
                <a:sym typeface="Calibri"/>
              </a:rPr>
              <a:t>Confirm servo motor fit in CAD and determine suction cup hole diameter for the end effector housing.</a:t>
            </a:r>
            <a:endParaRPr b="0" i="0" sz="1000" u="none" cap="none" strike="noStrike">
              <a:solidFill>
                <a:schemeClr val="dk1"/>
              </a:solidFill>
              <a:latin typeface="Calibri"/>
              <a:ea typeface="Calibri"/>
              <a:cs typeface="Calibri"/>
              <a:sym typeface="Calibri"/>
            </a:endParaRPr>
          </a:p>
        </p:txBody>
      </p:sp>
      <p:sp>
        <p:nvSpPr>
          <p:cNvPr id="461" name="Google Shape;461;g3d83fb30301_0_89"/>
          <p:cNvSpPr/>
          <p:nvPr/>
        </p:nvSpPr>
        <p:spPr>
          <a:xfrm>
            <a:off x="320040" y="2971800"/>
            <a:ext cx="4114800" cy="1554600"/>
          </a:xfrm>
          <a:prstGeom prst="rect">
            <a:avLst/>
          </a:prstGeom>
          <a:solidFill>
            <a:srgbClr val="132435"/>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d83fb30301_0_89"/>
          <p:cNvSpPr/>
          <p:nvPr/>
        </p:nvSpPr>
        <p:spPr>
          <a:xfrm>
            <a:off x="320040" y="2971800"/>
            <a:ext cx="502800" cy="1554600"/>
          </a:xfrm>
          <a:prstGeom prst="rect">
            <a:avLst/>
          </a:prstGeom>
          <a:solidFill>
            <a:srgbClr val="028090">
              <a:alpha val="80000"/>
            </a:srgbClr>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d83fb30301_0_89"/>
          <p:cNvSpPr/>
          <p:nvPr/>
        </p:nvSpPr>
        <p:spPr>
          <a:xfrm>
            <a:off x="320040" y="3474720"/>
            <a:ext cx="502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464" name="Google Shape;464;g3d83fb30301_0_89"/>
          <p:cNvSpPr/>
          <p:nvPr/>
        </p:nvSpPr>
        <p:spPr>
          <a:xfrm>
            <a:off x="914400" y="3108960"/>
            <a:ext cx="3429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Begin Printing End Effector</a:t>
            </a:r>
            <a:endParaRPr b="0" i="0" sz="1200" u="none" cap="none" strike="noStrike">
              <a:solidFill>
                <a:schemeClr val="dk1"/>
              </a:solidFill>
              <a:latin typeface="Calibri"/>
              <a:ea typeface="Calibri"/>
              <a:cs typeface="Calibri"/>
              <a:sym typeface="Calibri"/>
            </a:endParaRPr>
          </a:p>
        </p:txBody>
      </p:sp>
      <p:sp>
        <p:nvSpPr>
          <p:cNvPr id="465" name="Google Shape;465;g3d83fb30301_0_89"/>
          <p:cNvSpPr/>
          <p:nvPr/>
        </p:nvSpPr>
        <p:spPr>
          <a:xfrm>
            <a:off x="914400" y="3566160"/>
            <a:ext cx="34290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B8C4"/>
              </a:buClr>
              <a:buSzPts val="1000"/>
              <a:buFont typeface="Calibri"/>
              <a:buNone/>
            </a:pPr>
            <a:r>
              <a:rPr b="0" i="0" lang="en-US" sz="1000" u="none" cap="none" strike="noStrike">
                <a:solidFill>
                  <a:srgbClr val="9BB8C4"/>
                </a:solidFill>
                <a:latin typeface="Calibri"/>
                <a:ea typeface="Calibri"/>
                <a:cs typeface="Calibri"/>
                <a:sym typeface="Calibri"/>
              </a:rPr>
              <a:t>Start 3D printing the end effector housing and claw components once suction port diameter is confirmed in CAD.</a:t>
            </a:r>
            <a:endParaRPr b="0" i="0" sz="1000" u="none" cap="none" strike="noStrike">
              <a:solidFill>
                <a:schemeClr val="dk1"/>
              </a:solidFill>
              <a:latin typeface="Calibri"/>
              <a:ea typeface="Calibri"/>
              <a:cs typeface="Calibri"/>
              <a:sym typeface="Calibri"/>
            </a:endParaRPr>
          </a:p>
        </p:txBody>
      </p:sp>
      <p:sp>
        <p:nvSpPr>
          <p:cNvPr id="466" name="Google Shape;466;g3d83fb30301_0_89"/>
          <p:cNvSpPr/>
          <p:nvPr/>
        </p:nvSpPr>
        <p:spPr>
          <a:xfrm>
            <a:off x="4754880" y="2971800"/>
            <a:ext cx="4114800" cy="1554600"/>
          </a:xfrm>
          <a:prstGeom prst="rect">
            <a:avLst/>
          </a:prstGeom>
          <a:solidFill>
            <a:srgbClr val="132435"/>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d83fb30301_0_89"/>
          <p:cNvSpPr/>
          <p:nvPr/>
        </p:nvSpPr>
        <p:spPr>
          <a:xfrm>
            <a:off x="4754880" y="2971800"/>
            <a:ext cx="502800" cy="1554600"/>
          </a:xfrm>
          <a:prstGeom prst="rect">
            <a:avLst/>
          </a:prstGeom>
          <a:solidFill>
            <a:srgbClr val="028090">
              <a:alpha val="80000"/>
            </a:srgbClr>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d83fb30301_0_89"/>
          <p:cNvSpPr/>
          <p:nvPr/>
        </p:nvSpPr>
        <p:spPr>
          <a:xfrm>
            <a:off x="4754880" y="3474720"/>
            <a:ext cx="502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04</a:t>
            </a:r>
            <a:endParaRPr b="0" i="0" sz="1300" u="none" cap="none" strike="noStrike">
              <a:solidFill>
                <a:schemeClr val="dk1"/>
              </a:solidFill>
              <a:latin typeface="Calibri"/>
              <a:ea typeface="Calibri"/>
              <a:cs typeface="Calibri"/>
              <a:sym typeface="Calibri"/>
            </a:endParaRPr>
          </a:p>
        </p:txBody>
      </p:sp>
      <p:sp>
        <p:nvSpPr>
          <p:cNvPr id="469" name="Google Shape;469;g3d83fb30301_0_89"/>
          <p:cNvSpPr/>
          <p:nvPr/>
        </p:nvSpPr>
        <p:spPr>
          <a:xfrm>
            <a:off x="5349240" y="3108960"/>
            <a:ext cx="3429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  Full Arm Assembly</a:t>
            </a:r>
            <a:endParaRPr b="0" i="0" sz="1200" u="none" cap="none" strike="noStrike">
              <a:solidFill>
                <a:schemeClr val="dk1"/>
              </a:solidFill>
              <a:latin typeface="Calibri"/>
              <a:ea typeface="Calibri"/>
              <a:cs typeface="Calibri"/>
              <a:sym typeface="Calibri"/>
            </a:endParaRPr>
          </a:p>
        </p:txBody>
      </p:sp>
      <p:sp>
        <p:nvSpPr>
          <p:cNvPr id="470" name="Google Shape;470;g3d83fb30301_0_89"/>
          <p:cNvSpPr/>
          <p:nvPr/>
        </p:nvSpPr>
        <p:spPr>
          <a:xfrm>
            <a:off x="5349240" y="3566160"/>
            <a:ext cx="34290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B8C4"/>
              </a:buClr>
              <a:buSzPts val="1000"/>
              <a:buFont typeface="Calibri"/>
              <a:buNone/>
            </a:pPr>
            <a:r>
              <a:rPr b="0" i="0" lang="en-US" sz="1000" u="none" cap="none" strike="noStrike">
                <a:solidFill>
                  <a:srgbClr val="9BB8C4"/>
                </a:solidFill>
                <a:latin typeface="Calibri"/>
                <a:ea typeface="Calibri"/>
                <a:cs typeface="Calibri"/>
                <a:sym typeface="Calibri"/>
              </a:rPr>
              <a:t>Assemble all joints with servos and test full range of motion across all 4 DOF before system integration.</a:t>
            </a:r>
            <a:endParaRPr b="0" i="0" sz="1000" u="none" cap="none" strike="noStrike">
              <a:solidFill>
                <a:schemeClr val="dk1"/>
              </a:solidFill>
              <a:latin typeface="Calibri"/>
              <a:ea typeface="Calibri"/>
              <a:cs typeface="Calibri"/>
              <a:sym typeface="Calibri"/>
            </a:endParaRPr>
          </a:p>
        </p:txBody>
      </p:sp>
      <p:sp>
        <p:nvSpPr>
          <p:cNvPr id="471" name="Google Shape;471;g3d83fb30301_0_89"/>
          <p:cNvSpPr/>
          <p:nvPr/>
        </p:nvSpPr>
        <p:spPr>
          <a:xfrm>
            <a:off x="0" y="5052060"/>
            <a:ext cx="9144000" cy="91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3d83fb30301_0_89"/>
          <p:cNvSpPr/>
          <p:nvPr/>
        </p:nvSpPr>
        <p:spPr>
          <a:xfrm>
            <a:off x="0" y="4773168"/>
            <a:ext cx="91440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7A8A"/>
              </a:buClr>
              <a:buSzPts val="900"/>
              <a:buFont typeface="Calibri"/>
              <a:buNone/>
            </a:pPr>
            <a:r>
              <a:rPr b="0" i="0" lang="en-US" sz="900" u="none" cap="none" strike="noStrike">
                <a:solidFill>
                  <a:srgbClr val="4A7A8A"/>
                </a:solidFill>
                <a:latin typeface="Calibri"/>
                <a:ea typeface="Calibri"/>
                <a:cs typeface="Calibri"/>
                <a:sym typeface="Calibri"/>
              </a:rPr>
              <a:t>PickMasters  |  MEC 483 – Spring 2026  |  Abu Dhabi University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477" name="Shape 477"/>
        <p:cNvGrpSpPr/>
        <p:nvPr/>
      </p:nvGrpSpPr>
      <p:grpSpPr>
        <a:xfrm>
          <a:off x="0" y="0"/>
          <a:ext cx="0" cy="0"/>
          <a:chOff x="0" y="0"/>
          <a:chExt cx="0" cy="0"/>
        </a:xfrm>
      </p:grpSpPr>
      <p:sp>
        <p:nvSpPr>
          <p:cNvPr id="478" name="Google Shape;478;p9"/>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0" y="0"/>
            <a:ext cx="164592" cy="5143500"/>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347472" y="0"/>
            <a:ext cx="841248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Helal — Member  ·  ROS2, Linux &amp; CAD</a:t>
            </a:r>
            <a:endParaRPr b="0" i="0" sz="2000" u="none" cap="none" strike="noStrike">
              <a:solidFill>
                <a:schemeClr val="dk1"/>
              </a:solidFill>
              <a:latin typeface="Calibri"/>
              <a:ea typeface="Calibri"/>
              <a:cs typeface="Calibri"/>
              <a:sym typeface="Calibri"/>
            </a:endParaRPr>
          </a:p>
        </p:txBody>
      </p:sp>
      <p:sp>
        <p:nvSpPr>
          <p:cNvPr id="481" name="Google Shape;481;p9"/>
          <p:cNvSpPr/>
          <p:nvPr/>
        </p:nvSpPr>
        <p:spPr>
          <a:xfrm>
            <a:off x="347472" y="786384"/>
            <a:ext cx="4114800" cy="16093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347472" y="786384"/>
            <a:ext cx="4114800" cy="25603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9"/>
          <p:cNvSpPr/>
          <p:nvPr/>
        </p:nvSpPr>
        <p:spPr>
          <a:xfrm>
            <a:off x="438912" y="78638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Accomplished (since last report)</a:t>
            </a:r>
            <a:endParaRPr b="0" i="0" sz="1000" u="none" cap="none" strike="noStrike">
              <a:solidFill>
                <a:schemeClr val="dk1"/>
              </a:solidFill>
              <a:latin typeface="Calibri"/>
              <a:ea typeface="Calibri"/>
              <a:cs typeface="Calibri"/>
              <a:sym typeface="Calibri"/>
            </a:endParaRPr>
          </a:p>
        </p:txBody>
      </p:sp>
      <p:sp>
        <p:nvSpPr>
          <p:cNvPr id="484" name="Google Shape;484;p9"/>
          <p:cNvSpPr/>
          <p:nvPr/>
        </p:nvSpPr>
        <p:spPr>
          <a:xfrm>
            <a:off x="457200" y="1078992"/>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Attended in-person session — collected 3D printed parts</a:t>
            </a:r>
            <a:endParaRPr b="0" i="0" sz="950" u="none" cap="none" strike="noStrike">
              <a:solidFill>
                <a:schemeClr val="dk1"/>
              </a:solidFill>
              <a:latin typeface="Calibri"/>
              <a:ea typeface="Calibri"/>
              <a:cs typeface="Calibri"/>
              <a:sym typeface="Calibri"/>
            </a:endParaRPr>
          </a:p>
        </p:txBody>
      </p:sp>
      <p:sp>
        <p:nvSpPr>
          <p:cNvPr id="485" name="Google Shape;485;p9"/>
          <p:cNvSpPr/>
          <p:nvPr/>
        </p:nvSpPr>
        <p:spPr>
          <a:xfrm>
            <a:off x="457200" y="1371600"/>
            <a:ext cx="3840480" cy="2743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Helped identify and manually correct servo motor fitting dimensions on the day</a:t>
            </a:r>
            <a:endParaRPr b="0" i="0" sz="950" u="none" cap="none" strike="noStrike">
              <a:solidFill>
                <a:schemeClr val="dk1"/>
              </a:solidFill>
              <a:latin typeface="Calibri"/>
              <a:ea typeface="Calibri"/>
              <a:cs typeface="Calibri"/>
              <a:sym typeface="Calibri"/>
            </a:endParaRPr>
          </a:p>
        </p:txBody>
      </p:sp>
      <p:sp>
        <p:nvSpPr>
          <p:cNvPr id="486" name="Google Shape;486;p9"/>
          <p:cNvSpPr/>
          <p:nvPr/>
        </p:nvSpPr>
        <p:spPr>
          <a:xfrm>
            <a:off x="457200" y="1618483"/>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Learned Linux OS fundamentals to support ROS2 workflow</a:t>
            </a:r>
            <a:endParaRPr b="0" i="0" sz="950" u="none" cap="none" strike="noStrike">
              <a:solidFill>
                <a:schemeClr val="dk1"/>
              </a:solidFill>
              <a:latin typeface="Calibri"/>
              <a:ea typeface="Calibri"/>
              <a:cs typeface="Calibri"/>
              <a:sym typeface="Calibri"/>
            </a:endParaRPr>
          </a:p>
        </p:txBody>
      </p:sp>
      <p:sp>
        <p:nvSpPr>
          <p:cNvPr id="487" name="Google Shape;487;p9"/>
          <p:cNvSpPr/>
          <p:nvPr/>
        </p:nvSpPr>
        <p:spPr>
          <a:xfrm>
            <a:off x="465346" y="1857208"/>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Installed ROS2 successfully on Ubuntu virtual machine</a:t>
            </a:r>
            <a:endParaRPr b="0" i="0" sz="950" u="none" cap="none" strike="noStrike">
              <a:solidFill>
                <a:schemeClr val="dk1"/>
              </a:solidFill>
              <a:latin typeface="Calibri"/>
              <a:ea typeface="Calibri"/>
              <a:cs typeface="Calibri"/>
              <a:sym typeface="Calibri"/>
            </a:endParaRPr>
          </a:p>
        </p:txBody>
      </p:sp>
      <p:sp>
        <p:nvSpPr>
          <p:cNvPr id="488" name="Google Shape;488;p9"/>
          <p:cNvSpPr/>
          <p:nvPr/>
        </p:nvSpPr>
        <p:spPr>
          <a:xfrm>
            <a:off x="457200" y="2111672"/>
            <a:ext cx="3840600" cy="274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950"/>
              <a:buFont typeface="Calibri"/>
              <a:buChar char="•"/>
            </a:pPr>
            <a:r>
              <a:rPr b="0" i="0" lang="en-US" sz="950" u="none" cap="none" strike="noStrike">
                <a:solidFill>
                  <a:srgbClr val="2C3E50"/>
                </a:solidFill>
                <a:latin typeface="Calibri"/>
                <a:ea typeface="Calibri"/>
                <a:cs typeface="Calibri"/>
                <a:sym typeface="Calibri"/>
              </a:rPr>
              <a:t>Progressed through ROS2 setup — reached RViz configuration stage</a:t>
            </a:r>
            <a:endParaRPr b="0" i="0" sz="950" u="none" cap="none" strike="noStrike">
              <a:solidFill>
                <a:schemeClr val="dk1"/>
              </a:solidFill>
              <a:latin typeface="Calibri"/>
              <a:ea typeface="Calibri"/>
              <a:cs typeface="Calibri"/>
              <a:sym typeface="Calibri"/>
            </a:endParaRPr>
          </a:p>
        </p:txBody>
      </p:sp>
      <p:sp>
        <p:nvSpPr>
          <p:cNvPr id="489" name="Google Shape;489;p9"/>
          <p:cNvSpPr/>
          <p:nvPr/>
        </p:nvSpPr>
        <p:spPr>
          <a:xfrm>
            <a:off x="347472" y="2468880"/>
            <a:ext cx="4114800" cy="69494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347472" y="2468880"/>
            <a:ext cx="4114800" cy="256032"/>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438912" y="2468880"/>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In progress</a:t>
            </a:r>
            <a:endParaRPr b="0" i="0" sz="1000" u="none" cap="none" strike="noStrike">
              <a:solidFill>
                <a:schemeClr val="dk1"/>
              </a:solidFill>
              <a:latin typeface="Calibri"/>
              <a:ea typeface="Calibri"/>
              <a:cs typeface="Calibri"/>
              <a:sym typeface="Calibri"/>
            </a:endParaRPr>
          </a:p>
        </p:txBody>
      </p:sp>
      <p:sp>
        <p:nvSpPr>
          <p:cNvPr id="492" name="Google Shape;492;p9"/>
          <p:cNvSpPr/>
          <p:nvPr/>
        </p:nvSpPr>
        <p:spPr>
          <a:xfrm>
            <a:off x="457200" y="2761488"/>
            <a:ext cx="3840480" cy="3657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RViz setup and arm model visualisation — continuing next week</a:t>
            </a:r>
            <a:endParaRPr b="0" i="0" sz="1000" u="none" cap="none" strike="noStrike">
              <a:solidFill>
                <a:schemeClr val="dk1"/>
              </a:solidFill>
              <a:latin typeface="Calibri"/>
              <a:ea typeface="Calibri"/>
              <a:cs typeface="Calibri"/>
              <a:sym typeface="Calibri"/>
            </a:endParaRPr>
          </a:p>
        </p:txBody>
      </p:sp>
      <p:sp>
        <p:nvSpPr>
          <p:cNvPr id="493" name="Google Shape;493;p9"/>
          <p:cNvSpPr/>
          <p:nvPr/>
        </p:nvSpPr>
        <p:spPr>
          <a:xfrm>
            <a:off x="347472" y="3236976"/>
            <a:ext cx="4114800" cy="1261872"/>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9"/>
          <p:cNvSpPr/>
          <p:nvPr/>
        </p:nvSpPr>
        <p:spPr>
          <a:xfrm>
            <a:off x="347472" y="3236976"/>
            <a:ext cx="4114800" cy="256032"/>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438912" y="3236976"/>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Next week plan</a:t>
            </a:r>
            <a:endParaRPr b="0" i="0" sz="1000" u="none" cap="none" strike="noStrike">
              <a:solidFill>
                <a:schemeClr val="dk1"/>
              </a:solidFill>
              <a:latin typeface="Calibri"/>
              <a:ea typeface="Calibri"/>
              <a:cs typeface="Calibri"/>
              <a:sym typeface="Calibri"/>
            </a:endParaRPr>
          </a:p>
        </p:txBody>
      </p:sp>
      <p:sp>
        <p:nvSpPr>
          <p:cNvPr id="496" name="Google Shape;496;p9"/>
          <p:cNvSpPr/>
          <p:nvPr/>
        </p:nvSpPr>
        <p:spPr>
          <a:xfrm>
            <a:off x="457200" y="3529584"/>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Complete RViz arm model setup</a:t>
            </a:r>
            <a:endParaRPr b="0" i="0" sz="1000" u="none" cap="none" strike="noStrike">
              <a:solidFill>
                <a:schemeClr val="dk1"/>
              </a:solidFill>
              <a:latin typeface="Calibri"/>
              <a:ea typeface="Calibri"/>
              <a:cs typeface="Calibri"/>
              <a:sym typeface="Calibri"/>
            </a:endParaRPr>
          </a:p>
        </p:txBody>
      </p:sp>
      <p:sp>
        <p:nvSpPr>
          <p:cNvPr id="497" name="Google Shape;497;p9"/>
          <p:cNvSpPr/>
          <p:nvPr/>
        </p:nvSpPr>
        <p:spPr>
          <a:xfrm>
            <a:off x="457200" y="3840480"/>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Begin ROS2 joint control integration</a:t>
            </a:r>
            <a:endParaRPr b="0" i="0" sz="1000" u="none" cap="none" strike="noStrike">
              <a:solidFill>
                <a:schemeClr val="dk1"/>
              </a:solidFill>
              <a:latin typeface="Calibri"/>
              <a:ea typeface="Calibri"/>
              <a:cs typeface="Calibri"/>
              <a:sym typeface="Calibri"/>
            </a:endParaRPr>
          </a:p>
        </p:txBody>
      </p:sp>
      <p:sp>
        <p:nvSpPr>
          <p:cNvPr id="498" name="Google Shape;498;p9"/>
          <p:cNvSpPr/>
          <p:nvPr/>
        </p:nvSpPr>
        <p:spPr>
          <a:xfrm>
            <a:off x="457200" y="4151376"/>
            <a:ext cx="3840480" cy="292608"/>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000"/>
              <a:buFont typeface="Calibri"/>
              <a:buChar char="•"/>
            </a:pPr>
            <a:r>
              <a:rPr b="0" i="0" lang="en-US" sz="1000" u="none" cap="none" strike="noStrike">
                <a:solidFill>
                  <a:srgbClr val="2C3E50"/>
                </a:solidFill>
                <a:latin typeface="Calibri"/>
                <a:ea typeface="Calibri"/>
                <a:cs typeface="Calibri"/>
                <a:sym typeface="Calibri"/>
              </a:rPr>
              <a:t>Finalise CAD model — wrist &amp; end effector</a:t>
            </a:r>
            <a:endParaRPr b="0" i="0" sz="1000" u="none" cap="none" strike="noStrike">
              <a:solidFill>
                <a:schemeClr val="dk1"/>
              </a:solidFill>
              <a:latin typeface="Calibri"/>
              <a:ea typeface="Calibri"/>
              <a:cs typeface="Calibri"/>
              <a:sym typeface="Calibri"/>
            </a:endParaRPr>
          </a:p>
        </p:txBody>
      </p:sp>
      <p:sp>
        <p:nvSpPr>
          <p:cNvPr id="499" name="Google Shape;499;p9"/>
          <p:cNvSpPr/>
          <p:nvPr/>
        </p:nvSpPr>
        <p:spPr>
          <a:xfrm>
            <a:off x="4663440" y="786384"/>
            <a:ext cx="4206240" cy="2340864"/>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4663440" y="786384"/>
            <a:ext cx="4206240" cy="256032"/>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
          <p:cNvSpPr/>
          <p:nvPr/>
        </p:nvSpPr>
        <p:spPr>
          <a:xfrm>
            <a:off x="4754880" y="786384"/>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ROS2 setup — where we are</a:t>
            </a:r>
            <a:endParaRPr b="0" i="0" sz="1000" u="none" cap="none" strike="noStrike">
              <a:solidFill>
                <a:schemeClr val="dk1"/>
              </a:solidFill>
              <a:latin typeface="Calibri"/>
              <a:ea typeface="Calibri"/>
              <a:cs typeface="Calibri"/>
              <a:sym typeface="Calibri"/>
            </a:endParaRPr>
          </a:p>
        </p:txBody>
      </p:sp>
      <p:sp>
        <p:nvSpPr>
          <p:cNvPr id="502" name="Google Shape;502;p9"/>
          <p:cNvSpPr/>
          <p:nvPr/>
        </p:nvSpPr>
        <p:spPr>
          <a:xfrm>
            <a:off x="4754880" y="1115568"/>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9"/>
          <p:cNvSpPr/>
          <p:nvPr/>
        </p:nvSpPr>
        <p:spPr>
          <a:xfrm>
            <a:off x="4846320" y="1115568"/>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50"/>
              <a:buFont typeface="Calibri"/>
              <a:buNone/>
            </a:pPr>
            <a:r>
              <a:rPr b="1" i="0" lang="en-US" sz="950" u="none" cap="none" strike="noStrike">
                <a:solidFill>
                  <a:srgbClr val="6B4E9E"/>
                </a:solidFill>
                <a:latin typeface="Calibri"/>
                <a:ea typeface="Calibri"/>
                <a:cs typeface="Calibri"/>
                <a:sym typeface="Calibri"/>
              </a:rPr>
              <a:t>Ubuntu VM</a:t>
            </a:r>
            <a:endParaRPr b="0" i="0" sz="950" u="none" cap="none" strike="noStrike">
              <a:solidFill>
                <a:schemeClr val="dk1"/>
              </a:solidFill>
              <a:latin typeface="Calibri"/>
              <a:ea typeface="Calibri"/>
              <a:cs typeface="Calibri"/>
              <a:sym typeface="Calibri"/>
            </a:endParaRPr>
          </a:p>
        </p:txBody>
      </p:sp>
      <p:sp>
        <p:nvSpPr>
          <p:cNvPr id="504" name="Google Shape;504;p9"/>
          <p:cNvSpPr/>
          <p:nvPr/>
        </p:nvSpPr>
        <p:spPr>
          <a:xfrm>
            <a:off x="5852160" y="1115568"/>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950"/>
              <a:buFont typeface="Calibri"/>
              <a:buNone/>
            </a:pPr>
            <a:r>
              <a:rPr b="0" i="0" lang="en-US" sz="950" u="none" cap="none" strike="noStrike">
                <a:solidFill>
                  <a:srgbClr val="165C3E"/>
                </a:solidFill>
                <a:latin typeface="Calibri"/>
                <a:ea typeface="Calibri"/>
                <a:cs typeface="Calibri"/>
                <a:sym typeface="Calibri"/>
              </a:rPr>
              <a:t>Installed &amp; configured ✓</a:t>
            </a:r>
            <a:endParaRPr b="0" i="0" sz="950" u="none" cap="none" strike="noStrike">
              <a:solidFill>
                <a:schemeClr val="dk1"/>
              </a:solidFill>
              <a:latin typeface="Calibri"/>
              <a:ea typeface="Calibri"/>
              <a:cs typeface="Calibri"/>
              <a:sym typeface="Calibri"/>
            </a:endParaRPr>
          </a:p>
        </p:txBody>
      </p:sp>
      <p:sp>
        <p:nvSpPr>
          <p:cNvPr id="505" name="Google Shape;505;p9"/>
          <p:cNvSpPr/>
          <p:nvPr/>
        </p:nvSpPr>
        <p:spPr>
          <a:xfrm>
            <a:off x="4754880" y="1499616"/>
            <a:ext cx="3986784" cy="329184"/>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9"/>
          <p:cNvSpPr/>
          <p:nvPr/>
        </p:nvSpPr>
        <p:spPr>
          <a:xfrm>
            <a:off x="4846320" y="1499616"/>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50"/>
              <a:buFont typeface="Calibri"/>
              <a:buNone/>
            </a:pPr>
            <a:r>
              <a:rPr b="1" i="0" lang="en-US" sz="950" u="none" cap="none" strike="noStrike">
                <a:solidFill>
                  <a:srgbClr val="6B4E9E"/>
                </a:solidFill>
                <a:latin typeface="Calibri"/>
                <a:ea typeface="Calibri"/>
                <a:cs typeface="Calibri"/>
                <a:sym typeface="Calibri"/>
              </a:rPr>
              <a:t>ROS2</a:t>
            </a:r>
            <a:endParaRPr b="0" i="0" sz="950" u="none" cap="none" strike="noStrike">
              <a:solidFill>
                <a:schemeClr val="dk1"/>
              </a:solidFill>
              <a:latin typeface="Calibri"/>
              <a:ea typeface="Calibri"/>
              <a:cs typeface="Calibri"/>
              <a:sym typeface="Calibri"/>
            </a:endParaRPr>
          </a:p>
        </p:txBody>
      </p:sp>
      <p:sp>
        <p:nvSpPr>
          <p:cNvPr id="507" name="Google Shape;507;p9"/>
          <p:cNvSpPr/>
          <p:nvPr/>
        </p:nvSpPr>
        <p:spPr>
          <a:xfrm>
            <a:off x="5852160" y="1499616"/>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65C3E"/>
              </a:buClr>
              <a:buSzPts val="950"/>
              <a:buFont typeface="Calibri"/>
              <a:buNone/>
            </a:pPr>
            <a:r>
              <a:rPr b="0" i="0" lang="en-US" sz="950" u="none" cap="none" strike="noStrike">
                <a:solidFill>
                  <a:srgbClr val="165C3E"/>
                </a:solidFill>
                <a:latin typeface="Calibri"/>
                <a:ea typeface="Calibri"/>
                <a:cs typeface="Calibri"/>
                <a:sym typeface="Calibri"/>
              </a:rPr>
              <a:t>Installed and running ✓</a:t>
            </a:r>
            <a:endParaRPr b="0" i="0" sz="950" u="none" cap="none" strike="noStrike">
              <a:solidFill>
                <a:schemeClr val="dk1"/>
              </a:solidFill>
              <a:latin typeface="Calibri"/>
              <a:ea typeface="Calibri"/>
              <a:cs typeface="Calibri"/>
              <a:sym typeface="Calibri"/>
            </a:endParaRPr>
          </a:p>
        </p:txBody>
      </p:sp>
      <p:sp>
        <p:nvSpPr>
          <p:cNvPr id="508" name="Google Shape;508;p9"/>
          <p:cNvSpPr/>
          <p:nvPr/>
        </p:nvSpPr>
        <p:spPr>
          <a:xfrm>
            <a:off x="4754880" y="1883664"/>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9"/>
          <p:cNvSpPr/>
          <p:nvPr/>
        </p:nvSpPr>
        <p:spPr>
          <a:xfrm>
            <a:off x="4846320" y="1883664"/>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50"/>
              <a:buFont typeface="Calibri"/>
              <a:buNone/>
            </a:pPr>
            <a:r>
              <a:rPr b="1" i="0" lang="en-US" sz="950" u="none" cap="none" strike="noStrike">
                <a:solidFill>
                  <a:srgbClr val="6B4E9E"/>
                </a:solidFill>
                <a:latin typeface="Calibri"/>
                <a:ea typeface="Calibri"/>
                <a:cs typeface="Calibri"/>
                <a:sym typeface="Calibri"/>
              </a:rPr>
              <a:t>RViz</a:t>
            </a:r>
            <a:endParaRPr b="0" i="0" sz="950" u="none" cap="none" strike="noStrike">
              <a:solidFill>
                <a:schemeClr val="dk1"/>
              </a:solidFill>
              <a:latin typeface="Calibri"/>
              <a:ea typeface="Calibri"/>
              <a:cs typeface="Calibri"/>
              <a:sym typeface="Calibri"/>
            </a:endParaRPr>
          </a:p>
        </p:txBody>
      </p:sp>
      <p:sp>
        <p:nvSpPr>
          <p:cNvPr id="510" name="Google Shape;510;p9"/>
          <p:cNvSpPr/>
          <p:nvPr/>
        </p:nvSpPr>
        <p:spPr>
          <a:xfrm>
            <a:off x="5852160" y="1883664"/>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Reached — setup in progress</a:t>
            </a:r>
            <a:endParaRPr b="0" i="0" sz="950" u="none" cap="none" strike="noStrike">
              <a:solidFill>
                <a:schemeClr val="dk1"/>
              </a:solidFill>
              <a:latin typeface="Calibri"/>
              <a:ea typeface="Calibri"/>
              <a:cs typeface="Calibri"/>
              <a:sym typeface="Calibri"/>
            </a:endParaRPr>
          </a:p>
        </p:txBody>
      </p:sp>
      <p:sp>
        <p:nvSpPr>
          <p:cNvPr id="511" name="Google Shape;511;p9"/>
          <p:cNvSpPr/>
          <p:nvPr/>
        </p:nvSpPr>
        <p:spPr>
          <a:xfrm>
            <a:off x="4754880" y="2267712"/>
            <a:ext cx="3986784" cy="329184"/>
          </a:xfrm>
          <a:prstGeom prst="rect">
            <a:avLst/>
          </a:prstGeom>
          <a:solidFill>
            <a:srgbClr val="FFFFFF"/>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4846320" y="2267712"/>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50"/>
              <a:buFont typeface="Calibri"/>
              <a:buNone/>
            </a:pPr>
            <a:r>
              <a:rPr b="1" i="0" lang="en-US" sz="950" u="none" cap="none" strike="noStrike">
                <a:solidFill>
                  <a:srgbClr val="6B4E9E"/>
                </a:solidFill>
                <a:latin typeface="Calibri"/>
                <a:ea typeface="Calibri"/>
                <a:cs typeface="Calibri"/>
                <a:sym typeface="Calibri"/>
              </a:rPr>
              <a:t>URDF model</a:t>
            </a:r>
            <a:endParaRPr b="0" i="0" sz="950" u="none" cap="none" strike="noStrike">
              <a:solidFill>
                <a:schemeClr val="dk1"/>
              </a:solidFill>
              <a:latin typeface="Calibri"/>
              <a:ea typeface="Calibri"/>
              <a:cs typeface="Calibri"/>
              <a:sym typeface="Calibri"/>
            </a:endParaRPr>
          </a:p>
        </p:txBody>
      </p:sp>
      <p:sp>
        <p:nvSpPr>
          <p:cNvPr id="513" name="Google Shape;513;p9"/>
          <p:cNvSpPr/>
          <p:nvPr/>
        </p:nvSpPr>
        <p:spPr>
          <a:xfrm>
            <a:off x="5852160" y="2267712"/>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Arm model — not yet started</a:t>
            </a:r>
            <a:endParaRPr b="0" i="0" sz="950" u="none" cap="none" strike="noStrike">
              <a:solidFill>
                <a:schemeClr val="dk1"/>
              </a:solidFill>
              <a:latin typeface="Calibri"/>
              <a:ea typeface="Calibri"/>
              <a:cs typeface="Calibri"/>
              <a:sym typeface="Calibri"/>
            </a:endParaRPr>
          </a:p>
        </p:txBody>
      </p:sp>
      <p:sp>
        <p:nvSpPr>
          <p:cNvPr id="514" name="Google Shape;514;p9"/>
          <p:cNvSpPr/>
          <p:nvPr/>
        </p:nvSpPr>
        <p:spPr>
          <a:xfrm>
            <a:off x="4754880" y="2651760"/>
            <a:ext cx="3986784" cy="329184"/>
          </a:xfrm>
          <a:prstGeom prst="rect">
            <a:avLst/>
          </a:prstGeom>
          <a:solidFill>
            <a:srgbClr val="F4F6F9"/>
          </a:solidFill>
          <a:ln cap="flat" cmpd="sng" w="9525">
            <a:solidFill>
              <a:srgbClr val="E0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9"/>
          <p:cNvSpPr/>
          <p:nvPr/>
        </p:nvSpPr>
        <p:spPr>
          <a:xfrm>
            <a:off x="4846320" y="2651760"/>
            <a:ext cx="100584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4E9E"/>
              </a:buClr>
              <a:buSzPts val="950"/>
              <a:buFont typeface="Calibri"/>
              <a:buNone/>
            </a:pPr>
            <a:r>
              <a:rPr b="1" i="0" lang="en-US" sz="950" u="none" cap="none" strike="noStrike">
                <a:solidFill>
                  <a:srgbClr val="6B4E9E"/>
                </a:solidFill>
                <a:latin typeface="Calibri"/>
                <a:ea typeface="Calibri"/>
                <a:cs typeface="Calibri"/>
                <a:sym typeface="Calibri"/>
              </a:rPr>
              <a:t>Joint control</a:t>
            </a:r>
            <a:endParaRPr b="0" i="0" sz="950" u="none" cap="none" strike="noStrike">
              <a:solidFill>
                <a:schemeClr val="dk1"/>
              </a:solidFill>
              <a:latin typeface="Calibri"/>
              <a:ea typeface="Calibri"/>
              <a:cs typeface="Calibri"/>
              <a:sym typeface="Calibri"/>
            </a:endParaRPr>
          </a:p>
        </p:txBody>
      </p:sp>
      <p:sp>
        <p:nvSpPr>
          <p:cNvPr id="516" name="Google Shape;516;p9"/>
          <p:cNvSpPr/>
          <p:nvPr/>
        </p:nvSpPr>
        <p:spPr>
          <a:xfrm>
            <a:off x="5852160" y="2651760"/>
            <a:ext cx="27432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94A8"/>
              </a:buClr>
              <a:buSzPts val="950"/>
              <a:buFont typeface="Calibri"/>
              <a:buNone/>
            </a:pPr>
            <a:r>
              <a:rPr b="0" i="0" lang="en-US" sz="950" u="none" cap="none" strike="noStrike">
                <a:solidFill>
                  <a:srgbClr val="8494A8"/>
                </a:solidFill>
                <a:latin typeface="Calibri"/>
                <a:ea typeface="Calibri"/>
                <a:cs typeface="Calibri"/>
                <a:sym typeface="Calibri"/>
              </a:rPr>
              <a:t>ROS2 ↔ Arduino — not yet started</a:t>
            </a:r>
            <a:endParaRPr b="0" i="0" sz="950" u="none" cap="none" strike="noStrike">
              <a:solidFill>
                <a:schemeClr val="dk1"/>
              </a:solidFill>
              <a:latin typeface="Calibri"/>
              <a:ea typeface="Calibri"/>
              <a:cs typeface="Calibri"/>
              <a:sym typeface="Calibri"/>
            </a:endParaRPr>
          </a:p>
        </p:txBody>
      </p:sp>
      <p:sp>
        <p:nvSpPr>
          <p:cNvPr id="517" name="Google Shape;517;p9"/>
          <p:cNvSpPr/>
          <p:nvPr/>
        </p:nvSpPr>
        <p:spPr>
          <a:xfrm>
            <a:off x="4663440" y="3200400"/>
            <a:ext cx="4206240" cy="1298448"/>
          </a:xfrm>
          <a:prstGeom prst="rect">
            <a:avLst/>
          </a:prstGeom>
          <a:solidFill>
            <a:srgbClr val="FFFFFF"/>
          </a:solidFill>
          <a:ln cap="flat" cmpd="sng" w="9525">
            <a:solidFill>
              <a:srgbClr val="E0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9"/>
          <p:cNvSpPr/>
          <p:nvPr/>
        </p:nvSpPr>
        <p:spPr>
          <a:xfrm>
            <a:off x="4663440" y="3200400"/>
            <a:ext cx="4206240" cy="25603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9"/>
          <p:cNvSpPr/>
          <p:nvPr/>
        </p:nvSpPr>
        <p:spPr>
          <a:xfrm>
            <a:off x="4754880" y="3200400"/>
            <a:ext cx="40233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Help needed / questions</a:t>
            </a:r>
            <a:endParaRPr b="0" i="0" sz="1000" u="none" cap="none" strike="noStrike">
              <a:solidFill>
                <a:schemeClr val="dk1"/>
              </a:solidFill>
              <a:latin typeface="Calibri"/>
              <a:ea typeface="Calibri"/>
              <a:cs typeface="Calibri"/>
              <a:sym typeface="Calibri"/>
            </a:endParaRPr>
          </a:p>
        </p:txBody>
      </p:sp>
      <p:sp>
        <p:nvSpPr>
          <p:cNvPr id="520" name="Google Shape;520;p9"/>
          <p:cNvSpPr/>
          <p:nvPr/>
        </p:nvSpPr>
        <p:spPr>
          <a:xfrm>
            <a:off x="4773168" y="3493008"/>
            <a:ext cx="3931920" cy="9509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000"/>
              <a:buFont typeface="Calibri"/>
              <a:buNone/>
            </a:pPr>
            <a:r>
              <a:rPr b="0" i="0" lang="en-US" sz="1000" u="none" cap="none" strike="noStrike">
                <a:solidFill>
                  <a:srgbClr val="2C3E50"/>
                </a:solidFill>
                <a:latin typeface="Calibri"/>
                <a:ea typeface="Calibri"/>
                <a:cs typeface="Calibri"/>
                <a:sym typeface="Calibri"/>
              </a:rPr>
              <a:t>Linux and ROS2 are new tools — steep learning curve is slowing progress. More time needed on RViz and URDF modelling before arm integration can begin.</a:t>
            </a:r>
            <a:endParaRPr b="0" i="0" sz="1000" u="none" cap="none" strike="noStrike">
              <a:solidFill>
                <a:schemeClr val="dk1"/>
              </a:solidFill>
              <a:latin typeface="Calibri"/>
              <a:ea typeface="Calibri"/>
              <a:cs typeface="Calibri"/>
              <a:sym typeface="Calibri"/>
            </a:endParaRPr>
          </a:p>
        </p:txBody>
      </p:sp>
      <p:sp>
        <p:nvSpPr>
          <p:cNvPr id="521" name="Google Shape;521;p9"/>
          <p:cNvSpPr/>
          <p:nvPr/>
        </p:nvSpPr>
        <p:spPr>
          <a:xfrm>
            <a:off x="274320" y="4864608"/>
            <a:ext cx="859536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3E"/>
        </a:solidFill>
      </p:bgPr>
    </p:bg>
    <p:spTree>
      <p:nvGrpSpPr>
        <p:cNvPr id="526" name="Shape 526"/>
        <p:cNvGrpSpPr/>
        <p:nvPr/>
      </p:nvGrpSpPr>
      <p:grpSpPr>
        <a:xfrm>
          <a:off x="0" y="0"/>
          <a:ext cx="0" cy="0"/>
          <a:chOff x="0" y="0"/>
          <a:chExt cx="0" cy="0"/>
        </a:xfrm>
      </p:grpSpPr>
      <p:sp>
        <p:nvSpPr>
          <p:cNvPr id="527" name="Google Shape;527;p10"/>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0"/>
          <p:cNvSpPr/>
          <p:nvPr/>
        </p:nvSpPr>
        <p:spPr>
          <a:xfrm>
            <a:off x="6583680" y="-1097280"/>
            <a:ext cx="4206240" cy="4206240"/>
          </a:xfrm>
          <a:prstGeom prst="ellipse">
            <a:avLst/>
          </a:prstGeom>
          <a:solidFill>
            <a:srgbClr val="028090">
              <a:alpha val="12156"/>
            </a:srgbClr>
          </a:solidFill>
          <a:ln cap="flat" cmpd="sng" w="12700">
            <a:solidFill>
              <a:srgbClr val="028090">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0"/>
          <p:cNvSpPr/>
          <p:nvPr/>
        </p:nvSpPr>
        <p:spPr>
          <a:xfrm>
            <a:off x="7315200" y="3474720"/>
            <a:ext cx="2194560" cy="2194560"/>
          </a:xfrm>
          <a:prstGeom prst="ellipse">
            <a:avLst/>
          </a:prstGeom>
          <a:solidFill>
            <a:srgbClr val="028090">
              <a:alpha val="7843"/>
            </a:srgbClr>
          </a:solidFill>
          <a:ln cap="flat" cmpd="sng" w="12700">
            <a:solidFill>
              <a:srgbClr val="02809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0"/>
          <p:cNvSpPr/>
          <p:nvPr/>
        </p:nvSpPr>
        <p:spPr>
          <a:xfrm>
            <a:off x="411480" y="384048"/>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0" i="0" lang="en-US" sz="1800" u="none" cap="none" strike="noStrike">
                <a:solidFill>
                  <a:srgbClr val="028090"/>
                </a:solidFill>
                <a:latin typeface="Calibri"/>
                <a:ea typeface="Calibri"/>
                <a:cs typeface="Calibri"/>
                <a:sym typeface="Calibri"/>
              </a:rPr>
              <a:t>Week 7</a:t>
            </a:r>
            <a:endParaRPr b="0" i="0" sz="1800" u="none" cap="none" strike="noStrike">
              <a:solidFill>
                <a:schemeClr val="dk1"/>
              </a:solidFill>
              <a:latin typeface="Calibri"/>
              <a:ea typeface="Calibri"/>
              <a:cs typeface="Calibri"/>
              <a:sym typeface="Calibri"/>
            </a:endParaRPr>
          </a:p>
        </p:txBody>
      </p:sp>
      <p:sp>
        <p:nvSpPr>
          <p:cNvPr id="531" name="Google Shape;531;p10"/>
          <p:cNvSpPr/>
          <p:nvPr/>
        </p:nvSpPr>
        <p:spPr>
          <a:xfrm>
            <a:off x="411480" y="786384"/>
            <a:ext cx="731520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Wrap-up</a:t>
            </a:r>
            <a:endParaRPr b="0" i="0" sz="4600" u="none" cap="none" strike="noStrike">
              <a:solidFill>
                <a:schemeClr val="dk1"/>
              </a:solidFill>
              <a:latin typeface="Calibri"/>
              <a:ea typeface="Calibri"/>
              <a:cs typeface="Calibri"/>
              <a:sym typeface="Calibri"/>
            </a:endParaRPr>
          </a:p>
        </p:txBody>
      </p:sp>
      <p:sp>
        <p:nvSpPr>
          <p:cNvPr id="532" name="Google Shape;532;p10"/>
          <p:cNvSpPr/>
          <p:nvPr/>
        </p:nvSpPr>
        <p:spPr>
          <a:xfrm>
            <a:off x="411480" y="1591056"/>
            <a:ext cx="4572000" cy="3657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0"/>
          <p:cNvSpPr/>
          <p:nvPr/>
        </p:nvSpPr>
        <p:spPr>
          <a:xfrm>
            <a:off x="411480" y="1737360"/>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0"/>
          <p:cNvSpPr/>
          <p:nvPr/>
        </p:nvSpPr>
        <p:spPr>
          <a:xfrm>
            <a:off x="411480" y="1737360"/>
            <a:ext cx="54864" cy="34747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530352" y="1737360"/>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100"/>
              <a:buFont typeface="Calibri"/>
              <a:buNone/>
            </a:pPr>
            <a:r>
              <a:rPr b="0" i="0" lang="en-US" sz="1100" u="none" cap="none" strike="noStrike">
                <a:solidFill>
                  <a:srgbClr val="2EAD7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36" name="Google Shape;536;p10"/>
          <p:cNvSpPr/>
          <p:nvPr/>
        </p:nvSpPr>
        <p:spPr>
          <a:xfrm>
            <a:off x="859536" y="1737360"/>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First in-person session — team collaboration working</a:t>
            </a:r>
            <a:endParaRPr b="0" i="0" sz="1000" u="none" cap="none" strike="noStrike">
              <a:solidFill>
                <a:schemeClr val="dk1"/>
              </a:solidFill>
              <a:latin typeface="Calibri"/>
              <a:ea typeface="Calibri"/>
              <a:cs typeface="Calibri"/>
              <a:sym typeface="Calibri"/>
            </a:endParaRPr>
          </a:p>
        </p:txBody>
      </p:sp>
      <p:sp>
        <p:nvSpPr>
          <p:cNvPr id="537" name="Google Shape;537;p10"/>
          <p:cNvSpPr/>
          <p:nvPr/>
        </p:nvSpPr>
        <p:spPr>
          <a:xfrm>
            <a:off x="411480" y="2157984"/>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0"/>
          <p:cNvSpPr/>
          <p:nvPr/>
        </p:nvSpPr>
        <p:spPr>
          <a:xfrm>
            <a:off x="411480" y="2157984"/>
            <a:ext cx="54864" cy="34747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0"/>
          <p:cNvSpPr/>
          <p:nvPr/>
        </p:nvSpPr>
        <p:spPr>
          <a:xfrm>
            <a:off x="530352" y="2157984"/>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100"/>
              <a:buFont typeface="Calibri"/>
              <a:buNone/>
            </a:pPr>
            <a:r>
              <a:rPr b="0" i="0" lang="en-US" sz="1100" u="none" cap="none" strike="noStrike">
                <a:solidFill>
                  <a:srgbClr val="2EAD7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40" name="Google Shape;540;p10"/>
          <p:cNvSpPr/>
          <p:nvPr/>
        </p:nvSpPr>
        <p:spPr>
          <a:xfrm>
            <a:off x="859536" y="2157984"/>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3D parts collected and servo fittings corrected on the day</a:t>
            </a:r>
            <a:endParaRPr b="0" i="0" sz="1000" u="none" cap="none" strike="noStrike">
              <a:solidFill>
                <a:schemeClr val="dk1"/>
              </a:solidFill>
              <a:latin typeface="Calibri"/>
              <a:ea typeface="Calibri"/>
              <a:cs typeface="Calibri"/>
              <a:sym typeface="Calibri"/>
            </a:endParaRPr>
          </a:p>
        </p:txBody>
      </p:sp>
      <p:sp>
        <p:nvSpPr>
          <p:cNvPr id="541" name="Google Shape;541;p10"/>
          <p:cNvSpPr/>
          <p:nvPr/>
        </p:nvSpPr>
        <p:spPr>
          <a:xfrm>
            <a:off x="411480" y="2578608"/>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0"/>
          <p:cNvSpPr/>
          <p:nvPr/>
        </p:nvSpPr>
        <p:spPr>
          <a:xfrm>
            <a:off x="411480" y="2578608"/>
            <a:ext cx="54864" cy="34747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0"/>
          <p:cNvSpPr/>
          <p:nvPr/>
        </p:nvSpPr>
        <p:spPr>
          <a:xfrm>
            <a:off x="530352" y="2578608"/>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100"/>
              <a:buFont typeface="Calibri"/>
              <a:buNone/>
            </a:pPr>
            <a:r>
              <a:rPr b="0" i="0" lang="en-US" sz="1100" u="none" cap="none" strike="noStrike">
                <a:solidFill>
                  <a:srgbClr val="2EAD7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44" name="Google Shape;544;p10"/>
          <p:cNvSpPr/>
          <p:nvPr/>
        </p:nvSpPr>
        <p:spPr>
          <a:xfrm>
            <a:off x="859536" y="2578608"/>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OpenCV: left/right detection sending base motor commands</a:t>
            </a:r>
            <a:endParaRPr b="0" i="0" sz="1000" u="none" cap="none" strike="noStrike">
              <a:solidFill>
                <a:schemeClr val="dk1"/>
              </a:solidFill>
              <a:latin typeface="Calibri"/>
              <a:ea typeface="Calibri"/>
              <a:cs typeface="Calibri"/>
              <a:sym typeface="Calibri"/>
            </a:endParaRPr>
          </a:p>
        </p:txBody>
      </p:sp>
      <p:sp>
        <p:nvSpPr>
          <p:cNvPr id="545" name="Google Shape;545;p10"/>
          <p:cNvSpPr/>
          <p:nvPr/>
        </p:nvSpPr>
        <p:spPr>
          <a:xfrm>
            <a:off x="411480" y="2999232"/>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0"/>
          <p:cNvSpPr/>
          <p:nvPr/>
        </p:nvSpPr>
        <p:spPr>
          <a:xfrm>
            <a:off x="411480" y="2999232"/>
            <a:ext cx="54864" cy="347472"/>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0"/>
          <p:cNvSpPr/>
          <p:nvPr/>
        </p:nvSpPr>
        <p:spPr>
          <a:xfrm>
            <a:off x="530352" y="2999232"/>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AD7A"/>
              </a:buClr>
              <a:buSzPts val="1100"/>
              <a:buFont typeface="Calibri"/>
              <a:buNone/>
            </a:pPr>
            <a:r>
              <a:rPr b="0" i="0" lang="en-US" sz="1100" u="none" cap="none" strike="noStrike">
                <a:solidFill>
                  <a:srgbClr val="2EAD7A"/>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48" name="Google Shape;548;p10"/>
          <p:cNvSpPr/>
          <p:nvPr/>
        </p:nvSpPr>
        <p:spPr>
          <a:xfrm>
            <a:off x="859536" y="2999232"/>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ROS2 installed and running on Ubuntu</a:t>
            </a:r>
            <a:endParaRPr b="0" i="0" sz="1000" u="none" cap="none" strike="noStrike">
              <a:solidFill>
                <a:schemeClr val="dk1"/>
              </a:solidFill>
              <a:latin typeface="Calibri"/>
              <a:ea typeface="Calibri"/>
              <a:cs typeface="Calibri"/>
              <a:sym typeface="Calibri"/>
            </a:endParaRPr>
          </a:p>
        </p:txBody>
      </p:sp>
      <p:sp>
        <p:nvSpPr>
          <p:cNvPr id="549" name="Google Shape;549;p10"/>
          <p:cNvSpPr/>
          <p:nvPr/>
        </p:nvSpPr>
        <p:spPr>
          <a:xfrm>
            <a:off x="411480" y="3419856"/>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a:off x="411480" y="3419856"/>
            <a:ext cx="54864" cy="34747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0"/>
          <p:cNvSpPr/>
          <p:nvPr/>
        </p:nvSpPr>
        <p:spPr>
          <a:xfrm>
            <a:off x="530352" y="3419856"/>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6530"/>
              </a:buClr>
              <a:buSzPts val="1100"/>
              <a:buFont typeface="Calibri"/>
              <a:buNone/>
            </a:pPr>
            <a:r>
              <a:rPr b="0" i="0" lang="en-US" sz="1100" u="none" cap="none" strike="noStrike">
                <a:solidFill>
                  <a:srgbClr val="E0653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52" name="Google Shape;552;p10"/>
          <p:cNvSpPr/>
          <p:nvPr/>
        </p:nvSpPr>
        <p:spPr>
          <a:xfrm>
            <a:off x="859536" y="3419856"/>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Full coordinate mapping not yet done — auto pipeline pending</a:t>
            </a:r>
            <a:endParaRPr b="0" i="0" sz="1000" u="none" cap="none" strike="noStrike">
              <a:solidFill>
                <a:schemeClr val="dk1"/>
              </a:solidFill>
              <a:latin typeface="Calibri"/>
              <a:ea typeface="Calibri"/>
              <a:cs typeface="Calibri"/>
              <a:sym typeface="Calibri"/>
            </a:endParaRPr>
          </a:p>
        </p:txBody>
      </p:sp>
      <p:sp>
        <p:nvSpPr>
          <p:cNvPr id="553" name="Google Shape;553;p10"/>
          <p:cNvSpPr/>
          <p:nvPr/>
        </p:nvSpPr>
        <p:spPr>
          <a:xfrm>
            <a:off x="411480" y="3840480"/>
            <a:ext cx="5577840" cy="347472"/>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0"/>
          <p:cNvSpPr/>
          <p:nvPr/>
        </p:nvSpPr>
        <p:spPr>
          <a:xfrm>
            <a:off x="411480" y="3840480"/>
            <a:ext cx="54864" cy="347472"/>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0"/>
          <p:cNvSpPr/>
          <p:nvPr/>
        </p:nvSpPr>
        <p:spPr>
          <a:xfrm>
            <a:off x="530352" y="3840480"/>
            <a:ext cx="274320"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6530"/>
              </a:buClr>
              <a:buSzPts val="1100"/>
              <a:buFont typeface="Calibri"/>
              <a:buNone/>
            </a:pPr>
            <a:r>
              <a:rPr b="0" i="0" lang="en-US" sz="1100" u="none" cap="none" strike="noStrike">
                <a:solidFill>
                  <a:srgbClr val="E0653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56" name="Google Shape;556;p10"/>
          <p:cNvSpPr/>
          <p:nvPr/>
        </p:nvSpPr>
        <p:spPr>
          <a:xfrm>
            <a:off x="859536" y="3840480"/>
            <a:ext cx="5029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E4F0"/>
              </a:buClr>
              <a:buSzPts val="1000"/>
              <a:buFont typeface="Calibri"/>
              <a:buNone/>
            </a:pPr>
            <a:r>
              <a:rPr b="0" i="0" lang="en-US" sz="1000" u="none" cap="none" strike="noStrike">
                <a:solidFill>
                  <a:srgbClr val="D0E4F0"/>
                </a:solidFill>
                <a:latin typeface="Calibri"/>
                <a:ea typeface="Calibri"/>
                <a:cs typeface="Calibri"/>
                <a:sym typeface="Calibri"/>
              </a:rPr>
              <a:t>Assembly awaiting corrected reprint parts</a:t>
            </a:r>
            <a:endParaRPr b="0" i="0" sz="1000" u="none" cap="none" strike="noStrike">
              <a:solidFill>
                <a:schemeClr val="dk1"/>
              </a:solidFill>
              <a:latin typeface="Calibri"/>
              <a:ea typeface="Calibri"/>
              <a:cs typeface="Calibri"/>
              <a:sym typeface="Calibri"/>
            </a:endParaRPr>
          </a:p>
        </p:txBody>
      </p:sp>
      <p:sp>
        <p:nvSpPr>
          <p:cNvPr id="557" name="Google Shape;557;p10"/>
          <p:cNvSpPr/>
          <p:nvPr/>
        </p:nvSpPr>
        <p:spPr>
          <a:xfrm>
            <a:off x="6263640" y="1737360"/>
            <a:ext cx="2651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6F5"/>
              </a:buClr>
              <a:buSzPts val="1200"/>
              <a:buFont typeface="Calibri"/>
              <a:buNone/>
            </a:pPr>
            <a:r>
              <a:rPr b="1" i="0" lang="en-US" sz="1200" u="none" cap="none" strike="noStrike">
                <a:solidFill>
                  <a:srgbClr val="C8E6F5"/>
                </a:solidFill>
                <a:latin typeface="Calibri"/>
                <a:ea typeface="Calibri"/>
                <a:cs typeface="Calibri"/>
                <a:sym typeface="Calibri"/>
              </a:rPr>
              <a:t>Looking ahead</a:t>
            </a:r>
            <a:endParaRPr b="0" i="0" sz="1200" u="none" cap="none" strike="noStrike">
              <a:solidFill>
                <a:schemeClr val="dk1"/>
              </a:solidFill>
              <a:latin typeface="Calibri"/>
              <a:ea typeface="Calibri"/>
              <a:cs typeface="Calibri"/>
              <a:sym typeface="Calibri"/>
            </a:endParaRPr>
          </a:p>
        </p:txBody>
      </p:sp>
      <p:sp>
        <p:nvSpPr>
          <p:cNvPr id="558" name="Google Shape;558;p10"/>
          <p:cNvSpPr/>
          <p:nvPr/>
        </p:nvSpPr>
        <p:spPr>
          <a:xfrm>
            <a:off x="6263640" y="2066544"/>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p:nvPr/>
        </p:nvSpPr>
        <p:spPr>
          <a:xfrm>
            <a:off x="6263640" y="2066544"/>
            <a:ext cx="54864" cy="36576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0"/>
          <p:cNvSpPr/>
          <p:nvPr/>
        </p:nvSpPr>
        <p:spPr>
          <a:xfrm>
            <a:off x="6364224" y="2139696"/>
            <a:ext cx="658368" cy="219456"/>
          </a:xfrm>
          <a:prstGeom prst="roundRect">
            <a:avLst>
              <a:gd fmla="val 16667" name="adj"/>
            </a:avLst>
          </a:prstGeom>
          <a:solidFill>
            <a:srgbClr val="E8A020">
              <a:alpha val="20000"/>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
          <p:cNvSpPr/>
          <p:nvPr/>
        </p:nvSpPr>
        <p:spPr>
          <a:xfrm>
            <a:off x="6364224" y="2139696"/>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7</a:t>
            </a:r>
            <a:endParaRPr b="0" i="0" sz="750" u="none" cap="none" strike="noStrike">
              <a:solidFill>
                <a:schemeClr val="dk1"/>
              </a:solidFill>
              <a:latin typeface="Calibri"/>
              <a:ea typeface="Calibri"/>
              <a:cs typeface="Calibri"/>
              <a:sym typeface="Calibri"/>
            </a:endParaRPr>
          </a:p>
        </p:txBody>
      </p:sp>
      <p:sp>
        <p:nvSpPr>
          <p:cNvPr id="562" name="Google Shape;562;p10"/>
          <p:cNvSpPr/>
          <p:nvPr/>
        </p:nvSpPr>
        <p:spPr>
          <a:xfrm>
            <a:off x="7077456" y="2066544"/>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Finalise CAD model</a:t>
            </a:r>
            <a:endParaRPr b="0" i="0" sz="900" u="none" cap="none" strike="noStrike">
              <a:solidFill>
                <a:schemeClr val="dk1"/>
              </a:solidFill>
              <a:latin typeface="Calibri"/>
              <a:ea typeface="Calibri"/>
              <a:cs typeface="Calibri"/>
              <a:sym typeface="Calibri"/>
            </a:endParaRPr>
          </a:p>
        </p:txBody>
      </p:sp>
      <p:sp>
        <p:nvSpPr>
          <p:cNvPr id="563" name="Google Shape;563;p10"/>
          <p:cNvSpPr/>
          <p:nvPr/>
        </p:nvSpPr>
        <p:spPr>
          <a:xfrm>
            <a:off x="6263640" y="2505456"/>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0"/>
          <p:cNvSpPr/>
          <p:nvPr/>
        </p:nvSpPr>
        <p:spPr>
          <a:xfrm>
            <a:off x="6263640" y="2505456"/>
            <a:ext cx="54864" cy="365760"/>
          </a:xfrm>
          <a:prstGeom prst="rect">
            <a:avLst/>
          </a:prstGeom>
          <a:solidFill>
            <a:srgbClr val="E06530"/>
          </a:solidFill>
          <a:ln cap="flat" cmpd="sng" w="12700">
            <a:solidFill>
              <a:srgbClr val="E065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
          <p:cNvSpPr/>
          <p:nvPr/>
        </p:nvSpPr>
        <p:spPr>
          <a:xfrm>
            <a:off x="6364224" y="2578608"/>
            <a:ext cx="658368" cy="219456"/>
          </a:xfrm>
          <a:prstGeom prst="roundRect">
            <a:avLst>
              <a:gd fmla="val 16667" name="adj"/>
            </a:avLst>
          </a:prstGeom>
          <a:solidFill>
            <a:srgbClr val="E06530">
              <a:alpha val="20000"/>
            </a:srgbClr>
          </a:solidFill>
          <a:ln cap="flat" cmpd="sng" w="12700">
            <a:solidFill>
              <a:srgbClr val="E0653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0"/>
          <p:cNvSpPr/>
          <p:nvPr/>
        </p:nvSpPr>
        <p:spPr>
          <a:xfrm>
            <a:off x="6364224" y="2578608"/>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8</a:t>
            </a:r>
            <a:endParaRPr b="0" i="0" sz="750" u="none" cap="none" strike="noStrike">
              <a:solidFill>
                <a:schemeClr val="dk1"/>
              </a:solidFill>
              <a:latin typeface="Calibri"/>
              <a:ea typeface="Calibri"/>
              <a:cs typeface="Calibri"/>
              <a:sym typeface="Calibri"/>
            </a:endParaRPr>
          </a:p>
        </p:txBody>
      </p:sp>
      <p:sp>
        <p:nvSpPr>
          <p:cNvPr id="567" name="Google Shape;567;p10"/>
          <p:cNvSpPr/>
          <p:nvPr/>
        </p:nvSpPr>
        <p:spPr>
          <a:xfrm>
            <a:off x="7077456" y="2505456"/>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Corrected reprints arrive</a:t>
            </a:r>
            <a:endParaRPr b="0" i="0" sz="900" u="none" cap="none" strike="noStrike">
              <a:solidFill>
                <a:schemeClr val="dk1"/>
              </a:solidFill>
              <a:latin typeface="Calibri"/>
              <a:ea typeface="Calibri"/>
              <a:cs typeface="Calibri"/>
              <a:sym typeface="Calibri"/>
            </a:endParaRPr>
          </a:p>
        </p:txBody>
      </p:sp>
      <p:sp>
        <p:nvSpPr>
          <p:cNvPr id="568" name="Google Shape;568;p10"/>
          <p:cNvSpPr/>
          <p:nvPr/>
        </p:nvSpPr>
        <p:spPr>
          <a:xfrm>
            <a:off x="6263640" y="2944368"/>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0"/>
          <p:cNvSpPr/>
          <p:nvPr/>
        </p:nvSpPr>
        <p:spPr>
          <a:xfrm>
            <a:off x="6263640" y="2944368"/>
            <a:ext cx="54864" cy="36576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0"/>
          <p:cNvSpPr/>
          <p:nvPr/>
        </p:nvSpPr>
        <p:spPr>
          <a:xfrm>
            <a:off x="6364224" y="3017520"/>
            <a:ext cx="658368" cy="219456"/>
          </a:xfrm>
          <a:prstGeom prst="roundRect">
            <a:avLst>
              <a:gd fmla="val 16667" name="adj"/>
            </a:avLst>
          </a:prstGeom>
          <a:solidFill>
            <a:srgbClr val="028090">
              <a:alpha val="20000"/>
            </a:srgbClr>
          </a:solidFill>
          <a:ln cap="flat" cmpd="sng" w="12700">
            <a:solidFill>
              <a:srgbClr val="02809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p:nvPr/>
        </p:nvSpPr>
        <p:spPr>
          <a:xfrm>
            <a:off x="6364224" y="3017520"/>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8</a:t>
            </a:r>
            <a:endParaRPr b="0" i="0" sz="750" u="none" cap="none" strike="noStrike">
              <a:solidFill>
                <a:schemeClr val="dk1"/>
              </a:solidFill>
              <a:latin typeface="Calibri"/>
              <a:ea typeface="Calibri"/>
              <a:cs typeface="Calibri"/>
              <a:sym typeface="Calibri"/>
            </a:endParaRPr>
          </a:p>
        </p:txBody>
      </p:sp>
      <p:sp>
        <p:nvSpPr>
          <p:cNvPr id="572" name="Google Shape;572;p10"/>
          <p:cNvSpPr/>
          <p:nvPr/>
        </p:nvSpPr>
        <p:spPr>
          <a:xfrm>
            <a:off x="7077456" y="2944368"/>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Full OpenCV coordinate mapping</a:t>
            </a:r>
            <a:endParaRPr b="0" i="0" sz="900" u="none" cap="none" strike="noStrike">
              <a:solidFill>
                <a:schemeClr val="dk1"/>
              </a:solidFill>
              <a:latin typeface="Calibri"/>
              <a:ea typeface="Calibri"/>
              <a:cs typeface="Calibri"/>
              <a:sym typeface="Calibri"/>
            </a:endParaRPr>
          </a:p>
        </p:txBody>
      </p:sp>
      <p:sp>
        <p:nvSpPr>
          <p:cNvPr id="573" name="Google Shape;573;p10"/>
          <p:cNvSpPr/>
          <p:nvPr/>
        </p:nvSpPr>
        <p:spPr>
          <a:xfrm>
            <a:off x="6263640" y="3383280"/>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0"/>
          <p:cNvSpPr/>
          <p:nvPr/>
        </p:nvSpPr>
        <p:spPr>
          <a:xfrm>
            <a:off x="6263640" y="3383280"/>
            <a:ext cx="54864" cy="365760"/>
          </a:xfrm>
          <a:prstGeom prst="rect">
            <a:avLst/>
          </a:prstGeom>
          <a:solidFill>
            <a:srgbClr val="2EAD7A"/>
          </a:solidFill>
          <a:ln cap="flat" cmpd="sng" w="12700">
            <a:solidFill>
              <a:srgbClr val="2EAD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0"/>
          <p:cNvSpPr/>
          <p:nvPr/>
        </p:nvSpPr>
        <p:spPr>
          <a:xfrm>
            <a:off x="6364224" y="3456432"/>
            <a:ext cx="658368" cy="219456"/>
          </a:xfrm>
          <a:prstGeom prst="roundRect">
            <a:avLst>
              <a:gd fmla="val 16667" name="adj"/>
            </a:avLst>
          </a:prstGeom>
          <a:solidFill>
            <a:srgbClr val="2EAD7A">
              <a:alpha val="20000"/>
            </a:srgbClr>
          </a:solidFill>
          <a:ln cap="flat" cmpd="sng" w="12700">
            <a:solidFill>
              <a:srgbClr val="2EAD7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0"/>
          <p:cNvSpPr/>
          <p:nvPr/>
        </p:nvSpPr>
        <p:spPr>
          <a:xfrm>
            <a:off x="6364224" y="3456432"/>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8</a:t>
            </a:r>
            <a:endParaRPr b="0" i="0" sz="750" u="none" cap="none" strike="noStrike">
              <a:solidFill>
                <a:schemeClr val="dk1"/>
              </a:solidFill>
              <a:latin typeface="Calibri"/>
              <a:ea typeface="Calibri"/>
              <a:cs typeface="Calibri"/>
              <a:sym typeface="Calibri"/>
            </a:endParaRPr>
          </a:p>
        </p:txBody>
      </p:sp>
      <p:sp>
        <p:nvSpPr>
          <p:cNvPr id="577" name="Google Shape;577;p10"/>
          <p:cNvSpPr/>
          <p:nvPr/>
        </p:nvSpPr>
        <p:spPr>
          <a:xfrm>
            <a:off x="7077456" y="3383280"/>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Buy pump + begin end effector build</a:t>
            </a:r>
            <a:endParaRPr b="0" i="0" sz="900" u="none" cap="none" strike="noStrike">
              <a:solidFill>
                <a:schemeClr val="dk1"/>
              </a:solidFill>
              <a:latin typeface="Calibri"/>
              <a:ea typeface="Calibri"/>
              <a:cs typeface="Calibri"/>
              <a:sym typeface="Calibri"/>
            </a:endParaRPr>
          </a:p>
        </p:txBody>
      </p:sp>
      <p:sp>
        <p:nvSpPr>
          <p:cNvPr id="578" name="Google Shape;578;p10"/>
          <p:cNvSpPr/>
          <p:nvPr/>
        </p:nvSpPr>
        <p:spPr>
          <a:xfrm>
            <a:off x="6263640" y="3822192"/>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0"/>
          <p:cNvSpPr/>
          <p:nvPr/>
        </p:nvSpPr>
        <p:spPr>
          <a:xfrm>
            <a:off x="6263640" y="3822192"/>
            <a:ext cx="54864" cy="365760"/>
          </a:xfrm>
          <a:prstGeom prst="rect">
            <a:avLst/>
          </a:prstGeom>
          <a:solidFill>
            <a:srgbClr val="6B4E9E"/>
          </a:solidFill>
          <a:ln cap="flat" cmpd="sng" w="12700">
            <a:solidFill>
              <a:srgbClr val="6B4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0"/>
          <p:cNvSpPr/>
          <p:nvPr/>
        </p:nvSpPr>
        <p:spPr>
          <a:xfrm>
            <a:off x="6364224" y="3895344"/>
            <a:ext cx="658368" cy="219456"/>
          </a:xfrm>
          <a:prstGeom prst="roundRect">
            <a:avLst>
              <a:gd fmla="val 16667" name="adj"/>
            </a:avLst>
          </a:prstGeom>
          <a:solidFill>
            <a:srgbClr val="6B4E9E">
              <a:alpha val="20000"/>
            </a:srgbClr>
          </a:solidFill>
          <a:ln cap="flat" cmpd="sng" w="12700">
            <a:solidFill>
              <a:srgbClr val="6B4E9E">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
          <p:cNvSpPr/>
          <p:nvPr/>
        </p:nvSpPr>
        <p:spPr>
          <a:xfrm>
            <a:off x="6364224" y="3895344"/>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8</a:t>
            </a:r>
            <a:endParaRPr b="0" i="0" sz="750" u="none" cap="none" strike="noStrike">
              <a:solidFill>
                <a:schemeClr val="dk1"/>
              </a:solidFill>
              <a:latin typeface="Calibri"/>
              <a:ea typeface="Calibri"/>
              <a:cs typeface="Calibri"/>
              <a:sym typeface="Calibri"/>
            </a:endParaRPr>
          </a:p>
        </p:txBody>
      </p:sp>
      <p:sp>
        <p:nvSpPr>
          <p:cNvPr id="582" name="Google Shape;582;p10"/>
          <p:cNvSpPr/>
          <p:nvPr/>
        </p:nvSpPr>
        <p:spPr>
          <a:xfrm>
            <a:off x="7077456" y="3822192"/>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Begin ROS2 arm integration</a:t>
            </a:r>
            <a:endParaRPr b="0" i="0" sz="900" u="none" cap="none" strike="noStrike">
              <a:solidFill>
                <a:schemeClr val="dk1"/>
              </a:solidFill>
              <a:latin typeface="Calibri"/>
              <a:ea typeface="Calibri"/>
              <a:cs typeface="Calibri"/>
              <a:sym typeface="Calibri"/>
            </a:endParaRPr>
          </a:p>
        </p:txBody>
      </p:sp>
      <p:sp>
        <p:nvSpPr>
          <p:cNvPr id="583" name="Google Shape;583;p10"/>
          <p:cNvSpPr/>
          <p:nvPr/>
        </p:nvSpPr>
        <p:spPr>
          <a:xfrm>
            <a:off x="6263640" y="4261104"/>
            <a:ext cx="2633472" cy="365760"/>
          </a:xfrm>
          <a:prstGeom prst="rect">
            <a:avLst/>
          </a:prstGeom>
          <a:solidFill>
            <a:srgbClr val="FFFFFF">
              <a:alpha val="5882"/>
            </a:srgbClr>
          </a:solidFill>
          <a:ln cap="flat" cmpd="sng" w="12700">
            <a:solidFill>
              <a:srgbClr val="FFFFFF">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0"/>
          <p:cNvSpPr/>
          <p:nvPr/>
        </p:nvSpPr>
        <p:spPr>
          <a:xfrm>
            <a:off x="6263640" y="4261104"/>
            <a:ext cx="54864" cy="365760"/>
          </a:xfrm>
          <a:prstGeom prst="rect">
            <a:avLst/>
          </a:prstGeom>
          <a:solidFill>
            <a:srgbClr val="E8A02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0"/>
          <p:cNvSpPr/>
          <p:nvPr/>
        </p:nvSpPr>
        <p:spPr>
          <a:xfrm>
            <a:off x="6364224" y="4334256"/>
            <a:ext cx="658368" cy="219456"/>
          </a:xfrm>
          <a:prstGeom prst="roundRect">
            <a:avLst>
              <a:gd fmla="val 16667" name="adj"/>
            </a:avLst>
          </a:prstGeom>
          <a:solidFill>
            <a:srgbClr val="E8A020">
              <a:alpha val="20000"/>
            </a:srgbClr>
          </a:solidFill>
          <a:ln cap="flat" cmpd="sng" w="12700">
            <a:solidFill>
              <a:srgbClr val="E8A020">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0"/>
          <p:cNvSpPr/>
          <p:nvPr/>
        </p:nvSpPr>
        <p:spPr>
          <a:xfrm>
            <a:off x="6364224" y="4334256"/>
            <a:ext cx="6583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 10</a:t>
            </a:r>
            <a:endParaRPr b="0" i="0" sz="750" u="none" cap="none" strike="noStrike">
              <a:solidFill>
                <a:schemeClr val="dk1"/>
              </a:solidFill>
              <a:latin typeface="Calibri"/>
              <a:ea typeface="Calibri"/>
              <a:cs typeface="Calibri"/>
              <a:sym typeface="Calibri"/>
            </a:endParaRPr>
          </a:p>
        </p:txBody>
      </p:sp>
      <p:sp>
        <p:nvSpPr>
          <p:cNvPr id="587" name="Google Shape;587;p10"/>
          <p:cNvSpPr/>
          <p:nvPr/>
        </p:nvSpPr>
        <p:spPr>
          <a:xfrm>
            <a:off x="7077456" y="4261104"/>
            <a:ext cx="1737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alibri"/>
              <a:buNone/>
            </a:pPr>
            <a:r>
              <a:rPr b="0" i="0" lang="en-US" sz="900" u="none" cap="none" strike="noStrike">
                <a:solidFill>
                  <a:srgbClr val="C8D8E8"/>
                </a:solidFill>
                <a:latin typeface="Calibri"/>
                <a:ea typeface="Calibri"/>
                <a:cs typeface="Calibri"/>
                <a:sym typeface="Calibri"/>
              </a:rPr>
              <a:t>Full assembly + Gazebo digital twin</a:t>
            </a:r>
            <a:endParaRPr b="0" i="0" sz="900" u="none" cap="none" strike="noStrike">
              <a:solidFill>
                <a:schemeClr val="dk1"/>
              </a:solidFill>
              <a:latin typeface="Calibri"/>
              <a:ea typeface="Calibri"/>
              <a:cs typeface="Calibri"/>
              <a:sym typeface="Calibri"/>
            </a:endParaRPr>
          </a:p>
        </p:txBody>
      </p:sp>
      <p:sp>
        <p:nvSpPr>
          <p:cNvPr id="588" name="Google Shape;588;p10"/>
          <p:cNvSpPr/>
          <p:nvPr/>
        </p:nvSpPr>
        <p:spPr>
          <a:xfrm>
            <a:off x="274320" y="4919472"/>
            <a:ext cx="8595360"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494A8"/>
              </a:buClr>
              <a:buSzPts val="800"/>
              <a:buFont typeface="Calibri"/>
              <a:buNone/>
            </a:pPr>
            <a:r>
              <a:rPr b="0" i="0" lang="en-US" sz="800" u="none" cap="none" strike="noStrike">
                <a:solidFill>
                  <a:srgbClr val="8494A8"/>
                </a:solidFill>
                <a:latin typeface="Calibri"/>
                <a:ea typeface="Calibri"/>
                <a:cs typeface="Calibri"/>
                <a:sym typeface="Calibri"/>
              </a:rPr>
              <a:t>Mechatronics System Design 101  ·  Leen's Group  ·  Week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2026-04-21T07:28:25Z</dcterms:created>
  <dc:creator>PptxGenJS</dc:creator>
</cp:coreProperties>
</file>